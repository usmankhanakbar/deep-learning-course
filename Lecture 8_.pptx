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6"/>
  </p:notesMasterIdLst>
  <p:sldIdLst>
    <p:sldId id="257" r:id="rId3"/>
    <p:sldId id="258" r:id="rId4"/>
    <p:sldId id="404" r:id="rId5"/>
    <p:sldId id="405" r:id="rId6"/>
    <p:sldId id="406" r:id="rId7"/>
    <p:sldId id="407" r:id="rId8"/>
    <p:sldId id="408" r:id="rId9"/>
    <p:sldId id="409" r:id="rId10"/>
    <p:sldId id="410" r:id="rId11"/>
    <p:sldId id="411" r:id="rId12"/>
    <p:sldId id="412" r:id="rId13"/>
    <p:sldId id="413" r:id="rId14"/>
    <p:sldId id="414" r:id="rId15"/>
    <p:sldId id="415" r:id="rId16"/>
    <p:sldId id="416" r:id="rId17"/>
    <p:sldId id="417" r:id="rId18"/>
    <p:sldId id="418" r:id="rId19"/>
    <p:sldId id="419" r:id="rId20"/>
    <p:sldId id="420" r:id="rId21"/>
    <p:sldId id="421" r:id="rId22"/>
    <p:sldId id="422" r:id="rId23"/>
    <p:sldId id="423" r:id="rId24"/>
    <p:sldId id="424" r:id="rId25"/>
    <p:sldId id="425" r:id="rId26"/>
    <p:sldId id="426" r:id="rId27"/>
    <p:sldId id="427" r:id="rId28"/>
    <p:sldId id="428" r:id="rId29"/>
    <p:sldId id="429" r:id="rId30"/>
    <p:sldId id="430" r:id="rId31"/>
    <p:sldId id="431" r:id="rId32"/>
    <p:sldId id="432" r:id="rId33"/>
    <p:sldId id="433" r:id="rId34"/>
    <p:sldId id="434" r:id="rId35"/>
    <p:sldId id="435" r:id="rId36"/>
    <p:sldId id="436" r:id="rId37"/>
    <p:sldId id="259" r:id="rId38"/>
    <p:sldId id="261" r:id="rId39"/>
    <p:sldId id="263" r:id="rId40"/>
    <p:sldId id="262" r:id="rId41"/>
    <p:sldId id="264" r:id="rId42"/>
    <p:sldId id="266" r:id="rId43"/>
    <p:sldId id="260" r:id="rId44"/>
    <p:sldId id="265"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34318F-9564-451A-86BF-F0EE66DD7127}" type="datetimeFigureOut">
              <a:rPr lang="en-US" smtClean="0"/>
              <a:t>5/16/2026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FF27A9-7ABF-4102-B5A3-5F0A8997E8ED}" type="slidenum">
              <a:rPr lang="en-US" smtClean="0"/>
              <a:t>‹#›</a:t>
            </a:fld>
            <a:endParaRPr lang="en-US"/>
          </a:p>
        </p:txBody>
      </p:sp>
    </p:spTree>
    <p:extLst>
      <p:ext uri="{BB962C8B-B14F-4D97-AF65-F5344CB8AC3E}">
        <p14:creationId xmlns:p14="http://schemas.microsoft.com/office/powerpoint/2010/main" val="2801043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0A28F-3FEC-4C81-A3E9-2DB066A8B98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6201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A07D6-E4E2-84E0-8DF4-1CC5E30A2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7E6F8-767E-6EA5-4D54-000A1C822B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70BE7-C037-4082-8BA3-E133EFD839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0556EC-C050-348D-856E-7E17F9ED0335}"/>
              </a:ext>
            </a:extLst>
          </p:cNvPr>
          <p:cNvSpPr>
            <a:spLocks noGrp="1"/>
          </p:cNvSpPr>
          <p:nvPr>
            <p:ph type="sldNum" sz="quarter" idx="5"/>
          </p:nvPr>
        </p:nvSpPr>
        <p:spPr/>
        <p:txBody>
          <a:bodyPr/>
          <a:lstStyle/>
          <a:p>
            <a:fld id="{1EDBFF36-9560-4E7B-99BC-2A5415C2D5FD}" type="slidenum">
              <a:rPr lang="en-US" smtClean="0"/>
              <a:t>3</a:t>
            </a:fld>
            <a:endParaRPr lang="en-US"/>
          </a:p>
        </p:txBody>
      </p:sp>
    </p:spTree>
    <p:extLst>
      <p:ext uri="{BB962C8B-B14F-4D97-AF65-F5344CB8AC3E}">
        <p14:creationId xmlns:p14="http://schemas.microsoft.com/office/powerpoint/2010/main" val="1435388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741B0-D5C8-5EA1-319D-FAFD2F1F6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02CC9-C929-FBE4-B773-5861C52545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2F8F8-47A7-FD45-1A84-2F9F22D938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3D33B0-C5CD-ED98-B839-41498B0ECB5F}"/>
              </a:ext>
            </a:extLst>
          </p:cNvPr>
          <p:cNvSpPr>
            <a:spLocks noGrp="1"/>
          </p:cNvSpPr>
          <p:nvPr>
            <p:ph type="sldNum" sz="quarter" idx="5"/>
          </p:nvPr>
        </p:nvSpPr>
        <p:spPr/>
        <p:txBody>
          <a:bodyPr/>
          <a:lstStyle/>
          <a:p>
            <a:fld id="{1EDBFF36-9560-4E7B-99BC-2A5415C2D5FD}" type="slidenum">
              <a:rPr lang="en-US" smtClean="0"/>
              <a:t>4</a:t>
            </a:fld>
            <a:endParaRPr lang="en-US"/>
          </a:p>
        </p:txBody>
      </p:sp>
    </p:spTree>
    <p:extLst>
      <p:ext uri="{BB962C8B-B14F-4D97-AF65-F5344CB8AC3E}">
        <p14:creationId xmlns:p14="http://schemas.microsoft.com/office/powerpoint/2010/main" val="1904616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25F3F-C372-8BCB-07B4-ACDCA970B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0351E-3565-4FE1-8340-DC94FFB306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0C13B-CC88-84AB-5452-E1FADC7F09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675BC6-CF84-B930-6004-C9EE96E63FC5}"/>
              </a:ext>
            </a:extLst>
          </p:cNvPr>
          <p:cNvSpPr>
            <a:spLocks noGrp="1"/>
          </p:cNvSpPr>
          <p:nvPr>
            <p:ph type="sldNum" sz="quarter" idx="5"/>
          </p:nvPr>
        </p:nvSpPr>
        <p:spPr/>
        <p:txBody>
          <a:bodyPr/>
          <a:lstStyle/>
          <a:p>
            <a:fld id="{1EDBFF36-9560-4E7B-99BC-2A5415C2D5FD}" type="slidenum">
              <a:rPr lang="en-US" smtClean="0"/>
              <a:t>5</a:t>
            </a:fld>
            <a:endParaRPr lang="en-US"/>
          </a:p>
        </p:txBody>
      </p:sp>
    </p:spTree>
    <p:extLst>
      <p:ext uri="{BB962C8B-B14F-4D97-AF65-F5344CB8AC3E}">
        <p14:creationId xmlns:p14="http://schemas.microsoft.com/office/powerpoint/2010/main" val="3879500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56DEA-F5B1-F7EC-7BFF-D605E184B2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011D3-EE67-812C-FB96-FFC4D8E30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3D618-FE3B-9DF8-65CE-66E1813707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8E7B09-5965-A1DC-5F1C-FD64349DBFAB}"/>
              </a:ext>
            </a:extLst>
          </p:cNvPr>
          <p:cNvSpPr>
            <a:spLocks noGrp="1"/>
          </p:cNvSpPr>
          <p:nvPr>
            <p:ph type="sldNum" sz="quarter" idx="5"/>
          </p:nvPr>
        </p:nvSpPr>
        <p:spPr/>
        <p:txBody>
          <a:bodyPr/>
          <a:lstStyle/>
          <a:p>
            <a:fld id="{1EDBFF36-9560-4E7B-99BC-2A5415C2D5FD}" type="slidenum">
              <a:rPr lang="en-US" smtClean="0"/>
              <a:t>6</a:t>
            </a:fld>
            <a:endParaRPr lang="en-US"/>
          </a:p>
        </p:txBody>
      </p:sp>
    </p:spTree>
    <p:extLst>
      <p:ext uri="{BB962C8B-B14F-4D97-AF65-F5344CB8AC3E}">
        <p14:creationId xmlns:p14="http://schemas.microsoft.com/office/powerpoint/2010/main" val="3692285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4CF15-170C-9478-9EB6-A85E475DE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44E6B-742A-1D3F-3212-F08F3600C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F5029-66EC-D93D-29C9-E4F5481D69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2861E1-B340-91B6-E889-DF558E962EC7}"/>
              </a:ext>
            </a:extLst>
          </p:cNvPr>
          <p:cNvSpPr>
            <a:spLocks noGrp="1"/>
          </p:cNvSpPr>
          <p:nvPr>
            <p:ph type="sldNum" sz="quarter" idx="5"/>
          </p:nvPr>
        </p:nvSpPr>
        <p:spPr/>
        <p:txBody>
          <a:bodyPr/>
          <a:lstStyle/>
          <a:p>
            <a:fld id="{1EDBFF36-9560-4E7B-99BC-2A5415C2D5FD}" type="slidenum">
              <a:rPr lang="en-US" smtClean="0"/>
              <a:t>7</a:t>
            </a:fld>
            <a:endParaRPr lang="en-US"/>
          </a:p>
        </p:txBody>
      </p:sp>
    </p:spTree>
    <p:extLst>
      <p:ext uri="{BB962C8B-B14F-4D97-AF65-F5344CB8AC3E}">
        <p14:creationId xmlns:p14="http://schemas.microsoft.com/office/powerpoint/2010/main" val="526687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E372B-4817-2B84-D598-D0A401477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3FA02-AD5C-83F4-03C9-157526F62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D2C6E7-6852-1AF4-5325-4212FE702C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012144-50FC-248E-898B-903089DA2BF8}"/>
              </a:ext>
            </a:extLst>
          </p:cNvPr>
          <p:cNvSpPr>
            <a:spLocks noGrp="1"/>
          </p:cNvSpPr>
          <p:nvPr>
            <p:ph type="sldNum" sz="quarter" idx="5"/>
          </p:nvPr>
        </p:nvSpPr>
        <p:spPr/>
        <p:txBody>
          <a:bodyPr/>
          <a:lstStyle/>
          <a:p>
            <a:fld id="{1EDBFF36-9560-4E7B-99BC-2A5415C2D5FD}" type="slidenum">
              <a:rPr lang="en-US" smtClean="0"/>
              <a:t>8</a:t>
            </a:fld>
            <a:endParaRPr lang="en-US"/>
          </a:p>
        </p:txBody>
      </p:sp>
    </p:spTree>
    <p:extLst>
      <p:ext uri="{BB962C8B-B14F-4D97-AF65-F5344CB8AC3E}">
        <p14:creationId xmlns:p14="http://schemas.microsoft.com/office/powerpoint/2010/main" val="1778411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2F97C-39F2-B04E-7D1A-10B70E7CC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F13BF7-E825-76EA-F27F-21ADE7DDD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FD0571-31ED-0DCC-794B-82BCF1A5B3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E4C2B9-15DB-91C6-601C-DF3F87A81B4F}"/>
              </a:ext>
            </a:extLst>
          </p:cNvPr>
          <p:cNvSpPr>
            <a:spLocks noGrp="1"/>
          </p:cNvSpPr>
          <p:nvPr>
            <p:ph type="sldNum" sz="quarter" idx="5"/>
          </p:nvPr>
        </p:nvSpPr>
        <p:spPr/>
        <p:txBody>
          <a:bodyPr/>
          <a:lstStyle/>
          <a:p>
            <a:fld id="{1EDBFF36-9560-4E7B-99BC-2A5415C2D5FD}" type="slidenum">
              <a:rPr lang="en-US" smtClean="0"/>
              <a:t>9</a:t>
            </a:fld>
            <a:endParaRPr lang="en-US"/>
          </a:p>
        </p:txBody>
      </p:sp>
    </p:spTree>
    <p:extLst>
      <p:ext uri="{BB962C8B-B14F-4D97-AF65-F5344CB8AC3E}">
        <p14:creationId xmlns:p14="http://schemas.microsoft.com/office/powerpoint/2010/main" val="2320834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FE3D-0124-27EA-8865-B805D49D0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1525C-8CA4-C48C-A481-17CF22C36E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09A8F-B75E-A7FC-1617-159523F57E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923AB4-040E-E1BB-1070-2E1B011EA340}"/>
              </a:ext>
            </a:extLst>
          </p:cNvPr>
          <p:cNvSpPr>
            <a:spLocks noGrp="1"/>
          </p:cNvSpPr>
          <p:nvPr>
            <p:ph type="sldNum" sz="quarter" idx="5"/>
          </p:nvPr>
        </p:nvSpPr>
        <p:spPr/>
        <p:txBody>
          <a:bodyPr/>
          <a:lstStyle/>
          <a:p>
            <a:fld id="{1EDBFF36-9560-4E7B-99BC-2A5415C2D5FD}" type="slidenum">
              <a:rPr lang="en-US" smtClean="0"/>
              <a:t>10</a:t>
            </a:fld>
            <a:endParaRPr lang="en-US"/>
          </a:p>
        </p:txBody>
      </p:sp>
    </p:spTree>
    <p:extLst>
      <p:ext uri="{BB962C8B-B14F-4D97-AF65-F5344CB8AC3E}">
        <p14:creationId xmlns:p14="http://schemas.microsoft.com/office/powerpoint/2010/main" val="2074307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4293F-0CD4-200E-127B-E88142E0D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30B3A-C9C6-99FD-426C-774B35D9D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22694D-4B33-4997-AC23-31BC8A015A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3D1486-DECE-A8E7-0945-7918C4064E37}"/>
              </a:ext>
            </a:extLst>
          </p:cNvPr>
          <p:cNvSpPr>
            <a:spLocks noGrp="1"/>
          </p:cNvSpPr>
          <p:nvPr>
            <p:ph type="sldNum" sz="quarter" idx="5"/>
          </p:nvPr>
        </p:nvSpPr>
        <p:spPr/>
        <p:txBody>
          <a:bodyPr/>
          <a:lstStyle/>
          <a:p>
            <a:fld id="{1EDBFF36-9560-4E7B-99BC-2A5415C2D5FD}" type="slidenum">
              <a:rPr lang="en-US" smtClean="0"/>
              <a:t>11</a:t>
            </a:fld>
            <a:endParaRPr lang="en-US"/>
          </a:p>
        </p:txBody>
      </p:sp>
    </p:spTree>
    <p:extLst>
      <p:ext uri="{BB962C8B-B14F-4D97-AF65-F5344CB8AC3E}">
        <p14:creationId xmlns:p14="http://schemas.microsoft.com/office/powerpoint/2010/main" val="2463250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9F256-0465-6340-C5DB-77C54BB64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44353-0D6D-3685-832B-B2C3B31F9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68CCCA-8065-9D99-AF8F-9A5D90C4EA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1B143A-52DA-BF09-4A16-46B4AC491B1A}"/>
              </a:ext>
            </a:extLst>
          </p:cNvPr>
          <p:cNvSpPr>
            <a:spLocks noGrp="1"/>
          </p:cNvSpPr>
          <p:nvPr>
            <p:ph type="sldNum" sz="quarter" idx="5"/>
          </p:nvPr>
        </p:nvSpPr>
        <p:spPr/>
        <p:txBody>
          <a:bodyPr/>
          <a:lstStyle/>
          <a:p>
            <a:fld id="{1EDBFF36-9560-4E7B-99BC-2A5415C2D5FD}" type="slidenum">
              <a:rPr lang="en-US" smtClean="0"/>
              <a:t>12</a:t>
            </a:fld>
            <a:endParaRPr lang="en-US"/>
          </a:p>
        </p:txBody>
      </p:sp>
    </p:spTree>
    <p:extLst>
      <p:ext uri="{BB962C8B-B14F-4D97-AF65-F5344CB8AC3E}">
        <p14:creationId xmlns:p14="http://schemas.microsoft.com/office/powerpoint/2010/main" val="832831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46546-51E3-C370-3AB7-375CEB2F3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1B061-25CD-1AC0-DE4D-414D13A1BC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BE291-D94D-B5C3-EB72-F43F672081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585553-4CF4-DA4F-FEC8-154759FCD42B}"/>
              </a:ext>
            </a:extLst>
          </p:cNvPr>
          <p:cNvSpPr>
            <a:spLocks noGrp="1"/>
          </p:cNvSpPr>
          <p:nvPr>
            <p:ph type="sldNum" sz="quarter" idx="5"/>
          </p:nvPr>
        </p:nvSpPr>
        <p:spPr/>
        <p:txBody>
          <a:bodyPr/>
          <a:lstStyle/>
          <a:p>
            <a:fld id="{1EDBFF36-9560-4E7B-99BC-2A5415C2D5FD}" type="slidenum">
              <a:rPr lang="en-US" smtClean="0"/>
              <a:t>13</a:t>
            </a:fld>
            <a:endParaRPr lang="en-US"/>
          </a:p>
        </p:txBody>
      </p:sp>
    </p:spTree>
    <p:extLst>
      <p:ext uri="{BB962C8B-B14F-4D97-AF65-F5344CB8AC3E}">
        <p14:creationId xmlns:p14="http://schemas.microsoft.com/office/powerpoint/2010/main" val="24384875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2F36F-D2ED-800E-54B9-DF1E7C274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74618-837E-E4E1-8892-4DEFD8AFB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FBB12-7E73-D017-FCD5-7528E5AC0C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50ADA4-F861-FF87-4AA8-503AD04818BE}"/>
              </a:ext>
            </a:extLst>
          </p:cNvPr>
          <p:cNvSpPr>
            <a:spLocks noGrp="1"/>
          </p:cNvSpPr>
          <p:nvPr>
            <p:ph type="sldNum" sz="quarter" idx="5"/>
          </p:nvPr>
        </p:nvSpPr>
        <p:spPr/>
        <p:txBody>
          <a:bodyPr/>
          <a:lstStyle/>
          <a:p>
            <a:fld id="{1EDBFF36-9560-4E7B-99BC-2A5415C2D5FD}" type="slidenum">
              <a:rPr lang="en-US" smtClean="0"/>
              <a:t>14</a:t>
            </a:fld>
            <a:endParaRPr lang="en-US"/>
          </a:p>
        </p:txBody>
      </p:sp>
    </p:spTree>
    <p:extLst>
      <p:ext uri="{BB962C8B-B14F-4D97-AF65-F5344CB8AC3E}">
        <p14:creationId xmlns:p14="http://schemas.microsoft.com/office/powerpoint/2010/main" val="234110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5C995-B1BF-4F59-184B-E8C84FA3D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6022A-7AF1-92D7-3A69-09C0930E3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F8749E-94B2-7F1E-1E63-DD38D2486B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615038-7CE5-B1A2-8576-F47F29AAE327}"/>
              </a:ext>
            </a:extLst>
          </p:cNvPr>
          <p:cNvSpPr>
            <a:spLocks noGrp="1"/>
          </p:cNvSpPr>
          <p:nvPr>
            <p:ph type="sldNum" sz="quarter" idx="5"/>
          </p:nvPr>
        </p:nvSpPr>
        <p:spPr/>
        <p:txBody>
          <a:bodyPr/>
          <a:lstStyle/>
          <a:p>
            <a:fld id="{1EDBFF36-9560-4E7B-99BC-2A5415C2D5FD}" type="slidenum">
              <a:rPr lang="en-US" smtClean="0"/>
              <a:t>15</a:t>
            </a:fld>
            <a:endParaRPr lang="en-US"/>
          </a:p>
        </p:txBody>
      </p:sp>
    </p:spTree>
    <p:extLst>
      <p:ext uri="{BB962C8B-B14F-4D97-AF65-F5344CB8AC3E}">
        <p14:creationId xmlns:p14="http://schemas.microsoft.com/office/powerpoint/2010/main" val="2191724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96A47-5A28-734F-860C-BCBF5CA3A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8B955A-1F35-D559-D0D3-946A2A7A6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756BF8-1C28-0CD2-1ABC-992B87912F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A8EC6D-24A7-89F3-486B-3E7BE19254C3}"/>
              </a:ext>
            </a:extLst>
          </p:cNvPr>
          <p:cNvSpPr>
            <a:spLocks noGrp="1"/>
          </p:cNvSpPr>
          <p:nvPr>
            <p:ph type="sldNum" sz="quarter" idx="5"/>
          </p:nvPr>
        </p:nvSpPr>
        <p:spPr/>
        <p:txBody>
          <a:bodyPr/>
          <a:lstStyle/>
          <a:p>
            <a:fld id="{1EDBFF36-9560-4E7B-99BC-2A5415C2D5FD}" type="slidenum">
              <a:rPr lang="en-US" smtClean="0"/>
              <a:t>16</a:t>
            </a:fld>
            <a:endParaRPr lang="en-US"/>
          </a:p>
        </p:txBody>
      </p:sp>
    </p:spTree>
    <p:extLst>
      <p:ext uri="{BB962C8B-B14F-4D97-AF65-F5344CB8AC3E}">
        <p14:creationId xmlns:p14="http://schemas.microsoft.com/office/powerpoint/2010/main" val="1855980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F962B-2C0F-A59C-00E5-9AB5E09A3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D89B9-D4D3-0CBF-0990-EB8FC4DEE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81F8E7-2A5C-4CAF-6EA1-759A5AC1EF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8DF798-8C69-12AC-ED0A-39A0451A0F91}"/>
              </a:ext>
            </a:extLst>
          </p:cNvPr>
          <p:cNvSpPr>
            <a:spLocks noGrp="1"/>
          </p:cNvSpPr>
          <p:nvPr>
            <p:ph type="sldNum" sz="quarter" idx="5"/>
          </p:nvPr>
        </p:nvSpPr>
        <p:spPr/>
        <p:txBody>
          <a:bodyPr/>
          <a:lstStyle/>
          <a:p>
            <a:fld id="{1EDBFF36-9560-4E7B-99BC-2A5415C2D5FD}" type="slidenum">
              <a:rPr lang="en-US" smtClean="0"/>
              <a:t>17</a:t>
            </a:fld>
            <a:endParaRPr lang="en-US"/>
          </a:p>
        </p:txBody>
      </p:sp>
    </p:spTree>
    <p:extLst>
      <p:ext uri="{BB962C8B-B14F-4D97-AF65-F5344CB8AC3E}">
        <p14:creationId xmlns:p14="http://schemas.microsoft.com/office/powerpoint/2010/main" val="256871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DA328-886E-CE4D-EBCF-DFA177271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531142-142C-1A27-3ADE-78D632DC5E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1CDD1-E9C7-5FC0-B7DF-E2374A3D03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29F48F-0BBB-A710-2777-EBFF56F8A061}"/>
              </a:ext>
            </a:extLst>
          </p:cNvPr>
          <p:cNvSpPr>
            <a:spLocks noGrp="1"/>
          </p:cNvSpPr>
          <p:nvPr>
            <p:ph type="sldNum" sz="quarter" idx="5"/>
          </p:nvPr>
        </p:nvSpPr>
        <p:spPr/>
        <p:txBody>
          <a:bodyPr/>
          <a:lstStyle/>
          <a:p>
            <a:fld id="{1EDBFF36-9560-4E7B-99BC-2A5415C2D5FD}" type="slidenum">
              <a:rPr lang="en-US" smtClean="0"/>
              <a:t>18</a:t>
            </a:fld>
            <a:endParaRPr lang="en-US"/>
          </a:p>
        </p:txBody>
      </p:sp>
    </p:spTree>
    <p:extLst>
      <p:ext uri="{BB962C8B-B14F-4D97-AF65-F5344CB8AC3E}">
        <p14:creationId xmlns:p14="http://schemas.microsoft.com/office/powerpoint/2010/main" val="3989433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8C801-AB1B-FE73-6012-45B89D7FE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05073-541F-3EE6-870A-8189D4699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720292-AA33-8AE4-4665-3C0E1B17FD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255630-0035-99BB-C1AF-49087B87400D}"/>
              </a:ext>
            </a:extLst>
          </p:cNvPr>
          <p:cNvSpPr>
            <a:spLocks noGrp="1"/>
          </p:cNvSpPr>
          <p:nvPr>
            <p:ph type="sldNum" sz="quarter" idx="5"/>
          </p:nvPr>
        </p:nvSpPr>
        <p:spPr/>
        <p:txBody>
          <a:bodyPr/>
          <a:lstStyle/>
          <a:p>
            <a:fld id="{1EDBFF36-9560-4E7B-99BC-2A5415C2D5FD}" type="slidenum">
              <a:rPr lang="en-US" smtClean="0"/>
              <a:t>19</a:t>
            </a:fld>
            <a:endParaRPr lang="en-US"/>
          </a:p>
        </p:txBody>
      </p:sp>
    </p:spTree>
    <p:extLst>
      <p:ext uri="{BB962C8B-B14F-4D97-AF65-F5344CB8AC3E}">
        <p14:creationId xmlns:p14="http://schemas.microsoft.com/office/powerpoint/2010/main" val="4273275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87D30-2C8B-2CF9-4AB6-66A8C36807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FCAD7-98DE-9D5D-81DF-CDE0562F2D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CF12D5-12D1-54F3-1F69-AC821E520F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565658-39BE-A8EB-5316-F22F57620BF0}"/>
              </a:ext>
            </a:extLst>
          </p:cNvPr>
          <p:cNvSpPr>
            <a:spLocks noGrp="1"/>
          </p:cNvSpPr>
          <p:nvPr>
            <p:ph type="sldNum" sz="quarter" idx="5"/>
          </p:nvPr>
        </p:nvSpPr>
        <p:spPr/>
        <p:txBody>
          <a:bodyPr/>
          <a:lstStyle/>
          <a:p>
            <a:fld id="{1EDBFF36-9560-4E7B-99BC-2A5415C2D5FD}" type="slidenum">
              <a:rPr lang="en-US" smtClean="0"/>
              <a:t>20</a:t>
            </a:fld>
            <a:endParaRPr lang="en-US"/>
          </a:p>
        </p:txBody>
      </p:sp>
    </p:spTree>
    <p:extLst>
      <p:ext uri="{BB962C8B-B14F-4D97-AF65-F5344CB8AC3E}">
        <p14:creationId xmlns:p14="http://schemas.microsoft.com/office/powerpoint/2010/main" val="1673431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AD453-B578-06A9-7BBA-BE3EDDD4F7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682F2-6E7A-B68D-6C60-2A9C5FA4B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F50E33-9B68-8DF3-4476-A725C3A6A1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A6D737-6548-070E-9ACE-5B014CAD9777}"/>
              </a:ext>
            </a:extLst>
          </p:cNvPr>
          <p:cNvSpPr>
            <a:spLocks noGrp="1"/>
          </p:cNvSpPr>
          <p:nvPr>
            <p:ph type="sldNum" sz="quarter" idx="5"/>
          </p:nvPr>
        </p:nvSpPr>
        <p:spPr/>
        <p:txBody>
          <a:bodyPr/>
          <a:lstStyle/>
          <a:p>
            <a:fld id="{1EDBFF36-9560-4E7B-99BC-2A5415C2D5FD}" type="slidenum">
              <a:rPr lang="en-US" smtClean="0"/>
              <a:t>21</a:t>
            </a:fld>
            <a:endParaRPr lang="en-US"/>
          </a:p>
        </p:txBody>
      </p:sp>
    </p:spTree>
    <p:extLst>
      <p:ext uri="{BB962C8B-B14F-4D97-AF65-F5344CB8AC3E}">
        <p14:creationId xmlns:p14="http://schemas.microsoft.com/office/powerpoint/2010/main" val="3935310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FDF3D-7EC4-2213-2CFB-DCFD86D04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F0EBB-1FE1-D3B4-B2A0-7EFE1CA7C8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7B3D6-AB61-84D8-C9E5-09D3918F8D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D1579A-7382-1F9F-99B3-049BCA19653B}"/>
              </a:ext>
            </a:extLst>
          </p:cNvPr>
          <p:cNvSpPr>
            <a:spLocks noGrp="1"/>
          </p:cNvSpPr>
          <p:nvPr>
            <p:ph type="sldNum" sz="quarter" idx="5"/>
          </p:nvPr>
        </p:nvSpPr>
        <p:spPr/>
        <p:txBody>
          <a:bodyPr/>
          <a:lstStyle/>
          <a:p>
            <a:fld id="{1EDBFF36-9560-4E7B-99BC-2A5415C2D5FD}" type="slidenum">
              <a:rPr lang="en-US" smtClean="0"/>
              <a:t>22</a:t>
            </a:fld>
            <a:endParaRPr lang="en-US"/>
          </a:p>
        </p:txBody>
      </p:sp>
    </p:spTree>
    <p:extLst>
      <p:ext uri="{BB962C8B-B14F-4D97-AF65-F5344CB8AC3E}">
        <p14:creationId xmlns:p14="http://schemas.microsoft.com/office/powerpoint/2010/main" val="17807358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629AE-6312-992A-8A57-8AEEA896D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118F3-4124-B968-1171-797B2F03B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032BF-1858-AC1E-574C-B7633B28E6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2A5984-968E-806D-0BCB-2F02F41B7DC3}"/>
              </a:ext>
            </a:extLst>
          </p:cNvPr>
          <p:cNvSpPr>
            <a:spLocks noGrp="1"/>
          </p:cNvSpPr>
          <p:nvPr>
            <p:ph type="sldNum" sz="quarter" idx="5"/>
          </p:nvPr>
        </p:nvSpPr>
        <p:spPr/>
        <p:txBody>
          <a:bodyPr/>
          <a:lstStyle/>
          <a:p>
            <a:fld id="{1EDBFF36-9560-4E7B-99BC-2A5415C2D5FD}" type="slidenum">
              <a:rPr lang="en-US" smtClean="0"/>
              <a:t>23</a:t>
            </a:fld>
            <a:endParaRPr lang="en-US"/>
          </a:p>
        </p:txBody>
      </p:sp>
    </p:spTree>
    <p:extLst>
      <p:ext uri="{BB962C8B-B14F-4D97-AF65-F5344CB8AC3E}">
        <p14:creationId xmlns:p14="http://schemas.microsoft.com/office/powerpoint/2010/main" val="16135652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D8281-390F-D6F2-18BD-C1C1484D6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BAC301-0718-16D5-8AE9-B09EB4E22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356DD-2A67-D020-FB9A-264873B62F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CBE1F4-E6F2-C342-41CD-0E316614DE59}"/>
              </a:ext>
            </a:extLst>
          </p:cNvPr>
          <p:cNvSpPr>
            <a:spLocks noGrp="1"/>
          </p:cNvSpPr>
          <p:nvPr>
            <p:ph type="sldNum" sz="quarter" idx="5"/>
          </p:nvPr>
        </p:nvSpPr>
        <p:spPr/>
        <p:txBody>
          <a:bodyPr/>
          <a:lstStyle/>
          <a:p>
            <a:fld id="{1EDBFF36-9560-4E7B-99BC-2A5415C2D5FD}" type="slidenum">
              <a:rPr lang="en-US" smtClean="0"/>
              <a:t>24</a:t>
            </a:fld>
            <a:endParaRPr lang="en-US"/>
          </a:p>
        </p:txBody>
      </p:sp>
    </p:spTree>
    <p:extLst>
      <p:ext uri="{BB962C8B-B14F-4D97-AF65-F5344CB8AC3E}">
        <p14:creationId xmlns:p14="http://schemas.microsoft.com/office/powerpoint/2010/main" val="6035372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5510E-E2B7-A0BC-ECB8-8541CC867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8CDB41-AA3D-6E0C-08F8-1672B22255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E4D5A3-A1BA-D793-B749-45F6760885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F44CFB-5FEA-8AE3-512E-5B9F2016DD42}"/>
              </a:ext>
            </a:extLst>
          </p:cNvPr>
          <p:cNvSpPr>
            <a:spLocks noGrp="1"/>
          </p:cNvSpPr>
          <p:nvPr>
            <p:ph type="sldNum" sz="quarter" idx="5"/>
          </p:nvPr>
        </p:nvSpPr>
        <p:spPr/>
        <p:txBody>
          <a:bodyPr/>
          <a:lstStyle/>
          <a:p>
            <a:fld id="{1EDBFF36-9560-4E7B-99BC-2A5415C2D5FD}" type="slidenum">
              <a:rPr lang="en-US" smtClean="0"/>
              <a:t>25</a:t>
            </a:fld>
            <a:endParaRPr lang="en-US"/>
          </a:p>
        </p:txBody>
      </p:sp>
    </p:spTree>
    <p:extLst>
      <p:ext uri="{BB962C8B-B14F-4D97-AF65-F5344CB8AC3E}">
        <p14:creationId xmlns:p14="http://schemas.microsoft.com/office/powerpoint/2010/main" val="13100937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8F75E-E4CF-7BB7-30CB-C6DAF4591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EAF8C-05DD-9F61-6A5B-2CA0F25352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DA654-3BB9-C0DF-B954-714D5C5944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2D18FE-7727-72C0-DDB5-DF7D909BB0B6}"/>
              </a:ext>
            </a:extLst>
          </p:cNvPr>
          <p:cNvSpPr>
            <a:spLocks noGrp="1"/>
          </p:cNvSpPr>
          <p:nvPr>
            <p:ph type="sldNum" sz="quarter" idx="5"/>
          </p:nvPr>
        </p:nvSpPr>
        <p:spPr/>
        <p:txBody>
          <a:bodyPr/>
          <a:lstStyle/>
          <a:p>
            <a:fld id="{1EDBFF36-9560-4E7B-99BC-2A5415C2D5FD}" type="slidenum">
              <a:rPr lang="en-US" smtClean="0"/>
              <a:t>26</a:t>
            </a:fld>
            <a:endParaRPr lang="en-US"/>
          </a:p>
        </p:txBody>
      </p:sp>
    </p:spTree>
    <p:extLst>
      <p:ext uri="{BB962C8B-B14F-4D97-AF65-F5344CB8AC3E}">
        <p14:creationId xmlns:p14="http://schemas.microsoft.com/office/powerpoint/2010/main" val="9385231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43D2D-399D-7824-E524-20BD5EF288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7E66B-C5CB-0271-729C-EAA5C9D086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0322A-7ACF-E429-E3A1-C5FC3A0498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F9C7CC-F3BC-FA39-3668-3B27D3FD9841}"/>
              </a:ext>
            </a:extLst>
          </p:cNvPr>
          <p:cNvSpPr>
            <a:spLocks noGrp="1"/>
          </p:cNvSpPr>
          <p:nvPr>
            <p:ph type="sldNum" sz="quarter" idx="5"/>
          </p:nvPr>
        </p:nvSpPr>
        <p:spPr/>
        <p:txBody>
          <a:bodyPr/>
          <a:lstStyle/>
          <a:p>
            <a:fld id="{1EDBFF36-9560-4E7B-99BC-2A5415C2D5FD}" type="slidenum">
              <a:rPr lang="en-US" smtClean="0"/>
              <a:t>27</a:t>
            </a:fld>
            <a:endParaRPr lang="en-US"/>
          </a:p>
        </p:txBody>
      </p:sp>
    </p:spTree>
    <p:extLst>
      <p:ext uri="{BB962C8B-B14F-4D97-AF65-F5344CB8AC3E}">
        <p14:creationId xmlns:p14="http://schemas.microsoft.com/office/powerpoint/2010/main" val="35215666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9A516-0118-54E2-FA3A-1AC9F07D7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B879E-3958-1004-4846-369DC7CC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863862-1B00-C8C1-A609-E809EAAEF9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AA8D7C-9DE0-05C0-3C2F-89C37D4CC751}"/>
              </a:ext>
            </a:extLst>
          </p:cNvPr>
          <p:cNvSpPr>
            <a:spLocks noGrp="1"/>
          </p:cNvSpPr>
          <p:nvPr>
            <p:ph type="sldNum" sz="quarter" idx="5"/>
          </p:nvPr>
        </p:nvSpPr>
        <p:spPr/>
        <p:txBody>
          <a:bodyPr/>
          <a:lstStyle/>
          <a:p>
            <a:fld id="{1EDBFF36-9560-4E7B-99BC-2A5415C2D5FD}" type="slidenum">
              <a:rPr lang="en-US" smtClean="0"/>
              <a:t>28</a:t>
            </a:fld>
            <a:endParaRPr lang="en-US"/>
          </a:p>
        </p:txBody>
      </p:sp>
    </p:spTree>
    <p:extLst>
      <p:ext uri="{BB962C8B-B14F-4D97-AF65-F5344CB8AC3E}">
        <p14:creationId xmlns:p14="http://schemas.microsoft.com/office/powerpoint/2010/main" val="3091582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5B938-2F46-BAD0-A11C-5F8C62D4D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B676F-FF52-7BB3-6818-4248DEEDF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2CE4C-85B5-9739-F58E-951F127F3D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0ED33C-9C4E-902A-025B-516137120282}"/>
              </a:ext>
            </a:extLst>
          </p:cNvPr>
          <p:cNvSpPr>
            <a:spLocks noGrp="1"/>
          </p:cNvSpPr>
          <p:nvPr>
            <p:ph type="sldNum" sz="quarter" idx="5"/>
          </p:nvPr>
        </p:nvSpPr>
        <p:spPr/>
        <p:txBody>
          <a:bodyPr/>
          <a:lstStyle/>
          <a:p>
            <a:fld id="{1EDBFF36-9560-4E7B-99BC-2A5415C2D5FD}" type="slidenum">
              <a:rPr lang="en-US" smtClean="0"/>
              <a:t>29</a:t>
            </a:fld>
            <a:endParaRPr lang="en-US"/>
          </a:p>
        </p:txBody>
      </p:sp>
    </p:spTree>
    <p:extLst>
      <p:ext uri="{BB962C8B-B14F-4D97-AF65-F5344CB8AC3E}">
        <p14:creationId xmlns:p14="http://schemas.microsoft.com/office/powerpoint/2010/main" val="10780415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DAA4-40FA-5231-132F-7AA14BB49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756326-44F5-1588-253A-DBFBB51DFB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A02735-AD05-39AE-9474-EB312654BF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216C17-C6FF-F9D2-695C-02521D272C9B}"/>
              </a:ext>
            </a:extLst>
          </p:cNvPr>
          <p:cNvSpPr>
            <a:spLocks noGrp="1"/>
          </p:cNvSpPr>
          <p:nvPr>
            <p:ph type="sldNum" sz="quarter" idx="5"/>
          </p:nvPr>
        </p:nvSpPr>
        <p:spPr/>
        <p:txBody>
          <a:bodyPr/>
          <a:lstStyle/>
          <a:p>
            <a:fld id="{1EDBFF36-9560-4E7B-99BC-2A5415C2D5FD}" type="slidenum">
              <a:rPr lang="en-US" smtClean="0"/>
              <a:t>30</a:t>
            </a:fld>
            <a:endParaRPr lang="en-US"/>
          </a:p>
        </p:txBody>
      </p:sp>
    </p:spTree>
    <p:extLst>
      <p:ext uri="{BB962C8B-B14F-4D97-AF65-F5344CB8AC3E}">
        <p14:creationId xmlns:p14="http://schemas.microsoft.com/office/powerpoint/2010/main" val="2660782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3631B-2BDF-DA76-4986-3CA797E5A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551FA-0AFC-1C7B-A327-E579D8D139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E5072-8688-44FE-23DE-50089CFC88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E1F227-16A3-E9A5-B650-CD314A35B5B9}"/>
              </a:ext>
            </a:extLst>
          </p:cNvPr>
          <p:cNvSpPr>
            <a:spLocks noGrp="1"/>
          </p:cNvSpPr>
          <p:nvPr>
            <p:ph type="sldNum" sz="quarter" idx="5"/>
          </p:nvPr>
        </p:nvSpPr>
        <p:spPr/>
        <p:txBody>
          <a:bodyPr/>
          <a:lstStyle/>
          <a:p>
            <a:fld id="{1EDBFF36-9560-4E7B-99BC-2A5415C2D5FD}" type="slidenum">
              <a:rPr lang="en-US" smtClean="0"/>
              <a:t>31</a:t>
            </a:fld>
            <a:endParaRPr lang="en-US"/>
          </a:p>
        </p:txBody>
      </p:sp>
    </p:spTree>
    <p:extLst>
      <p:ext uri="{BB962C8B-B14F-4D97-AF65-F5344CB8AC3E}">
        <p14:creationId xmlns:p14="http://schemas.microsoft.com/office/powerpoint/2010/main" val="29157420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F2C4B-500E-0D7B-18D9-EDB5E74B8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A4A4FA-AB13-C93A-A58A-AB200716D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CB4CF-3DDD-40BE-BAE6-9EA6841B04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A070F5-F5B3-E95B-B28D-EE98F816FCA2}"/>
              </a:ext>
            </a:extLst>
          </p:cNvPr>
          <p:cNvSpPr>
            <a:spLocks noGrp="1"/>
          </p:cNvSpPr>
          <p:nvPr>
            <p:ph type="sldNum" sz="quarter" idx="5"/>
          </p:nvPr>
        </p:nvSpPr>
        <p:spPr/>
        <p:txBody>
          <a:bodyPr/>
          <a:lstStyle/>
          <a:p>
            <a:fld id="{1EDBFF36-9560-4E7B-99BC-2A5415C2D5FD}" type="slidenum">
              <a:rPr lang="en-US" smtClean="0"/>
              <a:t>32</a:t>
            </a:fld>
            <a:endParaRPr lang="en-US"/>
          </a:p>
        </p:txBody>
      </p:sp>
    </p:spTree>
    <p:extLst>
      <p:ext uri="{BB962C8B-B14F-4D97-AF65-F5344CB8AC3E}">
        <p14:creationId xmlns:p14="http://schemas.microsoft.com/office/powerpoint/2010/main" val="9894532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EF3EC-FAE8-F08C-9604-58F76E697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A769C-EE96-D6EC-B2DE-A2AF0B0B3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D386A-AB3A-155A-5862-C5993A81D3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3B0966-3F2C-D438-EE3C-EB630760EF5B}"/>
              </a:ext>
            </a:extLst>
          </p:cNvPr>
          <p:cNvSpPr>
            <a:spLocks noGrp="1"/>
          </p:cNvSpPr>
          <p:nvPr>
            <p:ph type="sldNum" sz="quarter" idx="5"/>
          </p:nvPr>
        </p:nvSpPr>
        <p:spPr/>
        <p:txBody>
          <a:bodyPr/>
          <a:lstStyle/>
          <a:p>
            <a:fld id="{1EDBFF36-9560-4E7B-99BC-2A5415C2D5FD}" type="slidenum">
              <a:rPr lang="en-US" smtClean="0"/>
              <a:t>33</a:t>
            </a:fld>
            <a:endParaRPr lang="en-US"/>
          </a:p>
        </p:txBody>
      </p:sp>
    </p:spTree>
    <p:extLst>
      <p:ext uri="{BB962C8B-B14F-4D97-AF65-F5344CB8AC3E}">
        <p14:creationId xmlns:p14="http://schemas.microsoft.com/office/powerpoint/2010/main" val="25469773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4DB51-20A4-FADB-D6DB-76C9F9C98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8CE96-6697-A40E-098A-E7AC43374B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C5735-1FDE-ACA9-F04F-F6F0718388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2A944F-0791-3A98-46F9-5F1EC18B58AB}"/>
              </a:ext>
            </a:extLst>
          </p:cNvPr>
          <p:cNvSpPr>
            <a:spLocks noGrp="1"/>
          </p:cNvSpPr>
          <p:nvPr>
            <p:ph type="sldNum" sz="quarter" idx="5"/>
          </p:nvPr>
        </p:nvSpPr>
        <p:spPr/>
        <p:txBody>
          <a:bodyPr/>
          <a:lstStyle/>
          <a:p>
            <a:fld id="{1EDBFF36-9560-4E7B-99BC-2A5415C2D5FD}" type="slidenum">
              <a:rPr lang="en-US" smtClean="0"/>
              <a:t>34</a:t>
            </a:fld>
            <a:endParaRPr lang="en-US"/>
          </a:p>
        </p:txBody>
      </p:sp>
    </p:spTree>
    <p:extLst>
      <p:ext uri="{BB962C8B-B14F-4D97-AF65-F5344CB8AC3E}">
        <p14:creationId xmlns:p14="http://schemas.microsoft.com/office/powerpoint/2010/main" val="13693289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FA6FE-9E85-AA15-01C5-782D0AC71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8DBA5B-E445-4DB6-0C73-F0CBD88656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EA03FE-07EE-6BA7-794E-9A06BD0665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D490BD-F070-ECCE-8D1B-6AB7FA526FFB}"/>
              </a:ext>
            </a:extLst>
          </p:cNvPr>
          <p:cNvSpPr>
            <a:spLocks noGrp="1"/>
          </p:cNvSpPr>
          <p:nvPr>
            <p:ph type="sldNum" sz="quarter" idx="5"/>
          </p:nvPr>
        </p:nvSpPr>
        <p:spPr/>
        <p:txBody>
          <a:bodyPr/>
          <a:lstStyle/>
          <a:p>
            <a:fld id="{1EDBFF36-9560-4E7B-99BC-2A5415C2D5FD}" type="slidenum">
              <a:rPr lang="en-US" smtClean="0"/>
              <a:t>35</a:t>
            </a:fld>
            <a:endParaRPr lang="en-US"/>
          </a:p>
        </p:txBody>
      </p:sp>
    </p:spTree>
    <p:extLst>
      <p:ext uri="{BB962C8B-B14F-4D97-AF65-F5344CB8AC3E}">
        <p14:creationId xmlns:p14="http://schemas.microsoft.com/office/powerpoint/2010/main" val="762992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37339-70CF-B171-EDF7-9CAE0D8667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1A06A2-5F85-BEFC-7D59-A1A0058BA4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B9DEBE-4AC2-DE1B-DDA3-B45F955BB282}"/>
              </a:ext>
            </a:extLst>
          </p:cNvPr>
          <p:cNvSpPr>
            <a:spLocks noGrp="1"/>
          </p:cNvSpPr>
          <p:nvPr>
            <p:ph type="dt" sz="half" idx="10"/>
          </p:nvPr>
        </p:nvSpPr>
        <p:spPr/>
        <p:txBody>
          <a:bodyPr/>
          <a:lstStyle/>
          <a:p>
            <a:fld id="{7ED90274-685F-4D7E-99ED-88171C3A13D5}" type="datetimeFigureOut">
              <a:rPr lang="en-US" smtClean="0"/>
              <a:t>5/16/2026</a:t>
            </a:fld>
            <a:endParaRPr lang="en-US"/>
          </a:p>
        </p:txBody>
      </p:sp>
      <p:sp>
        <p:nvSpPr>
          <p:cNvPr id="5" name="Footer Placeholder 4">
            <a:extLst>
              <a:ext uri="{FF2B5EF4-FFF2-40B4-BE49-F238E27FC236}">
                <a16:creationId xmlns:a16="http://schemas.microsoft.com/office/drawing/2014/main" id="{F426391D-B6C0-6798-9548-6367CADA03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CDBEC9-0975-996F-FBE5-F22F1530946B}"/>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755515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37E8D-1118-AD02-A998-925EFEDFDF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2DAF40-9A7F-7D70-0129-97B7F3EEB3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890879-E024-EE0D-F725-3F659B557161}"/>
              </a:ext>
            </a:extLst>
          </p:cNvPr>
          <p:cNvSpPr>
            <a:spLocks noGrp="1"/>
          </p:cNvSpPr>
          <p:nvPr>
            <p:ph type="dt" sz="half" idx="10"/>
          </p:nvPr>
        </p:nvSpPr>
        <p:spPr/>
        <p:txBody>
          <a:bodyPr/>
          <a:lstStyle/>
          <a:p>
            <a:fld id="{7ED90274-685F-4D7E-99ED-88171C3A13D5}" type="datetimeFigureOut">
              <a:rPr lang="en-US" smtClean="0"/>
              <a:t>5/16/2026</a:t>
            </a:fld>
            <a:endParaRPr lang="en-US"/>
          </a:p>
        </p:txBody>
      </p:sp>
      <p:sp>
        <p:nvSpPr>
          <p:cNvPr id="5" name="Footer Placeholder 4">
            <a:extLst>
              <a:ext uri="{FF2B5EF4-FFF2-40B4-BE49-F238E27FC236}">
                <a16:creationId xmlns:a16="http://schemas.microsoft.com/office/drawing/2014/main" id="{971276EB-7667-B317-D5B4-39EC250B6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D58FB7-9821-F6D4-7916-BDBB4FE9C834}"/>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755532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5CD8D-26BB-4C36-B5F0-7D91AD56F0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0E65C6-4D25-CBE7-3562-6BD3EA9148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C9CF3F-27C8-5DDD-5A4B-14D3C66E0DF4}"/>
              </a:ext>
            </a:extLst>
          </p:cNvPr>
          <p:cNvSpPr>
            <a:spLocks noGrp="1"/>
          </p:cNvSpPr>
          <p:nvPr>
            <p:ph type="dt" sz="half" idx="10"/>
          </p:nvPr>
        </p:nvSpPr>
        <p:spPr/>
        <p:txBody>
          <a:bodyPr/>
          <a:lstStyle/>
          <a:p>
            <a:fld id="{7ED90274-685F-4D7E-99ED-88171C3A13D5}" type="datetimeFigureOut">
              <a:rPr lang="en-US" smtClean="0"/>
              <a:t>5/16/2026</a:t>
            </a:fld>
            <a:endParaRPr lang="en-US"/>
          </a:p>
        </p:txBody>
      </p:sp>
      <p:sp>
        <p:nvSpPr>
          <p:cNvPr id="5" name="Footer Placeholder 4">
            <a:extLst>
              <a:ext uri="{FF2B5EF4-FFF2-40B4-BE49-F238E27FC236}">
                <a16:creationId xmlns:a16="http://schemas.microsoft.com/office/drawing/2014/main" id="{E3CB5667-2BB9-8D53-C541-B3B5C31CCF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24F18C-FBDF-3057-8B85-8EB1E40EB65F}"/>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2866752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3ACBE-BC65-B29C-B4CD-5AC2F26737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2FD52D-59A7-94E8-90E7-047B59F87B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B45C2A-FDBD-BF29-8448-1DC4146AAA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F0FC33-A9A3-17D4-1120-3B264A8CA2CC}"/>
              </a:ext>
            </a:extLst>
          </p:cNvPr>
          <p:cNvSpPr>
            <a:spLocks noGrp="1"/>
          </p:cNvSpPr>
          <p:nvPr>
            <p:ph type="dt" sz="half" idx="10"/>
          </p:nvPr>
        </p:nvSpPr>
        <p:spPr/>
        <p:txBody>
          <a:bodyPr/>
          <a:lstStyle/>
          <a:p>
            <a:fld id="{7ED90274-685F-4D7E-99ED-88171C3A13D5}" type="datetimeFigureOut">
              <a:rPr lang="en-US" smtClean="0"/>
              <a:t>5/16/2026</a:t>
            </a:fld>
            <a:endParaRPr lang="en-US"/>
          </a:p>
        </p:txBody>
      </p:sp>
      <p:sp>
        <p:nvSpPr>
          <p:cNvPr id="6" name="Footer Placeholder 5">
            <a:extLst>
              <a:ext uri="{FF2B5EF4-FFF2-40B4-BE49-F238E27FC236}">
                <a16:creationId xmlns:a16="http://schemas.microsoft.com/office/drawing/2014/main" id="{8B65FBE1-1774-58FC-CF20-C2C6C9766F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1CD767-F3CC-415E-9586-0879FC4B6A0A}"/>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1162618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2D5FE-82F0-409B-3D80-B7FAACACA8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A04BA8-B429-4FD2-F4D6-FA7833C25A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23F225-057C-F240-3524-09AD8431AA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CE29C0-0F10-5ADD-AB50-56C9D162D6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516C84-1C5A-4A52-B7A1-8E44F0C26B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0D221C-46D0-E380-5B72-7F426BBFCF31}"/>
              </a:ext>
            </a:extLst>
          </p:cNvPr>
          <p:cNvSpPr>
            <a:spLocks noGrp="1"/>
          </p:cNvSpPr>
          <p:nvPr>
            <p:ph type="dt" sz="half" idx="10"/>
          </p:nvPr>
        </p:nvSpPr>
        <p:spPr/>
        <p:txBody>
          <a:bodyPr/>
          <a:lstStyle/>
          <a:p>
            <a:fld id="{7ED90274-685F-4D7E-99ED-88171C3A13D5}" type="datetimeFigureOut">
              <a:rPr lang="en-US" smtClean="0"/>
              <a:t>5/16/2026</a:t>
            </a:fld>
            <a:endParaRPr lang="en-US"/>
          </a:p>
        </p:txBody>
      </p:sp>
      <p:sp>
        <p:nvSpPr>
          <p:cNvPr id="8" name="Footer Placeholder 7">
            <a:extLst>
              <a:ext uri="{FF2B5EF4-FFF2-40B4-BE49-F238E27FC236}">
                <a16:creationId xmlns:a16="http://schemas.microsoft.com/office/drawing/2014/main" id="{D4FD60F4-02F2-3A09-B9C6-EFAF1798BB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9F2F76-0C6C-652C-608C-3BF6BB6A10A8}"/>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1315990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CD49B-C3AA-4678-F787-187D1071F7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1C3BBF-17BB-B619-42D0-695206702841}"/>
              </a:ext>
            </a:extLst>
          </p:cNvPr>
          <p:cNvSpPr>
            <a:spLocks noGrp="1"/>
          </p:cNvSpPr>
          <p:nvPr>
            <p:ph type="dt" sz="half" idx="10"/>
          </p:nvPr>
        </p:nvSpPr>
        <p:spPr/>
        <p:txBody>
          <a:bodyPr/>
          <a:lstStyle/>
          <a:p>
            <a:fld id="{7ED90274-685F-4D7E-99ED-88171C3A13D5}" type="datetimeFigureOut">
              <a:rPr lang="en-US" smtClean="0"/>
              <a:t>5/16/2026</a:t>
            </a:fld>
            <a:endParaRPr lang="en-US"/>
          </a:p>
        </p:txBody>
      </p:sp>
      <p:sp>
        <p:nvSpPr>
          <p:cNvPr id="4" name="Footer Placeholder 3">
            <a:extLst>
              <a:ext uri="{FF2B5EF4-FFF2-40B4-BE49-F238E27FC236}">
                <a16:creationId xmlns:a16="http://schemas.microsoft.com/office/drawing/2014/main" id="{77162889-3F8A-1E84-B031-9594D027E7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6E6227-B198-7DBA-DCD6-613970161207}"/>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1366986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E38819-2E61-5AB0-A0C2-3A8AB5EB26E7}"/>
              </a:ext>
            </a:extLst>
          </p:cNvPr>
          <p:cNvSpPr>
            <a:spLocks noGrp="1"/>
          </p:cNvSpPr>
          <p:nvPr>
            <p:ph type="dt" sz="half" idx="10"/>
          </p:nvPr>
        </p:nvSpPr>
        <p:spPr/>
        <p:txBody>
          <a:bodyPr/>
          <a:lstStyle/>
          <a:p>
            <a:fld id="{7ED90274-685F-4D7E-99ED-88171C3A13D5}" type="datetimeFigureOut">
              <a:rPr lang="en-US" smtClean="0"/>
              <a:t>5/16/2026</a:t>
            </a:fld>
            <a:endParaRPr lang="en-US"/>
          </a:p>
        </p:txBody>
      </p:sp>
      <p:sp>
        <p:nvSpPr>
          <p:cNvPr id="3" name="Footer Placeholder 2">
            <a:extLst>
              <a:ext uri="{FF2B5EF4-FFF2-40B4-BE49-F238E27FC236}">
                <a16:creationId xmlns:a16="http://schemas.microsoft.com/office/drawing/2014/main" id="{7F2F763D-B884-51D7-D1C5-01893BD844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31B94E-4F3F-00A8-0D9C-8375F3951B4E}"/>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1910367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114E5-E7B3-C6A0-0DD0-C51DEAEB07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09FB24-C95A-BF34-558F-29DE18809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579D93-B637-C272-8BDF-663F181A7E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977EF5-1738-A078-2A6E-20FB42A4D567}"/>
              </a:ext>
            </a:extLst>
          </p:cNvPr>
          <p:cNvSpPr>
            <a:spLocks noGrp="1"/>
          </p:cNvSpPr>
          <p:nvPr>
            <p:ph type="dt" sz="half" idx="10"/>
          </p:nvPr>
        </p:nvSpPr>
        <p:spPr/>
        <p:txBody>
          <a:bodyPr/>
          <a:lstStyle/>
          <a:p>
            <a:fld id="{7ED90274-685F-4D7E-99ED-88171C3A13D5}" type="datetimeFigureOut">
              <a:rPr lang="en-US" smtClean="0"/>
              <a:t>5/16/2026</a:t>
            </a:fld>
            <a:endParaRPr lang="en-US"/>
          </a:p>
        </p:txBody>
      </p:sp>
      <p:sp>
        <p:nvSpPr>
          <p:cNvPr id="6" name="Footer Placeholder 5">
            <a:extLst>
              <a:ext uri="{FF2B5EF4-FFF2-40B4-BE49-F238E27FC236}">
                <a16:creationId xmlns:a16="http://schemas.microsoft.com/office/drawing/2014/main" id="{DF9C800F-5DF8-1F36-EF38-F0FCD2CE8E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A157E1-E569-7009-4A6C-749B74B13CA1}"/>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392227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57276-3562-9CA0-B5A2-65241FF3F1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2DCEE2-0456-9771-AB3F-C1695E113C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3AD728-05C0-66F5-3E32-3E16D75442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1E82EC-350B-E3CD-38B2-F6130BD2F6B2}"/>
              </a:ext>
            </a:extLst>
          </p:cNvPr>
          <p:cNvSpPr>
            <a:spLocks noGrp="1"/>
          </p:cNvSpPr>
          <p:nvPr>
            <p:ph type="dt" sz="half" idx="10"/>
          </p:nvPr>
        </p:nvSpPr>
        <p:spPr/>
        <p:txBody>
          <a:bodyPr/>
          <a:lstStyle/>
          <a:p>
            <a:fld id="{7ED90274-685F-4D7E-99ED-88171C3A13D5}" type="datetimeFigureOut">
              <a:rPr lang="en-US" smtClean="0"/>
              <a:t>5/16/2026</a:t>
            </a:fld>
            <a:endParaRPr lang="en-US"/>
          </a:p>
        </p:txBody>
      </p:sp>
      <p:sp>
        <p:nvSpPr>
          <p:cNvPr id="6" name="Footer Placeholder 5">
            <a:extLst>
              <a:ext uri="{FF2B5EF4-FFF2-40B4-BE49-F238E27FC236}">
                <a16:creationId xmlns:a16="http://schemas.microsoft.com/office/drawing/2014/main" id="{F36D6231-E8AE-9C21-7315-561AF64054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BBF700-52DA-8EE5-79CA-0BDEADB37854}"/>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3934366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0DC3F-7B74-4B7F-A695-EFDF1E34DA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855576-3E52-AFF4-8C3C-F3A84C4480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0D68B8-E481-CE7E-B65F-FF346CA8294C}"/>
              </a:ext>
            </a:extLst>
          </p:cNvPr>
          <p:cNvSpPr>
            <a:spLocks noGrp="1"/>
          </p:cNvSpPr>
          <p:nvPr>
            <p:ph type="dt" sz="half" idx="10"/>
          </p:nvPr>
        </p:nvSpPr>
        <p:spPr/>
        <p:txBody>
          <a:bodyPr/>
          <a:lstStyle/>
          <a:p>
            <a:fld id="{7ED90274-685F-4D7E-99ED-88171C3A13D5}" type="datetimeFigureOut">
              <a:rPr lang="en-US" smtClean="0"/>
              <a:t>5/16/2026</a:t>
            </a:fld>
            <a:endParaRPr lang="en-US"/>
          </a:p>
        </p:txBody>
      </p:sp>
      <p:sp>
        <p:nvSpPr>
          <p:cNvPr id="5" name="Footer Placeholder 4">
            <a:extLst>
              <a:ext uri="{FF2B5EF4-FFF2-40B4-BE49-F238E27FC236}">
                <a16:creationId xmlns:a16="http://schemas.microsoft.com/office/drawing/2014/main" id="{90B9EF36-20DE-D982-910C-722C79C4E9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316067-93D7-A9AD-CEFC-E1546AEB5FD4}"/>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1281175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08B5DE-5495-11F7-9B06-871AE11D80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E2D4E2-AC56-762E-11D7-59305129F9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3242C8-E980-64E8-C0B6-078E8CAB6738}"/>
              </a:ext>
            </a:extLst>
          </p:cNvPr>
          <p:cNvSpPr>
            <a:spLocks noGrp="1"/>
          </p:cNvSpPr>
          <p:nvPr>
            <p:ph type="dt" sz="half" idx="10"/>
          </p:nvPr>
        </p:nvSpPr>
        <p:spPr/>
        <p:txBody>
          <a:bodyPr/>
          <a:lstStyle/>
          <a:p>
            <a:fld id="{7ED90274-685F-4D7E-99ED-88171C3A13D5}" type="datetimeFigureOut">
              <a:rPr lang="en-US" smtClean="0"/>
              <a:t>5/16/2026</a:t>
            </a:fld>
            <a:endParaRPr lang="en-US"/>
          </a:p>
        </p:txBody>
      </p:sp>
      <p:sp>
        <p:nvSpPr>
          <p:cNvPr id="5" name="Footer Placeholder 4">
            <a:extLst>
              <a:ext uri="{FF2B5EF4-FFF2-40B4-BE49-F238E27FC236}">
                <a16:creationId xmlns:a16="http://schemas.microsoft.com/office/drawing/2014/main" id="{2B75F0CE-E222-4151-A228-80AAC9B51C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65850B-0067-25B6-8844-BE20E43929B2}"/>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885882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7997E41-8A74-440F-8728-FC7F2D05942E}"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208625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997E41-8A74-440F-8728-FC7F2D05942E}"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2092152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997E41-8A74-440F-8728-FC7F2D05942E}"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9313816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7997E41-8A74-440F-8728-FC7F2D05942E}"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343671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7997E41-8A74-440F-8728-FC7F2D05942E}" type="datetimeFigureOut">
              <a:rPr lang="en-US" smtClean="0"/>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140441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7997E41-8A74-440F-8728-FC7F2D05942E}" type="datetimeFigureOut">
              <a:rPr lang="en-US" smtClean="0"/>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2831353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997E41-8A74-440F-8728-FC7F2D05942E}" type="datetimeFigureOut">
              <a:rPr lang="en-US" smtClean="0"/>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5514205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997E41-8A74-440F-8728-FC7F2D05942E}"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782430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997E41-8A74-440F-8728-FC7F2D05942E}"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20990041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997E41-8A74-440F-8728-FC7F2D05942E}"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1141141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997E41-8A74-440F-8728-FC7F2D05942E}"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955851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94EBA8-2DE3-34BA-0B04-A54249F92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296858-F4FB-7416-ED99-3FDB936ADF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87B541-2EF3-9AE1-8C19-7211202601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D90274-685F-4D7E-99ED-88171C3A13D5}" type="datetimeFigureOut">
              <a:rPr lang="en-US" smtClean="0"/>
              <a:t>5/16/2026</a:t>
            </a:fld>
            <a:endParaRPr lang="en-US"/>
          </a:p>
        </p:txBody>
      </p:sp>
      <p:sp>
        <p:nvSpPr>
          <p:cNvPr id="5" name="Footer Placeholder 4">
            <a:extLst>
              <a:ext uri="{FF2B5EF4-FFF2-40B4-BE49-F238E27FC236}">
                <a16:creationId xmlns:a16="http://schemas.microsoft.com/office/drawing/2014/main" id="{0605F200-F078-28B8-3FD9-9D1F8D80ED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E9C7A8-4A5F-F56D-1B16-1BBCBA6C32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95DDFD-3EB8-49F3-926B-5550164471ED}" type="slidenum">
              <a:rPr lang="en-US" smtClean="0"/>
              <a:t>‹#›</a:t>
            </a:fld>
            <a:endParaRPr lang="en-US"/>
          </a:p>
        </p:txBody>
      </p:sp>
    </p:spTree>
    <p:extLst>
      <p:ext uri="{BB962C8B-B14F-4D97-AF65-F5344CB8AC3E}">
        <p14:creationId xmlns:p14="http://schemas.microsoft.com/office/powerpoint/2010/main" val="3496223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997E41-8A74-440F-8728-FC7F2D05942E}" type="datetimeFigureOut">
              <a:rPr lang="en-US" smtClean="0"/>
              <a:t>5/16/2026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B7610C-C9A5-481B-9FB9-351E71BF674B}" type="slidenum">
              <a:rPr lang="en-US" smtClean="0"/>
              <a:t>‹#›</a:t>
            </a:fld>
            <a:endParaRPr lang="en-US"/>
          </a:p>
        </p:txBody>
      </p:sp>
      <p:sp>
        <p:nvSpPr>
          <p:cNvPr id="7" name="Rectangle 6"/>
          <p:cNvSpPr/>
          <p:nvPr userDrawn="1"/>
        </p:nvSpPr>
        <p:spPr>
          <a:xfrm>
            <a:off x="0" y="0"/>
            <a:ext cx="12192000" cy="573741"/>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25124712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arxiv.org/pdf/1406.1078v3.pdf" TargetMode="Externa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p:cNvPicPr>
            <a:picLocks noChangeAspect="1"/>
          </p:cNvPicPr>
          <p:nvPr/>
        </p:nvPicPr>
        <p:blipFill>
          <a:blip r:embed="rId3"/>
          <a:stretch>
            <a:fillRect/>
          </a:stretch>
        </p:blipFill>
        <p:spPr>
          <a:xfrm>
            <a:off x="1323893" y="2279916"/>
            <a:ext cx="8893202" cy="2792827"/>
          </a:xfrm>
          <a:prstGeom prst="rect">
            <a:avLst/>
          </a:prstGeom>
        </p:spPr>
      </p:pic>
    </p:spTree>
    <p:extLst>
      <p:ext uri="{BB962C8B-B14F-4D97-AF65-F5344CB8AC3E}">
        <p14:creationId xmlns:p14="http://schemas.microsoft.com/office/powerpoint/2010/main" val="486590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99899" y="2693745"/>
            <a:ext cx="6192202" cy="1272389"/>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DEEP LEARNING COURSE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FALL 2024</a:t>
            </a:r>
          </a:p>
        </p:txBody>
      </p:sp>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8107680" y="6263640"/>
            <a:ext cx="35204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Usman Khan, PhD</a:t>
            </a:r>
          </a:p>
        </p:txBody>
      </p:sp>
    </p:spTree>
    <p:extLst>
      <p:ext uri="{BB962C8B-B14F-4D97-AF65-F5344CB8AC3E}">
        <p14:creationId xmlns:p14="http://schemas.microsoft.com/office/powerpoint/2010/main" val="1188647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82A06-4A2E-E152-3E59-54D843E00A1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1EF399A-673C-3946-BA84-6CACFB1A4FAF}"/>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BATCH NORMALIZATION</a:t>
            </a:r>
          </a:p>
        </p:txBody>
      </p:sp>
      <p:sp>
        <p:nvSpPr>
          <p:cNvPr id="2" name="TextBox 1">
            <a:extLst>
              <a:ext uri="{FF2B5EF4-FFF2-40B4-BE49-F238E27FC236}">
                <a16:creationId xmlns:a16="http://schemas.microsoft.com/office/drawing/2014/main" id="{BC52AA06-00EB-2E63-4107-CC7240FBCFA9}"/>
              </a:ext>
            </a:extLst>
          </p:cNvPr>
          <p:cNvSpPr txBox="1"/>
          <p:nvPr/>
        </p:nvSpPr>
        <p:spPr>
          <a:xfrm>
            <a:off x="680720" y="885706"/>
            <a:ext cx="10830560" cy="5035353"/>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BATCH NORMALIZATION</a:t>
            </a:r>
          </a:p>
          <a:p>
            <a:pPr marL="285750" indent="-285750">
              <a:lnSpc>
                <a:spcPct val="150000"/>
              </a:lnSpc>
              <a:buFont typeface="Wingdings" panose="05000000000000000000" pitchFamily="2" charset="2"/>
              <a:buChar char="ü"/>
            </a:pPr>
            <a:r>
              <a:rPr lang="en-US" b="1" dirty="0"/>
              <a:t>Normalization in machine learning is a broad category of methods that seek to make different samples seen by a machine learning model more similar to each other</a:t>
            </a:r>
            <a:r>
              <a:rPr lang="en-US" dirty="0"/>
              <a:t>, which helps the model learn and generalize well to new data. </a:t>
            </a:r>
          </a:p>
          <a:p>
            <a:pPr marL="285750" indent="-285750">
              <a:lnSpc>
                <a:spcPct val="150000"/>
              </a:lnSpc>
              <a:buFont typeface="Wingdings" panose="05000000000000000000" pitchFamily="2" charset="2"/>
              <a:buChar char="ü"/>
            </a:pPr>
            <a:r>
              <a:rPr lang="en-US" dirty="0"/>
              <a:t>The most common form of data normalization is one you’ve seen several times in this book already: </a:t>
            </a:r>
            <a:r>
              <a:rPr lang="en-US" b="1" i="1" dirty="0"/>
              <a:t>centering the data on zero by subtracting the mean from the data and giving the data a unit standard deviation by dividing the data by its standard deviation. </a:t>
            </a:r>
          </a:p>
          <a:p>
            <a:pPr marL="285750" indent="-285750">
              <a:lnSpc>
                <a:spcPct val="150000"/>
              </a:lnSpc>
              <a:buFont typeface="Wingdings" panose="05000000000000000000" pitchFamily="2" charset="2"/>
              <a:buChar char="ü"/>
            </a:pPr>
            <a:r>
              <a:rPr lang="en-US" dirty="0"/>
              <a:t>In effect, this makes the assumption that the data follows a normal (or Gaussian) distribution and makes sure this distribution is centered and scaled to unit variance: </a:t>
            </a:r>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q"/>
            </a:pPr>
            <a:endParaRPr lang="en-US" dirty="0"/>
          </a:p>
        </p:txBody>
      </p:sp>
      <p:pic>
        <p:nvPicPr>
          <p:cNvPr id="6" name="Picture 5">
            <a:extLst>
              <a:ext uri="{FF2B5EF4-FFF2-40B4-BE49-F238E27FC236}">
                <a16:creationId xmlns:a16="http://schemas.microsoft.com/office/drawing/2014/main" id="{7565A7CE-A989-178C-4FCF-C663098EE5DF}"/>
              </a:ext>
            </a:extLst>
          </p:cNvPr>
          <p:cNvPicPr>
            <a:picLocks noChangeAspect="1"/>
          </p:cNvPicPr>
          <p:nvPr/>
        </p:nvPicPr>
        <p:blipFill>
          <a:blip r:embed="rId3"/>
          <a:stretch>
            <a:fillRect/>
          </a:stretch>
        </p:blipFill>
        <p:spPr>
          <a:xfrm>
            <a:off x="2378418" y="4777724"/>
            <a:ext cx="8747560" cy="454675"/>
          </a:xfrm>
          <a:prstGeom prst="rect">
            <a:avLst/>
          </a:prstGeom>
        </p:spPr>
      </p:pic>
    </p:spTree>
    <p:extLst>
      <p:ext uri="{BB962C8B-B14F-4D97-AF65-F5344CB8AC3E}">
        <p14:creationId xmlns:p14="http://schemas.microsoft.com/office/powerpoint/2010/main" val="1746421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B9220-5D76-0D6E-6661-934BC80BE0D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F1C178A-B976-5B53-8797-7487B1C8175B}"/>
              </a:ext>
            </a:extLst>
          </p:cNvPr>
          <p:cNvSpPr txBox="1"/>
          <p:nvPr/>
        </p:nvSpPr>
        <p:spPr>
          <a:xfrm>
            <a:off x="883920" y="254000"/>
            <a:ext cx="10739120" cy="369332"/>
          </a:xfrm>
          <a:prstGeom prst="rect">
            <a:avLst/>
          </a:prstGeom>
          <a:solidFill>
            <a:srgbClr val="002060"/>
          </a:solidFill>
        </p:spPr>
        <p:txBody>
          <a:bodyPr wrap="square" rtlCol="0">
            <a:spAutoFit/>
          </a:bodyPr>
          <a:lstStyle/>
          <a:p>
            <a:pPr lvl="0" algn="ctr">
              <a:defRPr/>
            </a:pPr>
            <a:r>
              <a:rPr lang="en-US" b="1" dirty="0">
                <a:solidFill>
                  <a:srgbClr val="FFFF00"/>
                </a:solidFill>
                <a:effectLst>
                  <a:outerShdw blurRad="38100" dist="38100" dir="2700000" algn="tl">
                    <a:srgbClr val="000000">
                      <a:alpha val="43137"/>
                    </a:srgbClr>
                  </a:outerShdw>
                </a:effectLst>
              </a:rPr>
              <a:t>BATCH NORMALIZATION</a:t>
            </a:r>
          </a:p>
        </p:txBody>
      </p:sp>
      <p:sp>
        <p:nvSpPr>
          <p:cNvPr id="2" name="TextBox 1">
            <a:extLst>
              <a:ext uri="{FF2B5EF4-FFF2-40B4-BE49-F238E27FC236}">
                <a16:creationId xmlns:a16="http://schemas.microsoft.com/office/drawing/2014/main" id="{0737D090-F1F2-56A7-480F-A2D2DB88EC61}"/>
              </a:ext>
            </a:extLst>
          </p:cNvPr>
          <p:cNvSpPr txBox="1"/>
          <p:nvPr/>
        </p:nvSpPr>
        <p:spPr>
          <a:xfrm>
            <a:off x="680720" y="885706"/>
            <a:ext cx="10830560" cy="5866350"/>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BATCH NORMALIZATION</a:t>
            </a:r>
          </a:p>
          <a:p>
            <a:pPr marL="285750" indent="-285750">
              <a:lnSpc>
                <a:spcPct val="150000"/>
              </a:lnSpc>
              <a:buFont typeface="Wingdings" panose="05000000000000000000" pitchFamily="2" charset="2"/>
              <a:buChar char="ü"/>
            </a:pPr>
            <a:r>
              <a:rPr lang="en-US" dirty="0"/>
              <a:t>Data normalization may be a concern after every transformation performed by the network: </a:t>
            </a:r>
            <a:r>
              <a:rPr lang="en-US" dirty="0">
                <a:solidFill>
                  <a:srgbClr val="0070C0"/>
                </a:solidFill>
                <a:effectLst>
                  <a:outerShdw blurRad="38100" dist="38100" dir="2700000" algn="tl">
                    <a:srgbClr val="000000">
                      <a:alpha val="43137"/>
                    </a:srgbClr>
                  </a:outerShdw>
                </a:effectLst>
              </a:rPr>
              <a:t>even if the data entering a Dense or Conv2D network has a 0 mean and unit variance</a:t>
            </a:r>
            <a:r>
              <a:rPr lang="en-US" dirty="0"/>
              <a:t>, there’s no reason to expect a priori that this will be the case for the data coming out. </a:t>
            </a:r>
          </a:p>
          <a:p>
            <a:pPr marL="285750" indent="-285750">
              <a:lnSpc>
                <a:spcPct val="150000"/>
              </a:lnSpc>
              <a:buFont typeface="Wingdings" panose="05000000000000000000" pitchFamily="2" charset="2"/>
              <a:buChar char="ü"/>
            </a:pPr>
            <a:r>
              <a:rPr lang="en-US" dirty="0"/>
              <a:t> Batch normalization does just that. </a:t>
            </a:r>
            <a:r>
              <a:rPr lang="en-US" dirty="0">
                <a:solidFill>
                  <a:srgbClr val="0070C0"/>
                </a:solidFill>
                <a:effectLst>
                  <a:outerShdw blurRad="38100" dist="38100" dir="2700000" algn="tl">
                    <a:srgbClr val="000000">
                      <a:alpha val="43137"/>
                    </a:srgbClr>
                  </a:outerShdw>
                </a:effectLst>
              </a:rPr>
              <a:t>It’s a type of layer (</a:t>
            </a:r>
            <a:r>
              <a:rPr lang="en-US" dirty="0" err="1">
                <a:solidFill>
                  <a:srgbClr val="0070C0"/>
                </a:solidFill>
                <a:effectLst>
                  <a:outerShdw blurRad="38100" dist="38100" dir="2700000" algn="tl">
                    <a:srgbClr val="000000">
                      <a:alpha val="43137"/>
                    </a:srgbClr>
                  </a:outerShdw>
                </a:effectLst>
              </a:rPr>
              <a:t>BatchNormalization</a:t>
            </a:r>
            <a:r>
              <a:rPr lang="en-US" dirty="0">
                <a:solidFill>
                  <a:srgbClr val="0070C0"/>
                </a:solidFill>
                <a:effectLst>
                  <a:outerShdw blurRad="38100" dist="38100" dir="2700000" algn="tl">
                    <a:srgbClr val="000000">
                      <a:alpha val="43137"/>
                    </a:srgbClr>
                  </a:outerShdw>
                </a:effectLst>
              </a:rPr>
              <a:t> in </a:t>
            </a:r>
            <a:r>
              <a:rPr lang="en-US" dirty="0" err="1">
                <a:solidFill>
                  <a:srgbClr val="0070C0"/>
                </a:solidFill>
                <a:effectLst>
                  <a:outerShdw blurRad="38100" dist="38100" dir="2700000" algn="tl">
                    <a:srgbClr val="000000">
                      <a:alpha val="43137"/>
                    </a:srgbClr>
                  </a:outerShdw>
                </a:effectLst>
              </a:rPr>
              <a:t>Keras</a:t>
            </a:r>
            <a:r>
              <a:rPr lang="en-US" dirty="0">
                <a:solidFill>
                  <a:srgbClr val="0070C0"/>
                </a:solidFill>
                <a:effectLst>
                  <a:outerShdw blurRad="38100" dist="38100" dir="2700000" algn="tl">
                    <a:srgbClr val="000000">
                      <a:alpha val="43137"/>
                    </a:srgbClr>
                  </a:outerShdw>
                </a:effectLst>
              </a:rPr>
              <a:t>) introduced in 2015 it can adaptively normalize data even as the mean and variance change over time during training</a:t>
            </a:r>
            <a:r>
              <a:rPr lang="en-US" dirty="0"/>
              <a:t>. </a:t>
            </a:r>
          </a:p>
          <a:p>
            <a:pPr marL="285750" indent="-285750">
              <a:lnSpc>
                <a:spcPct val="150000"/>
              </a:lnSpc>
              <a:buFont typeface="Wingdings" panose="05000000000000000000" pitchFamily="2" charset="2"/>
              <a:buChar char="ü"/>
            </a:pPr>
            <a:r>
              <a:rPr lang="en-US" dirty="0"/>
              <a:t>During training, it uses the mean and variance of the current batch of data to normalize samples, and during inference (when a big enough batch of representative data may not be available), it uses an exponential moving average of the batchwise mean and variance of the data seen during training. </a:t>
            </a:r>
          </a:p>
          <a:p>
            <a:pPr marL="285750" indent="-285750">
              <a:lnSpc>
                <a:spcPct val="150000"/>
              </a:lnSpc>
              <a:buFont typeface="Wingdings" panose="05000000000000000000" pitchFamily="2" charset="2"/>
              <a:buChar char="ü"/>
            </a:pPr>
            <a:r>
              <a:rPr lang="en-US" dirty="0"/>
              <a:t>The </a:t>
            </a:r>
            <a:r>
              <a:rPr lang="en-US" dirty="0" err="1"/>
              <a:t>BatchNormalization</a:t>
            </a:r>
            <a:r>
              <a:rPr lang="en-US" dirty="0"/>
              <a:t> layer can be used after any layer—Dense, Conv2D, and so on: </a:t>
            </a:r>
          </a:p>
          <a:p>
            <a:pPr marL="285750" indent="-285750">
              <a:lnSpc>
                <a:spcPct val="150000"/>
              </a:lnSpc>
              <a:buFont typeface="Wingdings" panose="05000000000000000000" pitchFamily="2" charset="2"/>
              <a:buChar char="ü"/>
            </a:pPr>
            <a:endParaRPr lang="en-US" dirty="0"/>
          </a:p>
          <a:p>
            <a:pPr>
              <a:lnSpc>
                <a:spcPct val="150000"/>
              </a:lnSpc>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q"/>
            </a:pPr>
            <a:endParaRPr lang="en-US" dirty="0"/>
          </a:p>
        </p:txBody>
      </p:sp>
      <p:pic>
        <p:nvPicPr>
          <p:cNvPr id="4" name="Picture 3">
            <a:extLst>
              <a:ext uri="{FF2B5EF4-FFF2-40B4-BE49-F238E27FC236}">
                <a16:creationId xmlns:a16="http://schemas.microsoft.com/office/drawing/2014/main" id="{2F497548-18BE-81D9-6E3B-FF439F67160A}"/>
              </a:ext>
            </a:extLst>
          </p:cNvPr>
          <p:cNvPicPr>
            <a:picLocks noChangeAspect="1"/>
          </p:cNvPicPr>
          <p:nvPr/>
        </p:nvPicPr>
        <p:blipFill>
          <a:blip r:embed="rId3"/>
          <a:stretch>
            <a:fillRect/>
          </a:stretch>
        </p:blipFill>
        <p:spPr>
          <a:xfrm>
            <a:off x="2029162" y="5256481"/>
            <a:ext cx="6873836" cy="1120237"/>
          </a:xfrm>
          <a:prstGeom prst="rect">
            <a:avLst/>
          </a:prstGeom>
        </p:spPr>
      </p:pic>
    </p:spTree>
    <p:extLst>
      <p:ext uri="{BB962C8B-B14F-4D97-AF65-F5344CB8AC3E}">
        <p14:creationId xmlns:p14="http://schemas.microsoft.com/office/powerpoint/2010/main" val="1129022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1D2B2-3E54-EAD7-0EC8-07530CCC81D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239695-2F89-0E17-D825-E0D0D9656D61}"/>
              </a:ext>
            </a:extLst>
          </p:cNvPr>
          <p:cNvSpPr txBox="1"/>
          <p:nvPr/>
        </p:nvSpPr>
        <p:spPr>
          <a:xfrm>
            <a:off x="883920" y="254000"/>
            <a:ext cx="10739120" cy="369332"/>
          </a:xfrm>
          <a:prstGeom prst="rect">
            <a:avLst/>
          </a:prstGeom>
          <a:solidFill>
            <a:srgbClr val="002060"/>
          </a:solidFill>
        </p:spPr>
        <p:txBody>
          <a:bodyPr wrap="square" rtlCol="0">
            <a:spAutoFit/>
          </a:bodyPr>
          <a:lstStyle/>
          <a:p>
            <a:pPr lvl="0" algn="ctr">
              <a:defRPr/>
            </a:pPr>
            <a:r>
              <a:rPr lang="en-US" b="1" dirty="0">
                <a:solidFill>
                  <a:srgbClr val="FFFF00"/>
                </a:solidFill>
                <a:effectLst>
                  <a:outerShdw blurRad="38100" dist="38100" dir="2700000" algn="tl">
                    <a:srgbClr val="000000">
                      <a:alpha val="43137"/>
                    </a:srgbClr>
                  </a:outerShdw>
                </a:effectLst>
              </a:rPr>
              <a:t>BATCH NORMALIZATION</a:t>
            </a:r>
          </a:p>
        </p:txBody>
      </p:sp>
      <p:sp>
        <p:nvSpPr>
          <p:cNvPr id="2" name="TextBox 1">
            <a:extLst>
              <a:ext uri="{FF2B5EF4-FFF2-40B4-BE49-F238E27FC236}">
                <a16:creationId xmlns:a16="http://schemas.microsoft.com/office/drawing/2014/main" id="{346E008F-2862-A87D-D161-740B6614DA34}"/>
              </a:ext>
            </a:extLst>
          </p:cNvPr>
          <p:cNvSpPr txBox="1"/>
          <p:nvPr/>
        </p:nvSpPr>
        <p:spPr>
          <a:xfrm>
            <a:off x="680720" y="885706"/>
            <a:ext cx="10830560" cy="5450851"/>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BATCH NORMALIZATION</a:t>
            </a:r>
          </a:p>
          <a:p>
            <a:pPr marL="285750" indent="-285750">
              <a:lnSpc>
                <a:spcPct val="150000"/>
              </a:lnSpc>
              <a:buFont typeface="Wingdings" panose="05000000000000000000" pitchFamily="2" charset="2"/>
              <a:buChar char="ü"/>
            </a:pPr>
            <a:r>
              <a:rPr lang="en-US" dirty="0"/>
              <a:t>For instance, Conv2D returns, schematically, y = conv(x, kernel) + bias, and Dense returns y = dot(x, kernel) + bias. Because the normalization step will take care of centering the layer’s output on zero, the bias vector is no longer needed when using </a:t>
            </a:r>
            <a:r>
              <a:rPr lang="en-US" dirty="0" err="1"/>
              <a:t>BatchNormalization</a:t>
            </a:r>
            <a:r>
              <a:rPr lang="en-US" dirty="0"/>
              <a:t>, and the layer can be created without it via the option </a:t>
            </a:r>
            <a:r>
              <a:rPr lang="en-US" dirty="0" err="1"/>
              <a:t>use_bias</a:t>
            </a:r>
            <a:r>
              <a:rPr lang="en-US" dirty="0"/>
              <a:t>=False. This makes the layer slightly leaner. </a:t>
            </a:r>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r>
              <a:rPr lang="en-US" dirty="0"/>
              <a:t>For instance, Conv2D returns, schematically, y = conv(x, kernel) + bias, and Dense returns y = dot(x, kernel) + bias. </a:t>
            </a:r>
            <a:r>
              <a:rPr lang="en-US" i="1" dirty="0">
                <a:solidFill>
                  <a:srgbClr val="0070C0"/>
                </a:solidFill>
                <a:effectLst>
                  <a:outerShdw blurRad="38100" dist="38100" dir="2700000" algn="tl">
                    <a:srgbClr val="000000">
                      <a:alpha val="43137"/>
                    </a:srgbClr>
                  </a:outerShdw>
                </a:effectLst>
              </a:rPr>
              <a:t>Because the normalization step will take care of centering the layer’s output on zero, the bias vector is no longer needed when using </a:t>
            </a:r>
            <a:r>
              <a:rPr lang="en-US" i="1" dirty="0" err="1">
                <a:solidFill>
                  <a:srgbClr val="0070C0"/>
                </a:solidFill>
                <a:effectLst>
                  <a:outerShdw blurRad="38100" dist="38100" dir="2700000" algn="tl">
                    <a:srgbClr val="000000">
                      <a:alpha val="43137"/>
                    </a:srgbClr>
                  </a:outerShdw>
                </a:effectLst>
              </a:rPr>
              <a:t>BatchNormalization</a:t>
            </a:r>
            <a:r>
              <a:rPr lang="en-US" i="1" dirty="0">
                <a:solidFill>
                  <a:srgbClr val="0070C0"/>
                </a:solidFill>
                <a:effectLst>
                  <a:outerShdw blurRad="38100" dist="38100" dir="2700000" algn="tl">
                    <a:srgbClr val="000000">
                      <a:alpha val="43137"/>
                    </a:srgbClr>
                  </a:outerShdw>
                </a:effectLst>
              </a:rPr>
              <a:t>, and the layer can be created without it via the option </a:t>
            </a:r>
            <a:r>
              <a:rPr lang="en-US" i="1" dirty="0" err="1">
                <a:solidFill>
                  <a:srgbClr val="0070C0"/>
                </a:solidFill>
                <a:effectLst>
                  <a:outerShdw blurRad="38100" dist="38100" dir="2700000" algn="tl">
                    <a:srgbClr val="000000">
                      <a:alpha val="43137"/>
                    </a:srgbClr>
                  </a:outerShdw>
                </a:effectLst>
              </a:rPr>
              <a:t>use_bias</a:t>
            </a:r>
            <a:r>
              <a:rPr lang="en-US" i="1" dirty="0">
                <a:solidFill>
                  <a:srgbClr val="0070C0"/>
                </a:solidFill>
                <a:effectLst>
                  <a:outerShdw blurRad="38100" dist="38100" dir="2700000" algn="tl">
                    <a:srgbClr val="000000">
                      <a:alpha val="43137"/>
                    </a:srgbClr>
                  </a:outerShdw>
                </a:effectLst>
              </a:rPr>
              <a:t>=False. This makes the layer slightly leaner</a:t>
            </a:r>
            <a:r>
              <a:rPr lang="en-US" dirty="0"/>
              <a:t>. </a:t>
            </a:r>
          </a:p>
          <a:p>
            <a:pPr marL="285750" indent="-285750">
              <a:lnSpc>
                <a:spcPct val="150000"/>
              </a:lnSpc>
              <a:buFont typeface="Wingdings" panose="05000000000000000000" pitchFamily="2" charset="2"/>
              <a:buChar char="q"/>
            </a:pPr>
            <a:endParaRPr lang="en-US" dirty="0"/>
          </a:p>
        </p:txBody>
      </p:sp>
      <p:pic>
        <p:nvPicPr>
          <p:cNvPr id="4" name="Picture 3">
            <a:extLst>
              <a:ext uri="{FF2B5EF4-FFF2-40B4-BE49-F238E27FC236}">
                <a16:creationId xmlns:a16="http://schemas.microsoft.com/office/drawing/2014/main" id="{8EE0D60B-C6E3-3967-79A9-3E5A38E7BCB0}"/>
              </a:ext>
            </a:extLst>
          </p:cNvPr>
          <p:cNvPicPr>
            <a:picLocks noChangeAspect="1"/>
          </p:cNvPicPr>
          <p:nvPr/>
        </p:nvPicPr>
        <p:blipFill>
          <a:blip r:embed="rId3"/>
          <a:stretch>
            <a:fillRect/>
          </a:stretch>
        </p:blipFill>
        <p:spPr>
          <a:xfrm>
            <a:off x="1693882" y="2987884"/>
            <a:ext cx="6873836" cy="1120237"/>
          </a:xfrm>
          <a:prstGeom prst="rect">
            <a:avLst/>
          </a:prstGeom>
        </p:spPr>
      </p:pic>
    </p:spTree>
    <p:extLst>
      <p:ext uri="{BB962C8B-B14F-4D97-AF65-F5344CB8AC3E}">
        <p14:creationId xmlns:p14="http://schemas.microsoft.com/office/powerpoint/2010/main" val="3572098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81D60-5C40-A7D5-7E55-93DE437B466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FFC8B0A-10E8-8005-B7EA-2B8EB2C030ED}"/>
              </a:ext>
            </a:extLst>
          </p:cNvPr>
          <p:cNvSpPr txBox="1"/>
          <p:nvPr/>
        </p:nvSpPr>
        <p:spPr>
          <a:xfrm>
            <a:off x="883920" y="254000"/>
            <a:ext cx="10739120" cy="369332"/>
          </a:xfrm>
          <a:prstGeom prst="rect">
            <a:avLst/>
          </a:prstGeom>
          <a:solidFill>
            <a:srgbClr val="002060"/>
          </a:solidFill>
        </p:spPr>
        <p:txBody>
          <a:bodyPr wrap="square" rtlCol="0">
            <a:spAutoFit/>
          </a:bodyPr>
          <a:lstStyle/>
          <a:p>
            <a:pPr lvl="0" algn="ctr">
              <a:defRPr/>
            </a:pPr>
            <a:r>
              <a:rPr lang="en-US" b="1" dirty="0">
                <a:solidFill>
                  <a:srgbClr val="FFFF00"/>
                </a:solidFill>
                <a:effectLst>
                  <a:outerShdw blurRad="38100" dist="38100" dir="2700000" algn="tl">
                    <a:srgbClr val="000000">
                      <a:alpha val="43137"/>
                    </a:srgbClr>
                  </a:outerShdw>
                </a:effectLst>
              </a:rPr>
              <a:t>BATCH NORMALIZATION</a:t>
            </a:r>
          </a:p>
        </p:txBody>
      </p:sp>
      <p:sp>
        <p:nvSpPr>
          <p:cNvPr id="2" name="TextBox 1">
            <a:extLst>
              <a:ext uri="{FF2B5EF4-FFF2-40B4-BE49-F238E27FC236}">
                <a16:creationId xmlns:a16="http://schemas.microsoft.com/office/drawing/2014/main" id="{19C258BE-CF35-199E-AB3D-55860525C808}"/>
              </a:ext>
            </a:extLst>
          </p:cNvPr>
          <p:cNvSpPr txBox="1"/>
          <p:nvPr/>
        </p:nvSpPr>
        <p:spPr>
          <a:xfrm>
            <a:off x="680720" y="885706"/>
            <a:ext cx="10830560" cy="5450851"/>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BATCH NORMALIZATION</a:t>
            </a:r>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gn="just">
              <a:lnSpc>
                <a:spcPct val="150000"/>
              </a:lnSpc>
              <a:buFont typeface="Wingdings" panose="05000000000000000000" pitchFamily="2" charset="2"/>
              <a:buChar char="ü"/>
            </a:pPr>
            <a:r>
              <a:rPr lang="en-US" dirty="0"/>
              <a:t> </a:t>
            </a:r>
            <a:r>
              <a:rPr lang="en-US" i="1" dirty="0">
                <a:solidFill>
                  <a:srgbClr val="0070C0"/>
                </a:solidFill>
                <a:effectLst>
                  <a:outerShdw blurRad="38100" dist="38100" dir="2700000" algn="tl">
                    <a:srgbClr val="000000">
                      <a:alpha val="43137"/>
                    </a:srgbClr>
                  </a:outerShdw>
                </a:effectLst>
              </a:rPr>
              <a:t>The intuitive reason why is that batch normalization will center your inputs on zero, while your </a:t>
            </a:r>
            <a:r>
              <a:rPr lang="en-US" i="1" dirty="0" err="1">
                <a:solidFill>
                  <a:srgbClr val="0070C0"/>
                </a:solidFill>
                <a:effectLst>
                  <a:outerShdw blurRad="38100" dist="38100" dir="2700000" algn="tl">
                    <a:srgbClr val="000000">
                      <a:alpha val="43137"/>
                    </a:srgbClr>
                  </a:outerShdw>
                </a:effectLst>
              </a:rPr>
              <a:t>ReLU</a:t>
            </a:r>
            <a:r>
              <a:rPr lang="en-US" i="1" dirty="0">
                <a:solidFill>
                  <a:srgbClr val="0070C0"/>
                </a:solidFill>
                <a:effectLst>
                  <a:outerShdw blurRad="38100" dist="38100" dir="2700000" algn="tl">
                    <a:srgbClr val="000000">
                      <a:alpha val="43137"/>
                    </a:srgbClr>
                  </a:outerShdw>
                </a:effectLst>
              </a:rPr>
              <a:t> activation uses zero as a pivot for keeping or dropping activated channels: doing normalization before the activation maximizes the utilization of the </a:t>
            </a:r>
            <a:r>
              <a:rPr lang="en-US" i="1" dirty="0" err="1">
                <a:solidFill>
                  <a:srgbClr val="0070C0"/>
                </a:solidFill>
                <a:effectLst>
                  <a:outerShdw blurRad="38100" dist="38100" dir="2700000" algn="tl">
                    <a:srgbClr val="000000">
                      <a:alpha val="43137"/>
                    </a:srgbClr>
                  </a:outerShdw>
                </a:effectLst>
              </a:rPr>
              <a:t>ReLU</a:t>
            </a:r>
            <a:r>
              <a:rPr lang="en-US" dirty="0"/>
              <a:t>. That said, this ordering best practice is not exactly critical, so if you do convolution activation-batch normalization, your model will still train, and you won’t necessarily see worse results.</a:t>
            </a:r>
          </a:p>
        </p:txBody>
      </p:sp>
      <p:pic>
        <p:nvPicPr>
          <p:cNvPr id="6" name="Picture 5">
            <a:extLst>
              <a:ext uri="{FF2B5EF4-FFF2-40B4-BE49-F238E27FC236}">
                <a16:creationId xmlns:a16="http://schemas.microsoft.com/office/drawing/2014/main" id="{6D904FD7-0B16-5540-0DA1-412750A152F7}"/>
              </a:ext>
            </a:extLst>
          </p:cNvPr>
          <p:cNvPicPr>
            <a:picLocks noChangeAspect="1"/>
          </p:cNvPicPr>
          <p:nvPr/>
        </p:nvPicPr>
        <p:blipFill>
          <a:blip r:embed="rId3"/>
          <a:stretch>
            <a:fillRect/>
          </a:stretch>
        </p:blipFill>
        <p:spPr>
          <a:xfrm>
            <a:off x="1114794" y="2430335"/>
            <a:ext cx="7586704" cy="1481173"/>
          </a:xfrm>
          <a:prstGeom prst="rect">
            <a:avLst/>
          </a:prstGeom>
        </p:spPr>
      </p:pic>
      <p:pic>
        <p:nvPicPr>
          <p:cNvPr id="8" name="Picture 7">
            <a:extLst>
              <a:ext uri="{FF2B5EF4-FFF2-40B4-BE49-F238E27FC236}">
                <a16:creationId xmlns:a16="http://schemas.microsoft.com/office/drawing/2014/main" id="{F4CE3D57-1108-DF3B-643C-A2D693C0BE59}"/>
              </a:ext>
            </a:extLst>
          </p:cNvPr>
          <p:cNvPicPr>
            <a:picLocks noChangeAspect="1"/>
          </p:cNvPicPr>
          <p:nvPr/>
        </p:nvPicPr>
        <p:blipFill>
          <a:blip r:embed="rId4"/>
          <a:stretch>
            <a:fillRect/>
          </a:stretch>
        </p:blipFill>
        <p:spPr>
          <a:xfrm>
            <a:off x="1114794" y="1512584"/>
            <a:ext cx="7586704" cy="687133"/>
          </a:xfrm>
          <a:prstGeom prst="rect">
            <a:avLst/>
          </a:prstGeom>
        </p:spPr>
      </p:pic>
    </p:spTree>
    <p:extLst>
      <p:ext uri="{BB962C8B-B14F-4D97-AF65-F5344CB8AC3E}">
        <p14:creationId xmlns:p14="http://schemas.microsoft.com/office/powerpoint/2010/main" val="1118812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ABEDE-948D-F825-EBB8-C501BF71594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2B8D11B-A60D-AD28-9F0F-DC3414EC6807}"/>
              </a:ext>
            </a:extLst>
          </p:cNvPr>
          <p:cNvSpPr txBox="1"/>
          <p:nvPr/>
        </p:nvSpPr>
        <p:spPr>
          <a:xfrm>
            <a:off x="883920" y="254000"/>
            <a:ext cx="10739120" cy="369332"/>
          </a:xfrm>
          <a:prstGeom prst="rect">
            <a:avLst/>
          </a:prstGeom>
          <a:solidFill>
            <a:srgbClr val="002060"/>
          </a:solidFill>
        </p:spPr>
        <p:txBody>
          <a:bodyPr wrap="square" rtlCol="0">
            <a:spAutoFit/>
          </a:bodyPr>
          <a:lstStyle/>
          <a:p>
            <a:pPr lvl="0" algn="ctr">
              <a:defRPr/>
            </a:pPr>
            <a:r>
              <a:rPr lang="en-US" b="1" dirty="0">
                <a:solidFill>
                  <a:srgbClr val="FFFF00"/>
                </a:solidFill>
                <a:effectLst>
                  <a:outerShdw blurRad="38100" dist="38100" dir="2700000" algn="tl">
                    <a:srgbClr val="000000">
                      <a:alpha val="43137"/>
                    </a:srgbClr>
                  </a:outerShdw>
                </a:effectLst>
              </a:rPr>
              <a:t>BATCH NORMALIZATION</a:t>
            </a:r>
          </a:p>
        </p:txBody>
      </p:sp>
      <p:sp>
        <p:nvSpPr>
          <p:cNvPr id="2" name="TextBox 1">
            <a:extLst>
              <a:ext uri="{FF2B5EF4-FFF2-40B4-BE49-F238E27FC236}">
                <a16:creationId xmlns:a16="http://schemas.microsoft.com/office/drawing/2014/main" id="{FE757D45-ECAD-FEF0-DE1C-3C6A0A258417}"/>
              </a:ext>
            </a:extLst>
          </p:cNvPr>
          <p:cNvSpPr txBox="1"/>
          <p:nvPr/>
        </p:nvSpPr>
        <p:spPr>
          <a:xfrm>
            <a:off x="680720" y="885706"/>
            <a:ext cx="10830560" cy="5035353"/>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BATCH NORMALIZATION</a:t>
            </a:r>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gn="just">
              <a:lnSpc>
                <a:spcPct val="150000"/>
              </a:lnSpc>
              <a:buFont typeface="Wingdings" panose="05000000000000000000" pitchFamily="2" charset="2"/>
              <a:buChar char="ü"/>
            </a:pPr>
            <a:r>
              <a:rPr lang="en-US" dirty="0"/>
              <a:t>When fine-tuning a model that includes </a:t>
            </a:r>
            <a:r>
              <a:rPr lang="en-US" dirty="0" err="1"/>
              <a:t>BatchNormalization</a:t>
            </a:r>
            <a:r>
              <a:rPr lang="en-US" dirty="0"/>
              <a:t> layers, I recommend leaving these layers frozen (set their </a:t>
            </a:r>
            <a:r>
              <a:rPr lang="en-US" i="1" dirty="0">
                <a:solidFill>
                  <a:srgbClr val="FF0000"/>
                </a:solidFill>
              </a:rPr>
              <a:t>trainable attribute to False</a:t>
            </a:r>
            <a:r>
              <a:rPr lang="en-US" dirty="0"/>
              <a:t>). Otherwise, they will keep updating their internal mean and variance, which can interfere with the very small updates applied to the surrounding Conv2D layers. </a:t>
            </a:r>
            <a:br>
              <a:rPr lang="en-US" dirty="0"/>
            </a:br>
            <a:endParaRPr lang="en-US" dirty="0"/>
          </a:p>
        </p:txBody>
      </p:sp>
      <p:pic>
        <p:nvPicPr>
          <p:cNvPr id="6" name="Picture 5">
            <a:extLst>
              <a:ext uri="{FF2B5EF4-FFF2-40B4-BE49-F238E27FC236}">
                <a16:creationId xmlns:a16="http://schemas.microsoft.com/office/drawing/2014/main" id="{EE0F4148-5A21-9EAF-D18B-7B9CC143F327}"/>
              </a:ext>
            </a:extLst>
          </p:cNvPr>
          <p:cNvPicPr>
            <a:picLocks noChangeAspect="1"/>
          </p:cNvPicPr>
          <p:nvPr/>
        </p:nvPicPr>
        <p:blipFill>
          <a:blip r:embed="rId3"/>
          <a:stretch>
            <a:fillRect/>
          </a:stretch>
        </p:blipFill>
        <p:spPr>
          <a:xfrm>
            <a:off x="1114794" y="2430335"/>
            <a:ext cx="7586704" cy="1481173"/>
          </a:xfrm>
          <a:prstGeom prst="rect">
            <a:avLst/>
          </a:prstGeom>
        </p:spPr>
      </p:pic>
      <p:pic>
        <p:nvPicPr>
          <p:cNvPr id="8" name="Picture 7">
            <a:extLst>
              <a:ext uri="{FF2B5EF4-FFF2-40B4-BE49-F238E27FC236}">
                <a16:creationId xmlns:a16="http://schemas.microsoft.com/office/drawing/2014/main" id="{23F7A27E-B9AA-D0DD-7EFE-7AC90E565F04}"/>
              </a:ext>
            </a:extLst>
          </p:cNvPr>
          <p:cNvPicPr>
            <a:picLocks noChangeAspect="1"/>
          </p:cNvPicPr>
          <p:nvPr/>
        </p:nvPicPr>
        <p:blipFill>
          <a:blip r:embed="rId4"/>
          <a:stretch>
            <a:fillRect/>
          </a:stretch>
        </p:blipFill>
        <p:spPr>
          <a:xfrm>
            <a:off x="1114794" y="1512584"/>
            <a:ext cx="7586704" cy="687133"/>
          </a:xfrm>
          <a:prstGeom prst="rect">
            <a:avLst/>
          </a:prstGeom>
        </p:spPr>
      </p:pic>
    </p:spTree>
    <p:extLst>
      <p:ext uri="{BB962C8B-B14F-4D97-AF65-F5344CB8AC3E}">
        <p14:creationId xmlns:p14="http://schemas.microsoft.com/office/powerpoint/2010/main" val="86853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177ED-2433-6B79-5FB0-66FF76BD70F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0EB8EFC-7408-2259-96AE-F2BBAB1C004D}"/>
              </a:ext>
            </a:extLst>
          </p:cNvPr>
          <p:cNvSpPr txBox="1"/>
          <p:nvPr/>
        </p:nvSpPr>
        <p:spPr>
          <a:xfrm>
            <a:off x="883920" y="254000"/>
            <a:ext cx="10739120" cy="369332"/>
          </a:xfrm>
          <a:prstGeom prst="rect">
            <a:avLst/>
          </a:prstGeom>
          <a:solidFill>
            <a:srgbClr val="002060"/>
          </a:solidFill>
        </p:spPr>
        <p:txBody>
          <a:bodyPr wrap="square" rtlCol="0">
            <a:spAutoFit/>
          </a:bodyPr>
          <a:lstStyle/>
          <a:p>
            <a:pPr lvl="0" algn="ctr">
              <a:defRPr/>
            </a:pPr>
            <a:r>
              <a:rPr lang="en-US" b="1" dirty="0">
                <a:solidFill>
                  <a:srgbClr val="FFFF00"/>
                </a:solidFill>
                <a:effectLst>
                  <a:outerShdw blurRad="38100" dist="38100" dir="2700000" algn="tl">
                    <a:srgbClr val="000000">
                      <a:alpha val="43137"/>
                    </a:srgbClr>
                  </a:outerShdw>
                </a:effectLst>
              </a:rPr>
              <a:t>BATCH NORMALIZATION</a:t>
            </a:r>
          </a:p>
        </p:txBody>
      </p:sp>
      <p:sp>
        <p:nvSpPr>
          <p:cNvPr id="2" name="TextBox 1">
            <a:extLst>
              <a:ext uri="{FF2B5EF4-FFF2-40B4-BE49-F238E27FC236}">
                <a16:creationId xmlns:a16="http://schemas.microsoft.com/office/drawing/2014/main" id="{3B5DBECF-877A-1A99-380A-6CDAB566FEC7}"/>
              </a:ext>
            </a:extLst>
          </p:cNvPr>
          <p:cNvSpPr txBox="1"/>
          <p:nvPr/>
        </p:nvSpPr>
        <p:spPr>
          <a:xfrm>
            <a:off x="680720" y="885706"/>
            <a:ext cx="10830560" cy="5450851"/>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BATCH NORMALIZATION</a:t>
            </a:r>
          </a:p>
          <a:p>
            <a:pPr marL="285750" indent="-285750">
              <a:lnSpc>
                <a:spcPct val="150000"/>
              </a:lnSpc>
              <a:buFont typeface="Wingdings" panose="05000000000000000000" pitchFamily="2" charset="2"/>
              <a:buChar char="ü"/>
            </a:pPr>
            <a:r>
              <a:rPr lang="en-US" dirty="0"/>
              <a:t>Although using He initialization along with </a:t>
            </a:r>
            <a:r>
              <a:rPr lang="en-US" dirty="0" err="1"/>
              <a:t>ReLU</a:t>
            </a:r>
            <a:r>
              <a:rPr lang="en-US" dirty="0"/>
              <a:t> or its variants can significantly reduce the danger of the vanishing/exploding gradients problems at the begin‐ </a:t>
            </a:r>
            <a:r>
              <a:rPr lang="en-US" dirty="0" err="1"/>
              <a:t>ning</a:t>
            </a:r>
            <a:r>
              <a:rPr lang="en-US" dirty="0"/>
              <a:t> of training, it doesn’t guarantee that they won’t come back during training. </a:t>
            </a:r>
          </a:p>
          <a:p>
            <a:pPr marL="285750" indent="-285750">
              <a:lnSpc>
                <a:spcPct val="150000"/>
              </a:lnSpc>
              <a:buFont typeface="Wingdings" panose="05000000000000000000" pitchFamily="2" charset="2"/>
              <a:buChar char="ü"/>
            </a:pPr>
            <a:br>
              <a:rPr lang="en-US" dirty="0"/>
            </a:br>
            <a:r>
              <a:rPr lang="en-US" dirty="0"/>
              <a:t> </a:t>
            </a:r>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p:txBody>
      </p:sp>
      <p:pic>
        <p:nvPicPr>
          <p:cNvPr id="4" name="Picture 3">
            <a:extLst>
              <a:ext uri="{FF2B5EF4-FFF2-40B4-BE49-F238E27FC236}">
                <a16:creationId xmlns:a16="http://schemas.microsoft.com/office/drawing/2014/main" id="{54781044-D773-4629-022A-A017352A3DCE}"/>
              </a:ext>
            </a:extLst>
          </p:cNvPr>
          <p:cNvPicPr>
            <a:picLocks noChangeAspect="1"/>
          </p:cNvPicPr>
          <p:nvPr/>
        </p:nvPicPr>
        <p:blipFill>
          <a:blip r:embed="rId3"/>
          <a:stretch>
            <a:fillRect/>
          </a:stretch>
        </p:blipFill>
        <p:spPr>
          <a:xfrm>
            <a:off x="1244332" y="2603962"/>
            <a:ext cx="6187976" cy="3368332"/>
          </a:xfrm>
          <a:prstGeom prst="rect">
            <a:avLst/>
          </a:prstGeom>
        </p:spPr>
      </p:pic>
    </p:spTree>
    <p:extLst>
      <p:ext uri="{BB962C8B-B14F-4D97-AF65-F5344CB8AC3E}">
        <p14:creationId xmlns:p14="http://schemas.microsoft.com/office/powerpoint/2010/main" val="620597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A8701-D459-5650-A279-19E451269A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EF5B11C-4EFA-2124-46EF-F8C29B3C38E0}"/>
              </a:ext>
            </a:extLst>
          </p:cNvPr>
          <p:cNvSpPr txBox="1"/>
          <p:nvPr/>
        </p:nvSpPr>
        <p:spPr>
          <a:xfrm>
            <a:off x="883920" y="254000"/>
            <a:ext cx="10739120" cy="369332"/>
          </a:xfrm>
          <a:prstGeom prst="rect">
            <a:avLst/>
          </a:prstGeom>
          <a:solidFill>
            <a:srgbClr val="002060"/>
          </a:solidFill>
        </p:spPr>
        <p:txBody>
          <a:bodyPr wrap="square" rtlCol="0">
            <a:spAutoFit/>
          </a:bodyPr>
          <a:lstStyle/>
          <a:p>
            <a:pPr lvl="0" algn="ctr">
              <a:defRPr/>
            </a:pPr>
            <a:r>
              <a:rPr lang="en-US" b="1" dirty="0">
                <a:solidFill>
                  <a:srgbClr val="FFFF00"/>
                </a:solidFill>
                <a:effectLst>
                  <a:outerShdw blurRad="38100" dist="38100" dir="2700000" algn="tl">
                    <a:srgbClr val="000000">
                      <a:alpha val="43137"/>
                    </a:srgbClr>
                  </a:outerShdw>
                </a:effectLst>
              </a:rPr>
              <a:t>BATCH NORMALIZATION</a:t>
            </a:r>
          </a:p>
        </p:txBody>
      </p:sp>
      <p:sp>
        <p:nvSpPr>
          <p:cNvPr id="2" name="TextBox 1">
            <a:extLst>
              <a:ext uri="{FF2B5EF4-FFF2-40B4-BE49-F238E27FC236}">
                <a16:creationId xmlns:a16="http://schemas.microsoft.com/office/drawing/2014/main" id="{02DDB5DD-573F-4932-AA09-51440BDEE579}"/>
              </a:ext>
            </a:extLst>
          </p:cNvPr>
          <p:cNvSpPr txBox="1"/>
          <p:nvPr/>
        </p:nvSpPr>
        <p:spPr>
          <a:xfrm>
            <a:off x="680720" y="885706"/>
            <a:ext cx="10830560" cy="5450851"/>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BATCH NORMALIZATION</a:t>
            </a:r>
          </a:p>
          <a:p>
            <a:pPr marL="285750" indent="-285750">
              <a:lnSpc>
                <a:spcPct val="150000"/>
              </a:lnSpc>
              <a:buFont typeface="Wingdings" panose="05000000000000000000" pitchFamily="2" charset="2"/>
              <a:buChar char="ü"/>
            </a:pPr>
            <a:r>
              <a:rPr lang="en-US" dirty="0"/>
              <a:t>In order to zero-center and normalize the inputs, the algorithm needs to estimate each input’s mean and standard deviation. It does so by evaluating the mean and standard deviation of the input over the current mini-batch (hence the name “Batch Normalization”). </a:t>
            </a:r>
            <a:br>
              <a:rPr lang="en-US" dirty="0"/>
            </a:br>
            <a:r>
              <a:rPr lang="en-US" dirty="0"/>
              <a:t> </a:t>
            </a:r>
          </a:p>
          <a:p>
            <a:pPr marL="285750" indent="-285750">
              <a:lnSpc>
                <a:spcPct val="150000"/>
              </a:lnSpc>
              <a:buFont typeface="Wingdings" panose="05000000000000000000" pitchFamily="2" charset="2"/>
              <a:buChar char="ü"/>
            </a:pPr>
            <a:r>
              <a:rPr lang="en-US" dirty="0"/>
              <a:t>Algorithm</a:t>
            </a:r>
          </a:p>
          <a:p>
            <a:pPr>
              <a:lnSpc>
                <a:spcPct val="150000"/>
              </a:lnSpc>
            </a:pPr>
            <a:br>
              <a:rPr lang="en-US" dirty="0"/>
            </a:br>
            <a:r>
              <a:rPr lang="en-US" dirty="0"/>
              <a:t> </a:t>
            </a:r>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p:txBody>
      </p:sp>
      <p:pic>
        <p:nvPicPr>
          <p:cNvPr id="6" name="Picture 5">
            <a:extLst>
              <a:ext uri="{FF2B5EF4-FFF2-40B4-BE49-F238E27FC236}">
                <a16:creationId xmlns:a16="http://schemas.microsoft.com/office/drawing/2014/main" id="{5569FE32-AD95-BB0B-98DB-CA0BC9FC419B}"/>
              </a:ext>
            </a:extLst>
          </p:cNvPr>
          <p:cNvPicPr>
            <a:picLocks noChangeAspect="1"/>
          </p:cNvPicPr>
          <p:nvPr/>
        </p:nvPicPr>
        <p:blipFill>
          <a:blip r:embed="rId3"/>
          <a:stretch>
            <a:fillRect/>
          </a:stretch>
        </p:blipFill>
        <p:spPr>
          <a:xfrm>
            <a:off x="1039993" y="3544456"/>
            <a:ext cx="3162574" cy="2613887"/>
          </a:xfrm>
          <a:prstGeom prst="rect">
            <a:avLst/>
          </a:prstGeom>
        </p:spPr>
      </p:pic>
      <p:pic>
        <p:nvPicPr>
          <p:cNvPr id="8" name="Picture 7">
            <a:extLst>
              <a:ext uri="{FF2B5EF4-FFF2-40B4-BE49-F238E27FC236}">
                <a16:creationId xmlns:a16="http://schemas.microsoft.com/office/drawing/2014/main" id="{FEAC2892-639F-2A9A-72FA-29A546B0312E}"/>
              </a:ext>
            </a:extLst>
          </p:cNvPr>
          <p:cNvPicPr>
            <a:picLocks noChangeAspect="1"/>
          </p:cNvPicPr>
          <p:nvPr/>
        </p:nvPicPr>
        <p:blipFill>
          <a:blip r:embed="rId4"/>
          <a:stretch>
            <a:fillRect/>
          </a:stretch>
        </p:blipFill>
        <p:spPr>
          <a:xfrm>
            <a:off x="4202567" y="3611131"/>
            <a:ext cx="7209145" cy="2270957"/>
          </a:xfrm>
          <a:prstGeom prst="rect">
            <a:avLst/>
          </a:prstGeom>
        </p:spPr>
      </p:pic>
    </p:spTree>
    <p:extLst>
      <p:ext uri="{BB962C8B-B14F-4D97-AF65-F5344CB8AC3E}">
        <p14:creationId xmlns:p14="http://schemas.microsoft.com/office/powerpoint/2010/main" val="946036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FAB6-8E21-EC61-BA83-A90E6A74033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D1B52A-6FE3-3965-C953-1E5FAF6FDF2C}"/>
              </a:ext>
            </a:extLst>
          </p:cNvPr>
          <p:cNvSpPr txBox="1"/>
          <p:nvPr/>
        </p:nvSpPr>
        <p:spPr>
          <a:xfrm>
            <a:off x="883920" y="254000"/>
            <a:ext cx="10739120" cy="369332"/>
          </a:xfrm>
          <a:prstGeom prst="rect">
            <a:avLst/>
          </a:prstGeom>
          <a:solidFill>
            <a:srgbClr val="002060"/>
          </a:solidFill>
        </p:spPr>
        <p:txBody>
          <a:bodyPr wrap="square" rtlCol="0">
            <a:spAutoFit/>
          </a:bodyPr>
          <a:lstStyle/>
          <a:p>
            <a:pPr lvl="0" algn="ctr">
              <a:defRPr/>
            </a:pPr>
            <a:r>
              <a:rPr lang="en-US" b="1" dirty="0">
                <a:solidFill>
                  <a:srgbClr val="FFFF00"/>
                </a:solidFill>
                <a:effectLst>
                  <a:outerShdw blurRad="38100" dist="38100" dir="2700000" algn="tl">
                    <a:srgbClr val="000000">
                      <a:alpha val="43137"/>
                    </a:srgbClr>
                  </a:outerShdw>
                </a:effectLst>
              </a:rPr>
              <a:t>BATCH NORMALIZATION</a:t>
            </a:r>
          </a:p>
        </p:txBody>
      </p:sp>
      <p:sp>
        <p:nvSpPr>
          <p:cNvPr id="2" name="TextBox 1">
            <a:extLst>
              <a:ext uri="{FF2B5EF4-FFF2-40B4-BE49-F238E27FC236}">
                <a16:creationId xmlns:a16="http://schemas.microsoft.com/office/drawing/2014/main" id="{F5D5B28D-34A9-9BF9-6D66-1E68C7543F8F}"/>
              </a:ext>
            </a:extLst>
          </p:cNvPr>
          <p:cNvSpPr txBox="1"/>
          <p:nvPr/>
        </p:nvSpPr>
        <p:spPr>
          <a:xfrm>
            <a:off x="680720" y="885706"/>
            <a:ext cx="10830560" cy="5450851"/>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BATCH NORMALIZATION</a:t>
            </a:r>
          </a:p>
          <a:p>
            <a:pPr marL="285750" indent="-285750">
              <a:lnSpc>
                <a:spcPct val="150000"/>
              </a:lnSpc>
              <a:buFont typeface="Wingdings" panose="05000000000000000000" pitchFamily="2" charset="2"/>
              <a:buChar char="ü"/>
            </a:pPr>
            <a:r>
              <a:rPr lang="en-US" dirty="0"/>
              <a:t>In order to zero-center and normalize the inputs, the algorithm needs to estimate each input’s mean and standard deviation. It does so by evaluating the mean and stan‐ </a:t>
            </a:r>
            <a:r>
              <a:rPr lang="en-US" dirty="0" err="1"/>
              <a:t>dard</a:t>
            </a:r>
            <a:r>
              <a:rPr lang="en-US" dirty="0"/>
              <a:t> deviation of the input over the current mini-batch (hence the name “Batch Nor‐ </a:t>
            </a:r>
            <a:r>
              <a:rPr lang="en-US" dirty="0" err="1"/>
              <a:t>malization</a:t>
            </a:r>
            <a:r>
              <a:rPr lang="en-US" dirty="0"/>
              <a:t>”). </a:t>
            </a:r>
            <a:br>
              <a:rPr lang="en-US" dirty="0"/>
            </a:br>
            <a:r>
              <a:rPr lang="en-US" dirty="0"/>
              <a:t> </a:t>
            </a:r>
          </a:p>
          <a:p>
            <a:pPr marL="285750" indent="-285750">
              <a:lnSpc>
                <a:spcPct val="150000"/>
              </a:lnSpc>
              <a:buFont typeface="Wingdings" panose="05000000000000000000" pitchFamily="2" charset="2"/>
              <a:buChar char="ü"/>
            </a:pPr>
            <a:r>
              <a:rPr lang="en-US" dirty="0"/>
              <a:t>Algorithm</a:t>
            </a:r>
          </a:p>
          <a:p>
            <a:pPr>
              <a:lnSpc>
                <a:spcPct val="150000"/>
              </a:lnSpc>
            </a:pPr>
            <a:br>
              <a:rPr lang="en-US" dirty="0"/>
            </a:br>
            <a:r>
              <a:rPr lang="en-US" dirty="0"/>
              <a:t> </a:t>
            </a:r>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p:txBody>
      </p:sp>
      <p:pic>
        <p:nvPicPr>
          <p:cNvPr id="6" name="Picture 5">
            <a:extLst>
              <a:ext uri="{FF2B5EF4-FFF2-40B4-BE49-F238E27FC236}">
                <a16:creationId xmlns:a16="http://schemas.microsoft.com/office/drawing/2014/main" id="{ED3B775D-EF51-EBBD-B8BF-180FEA193A3F}"/>
              </a:ext>
            </a:extLst>
          </p:cNvPr>
          <p:cNvPicPr>
            <a:picLocks noChangeAspect="1"/>
          </p:cNvPicPr>
          <p:nvPr/>
        </p:nvPicPr>
        <p:blipFill>
          <a:blip r:embed="rId3"/>
          <a:stretch>
            <a:fillRect/>
          </a:stretch>
        </p:blipFill>
        <p:spPr>
          <a:xfrm>
            <a:off x="1039993" y="3544456"/>
            <a:ext cx="3162574" cy="2613887"/>
          </a:xfrm>
          <a:prstGeom prst="rect">
            <a:avLst/>
          </a:prstGeom>
        </p:spPr>
      </p:pic>
      <p:pic>
        <p:nvPicPr>
          <p:cNvPr id="4" name="Picture 3">
            <a:extLst>
              <a:ext uri="{FF2B5EF4-FFF2-40B4-BE49-F238E27FC236}">
                <a16:creationId xmlns:a16="http://schemas.microsoft.com/office/drawing/2014/main" id="{E9352B8E-210B-A84C-3B8D-C77A116EDD82}"/>
              </a:ext>
            </a:extLst>
          </p:cNvPr>
          <p:cNvPicPr>
            <a:picLocks noChangeAspect="1"/>
          </p:cNvPicPr>
          <p:nvPr/>
        </p:nvPicPr>
        <p:blipFill>
          <a:blip r:embed="rId4"/>
          <a:stretch>
            <a:fillRect/>
          </a:stretch>
        </p:blipFill>
        <p:spPr>
          <a:xfrm>
            <a:off x="4049552" y="3049151"/>
            <a:ext cx="7102455" cy="2751058"/>
          </a:xfrm>
          <a:prstGeom prst="rect">
            <a:avLst/>
          </a:prstGeom>
        </p:spPr>
      </p:pic>
    </p:spTree>
    <p:extLst>
      <p:ext uri="{BB962C8B-B14F-4D97-AF65-F5344CB8AC3E}">
        <p14:creationId xmlns:p14="http://schemas.microsoft.com/office/powerpoint/2010/main" val="1407789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7DA27-44A5-7D83-4E78-C96C0993ECD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7FDE3F7-6688-936E-9255-41ADC7D3EAD0}"/>
              </a:ext>
            </a:extLst>
          </p:cNvPr>
          <p:cNvSpPr txBox="1"/>
          <p:nvPr/>
        </p:nvSpPr>
        <p:spPr>
          <a:xfrm>
            <a:off x="883920" y="254000"/>
            <a:ext cx="10739120" cy="369332"/>
          </a:xfrm>
          <a:prstGeom prst="rect">
            <a:avLst/>
          </a:prstGeom>
          <a:solidFill>
            <a:srgbClr val="002060"/>
          </a:solidFill>
        </p:spPr>
        <p:txBody>
          <a:bodyPr wrap="square" rtlCol="0">
            <a:spAutoFit/>
          </a:bodyPr>
          <a:lstStyle/>
          <a:p>
            <a:pPr lvl="0" algn="ctr">
              <a:defRPr/>
            </a:pPr>
            <a:r>
              <a:rPr lang="en-US" b="1" dirty="0">
                <a:solidFill>
                  <a:srgbClr val="FFFF00"/>
                </a:solidFill>
                <a:effectLst>
                  <a:outerShdw blurRad="38100" dist="38100" dir="2700000" algn="tl">
                    <a:srgbClr val="000000">
                      <a:alpha val="43137"/>
                    </a:srgbClr>
                  </a:outerShdw>
                </a:effectLst>
              </a:rPr>
              <a:t>BATCH NORMALIZATION</a:t>
            </a:r>
          </a:p>
        </p:txBody>
      </p:sp>
      <p:sp>
        <p:nvSpPr>
          <p:cNvPr id="2" name="TextBox 1">
            <a:extLst>
              <a:ext uri="{FF2B5EF4-FFF2-40B4-BE49-F238E27FC236}">
                <a16:creationId xmlns:a16="http://schemas.microsoft.com/office/drawing/2014/main" id="{24670411-09B8-3C35-4C2A-5BD6EB650E83}"/>
              </a:ext>
            </a:extLst>
          </p:cNvPr>
          <p:cNvSpPr txBox="1"/>
          <p:nvPr/>
        </p:nvSpPr>
        <p:spPr>
          <a:xfrm>
            <a:off x="680720" y="885706"/>
            <a:ext cx="10830560" cy="5035353"/>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BATCH NORMALIZATION</a:t>
            </a:r>
          </a:p>
          <a:p>
            <a:pPr marL="285750" indent="-285750">
              <a:lnSpc>
                <a:spcPct val="150000"/>
              </a:lnSpc>
              <a:buFont typeface="Wingdings" panose="05000000000000000000" pitchFamily="2" charset="2"/>
              <a:buChar char="ü"/>
            </a:pPr>
            <a:r>
              <a:rPr lang="en-US" dirty="0"/>
              <a:t>Ioffe and Szegedy demonstrated that Batch Normalization considerably improved all the deep neural networks they experimented with, leading to a huge improvement in the ImageNet classification task (ImageNet is a large database of images classified into many classes, commonly used to evaluate computer vision systems). The vanishing gradients problem was strongly reduced, to the point that they could use saturating activation functions such as the tanh and even the logistic activation function. The networks were also much less sensitive to the weight initialization. The authors were able to use much larger learning rates, significantly speeding up the learning process </a:t>
            </a:r>
          </a:p>
          <a:p>
            <a:pPr marL="285750" indent="-285750">
              <a:lnSpc>
                <a:spcPct val="150000"/>
              </a:lnSpc>
              <a:buFont typeface="Wingdings" panose="05000000000000000000" pitchFamily="2" charset="2"/>
              <a:buChar char="ü"/>
            </a:pPr>
            <a:r>
              <a:rPr lang="en-US" dirty="0"/>
              <a:t>Finally, like a gift that keeps on giving, Batch Normalization acts like a </a:t>
            </a:r>
            <a:r>
              <a:rPr lang="en-US" dirty="0" err="1"/>
              <a:t>regularizer</a:t>
            </a:r>
            <a:r>
              <a:rPr lang="en-US" dirty="0"/>
              <a:t>, reducing the need for other regularization techniques (such as dropout )</a:t>
            </a:r>
            <a:br>
              <a:rPr lang="en-US" dirty="0"/>
            </a:br>
            <a:br>
              <a:rPr lang="en-US" dirty="0"/>
            </a:br>
            <a:r>
              <a:rPr lang="en-US" dirty="0"/>
              <a:t> </a:t>
            </a:r>
          </a:p>
        </p:txBody>
      </p:sp>
    </p:spTree>
    <p:extLst>
      <p:ext uri="{BB962C8B-B14F-4D97-AF65-F5344CB8AC3E}">
        <p14:creationId xmlns:p14="http://schemas.microsoft.com/office/powerpoint/2010/main" val="2480924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40A71-B170-B3A2-7530-328A3046026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B1AC86-64D7-AE66-7200-C5EE856B30C5}"/>
              </a:ext>
            </a:extLst>
          </p:cNvPr>
          <p:cNvSpPr txBox="1"/>
          <p:nvPr/>
        </p:nvSpPr>
        <p:spPr>
          <a:xfrm>
            <a:off x="883920" y="254000"/>
            <a:ext cx="10739120" cy="369332"/>
          </a:xfrm>
          <a:prstGeom prst="rect">
            <a:avLst/>
          </a:prstGeom>
          <a:solidFill>
            <a:srgbClr val="002060"/>
          </a:solidFill>
        </p:spPr>
        <p:txBody>
          <a:bodyPr wrap="square" rtlCol="0">
            <a:spAutoFit/>
          </a:bodyPr>
          <a:lstStyle/>
          <a:p>
            <a:pPr lvl="0" algn="ctr">
              <a:defRPr/>
            </a:pPr>
            <a:r>
              <a:rPr lang="en-US" b="1" dirty="0">
                <a:solidFill>
                  <a:srgbClr val="FFFF00"/>
                </a:solidFill>
                <a:effectLst>
                  <a:outerShdw blurRad="38100" dist="38100" dir="2700000" algn="tl">
                    <a:srgbClr val="000000">
                      <a:alpha val="43137"/>
                    </a:srgbClr>
                  </a:outerShdw>
                </a:effectLst>
              </a:rPr>
              <a:t>BATCH NORMALIZATION</a:t>
            </a:r>
          </a:p>
        </p:txBody>
      </p:sp>
      <p:sp>
        <p:nvSpPr>
          <p:cNvPr id="2" name="TextBox 1">
            <a:extLst>
              <a:ext uri="{FF2B5EF4-FFF2-40B4-BE49-F238E27FC236}">
                <a16:creationId xmlns:a16="http://schemas.microsoft.com/office/drawing/2014/main" id="{8CABE057-E485-02CB-F89E-68B367D6E4C0}"/>
              </a:ext>
            </a:extLst>
          </p:cNvPr>
          <p:cNvSpPr txBox="1"/>
          <p:nvPr/>
        </p:nvSpPr>
        <p:spPr>
          <a:xfrm>
            <a:off x="680720" y="885706"/>
            <a:ext cx="10830560" cy="5450851"/>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BATCH NORMALIZATION</a:t>
            </a:r>
          </a:p>
          <a:p>
            <a:pPr>
              <a:lnSpc>
                <a:spcPct val="150000"/>
              </a:lnSpc>
            </a:pPr>
            <a:endParaRPr lang="en-US" dirty="0"/>
          </a:p>
          <a:p>
            <a:pPr>
              <a:lnSpc>
                <a:spcPct val="150000"/>
              </a:lnSpc>
            </a:pPr>
            <a:r>
              <a:rPr lang="en-US" dirty="0"/>
              <a:t> </a:t>
            </a:r>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p:txBody>
      </p:sp>
      <p:pic>
        <p:nvPicPr>
          <p:cNvPr id="4" name="Picture 3">
            <a:extLst>
              <a:ext uri="{FF2B5EF4-FFF2-40B4-BE49-F238E27FC236}">
                <a16:creationId xmlns:a16="http://schemas.microsoft.com/office/drawing/2014/main" id="{4EE6B49E-764B-608A-0C06-F182FC61300A}"/>
              </a:ext>
            </a:extLst>
          </p:cNvPr>
          <p:cNvPicPr>
            <a:picLocks noChangeAspect="1"/>
          </p:cNvPicPr>
          <p:nvPr/>
        </p:nvPicPr>
        <p:blipFill>
          <a:blip r:embed="rId3"/>
          <a:stretch>
            <a:fillRect/>
          </a:stretch>
        </p:blipFill>
        <p:spPr>
          <a:xfrm>
            <a:off x="1150462" y="1476930"/>
            <a:ext cx="8224956" cy="2373710"/>
          </a:xfrm>
          <a:prstGeom prst="rect">
            <a:avLst/>
          </a:prstGeom>
        </p:spPr>
      </p:pic>
      <p:pic>
        <p:nvPicPr>
          <p:cNvPr id="7" name="Picture 6">
            <a:extLst>
              <a:ext uri="{FF2B5EF4-FFF2-40B4-BE49-F238E27FC236}">
                <a16:creationId xmlns:a16="http://schemas.microsoft.com/office/drawing/2014/main" id="{50240365-9487-2CF8-F082-04E54A606A98}"/>
              </a:ext>
            </a:extLst>
          </p:cNvPr>
          <p:cNvPicPr>
            <a:picLocks noChangeAspect="1"/>
          </p:cNvPicPr>
          <p:nvPr/>
        </p:nvPicPr>
        <p:blipFill>
          <a:blip r:embed="rId4"/>
          <a:stretch>
            <a:fillRect/>
          </a:stretch>
        </p:blipFill>
        <p:spPr>
          <a:xfrm>
            <a:off x="6766620" y="3144683"/>
            <a:ext cx="3799780" cy="2956555"/>
          </a:xfrm>
          <a:prstGeom prst="rect">
            <a:avLst/>
          </a:prstGeom>
        </p:spPr>
      </p:pic>
    </p:spTree>
    <p:extLst>
      <p:ext uri="{BB962C8B-B14F-4D97-AF65-F5344CB8AC3E}">
        <p14:creationId xmlns:p14="http://schemas.microsoft.com/office/powerpoint/2010/main" val="4015375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FA125-69FA-C728-F4A5-545E88BB179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23B628B-A66F-8319-6BC1-7634CEE59637}"/>
              </a:ext>
            </a:extLst>
          </p:cNvPr>
          <p:cNvSpPr txBox="1"/>
          <p:nvPr/>
        </p:nvSpPr>
        <p:spPr>
          <a:xfrm>
            <a:off x="883920" y="254000"/>
            <a:ext cx="10739120" cy="369332"/>
          </a:xfrm>
          <a:prstGeom prst="rect">
            <a:avLst/>
          </a:prstGeom>
          <a:solidFill>
            <a:srgbClr val="002060"/>
          </a:solidFill>
        </p:spPr>
        <p:txBody>
          <a:bodyPr wrap="square" rtlCol="0">
            <a:spAutoFit/>
          </a:bodyPr>
          <a:lstStyle/>
          <a:p>
            <a:pPr lvl="0" algn="ctr">
              <a:defRPr/>
            </a:pPr>
            <a:r>
              <a:rPr lang="en-US" b="1" dirty="0">
                <a:solidFill>
                  <a:srgbClr val="FFFF00"/>
                </a:solidFill>
                <a:effectLst>
                  <a:outerShdw blurRad="38100" dist="38100" dir="2700000" algn="tl">
                    <a:srgbClr val="000000">
                      <a:alpha val="43137"/>
                    </a:srgbClr>
                  </a:outerShdw>
                </a:effectLst>
              </a:rPr>
              <a:t>BATCH NORMALIZATION</a:t>
            </a:r>
          </a:p>
        </p:txBody>
      </p:sp>
      <p:sp>
        <p:nvSpPr>
          <p:cNvPr id="2" name="TextBox 1">
            <a:extLst>
              <a:ext uri="{FF2B5EF4-FFF2-40B4-BE49-F238E27FC236}">
                <a16:creationId xmlns:a16="http://schemas.microsoft.com/office/drawing/2014/main" id="{0B7BE189-0C0F-EB29-E726-3EE74D18C29E}"/>
              </a:ext>
            </a:extLst>
          </p:cNvPr>
          <p:cNvSpPr txBox="1"/>
          <p:nvPr/>
        </p:nvSpPr>
        <p:spPr>
          <a:xfrm>
            <a:off x="680720" y="885706"/>
            <a:ext cx="4836220" cy="5450851"/>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BATCH NORMALIZATION</a:t>
            </a:r>
          </a:p>
          <a:p>
            <a:pPr marL="285750" indent="-285750">
              <a:lnSpc>
                <a:spcPct val="150000"/>
              </a:lnSpc>
              <a:buFont typeface="Wingdings" panose="05000000000000000000" pitchFamily="2" charset="2"/>
              <a:buChar char="ü"/>
            </a:pPr>
            <a:r>
              <a:rPr lang="en-US" dirty="0"/>
              <a:t>As you can see, each BN layer adds four parameters per input: </a:t>
            </a:r>
            <a:r>
              <a:rPr lang="en-US" b="1" dirty="0"/>
              <a:t>γ</a:t>
            </a:r>
            <a:r>
              <a:rPr lang="en-US" dirty="0"/>
              <a:t>, </a:t>
            </a:r>
            <a:r>
              <a:rPr lang="en-US" b="1" dirty="0"/>
              <a:t>β</a:t>
            </a:r>
            <a:r>
              <a:rPr lang="en-US" dirty="0"/>
              <a:t>, </a:t>
            </a:r>
            <a:r>
              <a:rPr lang="en-US" b="1" dirty="0"/>
              <a:t>μ</a:t>
            </a:r>
            <a:r>
              <a:rPr lang="en-US" dirty="0"/>
              <a:t>, and </a:t>
            </a:r>
            <a:r>
              <a:rPr lang="en-US" b="1" dirty="0"/>
              <a:t>σ </a:t>
            </a:r>
            <a:r>
              <a:rPr lang="en-US" dirty="0"/>
              <a:t>(for example, the first BN layer adds 3,136 parameters, which is 4 × 784). The last two parameters, </a:t>
            </a:r>
            <a:r>
              <a:rPr lang="en-US" b="1" dirty="0"/>
              <a:t>μ </a:t>
            </a:r>
            <a:r>
              <a:rPr lang="en-US" dirty="0"/>
              <a:t>and </a:t>
            </a:r>
            <a:r>
              <a:rPr lang="en-US" b="1" dirty="0"/>
              <a:t>σ</a:t>
            </a:r>
            <a:r>
              <a:rPr lang="en-US" dirty="0"/>
              <a:t>, are the moving averages; they are not affected by </a:t>
            </a:r>
            <a:r>
              <a:rPr lang="en-US" dirty="0" err="1"/>
              <a:t>backpropaga</a:t>
            </a:r>
            <a:r>
              <a:rPr lang="en-US" dirty="0"/>
              <a:t>‐ </a:t>
            </a:r>
            <a:r>
              <a:rPr lang="en-US" dirty="0" err="1"/>
              <a:t>tion</a:t>
            </a:r>
            <a:r>
              <a:rPr lang="en-US" dirty="0"/>
              <a:t>, so Keras calls them “non-trainable”9 (if you count the total number of BN parameters, 3,136 + 1,200 + 400, and divide by 2, you get 2,368, which is the total number of non-trainable parameters in this model) </a:t>
            </a:r>
            <a:br>
              <a:rPr lang="en-US"/>
            </a:br>
            <a:endParaRPr lang="en-US" dirty="0"/>
          </a:p>
        </p:txBody>
      </p:sp>
      <p:pic>
        <p:nvPicPr>
          <p:cNvPr id="7" name="Picture 6">
            <a:extLst>
              <a:ext uri="{FF2B5EF4-FFF2-40B4-BE49-F238E27FC236}">
                <a16:creationId xmlns:a16="http://schemas.microsoft.com/office/drawing/2014/main" id="{C73CC888-247E-8E0E-F3D6-3A9635F075A1}"/>
              </a:ext>
            </a:extLst>
          </p:cNvPr>
          <p:cNvPicPr>
            <a:picLocks noChangeAspect="1"/>
          </p:cNvPicPr>
          <p:nvPr/>
        </p:nvPicPr>
        <p:blipFill>
          <a:blip r:embed="rId3"/>
          <a:stretch>
            <a:fillRect/>
          </a:stretch>
        </p:blipFill>
        <p:spPr>
          <a:xfrm>
            <a:off x="5516940" y="1305723"/>
            <a:ext cx="5669220" cy="4411140"/>
          </a:xfrm>
          <a:prstGeom prst="rect">
            <a:avLst/>
          </a:prstGeom>
        </p:spPr>
      </p:pic>
    </p:spTree>
    <p:extLst>
      <p:ext uri="{BB962C8B-B14F-4D97-AF65-F5344CB8AC3E}">
        <p14:creationId xmlns:p14="http://schemas.microsoft.com/office/powerpoint/2010/main" val="1670425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6E237-22C4-C999-B3C6-0C54D7BB608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C45077E-A9C5-A8DF-5529-4B71A6B4F65C}"/>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GRADIENT CLIPPING</a:t>
            </a:r>
          </a:p>
        </p:txBody>
      </p:sp>
      <p:sp>
        <p:nvSpPr>
          <p:cNvPr id="3" name="TextBox 2">
            <a:extLst>
              <a:ext uri="{FF2B5EF4-FFF2-40B4-BE49-F238E27FC236}">
                <a16:creationId xmlns:a16="http://schemas.microsoft.com/office/drawing/2014/main" id="{6680BB27-0F49-E7A7-7280-87A4E1A3D091}"/>
              </a:ext>
            </a:extLst>
          </p:cNvPr>
          <p:cNvSpPr txBox="1"/>
          <p:nvPr/>
        </p:nvSpPr>
        <p:spPr>
          <a:xfrm>
            <a:off x="680720" y="885706"/>
            <a:ext cx="11104880" cy="5866350"/>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GRADIENT CLIPPING</a:t>
            </a:r>
          </a:p>
          <a:p>
            <a:pPr marL="285750" indent="-285750" algn="just">
              <a:lnSpc>
                <a:spcPct val="150000"/>
              </a:lnSpc>
              <a:buFont typeface="Wingdings" panose="05000000000000000000" pitchFamily="2" charset="2"/>
              <a:buChar char="ü"/>
            </a:pPr>
            <a:r>
              <a:rPr lang="en-US" dirty="0"/>
              <a:t>Another popular technique to mitigate the exploding gradients problem is to clip the gradients during backpropagation so that they never exceed some threshold. This is called </a:t>
            </a:r>
            <a:r>
              <a:rPr lang="en-US" i="1" dirty="0">
                <a:solidFill>
                  <a:srgbClr val="FF0000"/>
                </a:solidFill>
              </a:rPr>
              <a:t>Gradient Clipping</a:t>
            </a:r>
            <a:r>
              <a:rPr lang="en-US" dirty="0">
                <a:solidFill>
                  <a:srgbClr val="FF0000"/>
                </a:solidFill>
              </a:rPr>
              <a:t> </a:t>
            </a:r>
          </a:p>
          <a:p>
            <a:pPr marL="285750" indent="-285750" algn="just">
              <a:lnSpc>
                <a:spcPct val="150000"/>
              </a:lnSpc>
              <a:buFont typeface="Wingdings" panose="05000000000000000000" pitchFamily="2" charset="2"/>
              <a:buChar char="ü"/>
            </a:pPr>
            <a:r>
              <a:rPr lang="en-US" dirty="0"/>
              <a:t>This technique is most often used in recurrent neural net‐ works, as Batch Normalization is tricky to use in RNNs </a:t>
            </a:r>
          </a:p>
          <a:p>
            <a:pPr marL="285750" indent="-285750" algn="just">
              <a:lnSpc>
                <a:spcPct val="150000"/>
              </a:lnSpc>
              <a:buFont typeface="Wingdings" panose="05000000000000000000" pitchFamily="2" charset="2"/>
              <a:buChar char="ü"/>
            </a:pPr>
            <a:r>
              <a:rPr lang="en-US" dirty="0"/>
              <a:t>In </a:t>
            </a:r>
            <a:r>
              <a:rPr lang="en-US" dirty="0" err="1"/>
              <a:t>Keras</a:t>
            </a:r>
            <a:r>
              <a:rPr lang="en-US" dirty="0"/>
              <a:t>, implementing Gradient Clipping is just a matter of setting the </a:t>
            </a:r>
            <a:r>
              <a:rPr lang="en-US" dirty="0" err="1"/>
              <a:t>clipvalue</a:t>
            </a:r>
            <a:r>
              <a:rPr lang="en-US" dirty="0"/>
              <a:t> or </a:t>
            </a:r>
            <a:r>
              <a:rPr lang="en-US" dirty="0" err="1"/>
              <a:t>clipnorm</a:t>
            </a:r>
            <a:r>
              <a:rPr lang="en-US" dirty="0"/>
              <a:t> argument when creating an optimizer </a:t>
            </a:r>
          </a:p>
          <a:p>
            <a:pPr marL="285750" indent="-285750" algn="just">
              <a:lnSpc>
                <a:spcPct val="150000"/>
              </a:lnSpc>
              <a:buFont typeface="Wingdings" panose="05000000000000000000" pitchFamily="2" charset="2"/>
              <a:buChar char="ü"/>
            </a:pPr>
            <a:r>
              <a:rPr lang="en-US" dirty="0"/>
              <a:t>This optimizer will clip every component of the gradient vector to a value between –1.0 and 1.0 </a:t>
            </a:r>
          </a:p>
          <a:p>
            <a:pPr marL="285750" indent="-285750" algn="just">
              <a:lnSpc>
                <a:spcPct val="150000"/>
              </a:lnSpc>
              <a:buFont typeface="Wingdings" panose="05000000000000000000" pitchFamily="2" charset="2"/>
              <a:buChar char="ü"/>
            </a:pPr>
            <a:r>
              <a:rPr lang="en-US" dirty="0"/>
              <a:t>This means that all the partial derivatives of the loss (with regard to each and every trainable parameter) will be clipped between –1.0 and 1.0. The threshold is a hyperparameter you can tune </a:t>
            </a:r>
          </a:p>
          <a:p>
            <a:pPr marL="285750" indent="-285750">
              <a:lnSpc>
                <a:spcPct val="150000"/>
              </a:lnSpc>
              <a:buFont typeface="Wingdings" panose="05000000000000000000" pitchFamily="2" charset="2"/>
              <a:buChar char="ü"/>
            </a:pPr>
            <a:endParaRPr lang="en-US" dirty="0"/>
          </a:p>
          <a:p>
            <a:pPr marL="285750" indent="-285750">
              <a:lnSpc>
                <a:spcPct val="150000"/>
              </a:lnSpc>
              <a:buFont typeface="Wingdings" panose="05000000000000000000" pitchFamily="2" charset="2"/>
              <a:buChar char="ü"/>
            </a:pPr>
            <a:endParaRPr lang="en-US" dirty="0"/>
          </a:p>
          <a:p>
            <a:pPr marL="285750" indent="-285750" algn="just">
              <a:lnSpc>
                <a:spcPct val="150000"/>
              </a:lnSpc>
              <a:buFont typeface="Wingdings" panose="05000000000000000000" pitchFamily="2" charset="2"/>
              <a:buChar char="ü"/>
            </a:pPr>
            <a:r>
              <a:rPr lang="en-US" dirty="0"/>
              <a:t>Note that it may change the orientation of the </a:t>
            </a:r>
            <a:r>
              <a:rPr lang="en-US" dirty="0" err="1"/>
              <a:t>gradi</a:t>
            </a:r>
            <a:r>
              <a:rPr lang="en-US" dirty="0"/>
              <a:t>‐ </a:t>
            </a:r>
            <a:r>
              <a:rPr lang="en-US" dirty="0" err="1"/>
              <a:t>ent</a:t>
            </a:r>
            <a:r>
              <a:rPr lang="en-US" dirty="0"/>
              <a:t> vector. For instance, if the original gradient vector is [0.9, 100.0], it points mostly in the direction of the second axis; but once you clip it by value, you get [0.9, 1.0], which points roughly in the diagonal between the two axes. </a:t>
            </a:r>
          </a:p>
        </p:txBody>
      </p:sp>
      <p:pic>
        <p:nvPicPr>
          <p:cNvPr id="6" name="Picture 5">
            <a:extLst>
              <a:ext uri="{FF2B5EF4-FFF2-40B4-BE49-F238E27FC236}">
                <a16:creationId xmlns:a16="http://schemas.microsoft.com/office/drawing/2014/main" id="{59A3A847-35F2-FCCA-7183-6EA4C4536279}"/>
              </a:ext>
            </a:extLst>
          </p:cNvPr>
          <p:cNvPicPr>
            <a:picLocks noChangeAspect="1"/>
          </p:cNvPicPr>
          <p:nvPr/>
        </p:nvPicPr>
        <p:blipFill>
          <a:blip r:embed="rId3"/>
          <a:stretch>
            <a:fillRect/>
          </a:stretch>
        </p:blipFill>
        <p:spPr>
          <a:xfrm>
            <a:off x="3324421" y="4606268"/>
            <a:ext cx="5543157" cy="707412"/>
          </a:xfrm>
          <a:prstGeom prst="rect">
            <a:avLst/>
          </a:prstGeom>
        </p:spPr>
      </p:pic>
    </p:spTree>
    <p:extLst>
      <p:ext uri="{BB962C8B-B14F-4D97-AF65-F5344CB8AC3E}">
        <p14:creationId xmlns:p14="http://schemas.microsoft.com/office/powerpoint/2010/main" val="1398431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EB97D-E4A3-8950-5746-2F8BDFA8C3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E660FE-ED79-912F-54AD-DA4D090EBF48}"/>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GRADIENT CLIPPING</a:t>
            </a:r>
          </a:p>
        </p:txBody>
      </p:sp>
      <p:sp>
        <p:nvSpPr>
          <p:cNvPr id="3" name="TextBox 2">
            <a:extLst>
              <a:ext uri="{FF2B5EF4-FFF2-40B4-BE49-F238E27FC236}">
                <a16:creationId xmlns:a16="http://schemas.microsoft.com/office/drawing/2014/main" id="{9D2D95F6-B235-B6D2-C650-D2E5E30E304D}"/>
              </a:ext>
            </a:extLst>
          </p:cNvPr>
          <p:cNvSpPr txBox="1"/>
          <p:nvPr/>
        </p:nvSpPr>
        <p:spPr>
          <a:xfrm>
            <a:off x="680720" y="885706"/>
            <a:ext cx="11104880" cy="5866350"/>
          </a:xfrm>
          <a:prstGeom prst="rect">
            <a:avLst/>
          </a:prstGeom>
          <a:noFill/>
          <a:ln>
            <a:solidFill>
              <a:srgbClr val="0070C0"/>
            </a:solidFill>
          </a:ln>
        </p:spPr>
        <p:txBody>
          <a:bodyPr wrap="square" rtlCol="0">
            <a:spAutoFit/>
          </a:bodyPr>
          <a:lstStyle/>
          <a:p>
            <a:pPr marL="285750" indent="-285750">
              <a:lnSpc>
                <a:spcPct val="150000"/>
              </a:lnSpc>
              <a:buFont typeface="Wingdings" panose="05000000000000000000" pitchFamily="2" charset="2"/>
              <a:buChar char="q"/>
            </a:pPr>
            <a:r>
              <a:rPr lang="en-US" b="1" u="sng" dirty="0"/>
              <a:t>GRADIENT CLIPPING</a:t>
            </a:r>
          </a:p>
          <a:p>
            <a:pPr marL="285750" indent="-285750" algn="just">
              <a:lnSpc>
                <a:spcPct val="150000"/>
              </a:lnSpc>
              <a:buFont typeface="Wingdings" panose="05000000000000000000" pitchFamily="2" charset="2"/>
              <a:buChar char="ü"/>
            </a:pPr>
            <a:r>
              <a:rPr lang="en-US" dirty="0"/>
              <a:t>If you want to ensure that Gradient Clipping does not change the </a:t>
            </a:r>
            <a:r>
              <a:rPr lang="en-US" dirty="0" err="1"/>
              <a:t>direc</a:t>
            </a:r>
            <a:r>
              <a:rPr lang="en-US" dirty="0"/>
              <a:t>‐ </a:t>
            </a:r>
            <a:r>
              <a:rPr lang="en-US" dirty="0" err="1"/>
              <a:t>tion</a:t>
            </a:r>
            <a:r>
              <a:rPr lang="en-US" dirty="0"/>
              <a:t> of the gradient vector, you should clip by norm by setting </a:t>
            </a:r>
            <a:r>
              <a:rPr lang="en-US" dirty="0" err="1"/>
              <a:t>clipnorm</a:t>
            </a:r>
            <a:r>
              <a:rPr lang="en-US" dirty="0"/>
              <a:t> instead of </a:t>
            </a:r>
            <a:r>
              <a:rPr lang="en-US" dirty="0" err="1"/>
              <a:t>clipvalue</a:t>
            </a:r>
            <a:r>
              <a:rPr lang="en-US" dirty="0"/>
              <a:t>. This will clip the whole gradient if its ℓ2 norm is greater than the </a:t>
            </a:r>
            <a:r>
              <a:rPr lang="en-US" dirty="0" err="1"/>
              <a:t>thres</a:t>
            </a:r>
            <a:r>
              <a:rPr lang="en-US" dirty="0"/>
              <a:t>‐ hold you picked. For example, if you set </a:t>
            </a:r>
            <a:r>
              <a:rPr lang="en-US" dirty="0" err="1"/>
              <a:t>clipnorm</a:t>
            </a:r>
            <a:r>
              <a:rPr lang="en-US" dirty="0"/>
              <a:t>=1.0, then the vector [0.9, 100.0] will be clipped to [0.00899964, 0.9999595], preserving its orientation but almost </a:t>
            </a:r>
            <a:r>
              <a:rPr lang="en-US" dirty="0" err="1"/>
              <a:t>elim</a:t>
            </a:r>
            <a:r>
              <a:rPr lang="en-US" dirty="0"/>
              <a:t>‐ </a:t>
            </a:r>
            <a:r>
              <a:rPr lang="en-US" dirty="0" err="1"/>
              <a:t>inating</a:t>
            </a:r>
            <a:r>
              <a:rPr lang="en-US" dirty="0"/>
              <a:t> the first component. </a:t>
            </a:r>
          </a:p>
          <a:p>
            <a:pPr marL="285750" indent="-285750" algn="just">
              <a:lnSpc>
                <a:spcPct val="150000"/>
              </a:lnSpc>
              <a:buFont typeface="Wingdings" panose="05000000000000000000" pitchFamily="2" charset="2"/>
              <a:buChar char="q"/>
            </a:pPr>
            <a:r>
              <a:rPr lang="en-US" b="1" u="sng" dirty="0"/>
              <a:t>REUSING PRETRAINED LAYERS</a:t>
            </a:r>
          </a:p>
          <a:p>
            <a:pPr marL="285750" indent="-285750" algn="just">
              <a:lnSpc>
                <a:spcPct val="150000"/>
              </a:lnSpc>
              <a:buFont typeface="Wingdings" panose="05000000000000000000" pitchFamily="2" charset="2"/>
              <a:buChar char="ü"/>
            </a:pPr>
            <a:r>
              <a:rPr lang="en-US" dirty="0"/>
              <a:t>It is generally not a good idea to train a very large DNN from scratch: instead, you should always try to find an existing neural network that accomplishes a similar task to the one you are trying to tackle </a:t>
            </a:r>
          </a:p>
          <a:p>
            <a:pPr marL="285750" indent="-285750" algn="just">
              <a:lnSpc>
                <a:spcPct val="150000"/>
              </a:lnSpc>
              <a:buFont typeface="Wingdings" panose="05000000000000000000" pitchFamily="2" charset="2"/>
              <a:buChar char="ü"/>
            </a:pPr>
            <a:r>
              <a:rPr lang="en-US" dirty="0"/>
              <a:t>This technique is called </a:t>
            </a:r>
            <a:r>
              <a:rPr lang="en-US" i="1" dirty="0"/>
              <a:t>transfer learning</a:t>
            </a:r>
            <a:r>
              <a:rPr lang="en-US" dirty="0"/>
              <a:t>. It will not only speed up training considerably, but also require significantly less training data. </a:t>
            </a:r>
          </a:p>
          <a:p>
            <a:pPr marL="285750" indent="-285750" algn="just">
              <a:lnSpc>
                <a:spcPct val="150000"/>
              </a:lnSpc>
              <a:buFont typeface="Wingdings" panose="05000000000000000000" pitchFamily="2" charset="2"/>
              <a:buChar char="ü"/>
            </a:pPr>
            <a:r>
              <a:rPr lang="en-US" dirty="0"/>
              <a:t>Suppose you have access to a DNN that was trained to classify pictures into 100 </a:t>
            </a:r>
            <a:r>
              <a:rPr lang="en-US" dirty="0" err="1"/>
              <a:t>dif</a:t>
            </a:r>
            <a:r>
              <a:rPr lang="en-US" dirty="0"/>
              <a:t>‐ </a:t>
            </a:r>
            <a:r>
              <a:rPr lang="en-US" dirty="0" err="1"/>
              <a:t>ferent</a:t>
            </a:r>
            <a:r>
              <a:rPr lang="en-US" dirty="0"/>
              <a:t> categories, including animals, plants, vehicles, and everyday objects. You now want to train a DNN to classify specific types of vehicles. </a:t>
            </a:r>
          </a:p>
          <a:p>
            <a:pPr marL="285750" indent="-285750" algn="just">
              <a:lnSpc>
                <a:spcPct val="150000"/>
              </a:lnSpc>
              <a:buFont typeface="Wingdings" panose="05000000000000000000" pitchFamily="2" charset="2"/>
              <a:buChar char="ü"/>
            </a:pPr>
            <a:r>
              <a:rPr lang="en-US" dirty="0"/>
              <a:t>These tasks are very similar, even partly overlapping, so you should try to reuse parts of the first network.</a:t>
            </a:r>
          </a:p>
          <a:p>
            <a:pPr marL="285750" indent="-285750" algn="just">
              <a:lnSpc>
                <a:spcPct val="150000"/>
              </a:lnSpc>
              <a:buFont typeface="Wingdings" panose="05000000000000000000" pitchFamily="2" charset="2"/>
              <a:buChar char="ü"/>
            </a:pPr>
            <a:endParaRPr lang="en-US" dirty="0"/>
          </a:p>
        </p:txBody>
      </p:sp>
    </p:spTree>
    <p:extLst>
      <p:ext uri="{BB962C8B-B14F-4D97-AF65-F5344CB8AC3E}">
        <p14:creationId xmlns:p14="http://schemas.microsoft.com/office/powerpoint/2010/main" val="1203757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D97ED-00C3-01D9-49F8-6A2EB1B8635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8CDDC4C-E008-C6E5-3018-DBDE3A624875}"/>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REUSING PRETRAINED LAYERS A.K.A TRANSFER LEARNING</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2415F1F3-5577-F976-A182-6CAAB5B09FBE}"/>
              </a:ext>
            </a:extLst>
          </p:cNvPr>
          <p:cNvSpPr txBox="1"/>
          <p:nvPr/>
        </p:nvSpPr>
        <p:spPr>
          <a:xfrm>
            <a:off x="648063" y="623332"/>
            <a:ext cx="6431280" cy="5880199"/>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REUSING PRETRAINED LAYERS</a:t>
            </a:r>
          </a:p>
          <a:p>
            <a:pPr marL="285750" indent="-285750" algn="just">
              <a:lnSpc>
                <a:spcPct val="130000"/>
              </a:lnSpc>
              <a:buFont typeface="Wingdings" panose="05000000000000000000" pitchFamily="2" charset="2"/>
              <a:buChar char="ü"/>
            </a:pPr>
            <a:r>
              <a:rPr lang="en-US" dirty="0"/>
              <a:t>The output layer of the original model should usually be replaced because it is most likely not useful at all for the new task, and it may not even have the right number of outputs for the new task. </a:t>
            </a:r>
          </a:p>
          <a:p>
            <a:pPr marL="285750" indent="-285750" algn="just">
              <a:lnSpc>
                <a:spcPct val="130000"/>
              </a:lnSpc>
              <a:buFont typeface="Wingdings" panose="05000000000000000000" pitchFamily="2" charset="2"/>
              <a:buChar char="ü"/>
            </a:pPr>
            <a:r>
              <a:rPr lang="en-US" dirty="0"/>
              <a:t>Similarly, the upper hidden layers of the original model are less likely to be as useful as the lower layers, since the high-level features that are most useful for the new task may differ significantly from the ones that were most useful for the original task. </a:t>
            </a:r>
          </a:p>
          <a:p>
            <a:pPr marL="285750" indent="-285750" algn="just">
              <a:lnSpc>
                <a:spcPct val="130000"/>
              </a:lnSpc>
              <a:buFont typeface="Wingdings" panose="05000000000000000000" pitchFamily="2" charset="2"/>
              <a:buChar char="ü"/>
            </a:pPr>
            <a:r>
              <a:rPr lang="en-US" dirty="0"/>
              <a:t>Try freezing all the reused layers first (i.e., make their weights non-trainable so that Gradient Descent won’t modify them), then train your model and see how it per‐ forms. Then try unfreezing one or two of the top hidden layers to let </a:t>
            </a:r>
            <a:r>
              <a:rPr lang="en-US" dirty="0" err="1"/>
              <a:t>backpropaga</a:t>
            </a:r>
            <a:r>
              <a:rPr lang="en-US" dirty="0"/>
              <a:t>‐ </a:t>
            </a:r>
            <a:r>
              <a:rPr lang="en-US" dirty="0" err="1"/>
              <a:t>tion</a:t>
            </a:r>
            <a:r>
              <a:rPr lang="en-US" dirty="0"/>
              <a:t> tweak them and see if performance improves. </a:t>
            </a:r>
          </a:p>
        </p:txBody>
      </p:sp>
      <p:pic>
        <p:nvPicPr>
          <p:cNvPr id="4" name="Picture 3">
            <a:extLst>
              <a:ext uri="{FF2B5EF4-FFF2-40B4-BE49-F238E27FC236}">
                <a16:creationId xmlns:a16="http://schemas.microsoft.com/office/drawing/2014/main" id="{7C8DB24A-69C8-8D27-BA88-797E8252E927}"/>
              </a:ext>
            </a:extLst>
          </p:cNvPr>
          <p:cNvPicPr>
            <a:picLocks noChangeAspect="1"/>
          </p:cNvPicPr>
          <p:nvPr/>
        </p:nvPicPr>
        <p:blipFill>
          <a:blip r:embed="rId3"/>
          <a:srcRect l="11815" r="12401"/>
          <a:stretch>
            <a:fillRect/>
          </a:stretch>
        </p:blipFill>
        <p:spPr>
          <a:xfrm>
            <a:off x="7305039" y="956826"/>
            <a:ext cx="4647811" cy="3777734"/>
          </a:xfrm>
          <a:prstGeom prst="rect">
            <a:avLst/>
          </a:prstGeom>
        </p:spPr>
      </p:pic>
    </p:spTree>
    <p:extLst>
      <p:ext uri="{BB962C8B-B14F-4D97-AF65-F5344CB8AC3E}">
        <p14:creationId xmlns:p14="http://schemas.microsoft.com/office/powerpoint/2010/main" val="1486730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2D5E5-C6E3-E5C4-AAB6-104AB2ABD4C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2428698-8FC0-7902-5752-931FC5736427}"/>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REUSING PRETRAINED LAYERS A.K.A TRANSFER LEARNING</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1E18877-FEEE-1C33-EE51-EC37A47566B3}"/>
              </a:ext>
            </a:extLst>
          </p:cNvPr>
          <p:cNvSpPr txBox="1"/>
          <p:nvPr/>
        </p:nvSpPr>
        <p:spPr>
          <a:xfrm>
            <a:off x="680720" y="862817"/>
            <a:ext cx="11119394" cy="5520101"/>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REUSING PRETRAINED LAYERS</a:t>
            </a:r>
          </a:p>
          <a:p>
            <a:pPr marL="285750" indent="-285750">
              <a:lnSpc>
                <a:spcPct val="130000"/>
              </a:lnSpc>
              <a:buFont typeface="Wingdings" panose="05000000000000000000" pitchFamily="2" charset="2"/>
              <a:buChar char="ü"/>
            </a:pPr>
            <a:r>
              <a:rPr lang="en-US" dirty="0"/>
              <a:t>Suppose you have trained a medical image dataset to diagnose three types of diseases. Now you want to diagnose Brain Tumor in Medical CT Scans </a:t>
            </a:r>
          </a:p>
          <a:p>
            <a:pPr marL="285750" indent="-285750">
              <a:lnSpc>
                <a:spcPct val="130000"/>
              </a:lnSpc>
              <a:buFont typeface="Wingdings" panose="05000000000000000000" pitchFamily="2" charset="2"/>
              <a:buChar char="ü"/>
            </a:pPr>
            <a:r>
              <a:rPr lang="en-US" dirty="0"/>
              <a:t>You have limited number of image dataset available. So you plan to use the same pretrained model.</a:t>
            </a:r>
          </a:p>
          <a:p>
            <a:pPr marL="285750" indent="-285750">
              <a:lnSpc>
                <a:spcPct val="130000"/>
              </a:lnSpc>
              <a:buFont typeface="Wingdings" panose="05000000000000000000" pitchFamily="2" charset="2"/>
              <a:buChar char="ü"/>
            </a:pPr>
            <a:r>
              <a:rPr lang="en-US" dirty="0"/>
              <a:t>You decide to reuse the same model and replace the last layer with your own Fully Connected Layer &amp; since you have to only two </a:t>
            </a:r>
            <a:r>
              <a:rPr lang="en-US" dirty="0" err="1"/>
              <a:t>outcomes,i</a:t>
            </a:r>
            <a:r>
              <a:rPr lang="en-US" dirty="0"/>
              <a:t>-e Brain Tumor is positive or negative so you will use sigmoid Activation</a:t>
            </a:r>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r>
              <a:rPr lang="en-US" dirty="0"/>
              <a:t>Note that </a:t>
            </a:r>
            <a:r>
              <a:rPr lang="en-US" dirty="0" err="1"/>
              <a:t>model_A</a:t>
            </a:r>
            <a:r>
              <a:rPr lang="en-US" dirty="0"/>
              <a:t> and </a:t>
            </a:r>
            <a:r>
              <a:rPr lang="en-US" dirty="0" err="1"/>
              <a:t>model_B_on_A</a:t>
            </a:r>
            <a:r>
              <a:rPr lang="en-US" dirty="0"/>
              <a:t> now share some layers. When you train </a:t>
            </a:r>
            <a:r>
              <a:rPr lang="en-US" dirty="0" err="1"/>
              <a:t>model_B_on_A</a:t>
            </a:r>
            <a:r>
              <a:rPr lang="en-US" dirty="0"/>
              <a:t>, it will also affect </a:t>
            </a:r>
            <a:r>
              <a:rPr lang="en-US" dirty="0" err="1"/>
              <a:t>model_A</a:t>
            </a:r>
            <a:r>
              <a:rPr lang="en-US" dirty="0"/>
              <a:t>. If you want to avoid that, you need to </a:t>
            </a:r>
            <a:r>
              <a:rPr lang="en-US" i="1" dirty="0"/>
              <a:t>clone </a:t>
            </a:r>
            <a:r>
              <a:rPr lang="en-US" dirty="0" err="1"/>
              <a:t>model_A</a:t>
            </a:r>
            <a:r>
              <a:rPr lang="en-US" dirty="0"/>
              <a:t> before you reuse its layers. To do this, you clone model A’s architecture with </a:t>
            </a:r>
            <a:r>
              <a:rPr lang="en-US" dirty="0" err="1"/>
              <a:t>clone_model</a:t>
            </a:r>
            <a:r>
              <a:rPr lang="en-US" dirty="0"/>
              <a:t>(), then copy its weights </a:t>
            </a:r>
          </a:p>
        </p:txBody>
      </p:sp>
      <p:pic>
        <p:nvPicPr>
          <p:cNvPr id="6" name="Picture 5">
            <a:extLst>
              <a:ext uri="{FF2B5EF4-FFF2-40B4-BE49-F238E27FC236}">
                <a16:creationId xmlns:a16="http://schemas.microsoft.com/office/drawing/2014/main" id="{06C6A697-F6F2-D604-5E9E-EFABAE964207}"/>
              </a:ext>
            </a:extLst>
          </p:cNvPr>
          <p:cNvPicPr>
            <a:picLocks noChangeAspect="1"/>
          </p:cNvPicPr>
          <p:nvPr/>
        </p:nvPicPr>
        <p:blipFill>
          <a:blip r:embed="rId3"/>
          <a:stretch>
            <a:fillRect/>
          </a:stretch>
        </p:blipFill>
        <p:spPr>
          <a:xfrm>
            <a:off x="2132964" y="3580068"/>
            <a:ext cx="8545832" cy="1089903"/>
          </a:xfrm>
          <a:prstGeom prst="rect">
            <a:avLst/>
          </a:prstGeom>
        </p:spPr>
      </p:pic>
    </p:spTree>
    <p:extLst>
      <p:ext uri="{BB962C8B-B14F-4D97-AF65-F5344CB8AC3E}">
        <p14:creationId xmlns:p14="http://schemas.microsoft.com/office/powerpoint/2010/main" val="3773781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3C68B-AF6B-58C0-9E7C-DD0334302AB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B510DC0-DBFD-FD92-09C2-5EAB708B6C42}"/>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REUSING PRETRAINED LAYERS A.K.A TRANSFER LEARNING</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F162BA4B-AB24-8B0D-69EC-527385F09738}"/>
              </a:ext>
            </a:extLst>
          </p:cNvPr>
          <p:cNvSpPr txBox="1"/>
          <p:nvPr/>
        </p:nvSpPr>
        <p:spPr>
          <a:xfrm>
            <a:off x="680720" y="862817"/>
            <a:ext cx="11119394" cy="5520101"/>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REUSING PRETRAINED LAYERS</a:t>
            </a:r>
          </a:p>
          <a:p>
            <a:pPr marL="285750" indent="-285750">
              <a:lnSpc>
                <a:spcPct val="130000"/>
              </a:lnSpc>
              <a:buFont typeface="Wingdings" panose="05000000000000000000" pitchFamily="2" charset="2"/>
              <a:buChar char="ü"/>
            </a:pPr>
            <a:r>
              <a:rPr lang="en-US" dirty="0"/>
              <a:t>So, once you clone the model you also copy the weights of the model as follows:-</a:t>
            </a:r>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r>
              <a:rPr lang="en-US" dirty="0"/>
              <a:t>Now you could train </a:t>
            </a:r>
            <a:r>
              <a:rPr lang="en-US" dirty="0" err="1"/>
              <a:t>model_B_on_A</a:t>
            </a:r>
            <a:r>
              <a:rPr lang="en-US" dirty="0"/>
              <a:t> for task B, but since the new output layer was </a:t>
            </a:r>
            <a:r>
              <a:rPr lang="en-US" dirty="0" err="1"/>
              <a:t>ini</a:t>
            </a:r>
            <a:r>
              <a:rPr lang="en-US" dirty="0"/>
              <a:t>‐ </a:t>
            </a:r>
            <a:r>
              <a:rPr lang="en-US" dirty="0" err="1"/>
              <a:t>tialized</a:t>
            </a:r>
            <a:r>
              <a:rPr lang="en-US" dirty="0"/>
              <a:t> randomly it will make large errors (at least during the first few epochs), so there will be large error gradients that may wreck the reused weights. To avoid this, one approach is to freeze the reused layers during the first few epochs, giving the new layer some time to learn reasonable weights. </a:t>
            </a:r>
          </a:p>
          <a:p>
            <a:pPr marL="285750" indent="-285750">
              <a:lnSpc>
                <a:spcPct val="130000"/>
              </a:lnSpc>
              <a:buFont typeface="Wingdings" panose="05000000000000000000" pitchFamily="2" charset="2"/>
              <a:buChar char="ü"/>
            </a:pPr>
            <a:r>
              <a:rPr lang="en-US" dirty="0"/>
              <a:t>To do this, set every layer’s trainable attribute to False and compile the model: </a:t>
            </a:r>
            <a:br>
              <a:rPr lang="en-US" dirty="0"/>
            </a:br>
            <a:endParaRPr lang="en-US" dirty="0"/>
          </a:p>
          <a:p>
            <a:pPr marL="285750" indent="-285750">
              <a:lnSpc>
                <a:spcPct val="130000"/>
              </a:lnSpc>
              <a:buFont typeface="Wingdings" panose="05000000000000000000" pitchFamily="2" charset="2"/>
              <a:buChar char="ü"/>
            </a:pPr>
            <a:endParaRPr lang="en-US" dirty="0"/>
          </a:p>
          <a:p>
            <a:pPr>
              <a:lnSpc>
                <a:spcPct val="130000"/>
              </a:lnSpc>
            </a:pPr>
            <a:br>
              <a:rPr lang="en-US" dirty="0"/>
            </a:br>
            <a:endParaRPr lang="en-US" dirty="0"/>
          </a:p>
          <a:p>
            <a:pPr marL="285750" indent="-285750">
              <a:lnSpc>
                <a:spcPct val="130000"/>
              </a:lnSpc>
              <a:buFont typeface="Wingdings" panose="05000000000000000000" pitchFamily="2" charset="2"/>
              <a:buChar char="ü"/>
            </a:pPr>
            <a:endParaRPr lang="en-US" dirty="0"/>
          </a:p>
        </p:txBody>
      </p:sp>
      <p:pic>
        <p:nvPicPr>
          <p:cNvPr id="4" name="Picture 3">
            <a:extLst>
              <a:ext uri="{FF2B5EF4-FFF2-40B4-BE49-F238E27FC236}">
                <a16:creationId xmlns:a16="http://schemas.microsoft.com/office/drawing/2014/main" id="{1E2D18E8-246E-5BCB-1BFE-D942B209DE9D}"/>
              </a:ext>
            </a:extLst>
          </p:cNvPr>
          <p:cNvPicPr>
            <a:picLocks noChangeAspect="1"/>
          </p:cNvPicPr>
          <p:nvPr/>
        </p:nvPicPr>
        <p:blipFill>
          <a:blip r:embed="rId3"/>
          <a:stretch>
            <a:fillRect/>
          </a:stretch>
        </p:blipFill>
        <p:spPr>
          <a:xfrm>
            <a:off x="1831881" y="1721452"/>
            <a:ext cx="8357854" cy="922041"/>
          </a:xfrm>
          <a:prstGeom prst="rect">
            <a:avLst/>
          </a:prstGeom>
        </p:spPr>
      </p:pic>
      <p:pic>
        <p:nvPicPr>
          <p:cNvPr id="8" name="Picture 7">
            <a:extLst>
              <a:ext uri="{FF2B5EF4-FFF2-40B4-BE49-F238E27FC236}">
                <a16:creationId xmlns:a16="http://schemas.microsoft.com/office/drawing/2014/main" id="{E59BA283-3283-BBAC-7B8C-C4FFC596FBE4}"/>
              </a:ext>
            </a:extLst>
          </p:cNvPr>
          <p:cNvPicPr>
            <a:picLocks noChangeAspect="1"/>
          </p:cNvPicPr>
          <p:nvPr/>
        </p:nvPicPr>
        <p:blipFill>
          <a:blip r:embed="rId4"/>
          <a:stretch>
            <a:fillRect/>
          </a:stretch>
        </p:blipFill>
        <p:spPr>
          <a:xfrm>
            <a:off x="2097971" y="4691150"/>
            <a:ext cx="7877008" cy="1491936"/>
          </a:xfrm>
          <a:prstGeom prst="rect">
            <a:avLst/>
          </a:prstGeom>
        </p:spPr>
      </p:pic>
    </p:spTree>
    <p:extLst>
      <p:ext uri="{BB962C8B-B14F-4D97-AF65-F5344CB8AC3E}">
        <p14:creationId xmlns:p14="http://schemas.microsoft.com/office/powerpoint/2010/main" val="4114847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2F7A2-00DE-E1F6-E64C-09C1F26307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DDACEFE-1B09-6D14-3629-63EF9252E19C}"/>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REUSING PRETRAINED LAYERS A.K.A TRANSFER LEARNING</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BCC9419-BCCB-37A0-DBCE-708646F3451E}"/>
              </a:ext>
            </a:extLst>
          </p:cNvPr>
          <p:cNvSpPr txBox="1"/>
          <p:nvPr/>
        </p:nvSpPr>
        <p:spPr>
          <a:xfrm>
            <a:off x="680720" y="862817"/>
            <a:ext cx="11119394" cy="5520101"/>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REUSING PRETRAINED LAYERS</a:t>
            </a:r>
          </a:p>
          <a:p>
            <a:pPr marL="285750" indent="-285750">
              <a:lnSpc>
                <a:spcPct val="130000"/>
              </a:lnSpc>
              <a:buFont typeface="Wingdings" panose="05000000000000000000" pitchFamily="2" charset="2"/>
              <a:buChar char="ü"/>
            </a:pPr>
            <a:r>
              <a:rPr lang="en-US" dirty="0"/>
              <a:t>So, once you clone the model you also copy the weights of the model as follows:-</a:t>
            </a:r>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r>
              <a:rPr lang="en-US" dirty="0"/>
              <a:t>Now you could train </a:t>
            </a:r>
            <a:r>
              <a:rPr lang="en-US" dirty="0" err="1"/>
              <a:t>model_B_on_A</a:t>
            </a:r>
            <a:r>
              <a:rPr lang="en-US" dirty="0"/>
              <a:t> for task B, but since the new output layer was </a:t>
            </a:r>
            <a:r>
              <a:rPr lang="en-US" dirty="0" err="1"/>
              <a:t>ini</a:t>
            </a:r>
            <a:r>
              <a:rPr lang="en-US" dirty="0"/>
              <a:t>‐ </a:t>
            </a:r>
            <a:r>
              <a:rPr lang="en-US" dirty="0" err="1"/>
              <a:t>tialized</a:t>
            </a:r>
            <a:r>
              <a:rPr lang="en-US" dirty="0"/>
              <a:t> randomly it will make large errors (at least during the first few epochs), so there will be large error gradients that may wreck the reused weights. To avoid this, one approach is to freeze the reused layers during the first few epochs, giving the new layer some time to learn reasonable weights. </a:t>
            </a:r>
          </a:p>
          <a:p>
            <a:pPr marL="285750" indent="-285750">
              <a:lnSpc>
                <a:spcPct val="130000"/>
              </a:lnSpc>
              <a:buFont typeface="Wingdings" panose="05000000000000000000" pitchFamily="2" charset="2"/>
              <a:buChar char="ü"/>
            </a:pPr>
            <a:r>
              <a:rPr lang="en-US" dirty="0"/>
              <a:t>To do this, set every layer’s trainable attribute to False and compile the model: </a:t>
            </a:r>
            <a:br>
              <a:rPr lang="en-US" dirty="0"/>
            </a:br>
            <a:endParaRPr lang="en-US" dirty="0"/>
          </a:p>
          <a:p>
            <a:pPr marL="285750" indent="-285750">
              <a:lnSpc>
                <a:spcPct val="130000"/>
              </a:lnSpc>
              <a:buFont typeface="Wingdings" panose="05000000000000000000" pitchFamily="2" charset="2"/>
              <a:buChar char="ü"/>
            </a:pPr>
            <a:endParaRPr lang="en-US" dirty="0"/>
          </a:p>
          <a:p>
            <a:pPr>
              <a:lnSpc>
                <a:spcPct val="130000"/>
              </a:lnSpc>
            </a:pPr>
            <a:br>
              <a:rPr lang="en-US" dirty="0"/>
            </a:br>
            <a:endParaRPr lang="en-US" dirty="0"/>
          </a:p>
          <a:p>
            <a:pPr marL="285750" indent="-285750">
              <a:lnSpc>
                <a:spcPct val="130000"/>
              </a:lnSpc>
              <a:buFont typeface="Wingdings" panose="05000000000000000000" pitchFamily="2" charset="2"/>
              <a:buChar char="ü"/>
            </a:pPr>
            <a:endParaRPr lang="en-US" dirty="0"/>
          </a:p>
        </p:txBody>
      </p:sp>
      <p:pic>
        <p:nvPicPr>
          <p:cNvPr id="4" name="Picture 3">
            <a:extLst>
              <a:ext uri="{FF2B5EF4-FFF2-40B4-BE49-F238E27FC236}">
                <a16:creationId xmlns:a16="http://schemas.microsoft.com/office/drawing/2014/main" id="{4A6C43BF-2697-9DAF-5ADF-639F8F7231A3}"/>
              </a:ext>
            </a:extLst>
          </p:cNvPr>
          <p:cNvPicPr>
            <a:picLocks noChangeAspect="1"/>
          </p:cNvPicPr>
          <p:nvPr/>
        </p:nvPicPr>
        <p:blipFill>
          <a:blip r:embed="rId3"/>
          <a:stretch>
            <a:fillRect/>
          </a:stretch>
        </p:blipFill>
        <p:spPr>
          <a:xfrm>
            <a:off x="1831881" y="1721452"/>
            <a:ext cx="8357854" cy="922041"/>
          </a:xfrm>
          <a:prstGeom prst="rect">
            <a:avLst/>
          </a:prstGeom>
        </p:spPr>
      </p:pic>
      <p:pic>
        <p:nvPicPr>
          <p:cNvPr id="8" name="Picture 7">
            <a:extLst>
              <a:ext uri="{FF2B5EF4-FFF2-40B4-BE49-F238E27FC236}">
                <a16:creationId xmlns:a16="http://schemas.microsoft.com/office/drawing/2014/main" id="{D7C028B2-FBCD-2FB9-11F3-CFAD53A8F9F1}"/>
              </a:ext>
            </a:extLst>
          </p:cNvPr>
          <p:cNvPicPr>
            <a:picLocks noChangeAspect="1"/>
          </p:cNvPicPr>
          <p:nvPr/>
        </p:nvPicPr>
        <p:blipFill>
          <a:blip r:embed="rId4"/>
          <a:stretch>
            <a:fillRect/>
          </a:stretch>
        </p:blipFill>
        <p:spPr>
          <a:xfrm>
            <a:off x="2097971" y="4691150"/>
            <a:ext cx="7877008" cy="1491936"/>
          </a:xfrm>
          <a:prstGeom prst="rect">
            <a:avLst/>
          </a:prstGeom>
        </p:spPr>
      </p:pic>
    </p:spTree>
    <p:extLst>
      <p:ext uri="{BB962C8B-B14F-4D97-AF65-F5344CB8AC3E}">
        <p14:creationId xmlns:p14="http://schemas.microsoft.com/office/powerpoint/2010/main" val="2064885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2FE21-89C1-8BA5-B779-5D6E9065D18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09AACCC-B231-EC0A-59F4-E874F71BBA42}"/>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REUSING PRETRAINED LAYERS A.K.A TRANSFER LEARNING</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562FDBB7-4975-00F7-9AAE-DC0F992500C6}"/>
              </a:ext>
            </a:extLst>
          </p:cNvPr>
          <p:cNvSpPr txBox="1"/>
          <p:nvPr/>
        </p:nvSpPr>
        <p:spPr>
          <a:xfrm>
            <a:off x="680720" y="862817"/>
            <a:ext cx="11119394" cy="5520101"/>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REUSING PRETRAINED LAYERS</a:t>
            </a:r>
          </a:p>
          <a:p>
            <a:pPr marL="285750" indent="-285750">
              <a:lnSpc>
                <a:spcPct val="130000"/>
              </a:lnSpc>
              <a:buFont typeface="Wingdings" panose="05000000000000000000" pitchFamily="2" charset="2"/>
              <a:buChar char="ü"/>
            </a:pPr>
            <a:r>
              <a:rPr lang="en-US" dirty="0"/>
              <a:t>Now you can train the model for a few epochs, then unfreeze the reused layers (which requires compiling the model again) and continue training to fine-tune the reused layers for task B. After unfreezing the reused layers, it is usually a good idea to reduce the learning rate, once again to avoid damaging the reused weights:</a:t>
            </a:r>
          </a:p>
          <a:p>
            <a:pPr>
              <a:lnSpc>
                <a:spcPct val="130000"/>
              </a:lnSpc>
            </a:pPr>
            <a:endParaRPr lang="en-US" dirty="0"/>
          </a:p>
          <a:p>
            <a:pPr>
              <a:lnSpc>
                <a:spcPct val="130000"/>
              </a:lnSpc>
            </a:pPr>
            <a:endParaRPr lang="en-US" dirty="0"/>
          </a:p>
          <a:p>
            <a:pPr>
              <a:lnSpc>
                <a:spcPct val="130000"/>
              </a:lnSpc>
            </a:pPr>
            <a:endParaRPr lang="en-US" dirty="0"/>
          </a:p>
          <a:p>
            <a:pPr>
              <a:lnSpc>
                <a:spcPct val="130000"/>
              </a:lnSpc>
            </a:pPr>
            <a:endParaRPr lang="en-US" dirty="0"/>
          </a:p>
          <a:p>
            <a:pPr>
              <a:lnSpc>
                <a:spcPct val="130000"/>
              </a:lnSpc>
            </a:pPr>
            <a:endParaRPr lang="en-US" dirty="0"/>
          </a:p>
          <a:p>
            <a:pPr>
              <a:lnSpc>
                <a:spcPct val="130000"/>
              </a:lnSpc>
            </a:pPr>
            <a:endParaRPr lang="en-US" dirty="0"/>
          </a:p>
          <a:p>
            <a:pPr>
              <a:lnSpc>
                <a:spcPct val="130000"/>
              </a:lnSpc>
            </a:pPr>
            <a:endParaRPr lang="en-US" dirty="0"/>
          </a:p>
          <a:p>
            <a:pPr>
              <a:lnSpc>
                <a:spcPct val="130000"/>
              </a:lnSpc>
            </a:pPr>
            <a:endParaRPr lang="en-US" dirty="0"/>
          </a:p>
          <a:p>
            <a:pPr>
              <a:lnSpc>
                <a:spcPct val="130000"/>
              </a:lnSpc>
            </a:pPr>
            <a:endParaRPr lang="en-US" dirty="0"/>
          </a:p>
          <a:p>
            <a:pPr>
              <a:lnSpc>
                <a:spcPct val="130000"/>
              </a:lnSpc>
            </a:pPr>
            <a:endParaRPr lang="en-US" dirty="0"/>
          </a:p>
          <a:p>
            <a:pPr marL="285750" indent="-285750">
              <a:lnSpc>
                <a:spcPct val="130000"/>
              </a:lnSpc>
              <a:buFont typeface="Wingdings" panose="05000000000000000000" pitchFamily="2" charset="2"/>
              <a:buChar char="ü"/>
            </a:pPr>
            <a:endParaRPr lang="en-US" dirty="0"/>
          </a:p>
        </p:txBody>
      </p:sp>
      <p:pic>
        <p:nvPicPr>
          <p:cNvPr id="6" name="Picture 5">
            <a:extLst>
              <a:ext uri="{FF2B5EF4-FFF2-40B4-BE49-F238E27FC236}">
                <a16:creationId xmlns:a16="http://schemas.microsoft.com/office/drawing/2014/main" id="{992E6A21-4596-A260-E570-F5A96A34017A}"/>
              </a:ext>
            </a:extLst>
          </p:cNvPr>
          <p:cNvPicPr>
            <a:picLocks noChangeAspect="1"/>
          </p:cNvPicPr>
          <p:nvPr/>
        </p:nvPicPr>
        <p:blipFill>
          <a:blip r:embed="rId3"/>
          <a:stretch>
            <a:fillRect/>
          </a:stretch>
        </p:blipFill>
        <p:spPr>
          <a:xfrm>
            <a:off x="1602663" y="2492728"/>
            <a:ext cx="8270680" cy="3160769"/>
          </a:xfrm>
          <a:prstGeom prst="rect">
            <a:avLst/>
          </a:prstGeom>
        </p:spPr>
      </p:pic>
      <p:pic>
        <p:nvPicPr>
          <p:cNvPr id="9" name="Picture 8">
            <a:extLst>
              <a:ext uri="{FF2B5EF4-FFF2-40B4-BE49-F238E27FC236}">
                <a16:creationId xmlns:a16="http://schemas.microsoft.com/office/drawing/2014/main" id="{EFBE618D-A93C-F2D8-B775-358043114DFF}"/>
              </a:ext>
            </a:extLst>
          </p:cNvPr>
          <p:cNvPicPr>
            <a:picLocks noChangeAspect="1"/>
          </p:cNvPicPr>
          <p:nvPr/>
        </p:nvPicPr>
        <p:blipFill>
          <a:blip r:embed="rId4"/>
          <a:stretch>
            <a:fillRect/>
          </a:stretch>
        </p:blipFill>
        <p:spPr>
          <a:xfrm>
            <a:off x="3560596" y="5719637"/>
            <a:ext cx="5070807" cy="597141"/>
          </a:xfrm>
          <a:prstGeom prst="rect">
            <a:avLst/>
          </a:prstGeom>
        </p:spPr>
      </p:pic>
    </p:spTree>
    <p:extLst>
      <p:ext uri="{BB962C8B-B14F-4D97-AF65-F5344CB8AC3E}">
        <p14:creationId xmlns:p14="http://schemas.microsoft.com/office/powerpoint/2010/main" val="3007313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7AD51-D3EE-B211-B372-C87A4A04294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6079567-D311-C252-757A-F3111F2D6DFB}"/>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00B529D-853A-1CE6-66CF-59508FE8C601}"/>
              </a:ext>
            </a:extLst>
          </p:cNvPr>
          <p:cNvSpPr txBox="1"/>
          <p:nvPr/>
        </p:nvSpPr>
        <p:spPr>
          <a:xfrm>
            <a:off x="680720" y="862817"/>
            <a:ext cx="11119394" cy="5160002"/>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RNN CELL</a:t>
            </a:r>
          </a:p>
          <a:p>
            <a:pPr marL="285750" indent="-285750">
              <a:lnSpc>
                <a:spcPct val="130000"/>
              </a:lnSpc>
              <a:buFont typeface="Wingdings" panose="05000000000000000000" pitchFamily="2" charset="2"/>
              <a:buChar char="ü"/>
            </a:pPr>
            <a:r>
              <a:rPr lang="en-US" dirty="0"/>
              <a:t>Traditional multilayer perceptron neural networks make the assumption that all inputs are independent of each other. </a:t>
            </a:r>
            <a:r>
              <a:rPr lang="en-US" dirty="0">
                <a:solidFill>
                  <a:srgbClr val="FF0000"/>
                </a:solidFill>
                <a:effectLst>
                  <a:outerShdw blurRad="38100" dist="38100" dir="2700000" algn="tl">
                    <a:srgbClr val="000000">
                      <a:alpha val="43137"/>
                    </a:srgbClr>
                  </a:outerShdw>
                </a:effectLst>
              </a:rPr>
              <a:t>This assumption is not true for many types of sequence data</a:t>
            </a:r>
            <a:r>
              <a:rPr lang="en-US" dirty="0"/>
              <a:t>. For example, words in a sentence, musical notes in a composition, stock prices over time, or even molecules in a compound are examples of sequences where an element will display a dependence on previous elements. </a:t>
            </a:r>
          </a:p>
          <a:p>
            <a:pPr marL="285750" indent="-285750">
              <a:lnSpc>
                <a:spcPct val="130000"/>
              </a:lnSpc>
              <a:buFont typeface="Wingdings" panose="05000000000000000000" pitchFamily="2" charset="2"/>
              <a:buChar char="ü"/>
            </a:pPr>
            <a:r>
              <a:rPr lang="en-US" dirty="0">
                <a:solidFill>
                  <a:srgbClr val="FF0000"/>
                </a:solidFill>
                <a:effectLst>
                  <a:outerShdw blurRad="38100" dist="38100" dir="2700000" algn="tl">
                    <a:srgbClr val="000000">
                      <a:alpha val="43137"/>
                    </a:srgbClr>
                  </a:outerShdw>
                </a:effectLst>
              </a:rPr>
              <a:t>RNN cells incorporate this dependence by having a hidden state</a:t>
            </a:r>
            <a:r>
              <a:rPr lang="en-US" dirty="0"/>
              <a:t>, or memory, that holds the essence of what has been seen so far. </a:t>
            </a:r>
            <a:r>
              <a:rPr lang="en-US" dirty="0">
                <a:solidFill>
                  <a:srgbClr val="FF0000"/>
                </a:solidFill>
                <a:effectLst>
                  <a:outerShdw blurRad="38100" dist="38100" dir="2700000" algn="tl">
                    <a:srgbClr val="000000">
                      <a:alpha val="43137"/>
                    </a:srgbClr>
                  </a:outerShdw>
                </a:effectLst>
              </a:rPr>
              <a:t>The value of the hidden state at any point in time is a function of the value of the hidden state at the previous time step</a:t>
            </a:r>
            <a:r>
              <a:rPr lang="en-US" dirty="0"/>
              <a:t>, and the value of the input at the current time step</a:t>
            </a:r>
          </a:p>
          <a:p>
            <a:pPr marL="285750" indent="-285750">
              <a:lnSpc>
                <a:spcPct val="130000"/>
              </a:lnSpc>
              <a:buFont typeface="Wingdings" panose="05000000000000000000" pitchFamily="2" charset="2"/>
              <a:buChar char="ü"/>
            </a:pPr>
            <a:endParaRPr lang="en-US" dirty="0"/>
          </a:p>
          <a:p>
            <a:pPr marL="285750" indent="-285750">
              <a:lnSpc>
                <a:spcPct val="130000"/>
              </a:lnSpc>
              <a:buFont typeface="Wingdings" panose="05000000000000000000" pitchFamily="2" charset="2"/>
              <a:buChar char="ü"/>
            </a:pPr>
            <a:endParaRPr lang="en-US" dirty="0"/>
          </a:p>
          <a:p>
            <a:pPr marL="285750" indent="-285750" algn="just">
              <a:lnSpc>
                <a:spcPct val="130000"/>
              </a:lnSpc>
              <a:buFont typeface="Wingdings" panose="05000000000000000000" pitchFamily="2" charset="2"/>
              <a:buChar char="ü"/>
            </a:pPr>
            <a:r>
              <a:rPr lang="en-US" dirty="0" err="1"/>
              <a:t>H_t</a:t>
            </a:r>
            <a:r>
              <a:rPr lang="en-US" dirty="0"/>
              <a:t> and h_t-1 are the values of the hidden states at the time t and t-1 respectively, and </a:t>
            </a:r>
            <a:r>
              <a:rPr lang="en-US" dirty="0" err="1"/>
              <a:t>x_t</a:t>
            </a:r>
            <a:r>
              <a:rPr lang="en-US" dirty="0"/>
              <a:t> is the value of the input at time t. Notice that the equation is recursive, that is, h_t-1 can be represented in terms of h_t-2 and x_t-1, and so on, until the beginning of the sequence. </a:t>
            </a:r>
            <a:r>
              <a:rPr lang="en-US" dirty="0">
                <a:solidFill>
                  <a:srgbClr val="FF0000"/>
                </a:solidFill>
                <a:effectLst>
                  <a:outerShdw blurRad="38100" dist="38100" dir="2700000" algn="tl">
                    <a:srgbClr val="000000">
                      <a:alpha val="43137"/>
                    </a:srgbClr>
                  </a:outerShdw>
                </a:effectLst>
              </a:rPr>
              <a:t>This is how RNNs encode and incorporate information from arbitrarily long sequences</a:t>
            </a:r>
            <a:r>
              <a:rPr lang="en-US" dirty="0"/>
              <a:t>.</a:t>
            </a:r>
          </a:p>
        </p:txBody>
      </p:sp>
      <p:pic>
        <p:nvPicPr>
          <p:cNvPr id="4" name="Picture 3">
            <a:extLst>
              <a:ext uri="{FF2B5EF4-FFF2-40B4-BE49-F238E27FC236}">
                <a16:creationId xmlns:a16="http://schemas.microsoft.com/office/drawing/2014/main" id="{69E96EB2-D5CE-A9FB-FBE2-8A05E0250051}"/>
              </a:ext>
            </a:extLst>
          </p:cNvPr>
          <p:cNvPicPr>
            <a:picLocks noChangeAspect="1"/>
          </p:cNvPicPr>
          <p:nvPr/>
        </p:nvPicPr>
        <p:blipFill>
          <a:blip r:embed="rId3"/>
          <a:stretch>
            <a:fillRect/>
          </a:stretch>
        </p:blipFill>
        <p:spPr>
          <a:xfrm>
            <a:off x="5166458" y="3900330"/>
            <a:ext cx="2454760" cy="606355"/>
          </a:xfrm>
          <a:prstGeom prst="rect">
            <a:avLst/>
          </a:prstGeom>
        </p:spPr>
      </p:pic>
    </p:spTree>
    <p:extLst>
      <p:ext uri="{BB962C8B-B14F-4D97-AF65-F5344CB8AC3E}">
        <p14:creationId xmlns:p14="http://schemas.microsoft.com/office/powerpoint/2010/main" val="725186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7FE2E-020A-73B8-4A21-5B47AD3109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2804750-F4C0-8B46-BCFC-41297474593C}"/>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E6B85B6C-74B5-EAAF-30E7-BB2B903BC098}"/>
              </a:ext>
            </a:extLst>
          </p:cNvPr>
          <p:cNvSpPr txBox="1"/>
          <p:nvPr/>
        </p:nvSpPr>
        <p:spPr>
          <a:xfrm>
            <a:off x="680720" y="862817"/>
            <a:ext cx="11119394" cy="2639312"/>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RNN CELL</a:t>
            </a:r>
          </a:p>
          <a:p>
            <a:pPr marL="285750" indent="-285750">
              <a:lnSpc>
                <a:spcPct val="130000"/>
              </a:lnSpc>
              <a:buFont typeface="Wingdings" panose="05000000000000000000" pitchFamily="2" charset="2"/>
              <a:buChar char="ü"/>
            </a:pPr>
            <a:r>
              <a:rPr lang="en-US" dirty="0"/>
              <a:t>We can also represent the RNN cell graphically, as shown in Figure. At time t, the cell has an input x(t) and output y(t). Part of the output y(t) (represented by the hidden state </a:t>
            </a:r>
            <a:r>
              <a:rPr lang="en-US" dirty="0" err="1"/>
              <a:t>ht</a:t>
            </a:r>
            <a:r>
              <a:rPr lang="en-US" dirty="0"/>
              <a:t>) is fed back into the cell for use at a later time step t+1.</a:t>
            </a:r>
          </a:p>
          <a:p>
            <a:pPr marL="285750" indent="-285750">
              <a:lnSpc>
                <a:spcPct val="130000"/>
              </a:lnSpc>
              <a:buFont typeface="Wingdings" panose="05000000000000000000" pitchFamily="2" charset="2"/>
              <a:buChar char="ü"/>
            </a:pPr>
            <a:r>
              <a:rPr lang="en-US" dirty="0"/>
              <a:t>Just as in a traditional neural network, where the learned parameters are stored as weight matrices, </a:t>
            </a:r>
            <a:r>
              <a:rPr lang="en-US" dirty="0">
                <a:solidFill>
                  <a:srgbClr val="FF0000"/>
                </a:solidFill>
                <a:effectLst>
                  <a:outerShdw blurRad="38100" dist="38100" dir="2700000" algn="tl">
                    <a:srgbClr val="000000">
                      <a:alpha val="43137"/>
                    </a:srgbClr>
                  </a:outerShdw>
                </a:effectLst>
              </a:rPr>
              <a:t>the RNN’s parameters are defined by the three weight matrices </a:t>
            </a:r>
            <a:r>
              <a:rPr lang="en-US" i="1" dirty="0">
                <a:solidFill>
                  <a:srgbClr val="FF0000"/>
                </a:solidFill>
                <a:effectLst>
                  <a:outerShdw blurRad="38100" dist="38100" dir="2700000" algn="tl">
                    <a:srgbClr val="000000">
                      <a:alpha val="43137"/>
                    </a:srgbClr>
                  </a:outerShdw>
                </a:effectLst>
              </a:rPr>
              <a:t>U</a:t>
            </a:r>
            <a:r>
              <a:rPr lang="en-US" dirty="0">
                <a:solidFill>
                  <a:srgbClr val="FF0000"/>
                </a:solidFill>
                <a:effectLst>
                  <a:outerShdw blurRad="38100" dist="38100" dir="2700000" algn="tl">
                    <a:srgbClr val="000000">
                      <a:alpha val="43137"/>
                    </a:srgbClr>
                  </a:outerShdw>
                </a:effectLst>
              </a:rPr>
              <a:t>, </a:t>
            </a:r>
            <a:r>
              <a:rPr lang="en-US" i="1" dirty="0">
                <a:solidFill>
                  <a:srgbClr val="FF0000"/>
                </a:solidFill>
                <a:effectLst>
                  <a:outerShdw blurRad="38100" dist="38100" dir="2700000" algn="tl">
                    <a:srgbClr val="000000">
                      <a:alpha val="43137"/>
                    </a:srgbClr>
                  </a:outerShdw>
                </a:effectLst>
              </a:rPr>
              <a:t>V</a:t>
            </a:r>
            <a:r>
              <a:rPr lang="en-US" dirty="0">
                <a:solidFill>
                  <a:srgbClr val="FF0000"/>
                </a:solidFill>
                <a:effectLst>
                  <a:outerShdw blurRad="38100" dist="38100" dir="2700000" algn="tl">
                    <a:srgbClr val="000000">
                      <a:alpha val="43137"/>
                    </a:srgbClr>
                  </a:outerShdw>
                </a:effectLst>
              </a:rPr>
              <a:t>, and </a:t>
            </a:r>
            <a:r>
              <a:rPr lang="en-US" i="1" dirty="0">
                <a:solidFill>
                  <a:srgbClr val="FF0000"/>
                </a:solidFill>
                <a:effectLst>
                  <a:outerShdw blurRad="38100" dist="38100" dir="2700000" algn="tl">
                    <a:srgbClr val="000000">
                      <a:alpha val="43137"/>
                    </a:srgbClr>
                  </a:outerShdw>
                </a:effectLst>
              </a:rPr>
              <a:t>W</a:t>
            </a:r>
            <a:r>
              <a:rPr lang="en-US" dirty="0">
                <a:solidFill>
                  <a:srgbClr val="FF0000"/>
                </a:solidFill>
                <a:effectLst>
                  <a:outerShdw blurRad="38100" dist="38100" dir="2700000" algn="tl">
                    <a:srgbClr val="000000">
                      <a:alpha val="43137"/>
                    </a:srgbClr>
                  </a:outerShdw>
                </a:effectLst>
              </a:rPr>
              <a:t>, corresponding to the weights of the input, output, and hidden states respectively</a:t>
            </a:r>
          </a:p>
        </p:txBody>
      </p:sp>
      <p:pic>
        <p:nvPicPr>
          <p:cNvPr id="6" name="Picture 5">
            <a:extLst>
              <a:ext uri="{FF2B5EF4-FFF2-40B4-BE49-F238E27FC236}">
                <a16:creationId xmlns:a16="http://schemas.microsoft.com/office/drawing/2014/main" id="{7728C360-1DED-EB46-963F-9748707014D8}"/>
              </a:ext>
            </a:extLst>
          </p:cNvPr>
          <p:cNvPicPr>
            <a:picLocks noChangeAspect="1"/>
          </p:cNvPicPr>
          <p:nvPr/>
        </p:nvPicPr>
        <p:blipFill>
          <a:blip r:embed="rId3"/>
          <a:stretch>
            <a:fillRect/>
          </a:stretch>
        </p:blipFill>
        <p:spPr>
          <a:xfrm>
            <a:off x="2639374" y="3657555"/>
            <a:ext cx="6406656" cy="2588289"/>
          </a:xfrm>
          <a:prstGeom prst="rect">
            <a:avLst/>
          </a:prstGeom>
        </p:spPr>
      </p:pic>
    </p:spTree>
    <p:extLst>
      <p:ext uri="{BB962C8B-B14F-4D97-AF65-F5344CB8AC3E}">
        <p14:creationId xmlns:p14="http://schemas.microsoft.com/office/powerpoint/2010/main" val="1721454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F8345-2F29-6451-D0C0-67409A9C47F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203AF5C-2416-5F24-1B36-C97521BABD52}"/>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6CBEC7C-7A29-DA0D-52B4-C0142D6726D7}"/>
              </a:ext>
            </a:extLst>
          </p:cNvPr>
          <p:cNvSpPr txBox="1"/>
          <p:nvPr/>
        </p:nvSpPr>
        <p:spPr>
          <a:xfrm>
            <a:off x="680720" y="862817"/>
            <a:ext cx="11119394" cy="4079707"/>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RNN CELL</a:t>
            </a:r>
          </a:p>
          <a:p>
            <a:pPr marL="285750" indent="-285750">
              <a:lnSpc>
                <a:spcPct val="130000"/>
              </a:lnSpc>
              <a:buFont typeface="Wingdings" panose="05000000000000000000" pitchFamily="2" charset="2"/>
              <a:buChar char="ü"/>
            </a:pPr>
            <a:r>
              <a:rPr lang="en-US" dirty="0"/>
              <a:t>As in the figure At time t, the cell has an input x(t) and output y(t). </a:t>
            </a:r>
            <a:r>
              <a:rPr lang="en-US" dirty="0">
                <a:solidFill>
                  <a:srgbClr val="FF0000"/>
                </a:solidFill>
                <a:effectLst>
                  <a:outerShdw blurRad="38100" dist="38100" dir="2700000" algn="tl">
                    <a:srgbClr val="000000">
                      <a:alpha val="43137"/>
                    </a:srgbClr>
                  </a:outerShdw>
                </a:effectLst>
              </a:rPr>
              <a:t>Part of the output y(t) (represented by the hidden state </a:t>
            </a:r>
            <a:r>
              <a:rPr lang="en-US" dirty="0" err="1">
                <a:solidFill>
                  <a:srgbClr val="FF0000"/>
                </a:solidFill>
                <a:effectLst>
                  <a:outerShdw blurRad="38100" dist="38100" dir="2700000" algn="tl">
                    <a:srgbClr val="000000">
                      <a:alpha val="43137"/>
                    </a:srgbClr>
                  </a:outerShdw>
                </a:effectLst>
              </a:rPr>
              <a:t>h_t</a:t>
            </a:r>
            <a:r>
              <a:rPr lang="en-US" dirty="0">
                <a:solidFill>
                  <a:srgbClr val="FF0000"/>
                </a:solidFill>
                <a:effectLst>
                  <a:outerShdw blurRad="38100" dist="38100" dir="2700000" algn="tl">
                    <a:srgbClr val="000000">
                      <a:alpha val="43137"/>
                    </a:srgbClr>
                  </a:outerShdw>
                </a:effectLst>
              </a:rPr>
              <a:t>) is fed back into the cell for use at a later time step t+1</a:t>
            </a:r>
            <a:r>
              <a:rPr lang="en-US" dirty="0"/>
              <a:t>.</a:t>
            </a:r>
          </a:p>
          <a:p>
            <a:pPr marL="285750" indent="-285750">
              <a:lnSpc>
                <a:spcPct val="130000"/>
              </a:lnSpc>
              <a:buFont typeface="Wingdings" panose="05000000000000000000" pitchFamily="2" charset="2"/>
              <a:buChar char="ü"/>
            </a:pPr>
            <a:r>
              <a:rPr lang="en-US" dirty="0"/>
              <a:t>Just as in a traditional neural network, where the learned parameters are stored as weight matrices, the RNN’s parameters are defined by the three weight matrices </a:t>
            </a:r>
            <a:r>
              <a:rPr lang="en-US" i="1" dirty="0"/>
              <a:t>U</a:t>
            </a:r>
            <a:r>
              <a:rPr lang="en-US" dirty="0"/>
              <a:t>, </a:t>
            </a:r>
            <a:r>
              <a:rPr lang="en-US" i="1" dirty="0"/>
              <a:t>V</a:t>
            </a:r>
            <a:r>
              <a:rPr lang="en-US" dirty="0"/>
              <a:t>, and </a:t>
            </a:r>
            <a:r>
              <a:rPr lang="en-US" i="1" dirty="0"/>
              <a:t>W</a:t>
            </a:r>
            <a:r>
              <a:rPr lang="en-US" dirty="0"/>
              <a:t>, corresponding to the weights of the input, output, and hidden states respectively</a:t>
            </a:r>
          </a:p>
          <a:p>
            <a:pPr marL="285750" indent="-285750">
              <a:lnSpc>
                <a:spcPct val="130000"/>
              </a:lnSpc>
              <a:buFont typeface="Wingdings" panose="05000000000000000000" pitchFamily="2" charset="2"/>
              <a:buChar char="ü"/>
            </a:pPr>
            <a:r>
              <a:rPr lang="en-US" i="1" dirty="0">
                <a:solidFill>
                  <a:schemeClr val="accent1">
                    <a:lumMod val="75000"/>
                  </a:schemeClr>
                </a:solidFill>
                <a:effectLst>
                  <a:outerShdw blurRad="38100" dist="38100" dir="2700000" algn="tl">
                    <a:srgbClr val="000000">
                      <a:alpha val="43137"/>
                    </a:srgbClr>
                  </a:outerShdw>
                </a:effectLst>
              </a:rPr>
              <a:t>The internal state of the RNN at a time t is given by the value of the hidden vector h(t), which is the sum of the </a:t>
            </a:r>
            <a:r>
              <a:rPr lang="en-US" i="1" dirty="0">
                <a:solidFill>
                  <a:srgbClr val="FF0000"/>
                </a:solidFill>
                <a:effectLst>
                  <a:outerShdw blurRad="38100" dist="38100" dir="2700000" algn="tl">
                    <a:srgbClr val="000000">
                      <a:alpha val="43137"/>
                    </a:srgbClr>
                  </a:outerShdw>
                </a:effectLst>
              </a:rPr>
              <a:t>weight matrix W </a:t>
            </a:r>
            <a:r>
              <a:rPr lang="en-US" i="1" dirty="0">
                <a:solidFill>
                  <a:schemeClr val="accent1">
                    <a:lumMod val="75000"/>
                  </a:schemeClr>
                </a:solidFill>
                <a:effectLst>
                  <a:outerShdw blurRad="38100" dist="38100" dir="2700000" algn="tl">
                    <a:srgbClr val="000000">
                      <a:alpha val="43137"/>
                    </a:srgbClr>
                  </a:outerShdw>
                </a:effectLst>
              </a:rPr>
              <a:t>and the </a:t>
            </a:r>
            <a:r>
              <a:rPr lang="en-US" i="1" dirty="0">
                <a:solidFill>
                  <a:srgbClr val="FF0000"/>
                </a:solidFill>
                <a:effectLst>
                  <a:outerShdw blurRad="38100" dist="38100" dir="2700000" algn="tl">
                    <a:srgbClr val="000000">
                      <a:alpha val="43137"/>
                    </a:srgbClr>
                  </a:outerShdw>
                </a:effectLst>
              </a:rPr>
              <a:t>hidden state h_t-1 at time t-1</a:t>
            </a:r>
            <a:r>
              <a:rPr lang="en-US" i="1" dirty="0">
                <a:solidFill>
                  <a:schemeClr val="accent1">
                    <a:lumMod val="75000"/>
                  </a:schemeClr>
                </a:solidFill>
                <a:effectLst>
                  <a:outerShdw blurRad="38100" dist="38100" dir="2700000" algn="tl">
                    <a:srgbClr val="000000">
                      <a:alpha val="43137"/>
                    </a:srgbClr>
                  </a:outerShdw>
                </a:effectLst>
              </a:rPr>
              <a:t>, and the product of the </a:t>
            </a:r>
            <a:r>
              <a:rPr lang="en-US" i="1" dirty="0">
                <a:solidFill>
                  <a:srgbClr val="FF0000"/>
                </a:solidFill>
                <a:effectLst>
                  <a:outerShdw blurRad="38100" dist="38100" dir="2700000" algn="tl">
                    <a:srgbClr val="000000">
                      <a:alpha val="43137"/>
                    </a:srgbClr>
                  </a:outerShdw>
                </a:effectLst>
              </a:rPr>
              <a:t>weight matrix U and the input </a:t>
            </a:r>
            <a:r>
              <a:rPr lang="en-US" i="1" dirty="0" err="1">
                <a:solidFill>
                  <a:srgbClr val="FF0000"/>
                </a:solidFill>
                <a:effectLst>
                  <a:outerShdw blurRad="38100" dist="38100" dir="2700000" algn="tl">
                    <a:srgbClr val="000000">
                      <a:alpha val="43137"/>
                    </a:srgbClr>
                  </a:outerShdw>
                </a:effectLst>
              </a:rPr>
              <a:t>x_t</a:t>
            </a:r>
            <a:r>
              <a:rPr lang="en-US" i="1" dirty="0">
                <a:solidFill>
                  <a:srgbClr val="FF0000"/>
                </a:solidFill>
                <a:effectLst>
                  <a:outerShdw blurRad="38100" dist="38100" dir="2700000" algn="tl">
                    <a:srgbClr val="000000">
                      <a:alpha val="43137"/>
                    </a:srgbClr>
                  </a:outerShdw>
                </a:effectLst>
              </a:rPr>
              <a:t> </a:t>
            </a:r>
            <a:r>
              <a:rPr lang="en-US" i="1" dirty="0">
                <a:solidFill>
                  <a:schemeClr val="accent1">
                    <a:lumMod val="75000"/>
                  </a:schemeClr>
                </a:solidFill>
                <a:effectLst>
                  <a:outerShdw blurRad="38100" dist="38100" dir="2700000" algn="tl">
                    <a:srgbClr val="000000">
                      <a:alpha val="43137"/>
                    </a:srgbClr>
                  </a:outerShdw>
                </a:effectLst>
              </a:rPr>
              <a:t>at time t, passed through a </a:t>
            </a:r>
            <a:r>
              <a:rPr lang="en-US" i="1" dirty="0">
                <a:solidFill>
                  <a:srgbClr val="FF0000"/>
                </a:solidFill>
                <a:effectLst>
                  <a:outerShdw blurRad="38100" dist="38100" dir="2700000" algn="tl">
                    <a:srgbClr val="000000">
                      <a:alpha val="43137"/>
                    </a:srgbClr>
                  </a:outerShdw>
                </a:effectLst>
              </a:rPr>
              <a:t>tanh activation function</a:t>
            </a:r>
            <a:r>
              <a:rPr lang="en-US" dirty="0"/>
              <a:t>. </a:t>
            </a:r>
          </a:p>
          <a:p>
            <a:pPr marL="285750" indent="-285750">
              <a:lnSpc>
                <a:spcPct val="130000"/>
              </a:lnSpc>
              <a:buFont typeface="Wingdings" panose="05000000000000000000" pitchFamily="2" charset="2"/>
              <a:buChar char="ü"/>
            </a:pPr>
            <a:r>
              <a:rPr lang="en-US" dirty="0"/>
              <a:t>The output vector </a:t>
            </a:r>
            <a:r>
              <a:rPr lang="en-US" i="1" dirty="0" err="1"/>
              <a:t>y_t</a:t>
            </a:r>
            <a:r>
              <a:rPr lang="en-US" i="1" dirty="0"/>
              <a:t> </a:t>
            </a:r>
            <a:r>
              <a:rPr lang="en-US" dirty="0"/>
              <a:t>at time </a:t>
            </a:r>
            <a:r>
              <a:rPr lang="en-US" i="1" dirty="0"/>
              <a:t>t </a:t>
            </a:r>
            <a:r>
              <a:rPr lang="en-US" dirty="0"/>
              <a:t>is the product of the weight matrix </a:t>
            </a:r>
            <a:r>
              <a:rPr lang="en-US" i="1" dirty="0"/>
              <a:t>V </a:t>
            </a:r>
            <a:r>
              <a:rPr lang="en-US" dirty="0"/>
              <a:t>and the hidden state </a:t>
            </a:r>
            <a:r>
              <a:rPr lang="en-US" i="1" dirty="0" err="1"/>
              <a:t>h_t</a:t>
            </a:r>
            <a:r>
              <a:rPr lang="en-US" dirty="0"/>
              <a:t>, passed through a </a:t>
            </a:r>
            <a:r>
              <a:rPr lang="en-US" dirty="0" err="1"/>
              <a:t>softmax</a:t>
            </a:r>
            <a:r>
              <a:rPr lang="en-US" dirty="0"/>
              <a:t> activation, such that the resulting vector is a set of output probabilities: </a:t>
            </a:r>
          </a:p>
        </p:txBody>
      </p:sp>
      <p:pic>
        <p:nvPicPr>
          <p:cNvPr id="4" name="Picture 3">
            <a:extLst>
              <a:ext uri="{FF2B5EF4-FFF2-40B4-BE49-F238E27FC236}">
                <a16:creationId xmlns:a16="http://schemas.microsoft.com/office/drawing/2014/main" id="{0B0D6FB1-AC34-1077-AEF0-C6BD6C1BC0FD}"/>
              </a:ext>
            </a:extLst>
          </p:cNvPr>
          <p:cNvPicPr>
            <a:picLocks noChangeAspect="1"/>
          </p:cNvPicPr>
          <p:nvPr/>
        </p:nvPicPr>
        <p:blipFill>
          <a:blip r:embed="rId3"/>
          <a:stretch>
            <a:fillRect/>
          </a:stretch>
        </p:blipFill>
        <p:spPr>
          <a:xfrm>
            <a:off x="1656080" y="5352090"/>
            <a:ext cx="3139712" cy="1251910"/>
          </a:xfrm>
          <a:prstGeom prst="rect">
            <a:avLst/>
          </a:prstGeom>
        </p:spPr>
      </p:pic>
      <p:pic>
        <p:nvPicPr>
          <p:cNvPr id="2" name="Picture 1">
            <a:extLst>
              <a:ext uri="{FF2B5EF4-FFF2-40B4-BE49-F238E27FC236}">
                <a16:creationId xmlns:a16="http://schemas.microsoft.com/office/drawing/2014/main" id="{2C45CBE4-99F3-C993-F95D-E75815BB56A3}"/>
              </a:ext>
            </a:extLst>
          </p:cNvPr>
          <p:cNvPicPr>
            <a:picLocks noChangeAspect="1"/>
          </p:cNvPicPr>
          <p:nvPr/>
        </p:nvPicPr>
        <p:blipFill>
          <a:blip r:embed="rId4"/>
          <a:stretch>
            <a:fillRect/>
          </a:stretch>
        </p:blipFill>
        <p:spPr>
          <a:xfrm>
            <a:off x="6458081" y="5090160"/>
            <a:ext cx="4443599" cy="1647578"/>
          </a:xfrm>
          <a:prstGeom prst="rect">
            <a:avLst/>
          </a:prstGeom>
        </p:spPr>
      </p:pic>
    </p:spTree>
    <p:extLst>
      <p:ext uri="{BB962C8B-B14F-4D97-AF65-F5344CB8AC3E}">
        <p14:creationId xmlns:p14="http://schemas.microsoft.com/office/powerpoint/2010/main" val="999210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F2F85-D3E1-EF1E-D9F9-B05D5A77CAE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95A5958-E44F-F8D8-6615-52A5EFF07BA0}"/>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BB04D043-EBBC-E754-7E98-795DE761571D}"/>
              </a:ext>
            </a:extLst>
          </p:cNvPr>
          <p:cNvSpPr txBox="1"/>
          <p:nvPr/>
        </p:nvSpPr>
        <p:spPr>
          <a:xfrm>
            <a:off x="680720" y="862817"/>
            <a:ext cx="11119394" cy="4079707"/>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Back Propagation Through Time</a:t>
            </a:r>
          </a:p>
          <a:p>
            <a:pPr marL="285750" indent="-285750">
              <a:lnSpc>
                <a:spcPct val="130000"/>
              </a:lnSpc>
              <a:buFont typeface="Wingdings" panose="05000000000000000000" pitchFamily="2" charset="2"/>
              <a:buChar char="ü"/>
            </a:pPr>
            <a:r>
              <a:rPr lang="en-US" dirty="0"/>
              <a:t> </a:t>
            </a:r>
            <a:r>
              <a:rPr lang="en-US" dirty="0">
                <a:solidFill>
                  <a:schemeClr val="accent5">
                    <a:lumMod val="75000"/>
                  </a:schemeClr>
                </a:solidFill>
                <a:effectLst>
                  <a:outerShdw blurRad="38100" dist="38100" dir="2700000" algn="tl">
                    <a:srgbClr val="000000">
                      <a:alpha val="43137"/>
                    </a:srgbClr>
                  </a:outerShdw>
                </a:effectLst>
              </a:rPr>
              <a:t>Just like traditional neural networks, training RNNs also involves the backpropagation of gradients</a:t>
            </a:r>
            <a:r>
              <a:rPr lang="en-US" dirty="0"/>
              <a:t>. The difference, in this case, is that since the weights are shared by all time steps, </a:t>
            </a:r>
            <a:r>
              <a:rPr lang="en-US" dirty="0">
                <a:solidFill>
                  <a:schemeClr val="accent5">
                    <a:lumMod val="75000"/>
                  </a:schemeClr>
                </a:solidFill>
                <a:effectLst>
                  <a:outerShdw blurRad="38100" dist="38100" dir="2700000" algn="tl">
                    <a:srgbClr val="000000">
                      <a:alpha val="43137"/>
                    </a:srgbClr>
                  </a:outerShdw>
                </a:effectLst>
              </a:rPr>
              <a:t>the gradient at each output depends not only on the current time step but also on the previous ones </a:t>
            </a:r>
          </a:p>
          <a:p>
            <a:pPr marL="285750" indent="-285750">
              <a:lnSpc>
                <a:spcPct val="130000"/>
              </a:lnSpc>
              <a:buFont typeface="Wingdings" panose="05000000000000000000" pitchFamily="2" charset="2"/>
              <a:buChar char="ü"/>
            </a:pPr>
            <a:r>
              <a:rPr lang="en-US" dirty="0"/>
              <a:t>This process is called backpropagation through time. </a:t>
            </a:r>
            <a:r>
              <a:rPr lang="en-US" dirty="0">
                <a:solidFill>
                  <a:srgbClr val="FF0000"/>
                </a:solidFill>
                <a:effectLst>
                  <a:outerShdw blurRad="38100" dist="38100" dir="2700000" algn="tl">
                    <a:srgbClr val="000000">
                      <a:alpha val="43137"/>
                    </a:srgbClr>
                  </a:outerShdw>
                </a:effectLst>
              </a:rPr>
              <a:t>Because the weights </a:t>
            </a:r>
            <a:r>
              <a:rPr lang="en-US" i="1" dirty="0">
                <a:solidFill>
                  <a:srgbClr val="FF0000"/>
                </a:solidFill>
                <a:effectLst>
                  <a:outerShdw blurRad="38100" dist="38100" dir="2700000" algn="tl">
                    <a:srgbClr val="000000">
                      <a:alpha val="43137"/>
                    </a:srgbClr>
                  </a:outerShdw>
                </a:effectLst>
              </a:rPr>
              <a:t>U</a:t>
            </a:r>
            <a:r>
              <a:rPr lang="en-US" dirty="0">
                <a:solidFill>
                  <a:srgbClr val="FF0000"/>
                </a:solidFill>
                <a:effectLst>
                  <a:outerShdw blurRad="38100" dist="38100" dir="2700000" algn="tl">
                    <a:srgbClr val="000000">
                      <a:alpha val="43137"/>
                    </a:srgbClr>
                  </a:outerShdw>
                </a:effectLst>
              </a:rPr>
              <a:t>, </a:t>
            </a:r>
            <a:r>
              <a:rPr lang="en-US" i="1" dirty="0">
                <a:solidFill>
                  <a:srgbClr val="FF0000"/>
                </a:solidFill>
                <a:effectLst>
                  <a:outerShdw blurRad="38100" dist="38100" dir="2700000" algn="tl">
                    <a:srgbClr val="000000">
                      <a:alpha val="43137"/>
                    </a:srgbClr>
                  </a:outerShdw>
                </a:effectLst>
              </a:rPr>
              <a:t>V</a:t>
            </a:r>
            <a:r>
              <a:rPr lang="en-US" dirty="0">
                <a:solidFill>
                  <a:srgbClr val="FF0000"/>
                </a:solidFill>
                <a:effectLst>
                  <a:outerShdw blurRad="38100" dist="38100" dir="2700000" algn="tl">
                    <a:srgbClr val="000000">
                      <a:alpha val="43137"/>
                    </a:srgbClr>
                  </a:outerShdw>
                </a:effectLst>
              </a:rPr>
              <a:t>, and </a:t>
            </a:r>
            <a:r>
              <a:rPr lang="en-US" i="1" dirty="0">
                <a:solidFill>
                  <a:srgbClr val="FF0000"/>
                </a:solidFill>
                <a:effectLst>
                  <a:outerShdw blurRad="38100" dist="38100" dir="2700000" algn="tl">
                    <a:srgbClr val="000000">
                      <a:alpha val="43137"/>
                    </a:srgbClr>
                  </a:outerShdw>
                </a:effectLst>
              </a:rPr>
              <a:t>W</a:t>
            </a:r>
            <a:r>
              <a:rPr lang="en-US" dirty="0">
                <a:solidFill>
                  <a:srgbClr val="FF0000"/>
                </a:solidFill>
                <a:effectLst>
                  <a:outerShdw blurRad="38100" dist="38100" dir="2700000" algn="tl">
                    <a:srgbClr val="000000">
                      <a:alpha val="43137"/>
                    </a:srgbClr>
                  </a:outerShdw>
                </a:effectLst>
              </a:rPr>
              <a:t>, are shared across the different time steps in the case of RNNs, we need to sum up the gradients across the various time steps in the case of BPTT.</a:t>
            </a:r>
            <a:r>
              <a:rPr lang="en-US" dirty="0"/>
              <a:t> This is the key difference between traditional backpropagation and BPTT. </a:t>
            </a:r>
          </a:p>
          <a:p>
            <a:pPr marL="285750" indent="-285750">
              <a:lnSpc>
                <a:spcPct val="130000"/>
              </a:lnSpc>
              <a:buFont typeface="Wingdings" panose="05000000000000000000" pitchFamily="2" charset="2"/>
              <a:buChar char="ü"/>
            </a:pPr>
            <a:r>
              <a:rPr lang="en-US" dirty="0"/>
              <a:t>Consider the RNN with five time steps shown in </a:t>
            </a:r>
            <a:r>
              <a:rPr lang="en-US" i="1" dirty="0"/>
              <a:t>Figure</a:t>
            </a:r>
            <a:r>
              <a:rPr lang="en-US" dirty="0"/>
              <a:t>. </a:t>
            </a:r>
            <a:r>
              <a:rPr lang="en-US" i="1" dirty="0">
                <a:solidFill>
                  <a:schemeClr val="accent5">
                    <a:lumMod val="75000"/>
                  </a:schemeClr>
                </a:solidFill>
                <a:effectLst>
                  <a:outerShdw blurRad="38100" dist="38100" dir="2700000" algn="tl">
                    <a:srgbClr val="000000">
                      <a:alpha val="43137"/>
                    </a:srgbClr>
                  </a:outerShdw>
                </a:effectLst>
              </a:rPr>
              <a:t>During the forward pass, the network produces predictions </a:t>
            </a:r>
            <a:r>
              <a:rPr lang="en-US" i="1" dirty="0" err="1">
                <a:solidFill>
                  <a:schemeClr val="accent5">
                    <a:lumMod val="75000"/>
                  </a:schemeClr>
                </a:solidFill>
                <a:effectLst>
                  <a:outerShdw blurRad="38100" dist="38100" dir="2700000" algn="tl">
                    <a:srgbClr val="000000">
                      <a:alpha val="43137"/>
                    </a:srgbClr>
                  </a:outerShdw>
                </a:effectLst>
              </a:rPr>
              <a:t>ŷ_t</a:t>
            </a:r>
            <a:r>
              <a:rPr lang="en-US" i="1" dirty="0">
                <a:solidFill>
                  <a:schemeClr val="accent5">
                    <a:lumMod val="75000"/>
                  </a:schemeClr>
                </a:solidFill>
                <a:effectLst>
                  <a:outerShdw blurRad="38100" dist="38100" dir="2700000" algn="tl">
                    <a:srgbClr val="000000">
                      <a:alpha val="43137"/>
                    </a:srgbClr>
                  </a:outerShdw>
                </a:effectLst>
              </a:rPr>
              <a:t> at time t that are compared with the label </a:t>
            </a:r>
            <a:r>
              <a:rPr lang="en-US" i="1" dirty="0" err="1">
                <a:solidFill>
                  <a:schemeClr val="accent5">
                    <a:lumMod val="75000"/>
                  </a:schemeClr>
                </a:solidFill>
                <a:effectLst>
                  <a:outerShdw blurRad="38100" dist="38100" dir="2700000" algn="tl">
                    <a:srgbClr val="000000">
                      <a:alpha val="43137"/>
                    </a:srgbClr>
                  </a:outerShdw>
                </a:effectLst>
              </a:rPr>
              <a:t>y_t</a:t>
            </a:r>
            <a:r>
              <a:rPr lang="en-US" i="1" dirty="0">
                <a:solidFill>
                  <a:schemeClr val="accent5">
                    <a:lumMod val="75000"/>
                  </a:schemeClr>
                </a:solidFill>
                <a:effectLst>
                  <a:outerShdw blurRad="38100" dist="38100" dir="2700000" algn="tl">
                    <a:srgbClr val="000000">
                      <a:alpha val="43137"/>
                    </a:srgbClr>
                  </a:outerShdw>
                </a:effectLst>
              </a:rPr>
              <a:t> to compute a loss </a:t>
            </a:r>
            <a:r>
              <a:rPr lang="en-US" i="1" dirty="0" err="1">
                <a:solidFill>
                  <a:schemeClr val="accent5">
                    <a:lumMod val="75000"/>
                  </a:schemeClr>
                </a:solidFill>
                <a:effectLst>
                  <a:outerShdw blurRad="38100" dist="38100" dir="2700000" algn="tl">
                    <a:srgbClr val="000000">
                      <a:alpha val="43137"/>
                    </a:srgbClr>
                  </a:outerShdw>
                </a:effectLst>
              </a:rPr>
              <a:t>L_t</a:t>
            </a:r>
            <a:r>
              <a:rPr lang="en-US" dirty="0"/>
              <a:t>. During backpropagation (shown by the dotted lines), the gradients of the loss with respect to the weights </a:t>
            </a:r>
            <a:r>
              <a:rPr lang="en-US" i="1" dirty="0"/>
              <a:t>U</a:t>
            </a:r>
            <a:r>
              <a:rPr lang="en-US" dirty="0"/>
              <a:t>, </a:t>
            </a:r>
            <a:r>
              <a:rPr lang="en-US" i="1" dirty="0"/>
              <a:t>V</a:t>
            </a:r>
            <a:r>
              <a:rPr lang="en-US" dirty="0"/>
              <a:t>, and </a:t>
            </a:r>
            <a:r>
              <a:rPr lang="en-US" i="1" dirty="0"/>
              <a:t>W</a:t>
            </a:r>
            <a:r>
              <a:rPr lang="en-US" dirty="0"/>
              <a:t>, are computed at each time step and the parameters updated with the sum of the gradients </a:t>
            </a:r>
          </a:p>
        </p:txBody>
      </p:sp>
      <p:pic>
        <p:nvPicPr>
          <p:cNvPr id="6" name="Picture 5">
            <a:extLst>
              <a:ext uri="{FF2B5EF4-FFF2-40B4-BE49-F238E27FC236}">
                <a16:creationId xmlns:a16="http://schemas.microsoft.com/office/drawing/2014/main" id="{DD45720E-D8EE-36DF-AE20-A1E4F126E56B}"/>
              </a:ext>
            </a:extLst>
          </p:cNvPr>
          <p:cNvPicPr>
            <a:picLocks noChangeAspect="1"/>
          </p:cNvPicPr>
          <p:nvPr/>
        </p:nvPicPr>
        <p:blipFill>
          <a:blip r:embed="rId3"/>
          <a:stretch>
            <a:fillRect/>
          </a:stretch>
        </p:blipFill>
        <p:spPr>
          <a:xfrm>
            <a:off x="6923537" y="4613005"/>
            <a:ext cx="4386720" cy="2244995"/>
          </a:xfrm>
          <a:prstGeom prst="rect">
            <a:avLst/>
          </a:prstGeom>
        </p:spPr>
      </p:pic>
    </p:spTree>
    <p:extLst>
      <p:ext uri="{BB962C8B-B14F-4D97-AF65-F5344CB8AC3E}">
        <p14:creationId xmlns:p14="http://schemas.microsoft.com/office/powerpoint/2010/main" val="1141876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650B6-7891-C472-0E90-9B6C0D4D41F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79437B6-EF86-F382-72A8-52D2FFC04EA5}"/>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F651EA8-84AB-B07A-BB35-C10C7B348308}"/>
              </a:ext>
            </a:extLst>
          </p:cNvPr>
          <p:cNvSpPr txBox="1"/>
          <p:nvPr/>
        </p:nvSpPr>
        <p:spPr>
          <a:xfrm>
            <a:off x="680720" y="862817"/>
            <a:ext cx="11119394" cy="4939814"/>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Back Propagation Through Time</a:t>
            </a:r>
          </a:p>
          <a:p>
            <a:pPr marL="285750" indent="-285750">
              <a:buFont typeface="Wingdings" panose="05000000000000000000" pitchFamily="2" charset="2"/>
              <a:buChar char="ü"/>
            </a:pPr>
            <a:r>
              <a:rPr lang="en-US" dirty="0"/>
              <a:t>The following equation shows the gradient of the loss with respect to </a:t>
            </a:r>
            <a:r>
              <a:rPr lang="en-US" i="1" dirty="0"/>
              <a:t>W</a:t>
            </a:r>
            <a:r>
              <a:rPr lang="en-US" dirty="0"/>
              <a:t>. </a:t>
            </a:r>
            <a:r>
              <a:rPr lang="en-US" dirty="0">
                <a:solidFill>
                  <a:schemeClr val="accent5">
                    <a:lumMod val="75000"/>
                  </a:schemeClr>
                </a:solidFill>
                <a:effectLst>
                  <a:outerShdw blurRad="38100" dist="38100" dir="2700000" algn="tl">
                    <a:srgbClr val="000000">
                      <a:alpha val="43137"/>
                    </a:srgbClr>
                  </a:outerShdw>
                </a:effectLst>
              </a:rPr>
              <a:t>We focus on this weight because it is the cause of the phenomenon known as the vanishing and exploding gradient problem</a:t>
            </a:r>
            <a:r>
              <a:rPr lang="en-US" dirty="0"/>
              <a:t>. This problem manifests as the gradients of the loss approaching either zero or infinity, making the network hard to train. To understand why this happens, consider the equation of the Simple RNN we saw earlier; the hidden state </a:t>
            </a:r>
            <a:r>
              <a:rPr lang="en-US" i="1" dirty="0" err="1"/>
              <a:t>h_t</a:t>
            </a:r>
            <a:r>
              <a:rPr lang="en-US" i="1" dirty="0"/>
              <a:t> </a:t>
            </a:r>
            <a:r>
              <a:rPr lang="en-US" dirty="0"/>
              <a:t>is dependent on </a:t>
            </a:r>
            <a:r>
              <a:rPr lang="en-US" i="1" dirty="0"/>
              <a:t>h_t</a:t>
            </a:r>
            <a:r>
              <a:rPr lang="en-US" dirty="0"/>
              <a:t>-1, which in turn is dependent on </a:t>
            </a:r>
            <a:r>
              <a:rPr lang="en-US" i="1" dirty="0"/>
              <a:t>h_t</a:t>
            </a:r>
            <a:r>
              <a:rPr lang="en-US" dirty="0"/>
              <a:t>-2, and so on  </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r>
              <a:rPr lang="en-US" dirty="0"/>
              <a:t> </a:t>
            </a:r>
          </a:p>
          <a:p>
            <a:pPr marL="285750" indent="-285750">
              <a:buFont typeface="Wingdings" panose="05000000000000000000" pitchFamily="2" charset="2"/>
              <a:buChar char="ü"/>
            </a:pPr>
            <a:endParaRPr lang="en-US" dirty="0"/>
          </a:p>
        </p:txBody>
      </p:sp>
      <p:pic>
        <p:nvPicPr>
          <p:cNvPr id="6" name="Picture 5">
            <a:extLst>
              <a:ext uri="{FF2B5EF4-FFF2-40B4-BE49-F238E27FC236}">
                <a16:creationId xmlns:a16="http://schemas.microsoft.com/office/drawing/2014/main" id="{F7A26879-B109-8A3C-ED6E-76A1B4607162}"/>
              </a:ext>
            </a:extLst>
          </p:cNvPr>
          <p:cNvPicPr>
            <a:picLocks noChangeAspect="1"/>
          </p:cNvPicPr>
          <p:nvPr/>
        </p:nvPicPr>
        <p:blipFill>
          <a:blip r:embed="rId3"/>
          <a:stretch>
            <a:fillRect/>
          </a:stretch>
        </p:blipFill>
        <p:spPr>
          <a:xfrm>
            <a:off x="5821903" y="3254605"/>
            <a:ext cx="4386720" cy="2244995"/>
          </a:xfrm>
          <a:prstGeom prst="rect">
            <a:avLst/>
          </a:prstGeom>
        </p:spPr>
      </p:pic>
      <p:pic>
        <p:nvPicPr>
          <p:cNvPr id="4" name="Picture 3">
            <a:extLst>
              <a:ext uri="{FF2B5EF4-FFF2-40B4-BE49-F238E27FC236}">
                <a16:creationId xmlns:a16="http://schemas.microsoft.com/office/drawing/2014/main" id="{0CAFC60C-0AAE-D4AD-A34C-4FB249250758}"/>
              </a:ext>
            </a:extLst>
          </p:cNvPr>
          <p:cNvPicPr>
            <a:picLocks noChangeAspect="1"/>
          </p:cNvPicPr>
          <p:nvPr/>
        </p:nvPicPr>
        <p:blipFill>
          <a:blip r:embed="rId4"/>
          <a:stretch>
            <a:fillRect/>
          </a:stretch>
        </p:blipFill>
        <p:spPr>
          <a:xfrm>
            <a:off x="1881777" y="3723008"/>
            <a:ext cx="2974371" cy="1673948"/>
          </a:xfrm>
          <a:prstGeom prst="rect">
            <a:avLst/>
          </a:prstGeom>
        </p:spPr>
      </p:pic>
    </p:spTree>
    <p:extLst>
      <p:ext uri="{BB962C8B-B14F-4D97-AF65-F5344CB8AC3E}">
        <p14:creationId xmlns:p14="http://schemas.microsoft.com/office/powerpoint/2010/main" val="3112034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58C33-3896-DDDD-FD1D-9D1D45E680C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D7EE705-D944-FB1B-B739-34DC7EAD649E}"/>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C1F7D7D4-9EE8-82FF-107C-14ABC1FC1621}"/>
              </a:ext>
            </a:extLst>
          </p:cNvPr>
          <p:cNvSpPr txBox="1"/>
          <p:nvPr/>
        </p:nvSpPr>
        <p:spPr>
          <a:xfrm>
            <a:off x="680720" y="775729"/>
            <a:ext cx="11119394" cy="6047809"/>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Back Propagation Through Time</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Let’s now see what happens to this gradient at time step </a:t>
            </a:r>
            <a:r>
              <a:rPr lang="en-US" i="1" dirty="0"/>
              <a:t>t=3</a:t>
            </a:r>
            <a:r>
              <a:rPr lang="en-US" dirty="0"/>
              <a:t>. By the chain rule, the gradient of the loss with respect to </a:t>
            </a:r>
            <a:r>
              <a:rPr lang="en-US" i="1" dirty="0"/>
              <a:t>W </a:t>
            </a:r>
            <a:r>
              <a:rPr lang="en-US" dirty="0"/>
              <a:t>can be decomposed to a product of three sub-gradients. The gradient of the hidden state </a:t>
            </a:r>
            <a:r>
              <a:rPr lang="en-US" i="1" dirty="0"/>
              <a:t>h</a:t>
            </a:r>
            <a:r>
              <a:rPr lang="en-US" dirty="0"/>
              <a:t>2 with respect to </a:t>
            </a:r>
            <a:r>
              <a:rPr lang="en-US" i="1" dirty="0"/>
              <a:t>W </a:t>
            </a:r>
            <a:r>
              <a:rPr lang="en-US" dirty="0"/>
              <a:t>can be further decomposed as the sum of the gradient of each hidden state with respect to the previous one. </a:t>
            </a:r>
          </a:p>
          <a:p>
            <a:pPr marL="285750" indent="-285750">
              <a:buFont typeface="Wingdings" panose="05000000000000000000" pitchFamily="2" charset="2"/>
              <a:buChar char="ü"/>
            </a:pPr>
            <a:r>
              <a:rPr lang="en-US" dirty="0"/>
              <a:t>Finally, each gradient of the hidden state with respect to the previous one can be further decomposed as the product of gradients of the current hidden state against the previous hidden state: </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p:txBody>
      </p:sp>
      <p:pic>
        <p:nvPicPr>
          <p:cNvPr id="6" name="Picture 5">
            <a:extLst>
              <a:ext uri="{FF2B5EF4-FFF2-40B4-BE49-F238E27FC236}">
                <a16:creationId xmlns:a16="http://schemas.microsoft.com/office/drawing/2014/main" id="{D6DADB50-44B6-D7C2-1477-EE3C27B190D5}"/>
              </a:ext>
            </a:extLst>
          </p:cNvPr>
          <p:cNvPicPr>
            <a:picLocks noChangeAspect="1"/>
          </p:cNvPicPr>
          <p:nvPr/>
        </p:nvPicPr>
        <p:blipFill>
          <a:blip r:embed="rId3"/>
          <a:stretch>
            <a:fillRect/>
          </a:stretch>
        </p:blipFill>
        <p:spPr>
          <a:xfrm>
            <a:off x="3902640" y="4491624"/>
            <a:ext cx="4386720" cy="2244995"/>
          </a:xfrm>
          <a:prstGeom prst="rect">
            <a:avLst/>
          </a:prstGeom>
        </p:spPr>
      </p:pic>
      <p:pic>
        <p:nvPicPr>
          <p:cNvPr id="7" name="Picture 6">
            <a:extLst>
              <a:ext uri="{FF2B5EF4-FFF2-40B4-BE49-F238E27FC236}">
                <a16:creationId xmlns:a16="http://schemas.microsoft.com/office/drawing/2014/main" id="{5D5B162C-5F86-FC8C-F41D-68B8CA0F66E4}"/>
              </a:ext>
            </a:extLst>
          </p:cNvPr>
          <p:cNvPicPr>
            <a:picLocks noChangeAspect="1"/>
          </p:cNvPicPr>
          <p:nvPr/>
        </p:nvPicPr>
        <p:blipFill>
          <a:blip r:embed="rId4"/>
          <a:stretch>
            <a:fillRect/>
          </a:stretch>
        </p:blipFill>
        <p:spPr>
          <a:xfrm>
            <a:off x="1973242" y="3322571"/>
            <a:ext cx="7788315" cy="1082134"/>
          </a:xfrm>
          <a:prstGeom prst="rect">
            <a:avLst/>
          </a:prstGeom>
        </p:spPr>
      </p:pic>
    </p:spTree>
    <p:extLst>
      <p:ext uri="{BB962C8B-B14F-4D97-AF65-F5344CB8AC3E}">
        <p14:creationId xmlns:p14="http://schemas.microsoft.com/office/powerpoint/2010/main" val="27379089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EAC3C-1FED-9A2C-45AA-24AB65CFED3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83FCE1C-06F5-6C7F-C966-7516849168BA}"/>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26A6E5DA-BEB9-EF18-7F13-810989590BF2}"/>
              </a:ext>
            </a:extLst>
          </p:cNvPr>
          <p:cNvSpPr txBox="1"/>
          <p:nvPr/>
        </p:nvSpPr>
        <p:spPr>
          <a:xfrm>
            <a:off x="478973" y="677755"/>
            <a:ext cx="11386457" cy="5866350"/>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Back Propagation Through Time</a:t>
            </a:r>
            <a:endParaRPr lang="en-US" dirty="0"/>
          </a:p>
          <a:p>
            <a:pPr marL="285750" indent="-285750">
              <a:lnSpc>
                <a:spcPct val="150000"/>
              </a:lnSpc>
              <a:buFont typeface="Wingdings" panose="05000000000000000000" pitchFamily="2" charset="2"/>
              <a:buChar char="ü"/>
            </a:pPr>
            <a:r>
              <a:rPr lang="en-US" dirty="0"/>
              <a:t>The reason BPTT is particularly sensitive to the problem of vanishing and exploding gradients comes from the product part of the expression representing the final formulation of the gradient of the loss with respect to </a:t>
            </a:r>
            <a:r>
              <a:rPr lang="en-US" i="1" dirty="0"/>
              <a:t>W</a:t>
            </a:r>
            <a:r>
              <a:rPr lang="en-US" dirty="0"/>
              <a:t>. </a:t>
            </a:r>
            <a:r>
              <a:rPr lang="en-US" dirty="0">
                <a:solidFill>
                  <a:schemeClr val="accent5">
                    <a:lumMod val="75000"/>
                  </a:schemeClr>
                </a:solidFill>
                <a:effectLst>
                  <a:outerShdw blurRad="38100" dist="38100" dir="2700000" algn="tl">
                    <a:srgbClr val="000000">
                      <a:alpha val="43137"/>
                    </a:srgbClr>
                  </a:outerShdw>
                </a:effectLst>
              </a:rPr>
              <a:t>Consider the case where the individual gradients of a hidden state with respect to the previous one are less than 1. </a:t>
            </a:r>
          </a:p>
          <a:p>
            <a:pPr marL="285750" indent="-285750">
              <a:lnSpc>
                <a:spcPct val="150000"/>
              </a:lnSpc>
              <a:buFont typeface="Wingdings" panose="05000000000000000000" pitchFamily="2" charset="2"/>
              <a:buChar char="ü"/>
            </a:pPr>
            <a:r>
              <a:rPr lang="en-US" dirty="0"/>
              <a:t> </a:t>
            </a:r>
            <a:r>
              <a:rPr lang="en-US" dirty="0">
                <a:solidFill>
                  <a:srgbClr val="FF0000"/>
                </a:solidFill>
                <a:effectLst>
                  <a:outerShdw blurRad="38100" dist="38100" dir="2700000" algn="tl">
                    <a:srgbClr val="000000">
                      <a:alpha val="43137"/>
                    </a:srgbClr>
                  </a:outerShdw>
                </a:effectLst>
              </a:rPr>
              <a:t>As we backpropagate across multiple time steps, the product of gradients becomes smaller and smaller, ultimately leading to the problem of vanishing gradients</a:t>
            </a:r>
            <a:r>
              <a:rPr lang="en-US" dirty="0"/>
              <a:t>. Similarly, if the gradients are larger than 1, the products get larger and larger, and ultimately lead to the problem of exploding gradients. </a:t>
            </a:r>
          </a:p>
          <a:p>
            <a:pPr marL="285750" indent="-285750">
              <a:lnSpc>
                <a:spcPct val="150000"/>
              </a:lnSpc>
              <a:buFont typeface="Wingdings" panose="05000000000000000000" pitchFamily="2" charset="2"/>
              <a:buChar char="ü"/>
            </a:pPr>
            <a:r>
              <a:rPr lang="en-US" dirty="0">
                <a:solidFill>
                  <a:schemeClr val="accent5">
                    <a:lumMod val="75000"/>
                  </a:schemeClr>
                </a:solidFill>
                <a:effectLst>
                  <a:outerShdw blurRad="38100" dist="38100" dir="2700000" algn="tl">
                    <a:srgbClr val="000000">
                      <a:alpha val="43137"/>
                    </a:srgbClr>
                  </a:outerShdw>
                </a:effectLst>
              </a:rPr>
              <a:t>TensorFlow 2.0 allows you to clip gradients using the </a:t>
            </a:r>
            <a:r>
              <a:rPr lang="en-US" dirty="0" err="1">
                <a:solidFill>
                  <a:schemeClr val="accent5">
                    <a:lumMod val="75000"/>
                  </a:schemeClr>
                </a:solidFill>
                <a:effectLst>
                  <a:outerShdw blurRad="38100" dist="38100" dir="2700000" algn="tl">
                    <a:srgbClr val="000000">
                      <a:alpha val="43137"/>
                    </a:srgbClr>
                  </a:outerShdw>
                </a:effectLst>
              </a:rPr>
              <a:t>clipvalue</a:t>
            </a:r>
            <a:r>
              <a:rPr lang="en-US" dirty="0">
                <a:solidFill>
                  <a:schemeClr val="accent5">
                    <a:lumMod val="75000"/>
                  </a:schemeClr>
                </a:solidFill>
                <a:effectLst>
                  <a:outerShdw blurRad="38100" dist="38100" dir="2700000" algn="tl">
                    <a:srgbClr val="000000">
                      <a:alpha val="43137"/>
                    </a:srgbClr>
                  </a:outerShdw>
                </a:effectLst>
              </a:rPr>
              <a:t> or </a:t>
            </a:r>
            <a:r>
              <a:rPr lang="en-US" dirty="0" err="1">
                <a:solidFill>
                  <a:schemeClr val="accent5">
                    <a:lumMod val="75000"/>
                  </a:schemeClr>
                </a:solidFill>
                <a:effectLst>
                  <a:outerShdw blurRad="38100" dist="38100" dir="2700000" algn="tl">
                    <a:srgbClr val="000000">
                      <a:alpha val="43137"/>
                    </a:srgbClr>
                  </a:outerShdw>
                </a:effectLst>
              </a:rPr>
              <a:t>clipnorm</a:t>
            </a:r>
            <a:r>
              <a:rPr lang="en-US" dirty="0">
                <a:solidFill>
                  <a:schemeClr val="accent5">
                    <a:lumMod val="75000"/>
                  </a:schemeClr>
                </a:solidFill>
                <a:effectLst>
                  <a:outerShdw blurRad="38100" dist="38100" dir="2700000" algn="tl">
                    <a:srgbClr val="000000">
                      <a:alpha val="43137"/>
                    </a:srgbClr>
                  </a:outerShdw>
                </a:effectLst>
              </a:rPr>
              <a:t> parameter during optimizer construction, or by explicitly clipping gradients using </a:t>
            </a:r>
            <a:r>
              <a:rPr lang="en-US" dirty="0" err="1">
                <a:solidFill>
                  <a:schemeClr val="accent5">
                    <a:lumMod val="75000"/>
                  </a:schemeClr>
                </a:solidFill>
                <a:effectLst>
                  <a:outerShdw blurRad="38100" dist="38100" dir="2700000" algn="tl">
                    <a:srgbClr val="000000">
                      <a:alpha val="43137"/>
                    </a:srgbClr>
                  </a:outerShdw>
                </a:effectLst>
              </a:rPr>
              <a:t>tf.clip_by_value</a:t>
            </a:r>
            <a:r>
              <a:rPr lang="en-US" dirty="0"/>
              <a:t>. </a:t>
            </a:r>
          </a:p>
          <a:p>
            <a:pPr marL="285750" indent="-285750">
              <a:lnSpc>
                <a:spcPct val="150000"/>
              </a:lnSpc>
              <a:buFont typeface="Wingdings" panose="05000000000000000000" pitchFamily="2" charset="2"/>
              <a:buChar char="ü"/>
            </a:pPr>
            <a:r>
              <a:rPr lang="en-US" dirty="0"/>
              <a:t>The effect of vanishing gradients is that gradients from time steps that are far away do not contribute anything to the learning process, so the RNN ends up not learning any long-range dependencies. </a:t>
            </a:r>
            <a:r>
              <a:rPr lang="en-US" dirty="0">
                <a:solidFill>
                  <a:srgbClr val="FF0000"/>
                </a:solidFill>
                <a:effectLst>
                  <a:outerShdw blurRad="38100" dist="38100" dir="2700000" algn="tl">
                    <a:srgbClr val="000000">
                      <a:alpha val="43137"/>
                    </a:srgbClr>
                  </a:outerShdw>
                </a:effectLst>
              </a:rPr>
              <a:t>While there are a few approaches toward minimizing the problem,</a:t>
            </a:r>
            <a:r>
              <a:rPr lang="en-US" dirty="0"/>
              <a:t> such as proper initialization of the </a:t>
            </a:r>
            <a:r>
              <a:rPr lang="en-US" i="1" dirty="0"/>
              <a:t>W </a:t>
            </a:r>
            <a:r>
              <a:rPr lang="en-US" dirty="0"/>
              <a:t>matrix, more aggressive regularization, using </a:t>
            </a:r>
            <a:r>
              <a:rPr lang="en-US" dirty="0" err="1"/>
              <a:t>ReLU</a:t>
            </a:r>
            <a:r>
              <a:rPr lang="en-US" dirty="0"/>
              <a:t> instead of tanh activation, and pretraining the layers using unsupervised methods</a:t>
            </a:r>
            <a:r>
              <a:rPr lang="en-US" dirty="0">
                <a:solidFill>
                  <a:srgbClr val="FF0000"/>
                </a:solidFill>
                <a:effectLst>
                  <a:outerShdw blurRad="38100" dist="38100" dir="2700000" algn="tl">
                    <a:srgbClr val="000000">
                      <a:alpha val="43137"/>
                    </a:srgbClr>
                  </a:outerShdw>
                </a:effectLst>
              </a:rPr>
              <a:t>, the most popular solution is to use LSTM or GRU architectures.</a:t>
            </a:r>
          </a:p>
        </p:txBody>
      </p:sp>
    </p:spTree>
    <p:extLst>
      <p:ext uri="{BB962C8B-B14F-4D97-AF65-F5344CB8AC3E}">
        <p14:creationId xmlns:p14="http://schemas.microsoft.com/office/powerpoint/2010/main" val="4211652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9A747-0F4A-6E19-DDAD-FB36D2978D3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49E0429-BD93-B7E9-48B2-F7BDA1FA2C2B}"/>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BD6DDD3C-E4DB-9635-B840-B3AF0C773EBF}"/>
              </a:ext>
            </a:extLst>
          </p:cNvPr>
          <p:cNvSpPr txBox="1"/>
          <p:nvPr/>
        </p:nvSpPr>
        <p:spPr>
          <a:xfrm>
            <a:off x="478973" y="677755"/>
            <a:ext cx="6768012" cy="5450851"/>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Back Propagation Through Time</a:t>
            </a:r>
            <a:endParaRPr lang="en-US" dirty="0"/>
          </a:p>
          <a:p>
            <a:pPr marL="285750" indent="-285750">
              <a:lnSpc>
                <a:spcPct val="150000"/>
              </a:lnSpc>
              <a:buFont typeface="Wingdings" panose="05000000000000000000" pitchFamily="2" charset="2"/>
              <a:buChar char="ü"/>
            </a:pPr>
            <a:r>
              <a:rPr lang="en-US" dirty="0"/>
              <a:t>The LSTM is a variant of the Simple RNN cell that is capable of learning long-term dependencies. LSTMs were first proposed by Hochreiter and </a:t>
            </a:r>
            <a:r>
              <a:rPr lang="en-US" dirty="0" err="1"/>
              <a:t>SchmidHuber</a:t>
            </a:r>
            <a:r>
              <a:rPr lang="en-US" dirty="0"/>
              <a:t> and refined by many other researchers. They work well on a large variety of problems and are the most widely used RNN variant.</a:t>
            </a:r>
          </a:p>
          <a:p>
            <a:pPr marL="285750" indent="-285750">
              <a:lnSpc>
                <a:spcPct val="150000"/>
              </a:lnSpc>
              <a:buFont typeface="Wingdings" panose="05000000000000000000" pitchFamily="2" charset="2"/>
              <a:buChar char="ü"/>
            </a:pPr>
            <a:r>
              <a:rPr lang="en-US" dirty="0"/>
              <a:t>We have seen how the </a:t>
            </a:r>
            <a:r>
              <a:rPr lang="en-US" i="1" dirty="0">
                <a:solidFill>
                  <a:srgbClr val="FF0000"/>
                </a:solidFill>
                <a:effectLst>
                  <a:outerShdw blurRad="38100" dist="38100" dir="2700000" algn="tl">
                    <a:srgbClr val="000000">
                      <a:alpha val="43137"/>
                    </a:srgbClr>
                  </a:outerShdw>
                </a:effectLst>
              </a:rPr>
              <a:t>Simple RNN combines the hidden state from the previous time step </a:t>
            </a:r>
            <a:r>
              <a:rPr lang="en-US" dirty="0"/>
              <a:t>and the current input through a </a:t>
            </a:r>
            <a:r>
              <a:rPr lang="en-US" i="1" dirty="0">
                <a:solidFill>
                  <a:srgbClr val="FF0000"/>
                </a:solidFill>
                <a:effectLst>
                  <a:outerShdw blurRad="38100" dist="38100" dir="2700000" algn="tl">
                    <a:srgbClr val="000000">
                      <a:alpha val="43137"/>
                    </a:srgbClr>
                  </a:outerShdw>
                </a:effectLst>
              </a:rPr>
              <a:t>tanh</a:t>
            </a:r>
            <a:r>
              <a:rPr lang="en-US" dirty="0"/>
              <a:t> layer to implement recurrence. LSTMs also implement recurrence in a similar way, </a:t>
            </a:r>
            <a:r>
              <a:rPr lang="en-US" dirty="0">
                <a:solidFill>
                  <a:srgbClr val="FF0000"/>
                </a:solidFill>
                <a:effectLst>
                  <a:outerShdw blurRad="38100" dist="38100" dir="2700000" algn="tl">
                    <a:srgbClr val="000000">
                      <a:alpha val="43137"/>
                    </a:srgbClr>
                  </a:outerShdw>
                </a:effectLst>
              </a:rPr>
              <a:t>but instead of a single tanh layer, there are four layers interacting in a very specific way. </a:t>
            </a:r>
            <a:r>
              <a:rPr lang="en-US" i="1" dirty="0"/>
              <a:t>Figure </a:t>
            </a:r>
            <a:r>
              <a:rPr lang="en-US" dirty="0"/>
              <a:t>illustrates the transformations that are applied in the hidden state at time step </a:t>
            </a:r>
            <a:r>
              <a:rPr lang="en-US" i="1" dirty="0"/>
              <a:t>t</a:t>
            </a:r>
            <a:r>
              <a:rPr lang="en-US" dirty="0"/>
              <a:t>. </a:t>
            </a:r>
          </a:p>
          <a:p>
            <a:pPr marL="285750" indent="-285750">
              <a:lnSpc>
                <a:spcPct val="150000"/>
              </a:lnSpc>
              <a:buFont typeface="Wingdings" panose="05000000000000000000" pitchFamily="2" charset="2"/>
              <a:buChar char="ü"/>
            </a:pPr>
            <a:endParaRPr lang="en-US" dirty="0"/>
          </a:p>
        </p:txBody>
      </p:sp>
      <p:pic>
        <p:nvPicPr>
          <p:cNvPr id="4" name="Picture 3">
            <a:extLst>
              <a:ext uri="{FF2B5EF4-FFF2-40B4-BE49-F238E27FC236}">
                <a16:creationId xmlns:a16="http://schemas.microsoft.com/office/drawing/2014/main" id="{7E8DDA83-EADC-9B98-35E8-7D0986CBC6CC}"/>
              </a:ext>
            </a:extLst>
          </p:cNvPr>
          <p:cNvPicPr>
            <a:picLocks noChangeAspect="1"/>
          </p:cNvPicPr>
          <p:nvPr/>
        </p:nvPicPr>
        <p:blipFill>
          <a:blip r:embed="rId3"/>
          <a:stretch>
            <a:fillRect/>
          </a:stretch>
        </p:blipFill>
        <p:spPr>
          <a:xfrm>
            <a:off x="7464699" y="809171"/>
            <a:ext cx="4376055" cy="2866038"/>
          </a:xfrm>
          <a:prstGeom prst="rect">
            <a:avLst/>
          </a:prstGeom>
        </p:spPr>
      </p:pic>
    </p:spTree>
    <p:extLst>
      <p:ext uri="{BB962C8B-B14F-4D97-AF65-F5344CB8AC3E}">
        <p14:creationId xmlns:p14="http://schemas.microsoft.com/office/powerpoint/2010/main" val="1830196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E5DF5-E1A3-AD5E-7C18-39975CD7D8D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4B345C4-9A8F-9B00-535C-09F1C0EBC187}"/>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AA13C36-29CE-EFF0-DE60-EEE713B691F1}"/>
              </a:ext>
            </a:extLst>
          </p:cNvPr>
          <p:cNvSpPr txBox="1"/>
          <p:nvPr/>
        </p:nvSpPr>
        <p:spPr>
          <a:xfrm>
            <a:off x="478973" y="677755"/>
            <a:ext cx="6768012" cy="5866350"/>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Back Propagation Through Time</a:t>
            </a:r>
            <a:endParaRPr lang="en-US" dirty="0"/>
          </a:p>
          <a:p>
            <a:pPr marL="285750" indent="-285750">
              <a:lnSpc>
                <a:spcPct val="150000"/>
              </a:lnSpc>
              <a:buFont typeface="Wingdings" panose="05000000000000000000" pitchFamily="2" charset="2"/>
              <a:buChar char="ü"/>
            </a:pPr>
            <a:r>
              <a:rPr lang="en-US" dirty="0"/>
              <a:t>The set of equations representing an LSTM is shown as follows </a:t>
            </a:r>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marL="285750" indent="-285750">
              <a:lnSpc>
                <a:spcPct val="150000"/>
              </a:lnSpc>
              <a:buFont typeface="Wingdings" panose="05000000000000000000" pitchFamily="2" charset="2"/>
              <a:buChar char="ü"/>
            </a:pPr>
            <a:r>
              <a:rPr lang="en-US" dirty="0"/>
              <a:t>Here, </a:t>
            </a:r>
            <a:r>
              <a:rPr lang="en-US" i="1" dirty="0" err="1"/>
              <a:t>i</a:t>
            </a:r>
            <a:r>
              <a:rPr lang="en-US" dirty="0"/>
              <a:t>, </a:t>
            </a:r>
            <a:r>
              <a:rPr lang="en-US" i="1" dirty="0"/>
              <a:t>f</a:t>
            </a:r>
            <a:r>
              <a:rPr lang="en-US" dirty="0"/>
              <a:t>, and </a:t>
            </a:r>
            <a:r>
              <a:rPr lang="en-US" i="1" dirty="0"/>
              <a:t>o </a:t>
            </a:r>
            <a:r>
              <a:rPr lang="en-US" dirty="0"/>
              <a:t>are the input, forget, and output gates. They are computed using the same equations but with different parameter matrices </a:t>
            </a:r>
            <a:r>
              <a:rPr lang="en-US" i="1" dirty="0" err="1"/>
              <a:t>W_i</a:t>
            </a:r>
            <a:r>
              <a:rPr lang="en-US" dirty="0"/>
              <a:t>, </a:t>
            </a:r>
            <a:r>
              <a:rPr lang="en-US" i="1" dirty="0" err="1"/>
              <a:t>U_i</a:t>
            </a:r>
            <a:r>
              <a:rPr lang="en-US" dirty="0"/>
              <a:t>, </a:t>
            </a:r>
            <a:r>
              <a:rPr lang="en-US" i="1" dirty="0" err="1"/>
              <a:t>W_f</a:t>
            </a:r>
            <a:r>
              <a:rPr lang="en-US" dirty="0"/>
              <a:t>, </a:t>
            </a:r>
            <a:r>
              <a:rPr lang="en-US" i="1" dirty="0" err="1"/>
              <a:t>U_f</a:t>
            </a:r>
            <a:r>
              <a:rPr lang="en-US" dirty="0"/>
              <a:t>, and </a:t>
            </a:r>
            <a:r>
              <a:rPr lang="en-US" i="1" dirty="0" err="1"/>
              <a:t>W_</a:t>
            </a:r>
            <a:r>
              <a:rPr lang="en-US" dirty="0" err="1"/>
              <a:t>o</a:t>
            </a:r>
            <a:r>
              <a:rPr lang="en-US" dirty="0"/>
              <a:t>, </a:t>
            </a:r>
            <a:r>
              <a:rPr lang="en-US" i="1" dirty="0" err="1"/>
              <a:t>U_</a:t>
            </a:r>
            <a:r>
              <a:rPr lang="en-US" dirty="0" err="1"/>
              <a:t>o</a:t>
            </a:r>
            <a:r>
              <a:rPr lang="en-US" dirty="0"/>
              <a:t>. </a:t>
            </a:r>
            <a:r>
              <a:rPr lang="en-US" dirty="0">
                <a:solidFill>
                  <a:srgbClr val="FF0000"/>
                </a:solidFill>
                <a:effectLst>
                  <a:outerShdw blurRad="38100" dist="38100" dir="2700000" algn="tl">
                    <a:srgbClr val="000000">
                      <a:alpha val="43137"/>
                    </a:srgbClr>
                  </a:outerShdw>
                </a:effectLst>
              </a:rPr>
              <a:t>The sigmoid function modulates the output of these gates between 0 and 1</a:t>
            </a:r>
            <a:r>
              <a:rPr lang="en-US" dirty="0"/>
              <a:t>, so the output vectors produced can be multiplied element-wise with another vector to define how much of the second vector can pass through the first one. </a:t>
            </a:r>
          </a:p>
        </p:txBody>
      </p:sp>
      <p:pic>
        <p:nvPicPr>
          <p:cNvPr id="4" name="Picture 3">
            <a:extLst>
              <a:ext uri="{FF2B5EF4-FFF2-40B4-BE49-F238E27FC236}">
                <a16:creationId xmlns:a16="http://schemas.microsoft.com/office/drawing/2014/main" id="{F798DA4D-E2E2-A75C-E6FE-B3DE0DFC1126}"/>
              </a:ext>
            </a:extLst>
          </p:cNvPr>
          <p:cNvPicPr>
            <a:picLocks noChangeAspect="1"/>
          </p:cNvPicPr>
          <p:nvPr/>
        </p:nvPicPr>
        <p:blipFill>
          <a:blip r:embed="rId3"/>
          <a:stretch>
            <a:fillRect/>
          </a:stretch>
        </p:blipFill>
        <p:spPr>
          <a:xfrm>
            <a:off x="7464699" y="809171"/>
            <a:ext cx="4376055" cy="2866038"/>
          </a:xfrm>
          <a:prstGeom prst="rect">
            <a:avLst/>
          </a:prstGeom>
        </p:spPr>
      </p:pic>
      <p:pic>
        <p:nvPicPr>
          <p:cNvPr id="6" name="Picture 5">
            <a:extLst>
              <a:ext uri="{FF2B5EF4-FFF2-40B4-BE49-F238E27FC236}">
                <a16:creationId xmlns:a16="http://schemas.microsoft.com/office/drawing/2014/main" id="{286CAD62-EA8E-C10B-CFCB-FC76462C04D1}"/>
              </a:ext>
            </a:extLst>
          </p:cNvPr>
          <p:cNvPicPr>
            <a:picLocks noChangeAspect="1"/>
          </p:cNvPicPr>
          <p:nvPr/>
        </p:nvPicPr>
        <p:blipFill>
          <a:blip r:embed="rId4"/>
          <a:stretch>
            <a:fillRect/>
          </a:stretch>
        </p:blipFill>
        <p:spPr>
          <a:xfrm>
            <a:off x="2053072" y="1648113"/>
            <a:ext cx="3619814" cy="2027096"/>
          </a:xfrm>
          <a:prstGeom prst="rect">
            <a:avLst/>
          </a:prstGeom>
        </p:spPr>
      </p:pic>
    </p:spTree>
    <p:extLst>
      <p:ext uri="{BB962C8B-B14F-4D97-AF65-F5344CB8AC3E}">
        <p14:creationId xmlns:p14="http://schemas.microsoft.com/office/powerpoint/2010/main" val="5063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987F3-83D1-40EC-AFB1-823322C5AC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25D6584-426A-5A5D-45A4-CAC38FDE86B3}"/>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B153D258-5957-CC1E-6D57-4E9BFC8F1CF8}"/>
              </a:ext>
            </a:extLst>
          </p:cNvPr>
          <p:cNvSpPr txBox="1"/>
          <p:nvPr/>
        </p:nvSpPr>
        <p:spPr>
          <a:xfrm>
            <a:off x="478973" y="677755"/>
            <a:ext cx="6768012" cy="5866350"/>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Back Propagation Through Time</a:t>
            </a:r>
            <a:endParaRPr lang="en-US" dirty="0"/>
          </a:p>
          <a:p>
            <a:pPr marL="285750" indent="-285750">
              <a:lnSpc>
                <a:spcPct val="150000"/>
              </a:lnSpc>
              <a:buFont typeface="Wingdings" panose="05000000000000000000" pitchFamily="2" charset="2"/>
              <a:buChar char="ü"/>
            </a:pPr>
            <a:r>
              <a:rPr lang="en-US" dirty="0"/>
              <a:t>The forget gate defines how much of the previous state </a:t>
            </a:r>
            <a:r>
              <a:rPr lang="en-US" i="1" dirty="0"/>
              <a:t>h_t</a:t>
            </a:r>
            <a:r>
              <a:rPr lang="en-US" dirty="0"/>
              <a:t>-1 you want to allow to pass through. </a:t>
            </a:r>
            <a:r>
              <a:rPr lang="en-US" dirty="0">
                <a:solidFill>
                  <a:srgbClr val="FF0000"/>
                </a:solidFill>
                <a:effectLst>
                  <a:outerShdw blurRad="38100" dist="38100" dir="2700000" algn="tl">
                    <a:srgbClr val="000000">
                      <a:alpha val="43137"/>
                    </a:srgbClr>
                  </a:outerShdw>
                </a:effectLst>
              </a:rPr>
              <a:t>The input gate defines how much of the newly computed state for the current input </a:t>
            </a:r>
            <a:r>
              <a:rPr lang="en-US" i="1" dirty="0" err="1">
                <a:solidFill>
                  <a:srgbClr val="FF0000"/>
                </a:solidFill>
                <a:effectLst>
                  <a:outerShdw blurRad="38100" dist="38100" dir="2700000" algn="tl">
                    <a:srgbClr val="000000">
                      <a:alpha val="43137"/>
                    </a:srgbClr>
                  </a:outerShdw>
                </a:effectLst>
              </a:rPr>
              <a:t>x_t</a:t>
            </a:r>
            <a:r>
              <a:rPr lang="en-US" i="1" dirty="0">
                <a:solidFill>
                  <a:srgbClr val="FF0000"/>
                </a:solidFill>
                <a:effectLst>
                  <a:outerShdw blurRad="38100" dist="38100" dir="2700000" algn="tl">
                    <a:srgbClr val="000000">
                      <a:alpha val="43137"/>
                    </a:srgbClr>
                  </a:outerShdw>
                </a:effectLst>
              </a:rPr>
              <a:t> </a:t>
            </a:r>
            <a:r>
              <a:rPr lang="en-US" dirty="0">
                <a:solidFill>
                  <a:srgbClr val="FF0000"/>
                </a:solidFill>
                <a:effectLst>
                  <a:outerShdw blurRad="38100" dist="38100" dir="2700000" algn="tl">
                    <a:srgbClr val="000000">
                      <a:alpha val="43137"/>
                    </a:srgbClr>
                  </a:outerShdw>
                </a:effectLst>
              </a:rPr>
              <a:t>you want to let through, and the output gate defines how much of the internal state you want to expose to the next layer</a:t>
            </a:r>
            <a:r>
              <a:rPr lang="en-US" dirty="0"/>
              <a:t>. </a:t>
            </a:r>
            <a:r>
              <a:rPr lang="en-US" dirty="0">
                <a:solidFill>
                  <a:srgbClr val="0070C0"/>
                </a:solidFill>
                <a:effectLst>
                  <a:outerShdw blurRad="38100" dist="38100" dir="2700000" algn="tl">
                    <a:srgbClr val="000000">
                      <a:alpha val="43137"/>
                    </a:srgbClr>
                  </a:outerShdw>
                </a:effectLst>
              </a:rPr>
              <a:t>The internal hidden state </a:t>
            </a:r>
            <a:r>
              <a:rPr lang="en-US" i="1" dirty="0">
                <a:solidFill>
                  <a:srgbClr val="0070C0"/>
                </a:solidFill>
                <a:effectLst>
                  <a:outerShdw blurRad="38100" dist="38100" dir="2700000" algn="tl">
                    <a:srgbClr val="000000">
                      <a:alpha val="43137"/>
                    </a:srgbClr>
                  </a:outerShdw>
                </a:effectLst>
              </a:rPr>
              <a:t>g </a:t>
            </a:r>
            <a:r>
              <a:rPr lang="en-US" dirty="0">
                <a:solidFill>
                  <a:srgbClr val="0070C0"/>
                </a:solidFill>
                <a:effectLst>
                  <a:outerShdw blurRad="38100" dist="38100" dir="2700000" algn="tl">
                    <a:srgbClr val="000000">
                      <a:alpha val="43137"/>
                    </a:srgbClr>
                  </a:outerShdw>
                </a:effectLst>
              </a:rPr>
              <a:t>is computed based on the current input </a:t>
            </a:r>
            <a:r>
              <a:rPr lang="en-US" i="1" dirty="0" err="1">
                <a:solidFill>
                  <a:srgbClr val="0070C0"/>
                </a:solidFill>
                <a:effectLst>
                  <a:outerShdw blurRad="38100" dist="38100" dir="2700000" algn="tl">
                    <a:srgbClr val="000000">
                      <a:alpha val="43137"/>
                    </a:srgbClr>
                  </a:outerShdw>
                </a:effectLst>
              </a:rPr>
              <a:t>x_t</a:t>
            </a:r>
            <a:r>
              <a:rPr lang="en-US" i="1" dirty="0">
                <a:solidFill>
                  <a:srgbClr val="0070C0"/>
                </a:solidFill>
                <a:effectLst>
                  <a:outerShdw blurRad="38100" dist="38100" dir="2700000" algn="tl">
                    <a:srgbClr val="000000">
                      <a:alpha val="43137"/>
                    </a:srgbClr>
                  </a:outerShdw>
                </a:effectLst>
              </a:rPr>
              <a:t> </a:t>
            </a:r>
            <a:r>
              <a:rPr lang="en-US" dirty="0">
                <a:solidFill>
                  <a:srgbClr val="0070C0"/>
                </a:solidFill>
                <a:effectLst>
                  <a:outerShdw blurRad="38100" dist="38100" dir="2700000" algn="tl">
                    <a:srgbClr val="000000">
                      <a:alpha val="43137"/>
                    </a:srgbClr>
                  </a:outerShdw>
                </a:effectLst>
              </a:rPr>
              <a:t>and the previous hidden state </a:t>
            </a:r>
            <a:r>
              <a:rPr lang="en-US" i="1" dirty="0">
                <a:solidFill>
                  <a:srgbClr val="0070C0"/>
                </a:solidFill>
                <a:effectLst>
                  <a:outerShdw blurRad="38100" dist="38100" dir="2700000" algn="tl">
                    <a:srgbClr val="000000">
                      <a:alpha val="43137"/>
                    </a:srgbClr>
                  </a:outerShdw>
                </a:effectLst>
              </a:rPr>
              <a:t>h_t</a:t>
            </a:r>
            <a:r>
              <a:rPr lang="en-US" dirty="0">
                <a:solidFill>
                  <a:srgbClr val="0070C0"/>
                </a:solidFill>
                <a:effectLst>
                  <a:outerShdw blurRad="38100" dist="38100" dir="2700000" algn="tl">
                    <a:srgbClr val="000000">
                      <a:alpha val="43137"/>
                    </a:srgbClr>
                  </a:outerShdw>
                </a:effectLst>
              </a:rPr>
              <a:t>-1</a:t>
            </a:r>
            <a:r>
              <a:rPr lang="en-US" dirty="0"/>
              <a:t>. Notice that the equation for </a:t>
            </a:r>
            <a:r>
              <a:rPr lang="en-US" i="1" dirty="0"/>
              <a:t>g </a:t>
            </a:r>
            <a:r>
              <a:rPr lang="en-US" dirty="0"/>
              <a:t>is identical to that of the Simple RNN, except that in this case, we will modulate the output by the output of input vector </a:t>
            </a:r>
            <a:r>
              <a:rPr lang="en-US" i="1" dirty="0" err="1"/>
              <a:t>i</a:t>
            </a:r>
            <a:r>
              <a:rPr lang="en-US" dirty="0"/>
              <a:t>. </a:t>
            </a:r>
          </a:p>
          <a:p>
            <a:pPr marL="285750" indent="-285750">
              <a:lnSpc>
                <a:spcPct val="150000"/>
              </a:lnSpc>
              <a:buFont typeface="Wingdings" panose="05000000000000000000" pitchFamily="2" charset="2"/>
              <a:buChar char="ü"/>
            </a:pPr>
            <a:r>
              <a:rPr lang="en-US" dirty="0"/>
              <a:t>Given </a:t>
            </a:r>
            <a:r>
              <a:rPr lang="en-US" i="1" dirty="0" err="1"/>
              <a:t>i</a:t>
            </a:r>
            <a:r>
              <a:rPr lang="en-US" dirty="0"/>
              <a:t>, </a:t>
            </a:r>
            <a:r>
              <a:rPr lang="en-US" i="1" dirty="0"/>
              <a:t>f</a:t>
            </a:r>
            <a:r>
              <a:rPr lang="en-US" dirty="0"/>
              <a:t>, </a:t>
            </a:r>
            <a:r>
              <a:rPr lang="en-US" i="1" dirty="0"/>
              <a:t>o</a:t>
            </a:r>
            <a:r>
              <a:rPr lang="en-US" dirty="0"/>
              <a:t>, and </a:t>
            </a:r>
            <a:r>
              <a:rPr lang="en-US" i="1" dirty="0"/>
              <a:t>g</a:t>
            </a:r>
            <a:r>
              <a:rPr lang="en-US" dirty="0"/>
              <a:t>, we can now calculate the cell state </a:t>
            </a:r>
            <a:r>
              <a:rPr lang="en-US" i="1" dirty="0" err="1"/>
              <a:t>c_</a:t>
            </a:r>
            <a:r>
              <a:rPr lang="en-US" dirty="0" err="1"/>
              <a:t>t</a:t>
            </a:r>
            <a:r>
              <a:rPr lang="en-US" dirty="0"/>
              <a:t> at time </a:t>
            </a:r>
            <a:r>
              <a:rPr lang="en-US" i="1" dirty="0"/>
              <a:t>t </a:t>
            </a:r>
            <a:r>
              <a:rPr lang="en-US" dirty="0"/>
              <a:t>as the cell state </a:t>
            </a:r>
            <a:r>
              <a:rPr lang="en-US" i="1" dirty="0"/>
              <a:t>c_t</a:t>
            </a:r>
            <a:r>
              <a:rPr lang="en-US" dirty="0"/>
              <a:t>-1 at time (</a:t>
            </a:r>
            <a:r>
              <a:rPr lang="en-US" i="1" dirty="0"/>
              <a:t>t-1</a:t>
            </a:r>
            <a:r>
              <a:rPr lang="en-US" dirty="0"/>
              <a:t>) multiplied by the value of the forget gate </a:t>
            </a:r>
            <a:r>
              <a:rPr lang="en-US" i="1" dirty="0"/>
              <a:t>g</a:t>
            </a:r>
            <a:r>
              <a:rPr lang="en-US" dirty="0"/>
              <a:t>, plus the state </a:t>
            </a:r>
            <a:r>
              <a:rPr lang="en-US" i="1" dirty="0"/>
              <a:t>g </a:t>
            </a:r>
            <a:r>
              <a:rPr lang="en-US" dirty="0"/>
              <a:t>multiplied by the input gate </a:t>
            </a:r>
            <a:r>
              <a:rPr lang="en-US" i="1" dirty="0" err="1"/>
              <a:t>i</a:t>
            </a:r>
            <a:r>
              <a:rPr lang="en-US" dirty="0"/>
              <a:t>. </a:t>
            </a:r>
            <a:br>
              <a:rPr lang="en-US" dirty="0"/>
            </a:br>
            <a:endParaRPr lang="en-US" dirty="0"/>
          </a:p>
        </p:txBody>
      </p:sp>
      <p:pic>
        <p:nvPicPr>
          <p:cNvPr id="4" name="Picture 3">
            <a:extLst>
              <a:ext uri="{FF2B5EF4-FFF2-40B4-BE49-F238E27FC236}">
                <a16:creationId xmlns:a16="http://schemas.microsoft.com/office/drawing/2014/main" id="{748A6A3A-BCED-FBD3-65F7-95B70A9B921B}"/>
              </a:ext>
            </a:extLst>
          </p:cNvPr>
          <p:cNvPicPr>
            <a:picLocks noChangeAspect="1"/>
          </p:cNvPicPr>
          <p:nvPr/>
        </p:nvPicPr>
        <p:blipFill>
          <a:blip r:embed="rId3"/>
          <a:stretch>
            <a:fillRect/>
          </a:stretch>
        </p:blipFill>
        <p:spPr>
          <a:xfrm>
            <a:off x="7464699" y="809171"/>
            <a:ext cx="4376055" cy="2866038"/>
          </a:xfrm>
          <a:prstGeom prst="rect">
            <a:avLst/>
          </a:prstGeom>
        </p:spPr>
      </p:pic>
    </p:spTree>
    <p:extLst>
      <p:ext uri="{BB962C8B-B14F-4D97-AF65-F5344CB8AC3E}">
        <p14:creationId xmlns:p14="http://schemas.microsoft.com/office/powerpoint/2010/main" val="644390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898A-DB89-FA0F-A853-7F5680A3E80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6ED575-FB5D-B142-1F53-BC5D48811596}"/>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83F4327-1ECA-76BE-530C-E9E3486D5738}"/>
              </a:ext>
            </a:extLst>
          </p:cNvPr>
          <p:cNvSpPr txBox="1"/>
          <p:nvPr/>
        </p:nvSpPr>
        <p:spPr>
          <a:xfrm>
            <a:off x="478973" y="677755"/>
            <a:ext cx="6768012" cy="5035353"/>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b="1" u="sng" dirty="0"/>
              <a:t>Back Propagation Through Time</a:t>
            </a:r>
            <a:endParaRPr lang="en-US" dirty="0"/>
          </a:p>
          <a:p>
            <a:pPr marL="285750" indent="-285750" algn="just">
              <a:lnSpc>
                <a:spcPct val="150000"/>
              </a:lnSpc>
              <a:buFont typeface="Wingdings" panose="05000000000000000000" pitchFamily="2" charset="2"/>
              <a:buChar char="ü"/>
            </a:pPr>
            <a:r>
              <a:rPr lang="en-US" i="1" dirty="0">
                <a:solidFill>
                  <a:srgbClr val="FF0000"/>
                </a:solidFill>
                <a:effectLst>
                  <a:outerShdw blurRad="38100" dist="38100" dir="2700000" algn="tl">
                    <a:srgbClr val="000000">
                      <a:alpha val="43137"/>
                    </a:srgbClr>
                  </a:outerShdw>
                </a:effectLst>
              </a:rPr>
              <a:t>This is basically a way to combine the previous memory and the new input – setting the forget gate to 0 ignores the old memory and setting the input gate to 0 ignores the newly computed state</a:t>
            </a:r>
            <a:r>
              <a:rPr lang="en-US" dirty="0"/>
              <a:t>. Finally, </a:t>
            </a:r>
            <a:r>
              <a:rPr lang="en-US" dirty="0">
                <a:solidFill>
                  <a:srgbClr val="0070C0"/>
                </a:solidFill>
                <a:effectLst>
                  <a:outerShdw blurRad="38100" dist="38100" dir="2700000" algn="tl">
                    <a:srgbClr val="000000">
                      <a:alpha val="43137"/>
                    </a:srgbClr>
                  </a:outerShdw>
                </a:effectLst>
              </a:rPr>
              <a:t>the hidden state </a:t>
            </a:r>
            <a:r>
              <a:rPr lang="en-US" i="1" dirty="0" err="1">
                <a:solidFill>
                  <a:srgbClr val="0070C0"/>
                </a:solidFill>
                <a:effectLst>
                  <a:outerShdw blurRad="38100" dist="38100" dir="2700000" algn="tl">
                    <a:srgbClr val="000000">
                      <a:alpha val="43137"/>
                    </a:srgbClr>
                  </a:outerShdw>
                </a:effectLst>
              </a:rPr>
              <a:t>h_t</a:t>
            </a:r>
            <a:r>
              <a:rPr lang="en-US" i="1" dirty="0">
                <a:solidFill>
                  <a:srgbClr val="0070C0"/>
                </a:solidFill>
                <a:effectLst>
                  <a:outerShdw blurRad="38100" dist="38100" dir="2700000" algn="tl">
                    <a:srgbClr val="000000">
                      <a:alpha val="43137"/>
                    </a:srgbClr>
                  </a:outerShdw>
                </a:effectLst>
              </a:rPr>
              <a:t> </a:t>
            </a:r>
            <a:r>
              <a:rPr lang="en-US" dirty="0">
                <a:solidFill>
                  <a:srgbClr val="0070C0"/>
                </a:solidFill>
                <a:effectLst>
                  <a:outerShdw blurRad="38100" dist="38100" dir="2700000" algn="tl">
                    <a:srgbClr val="000000">
                      <a:alpha val="43137"/>
                    </a:srgbClr>
                  </a:outerShdw>
                </a:effectLst>
              </a:rPr>
              <a:t>at time </a:t>
            </a:r>
            <a:r>
              <a:rPr lang="en-US" i="1" dirty="0">
                <a:solidFill>
                  <a:srgbClr val="0070C0"/>
                </a:solidFill>
                <a:effectLst>
                  <a:outerShdw blurRad="38100" dist="38100" dir="2700000" algn="tl">
                    <a:srgbClr val="000000">
                      <a:alpha val="43137"/>
                    </a:srgbClr>
                  </a:outerShdw>
                </a:effectLst>
              </a:rPr>
              <a:t>t </a:t>
            </a:r>
            <a:r>
              <a:rPr lang="en-US" dirty="0">
                <a:solidFill>
                  <a:srgbClr val="0070C0"/>
                </a:solidFill>
                <a:effectLst>
                  <a:outerShdw blurRad="38100" dist="38100" dir="2700000" algn="tl">
                    <a:srgbClr val="000000">
                      <a:alpha val="43137"/>
                    </a:srgbClr>
                  </a:outerShdw>
                </a:effectLst>
              </a:rPr>
              <a:t>is computed as the memory </a:t>
            </a:r>
            <a:r>
              <a:rPr lang="en-US" i="1" dirty="0" err="1">
                <a:solidFill>
                  <a:srgbClr val="0070C0"/>
                </a:solidFill>
                <a:effectLst>
                  <a:outerShdw blurRad="38100" dist="38100" dir="2700000" algn="tl">
                    <a:srgbClr val="000000">
                      <a:alpha val="43137"/>
                    </a:srgbClr>
                  </a:outerShdw>
                </a:effectLst>
              </a:rPr>
              <a:t>c_t</a:t>
            </a:r>
            <a:r>
              <a:rPr lang="en-US" i="1" dirty="0">
                <a:solidFill>
                  <a:srgbClr val="0070C0"/>
                </a:solidFill>
                <a:effectLst>
                  <a:outerShdw blurRad="38100" dist="38100" dir="2700000" algn="tl">
                    <a:srgbClr val="000000">
                      <a:alpha val="43137"/>
                    </a:srgbClr>
                  </a:outerShdw>
                </a:effectLst>
              </a:rPr>
              <a:t> </a:t>
            </a:r>
            <a:r>
              <a:rPr lang="en-US" dirty="0">
                <a:solidFill>
                  <a:srgbClr val="0070C0"/>
                </a:solidFill>
                <a:effectLst>
                  <a:outerShdw blurRad="38100" dist="38100" dir="2700000" algn="tl">
                    <a:srgbClr val="000000">
                      <a:alpha val="43137"/>
                    </a:srgbClr>
                  </a:outerShdw>
                </a:effectLst>
              </a:rPr>
              <a:t>at time </a:t>
            </a:r>
            <a:r>
              <a:rPr lang="en-US" i="1" dirty="0">
                <a:solidFill>
                  <a:srgbClr val="0070C0"/>
                </a:solidFill>
                <a:effectLst>
                  <a:outerShdw blurRad="38100" dist="38100" dir="2700000" algn="tl">
                    <a:srgbClr val="000000">
                      <a:alpha val="43137"/>
                    </a:srgbClr>
                  </a:outerShdw>
                </a:effectLst>
              </a:rPr>
              <a:t>t</a:t>
            </a:r>
            <a:r>
              <a:rPr lang="en-US" dirty="0">
                <a:solidFill>
                  <a:srgbClr val="0070C0"/>
                </a:solidFill>
                <a:effectLst>
                  <a:outerShdw blurRad="38100" dist="38100" dir="2700000" algn="tl">
                    <a:srgbClr val="000000">
                      <a:alpha val="43137"/>
                    </a:srgbClr>
                  </a:outerShdw>
                </a:effectLst>
              </a:rPr>
              <a:t>, with the output gate </a:t>
            </a:r>
            <a:r>
              <a:rPr lang="en-US" i="1" dirty="0">
                <a:solidFill>
                  <a:srgbClr val="0070C0"/>
                </a:solidFill>
                <a:effectLst>
                  <a:outerShdw blurRad="38100" dist="38100" dir="2700000" algn="tl">
                    <a:srgbClr val="000000">
                      <a:alpha val="43137"/>
                    </a:srgbClr>
                  </a:outerShdw>
                </a:effectLst>
              </a:rPr>
              <a:t>o</a:t>
            </a:r>
            <a:r>
              <a:rPr lang="en-US" dirty="0">
                <a:solidFill>
                  <a:srgbClr val="0070C0"/>
                </a:solidFill>
                <a:effectLst>
                  <a:outerShdw blurRad="38100" dist="38100" dir="2700000" algn="tl">
                    <a:srgbClr val="000000">
                      <a:alpha val="43137"/>
                    </a:srgbClr>
                  </a:outerShdw>
                </a:effectLst>
              </a:rPr>
              <a:t>. </a:t>
            </a:r>
          </a:p>
          <a:p>
            <a:pPr marL="285750" indent="-285750">
              <a:lnSpc>
                <a:spcPct val="150000"/>
              </a:lnSpc>
              <a:buFont typeface="Wingdings" panose="05000000000000000000" pitchFamily="2" charset="2"/>
              <a:buChar char="ü"/>
            </a:pPr>
            <a:r>
              <a:rPr lang="en-US" dirty="0"/>
              <a:t>One thing to realize is that the </a:t>
            </a:r>
            <a:r>
              <a:rPr lang="en-US" dirty="0">
                <a:solidFill>
                  <a:srgbClr val="0070C0"/>
                </a:solidFill>
                <a:effectLst>
                  <a:outerShdw blurRad="38100" dist="38100" dir="2700000" algn="tl">
                    <a:srgbClr val="000000">
                      <a:alpha val="43137"/>
                    </a:srgbClr>
                  </a:outerShdw>
                </a:effectLst>
              </a:rPr>
              <a:t>LSTM is a drop-in replacement for a Simple RNN cell; the only difference is that LSTMs are resistant to the vanishing gradient problem. You can replace an RNN cell in a network with an LSTM without worrying about any side effects</a:t>
            </a:r>
            <a:r>
              <a:rPr lang="en-US" dirty="0"/>
              <a:t>. You should generally see better results along with longer training times </a:t>
            </a:r>
            <a:br>
              <a:rPr lang="en-US" dirty="0"/>
            </a:br>
            <a:endParaRPr lang="en-US" dirty="0"/>
          </a:p>
        </p:txBody>
      </p:sp>
      <p:pic>
        <p:nvPicPr>
          <p:cNvPr id="4" name="Picture 3">
            <a:extLst>
              <a:ext uri="{FF2B5EF4-FFF2-40B4-BE49-F238E27FC236}">
                <a16:creationId xmlns:a16="http://schemas.microsoft.com/office/drawing/2014/main" id="{4CA6332A-98D1-158D-D633-A38CAE43A9ED}"/>
              </a:ext>
            </a:extLst>
          </p:cNvPr>
          <p:cNvPicPr>
            <a:picLocks noChangeAspect="1"/>
          </p:cNvPicPr>
          <p:nvPr/>
        </p:nvPicPr>
        <p:blipFill>
          <a:blip r:embed="rId3"/>
          <a:stretch>
            <a:fillRect/>
          </a:stretch>
        </p:blipFill>
        <p:spPr>
          <a:xfrm>
            <a:off x="7464699" y="809171"/>
            <a:ext cx="4376055" cy="2866038"/>
          </a:xfrm>
          <a:prstGeom prst="rect">
            <a:avLst/>
          </a:prstGeom>
        </p:spPr>
      </p:pic>
    </p:spTree>
    <p:extLst>
      <p:ext uri="{BB962C8B-B14F-4D97-AF65-F5344CB8AC3E}">
        <p14:creationId xmlns:p14="http://schemas.microsoft.com/office/powerpoint/2010/main" val="714566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9D265-D2AE-5B8E-EB93-555A958A7BB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0485ED6-57E7-0E7D-0408-154B2A83511E}"/>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B8F2E5E2-DF61-B86F-77C4-2DA29B51584F}"/>
              </a:ext>
            </a:extLst>
          </p:cNvPr>
          <p:cNvSpPr txBox="1"/>
          <p:nvPr/>
        </p:nvSpPr>
        <p:spPr>
          <a:xfrm>
            <a:off x="478973" y="677755"/>
            <a:ext cx="11506198" cy="1295868"/>
          </a:xfrm>
          <a:prstGeom prst="rect">
            <a:avLst/>
          </a:prstGeom>
          <a:noFill/>
          <a:ln>
            <a:solidFill>
              <a:srgbClr val="0070C0"/>
            </a:solidFill>
          </a:ln>
        </p:spPr>
        <p:txBody>
          <a:bodyPr wrap="square" rtlCol="0">
            <a:spAutoFit/>
          </a:bodyPr>
          <a:lstStyle/>
          <a:p>
            <a:pPr marL="285750" indent="-285750" algn="just">
              <a:lnSpc>
                <a:spcPct val="150000"/>
              </a:lnSpc>
              <a:buFont typeface="Wingdings" panose="05000000000000000000" pitchFamily="2" charset="2"/>
              <a:buChar char="q"/>
            </a:pPr>
            <a:r>
              <a:rPr lang="en-US" dirty="0"/>
              <a:t>LSTM Example</a:t>
            </a:r>
          </a:p>
          <a:p>
            <a:pPr marL="285750" indent="-285750" algn="just">
              <a:lnSpc>
                <a:spcPct val="150000"/>
              </a:lnSpc>
              <a:buFont typeface="Wingdings" panose="05000000000000000000" pitchFamily="2" charset="2"/>
              <a:buChar char="q"/>
            </a:pPr>
            <a:r>
              <a:rPr lang="en-US" dirty="0"/>
              <a:t>Air line Passenger Prediction Problem</a:t>
            </a:r>
          </a:p>
          <a:p>
            <a:pPr marL="285750" indent="-285750" algn="just">
              <a:lnSpc>
                <a:spcPct val="150000"/>
              </a:lnSpc>
              <a:buFont typeface="Wingdings" panose="05000000000000000000" pitchFamily="2" charset="2"/>
              <a:buChar char="q"/>
            </a:pPr>
            <a:endParaRPr lang="en-US" dirty="0"/>
          </a:p>
        </p:txBody>
      </p:sp>
      <p:sp>
        <p:nvSpPr>
          <p:cNvPr id="4" name="TextBox 3">
            <a:extLst>
              <a:ext uri="{FF2B5EF4-FFF2-40B4-BE49-F238E27FC236}">
                <a16:creationId xmlns:a16="http://schemas.microsoft.com/office/drawing/2014/main" id="{51880EBA-ACDC-05AC-FB00-9FA0F9715702}"/>
              </a:ext>
            </a:extLst>
          </p:cNvPr>
          <p:cNvSpPr txBox="1"/>
          <p:nvPr/>
        </p:nvSpPr>
        <p:spPr>
          <a:xfrm>
            <a:off x="478973" y="2188304"/>
            <a:ext cx="11506198" cy="4415696"/>
          </a:xfrm>
          <a:prstGeom prst="rect">
            <a:avLst/>
          </a:prstGeom>
          <a:noFill/>
        </p:spPr>
        <p:txBody>
          <a:bodyPr wrap="square">
            <a:spAutoFit/>
          </a:bodyPr>
          <a:lstStyle/>
          <a:p>
            <a:pPr>
              <a:lnSpc>
                <a:spcPts val="1425"/>
              </a:lnSpc>
              <a:buNone/>
            </a:pPr>
            <a:r>
              <a:rPr lang="en-US" b="0" dirty="0">
                <a:solidFill>
                  <a:srgbClr val="C586C0"/>
                </a:solidFill>
                <a:effectLst/>
                <a:latin typeface="Consolas" panose="020B0609020204030204" pitchFamily="49" charset="0"/>
              </a:rPr>
              <a:t>import</a:t>
            </a:r>
            <a:r>
              <a:rPr lang="en-US" b="0" dirty="0">
                <a:solidFill>
                  <a:srgbClr val="BBBEBF"/>
                </a:solidFill>
                <a:effectLst/>
                <a:latin typeface="Consolas" panose="020B0609020204030204" pitchFamily="49" charset="0"/>
              </a:rPr>
              <a:t> pandas</a:t>
            </a:r>
          </a:p>
          <a:p>
            <a:pPr>
              <a:lnSpc>
                <a:spcPts val="1425"/>
              </a:lnSpc>
              <a:buNone/>
            </a:pPr>
            <a:r>
              <a:rPr lang="en-US" b="0" dirty="0">
                <a:solidFill>
                  <a:srgbClr val="C586C0"/>
                </a:solidFill>
                <a:effectLst/>
                <a:latin typeface="Consolas" panose="020B0609020204030204" pitchFamily="49" charset="0"/>
              </a:rPr>
              <a:t>import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matplotlib.pyplot</a:t>
            </a:r>
            <a:r>
              <a:rPr lang="en-US" b="0" dirty="0">
                <a:solidFill>
                  <a:srgbClr val="BBBEB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plt</a:t>
            </a:r>
            <a:endParaRPr lang="en-US" b="0" dirty="0">
              <a:solidFill>
                <a:srgbClr val="BBBEBF"/>
              </a:solidFill>
              <a:effectLst/>
              <a:latin typeface="Consolas" panose="020B0609020204030204" pitchFamily="49" charset="0"/>
            </a:endParaRPr>
          </a:p>
          <a:p>
            <a:pPr>
              <a:lnSpc>
                <a:spcPts val="1425"/>
              </a:lnSpc>
              <a:buNone/>
            </a:pPr>
            <a:r>
              <a:rPr lang="en-US" b="0" dirty="0">
                <a:solidFill>
                  <a:srgbClr val="C586C0"/>
                </a:solidFill>
                <a:effectLst/>
                <a:latin typeface="Consolas" panose="020B0609020204030204" pitchFamily="49" charset="0"/>
              </a:rPr>
              <a:t>import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tensorflow</a:t>
            </a:r>
            <a:r>
              <a:rPr lang="en-US" b="0" dirty="0">
                <a:solidFill>
                  <a:srgbClr val="BBBEB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tf</a:t>
            </a:r>
            <a:endParaRPr lang="en-US" b="0" dirty="0">
              <a:solidFill>
                <a:srgbClr val="BBBEBF"/>
              </a:solidFill>
              <a:effectLst/>
              <a:latin typeface="Consolas" panose="020B0609020204030204" pitchFamily="49" charset="0"/>
            </a:endParaRPr>
          </a:p>
          <a:p>
            <a:pPr>
              <a:lnSpc>
                <a:spcPts val="1425"/>
              </a:lnSpc>
              <a:buNone/>
            </a:pPr>
            <a:r>
              <a:rPr lang="en-US" b="0" dirty="0">
                <a:solidFill>
                  <a:srgbClr val="C586C0"/>
                </a:solidFill>
                <a:effectLst/>
                <a:latin typeface="Consolas" panose="020B0609020204030204" pitchFamily="49" charset="0"/>
              </a:rPr>
              <a:t>import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numpy</a:t>
            </a:r>
            <a:r>
              <a:rPr lang="en-US" b="0" dirty="0">
                <a:solidFill>
                  <a:srgbClr val="BBBEBF"/>
                </a:solidFill>
                <a:effectLst/>
                <a:latin typeface="Consolas" panose="020B0609020204030204" pitchFamily="49" charset="0"/>
              </a:rPr>
              <a:t> </a:t>
            </a:r>
            <a:r>
              <a:rPr lang="en-US" b="0" dirty="0">
                <a:solidFill>
                  <a:srgbClr val="C586C0"/>
                </a:solidFill>
                <a:effectLst/>
                <a:latin typeface="Consolas" panose="020B0609020204030204" pitchFamily="49" charset="0"/>
              </a:rPr>
              <a:t>as</a:t>
            </a:r>
            <a:r>
              <a:rPr lang="en-US" b="0" dirty="0">
                <a:solidFill>
                  <a:srgbClr val="BBBEBF"/>
                </a:solidFill>
                <a:effectLst/>
                <a:latin typeface="Consolas" panose="020B0609020204030204" pitchFamily="49" charset="0"/>
              </a:rPr>
              <a:t> np</a:t>
            </a:r>
          </a:p>
          <a:p>
            <a:pPr>
              <a:lnSpc>
                <a:spcPts val="1425"/>
              </a:lnSpc>
              <a:buNone/>
            </a:pPr>
            <a:r>
              <a:rPr lang="en-US" b="0" dirty="0">
                <a:solidFill>
                  <a:srgbClr val="C586C0"/>
                </a:solidFill>
                <a:effectLst/>
                <a:latin typeface="Consolas" panose="020B0609020204030204" pitchFamily="49" charset="0"/>
              </a:rPr>
              <a:t>from</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tensorflow.keras.models</a:t>
            </a:r>
            <a:r>
              <a:rPr lang="en-US" b="0" dirty="0">
                <a:solidFill>
                  <a:srgbClr val="BBBEB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BBBEBF"/>
                </a:solidFill>
                <a:effectLst/>
                <a:latin typeface="Consolas" panose="020B0609020204030204" pitchFamily="49" charset="0"/>
              </a:rPr>
              <a:t> Sequential</a:t>
            </a:r>
          </a:p>
          <a:p>
            <a:pPr>
              <a:lnSpc>
                <a:spcPts val="1425"/>
              </a:lnSpc>
              <a:buNone/>
            </a:pPr>
            <a:r>
              <a:rPr lang="en-US" b="0" dirty="0">
                <a:solidFill>
                  <a:srgbClr val="C586C0"/>
                </a:solidFill>
                <a:effectLst/>
                <a:latin typeface="Consolas" panose="020B0609020204030204" pitchFamily="49" charset="0"/>
              </a:rPr>
              <a:t>from</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tensorflow.keras.layers</a:t>
            </a:r>
            <a:r>
              <a:rPr lang="en-US" b="0" dirty="0">
                <a:solidFill>
                  <a:srgbClr val="BBBEB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BBBEBF"/>
                </a:solidFill>
                <a:effectLst/>
                <a:latin typeface="Consolas" panose="020B0609020204030204" pitchFamily="49" charset="0"/>
              </a:rPr>
              <a:t> Dense</a:t>
            </a:r>
          </a:p>
          <a:p>
            <a:pPr>
              <a:lnSpc>
                <a:spcPts val="1425"/>
              </a:lnSpc>
              <a:buNone/>
            </a:pPr>
            <a:r>
              <a:rPr lang="en-US" b="0" dirty="0">
                <a:solidFill>
                  <a:srgbClr val="C586C0"/>
                </a:solidFill>
                <a:effectLst/>
                <a:latin typeface="Consolas" panose="020B0609020204030204" pitchFamily="49" charset="0"/>
              </a:rPr>
              <a:t>from</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tensorflow.keras.layers</a:t>
            </a:r>
            <a:r>
              <a:rPr lang="en-US" b="0" dirty="0">
                <a:solidFill>
                  <a:srgbClr val="BBBEB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BBBEBF"/>
                </a:solidFill>
                <a:effectLst/>
                <a:latin typeface="Consolas" panose="020B0609020204030204" pitchFamily="49" charset="0"/>
              </a:rPr>
              <a:t> </a:t>
            </a:r>
            <a:r>
              <a:rPr lang="en-US" b="0" dirty="0">
                <a:solidFill>
                  <a:srgbClr val="79C0FF"/>
                </a:solidFill>
                <a:effectLst/>
                <a:latin typeface="Consolas" panose="020B0609020204030204" pitchFamily="49" charset="0"/>
              </a:rPr>
              <a:t>LSTM</a:t>
            </a:r>
            <a:endParaRPr lang="en-US" b="0" dirty="0">
              <a:solidFill>
                <a:srgbClr val="BBBEBF"/>
              </a:solidFill>
              <a:effectLst/>
              <a:latin typeface="Consolas" panose="020B0609020204030204" pitchFamily="49" charset="0"/>
            </a:endParaRPr>
          </a:p>
          <a:p>
            <a:pPr>
              <a:lnSpc>
                <a:spcPts val="1425"/>
              </a:lnSpc>
              <a:buNone/>
            </a:pPr>
            <a:r>
              <a:rPr lang="en-US" b="0" dirty="0">
                <a:solidFill>
                  <a:srgbClr val="C586C0"/>
                </a:solidFill>
                <a:effectLst/>
                <a:latin typeface="Consolas" panose="020B0609020204030204" pitchFamily="49" charset="0"/>
              </a:rPr>
              <a:t>from</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sklearn.preprocessing</a:t>
            </a:r>
            <a:r>
              <a:rPr lang="en-US" b="0" dirty="0">
                <a:solidFill>
                  <a:srgbClr val="BBBEB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MinMaxScaler</a:t>
            </a:r>
            <a:endParaRPr lang="en-US" b="0" dirty="0">
              <a:solidFill>
                <a:srgbClr val="BBBEBF"/>
              </a:solidFill>
              <a:effectLst/>
              <a:latin typeface="Consolas" panose="020B0609020204030204" pitchFamily="49" charset="0"/>
            </a:endParaRPr>
          </a:p>
          <a:p>
            <a:pPr>
              <a:lnSpc>
                <a:spcPts val="1425"/>
              </a:lnSpc>
              <a:buNone/>
            </a:pPr>
            <a:r>
              <a:rPr lang="en-US" b="0" dirty="0">
                <a:solidFill>
                  <a:srgbClr val="C586C0"/>
                </a:solidFill>
                <a:effectLst/>
                <a:latin typeface="Consolas" panose="020B0609020204030204" pitchFamily="49" charset="0"/>
              </a:rPr>
              <a:t>from</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sklearn.metrics</a:t>
            </a:r>
            <a:r>
              <a:rPr lang="en-US" b="0" dirty="0">
                <a:solidFill>
                  <a:srgbClr val="BBBEBF"/>
                </a:solidFill>
                <a:effectLst/>
                <a:latin typeface="Consolas" panose="020B0609020204030204" pitchFamily="49" charset="0"/>
              </a:rPr>
              <a:t> </a:t>
            </a:r>
            <a:r>
              <a:rPr lang="en-US" b="0" dirty="0">
                <a:solidFill>
                  <a:srgbClr val="C586C0"/>
                </a:solidFill>
                <a:effectLst/>
                <a:latin typeface="Consolas" panose="020B0609020204030204" pitchFamily="49" charset="0"/>
              </a:rPr>
              <a:t>import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mean_squared_error</a:t>
            </a:r>
            <a:endParaRPr lang="en-US" b="0" dirty="0">
              <a:solidFill>
                <a:srgbClr val="BBBEBF"/>
              </a:solidFill>
              <a:effectLst/>
              <a:latin typeface="Consolas" panose="020B0609020204030204" pitchFamily="49" charset="0"/>
            </a:endParaRPr>
          </a:p>
          <a:p>
            <a:pPr>
              <a:lnSpc>
                <a:spcPts val="1425"/>
              </a:lnSpc>
              <a:buNone/>
            </a:pPr>
            <a:r>
              <a:rPr lang="en-US" b="0" dirty="0">
                <a:solidFill>
                  <a:srgbClr val="8B949E"/>
                </a:solidFill>
                <a:effectLst/>
                <a:latin typeface="Consolas" panose="020B0609020204030204" pitchFamily="49" charset="0"/>
              </a:rPr>
              <a:t># fix random seed for reproducibility</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tf.random.set_seed</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7</a:t>
            </a:r>
            <a:r>
              <a:rPr lang="en-US" b="0" dirty="0">
                <a:solidFill>
                  <a:srgbClr val="BBBEBF"/>
                </a:solidFill>
                <a:effectLst/>
                <a:latin typeface="Consolas" panose="020B0609020204030204" pitchFamily="49" charset="0"/>
              </a:rPr>
              <a:t>)</a:t>
            </a:r>
          </a:p>
          <a:p>
            <a:pPr>
              <a:lnSpc>
                <a:spcPts val="1425"/>
              </a:lnSpc>
              <a:buNone/>
            </a:pPr>
            <a:r>
              <a:rPr lang="en-US" b="0" dirty="0">
                <a:solidFill>
                  <a:srgbClr val="BBBEBF"/>
                </a:solidFill>
                <a:effectLst/>
                <a:latin typeface="Consolas" panose="020B0609020204030204" pitchFamily="49" charset="0"/>
              </a:rPr>
              <a:t>path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a:solidFill>
                  <a:srgbClr val="A5D6FF"/>
                </a:solidFill>
                <a:effectLst/>
                <a:latin typeface="Consolas" panose="020B0609020204030204" pitchFamily="49" charset="0"/>
              </a:rPr>
              <a:t>"Lecture_8/airline_passengers.txt"</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df</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pandas.read_csv</a:t>
            </a:r>
            <a:r>
              <a:rPr lang="en-US" b="0" dirty="0">
                <a:solidFill>
                  <a:srgbClr val="BBBEBF"/>
                </a:solidFill>
                <a:effectLst/>
                <a:latin typeface="Consolas" panose="020B0609020204030204" pitchFamily="49" charset="0"/>
              </a:rPr>
              <a:t>(path, </a:t>
            </a:r>
            <a:r>
              <a:rPr lang="en-US" b="0" dirty="0" err="1">
                <a:solidFill>
                  <a:srgbClr val="FFA657"/>
                </a:solidFill>
                <a:effectLst/>
                <a:latin typeface="Consolas" panose="020B0609020204030204" pitchFamily="49" charset="0"/>
              </a:rPr>
              <a:t>usecols</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 </a:t>
            </a:r>
            <a:r>
              <a:rPr lang="en-US" b="0" dirty="0">
                <a:solidFill>
                  <a:srgbClr val="FFA657"/>
                </a:solidFill>
                <a:effectLst/>
                <a:latin typeface="Consolas" panose="020B0609020204030204" pitchFamily="49" charset="0"/>
              </a:rPr>
              <a:t>engine</a:t>
            </a:r>
            <a:r>
              <a:rPr lang="en-US" b="0" dirty="0">
                <a:solidFill>
                  <a:srgbClr val="D4D4D4"/>
                </a:solidFill>
                <a:effectLst/>
                <a:latin typeface="Consolas" panose="020B0609020204030204" pitchFamily="49" charset="0"/>
              </a:rPr>
              <a:t>=</a:t>
            </a:r>
            <a:r>
              <a:rPr lang="en-US" b="0" dirty="0">
                <a:solidFill>
                  <a:srgbClr val="A5D6FF"/>
                </a:solidFill>
                <a:effectLst/>
                <a:latin typeface="Consolas" panose="020B0609020204030204" pitchFamily="49" charset="0"/>
              </a:rPr>
              <a:t>"python"</a:t>
            </a:r>
            <a:r>
              <a:rPr lang="en-US" b="0" dirty="0">
                <a:solidFill>
                  <a:srgbClr val="BBBEBF"/>
                </a:solidFill>
                <a:effectLst/>
                <a:latin typeface="Consolas" panose="020B0609020204030204" pitchFamily="49" charset="0"/>
              </a:rPr>
              <a:t>)</a:t>
            </a:r>
          </a:p>
          <a:p>
            <a:pPr>
              <a:lnSpc>
                <a:spcPts val="1425"/>
              </a:lnSpc>
              <a:buNone/>
            </a:pPr>
            <a:r>
              <a:rPr lang="en-US" b="0" dirty="0">
                <a:solidFill>
                  <a:srgbClr val="8B949E"/>
                </a:solidFill>
                <a:effectLst/>
                <a:latin typeface="Consolas" panose="020B0609020204030204" pitchFamily="49" charset="0"/>
              </a:rPr>
              <a:t># Save as .csv</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df.to_csv</a:t>
            </a:r>
            <a:r>
              <a:rPr lang="en-US" b="0" dirty="0">
                <a:solidFill>
                  <a:srgbClr val="BBBEBF"/>
                </a:solidFill>
                <a:effectLst/>
                <a:latin typeface="Consolas" panose="020B0609020204030204" pitchFamily="49" charset="0"/>
              </a:rPr>
              <a:t>(</a:t>
            </a:r>
            <a:r>
              <a:rPr lang="en-US" b="0" dirty="0">
                <a:solidFill>
                  <a:srgbClr val="A5D6FF"/>
                </a:solidFill>
                <a:effectLst/>
                <a:latin typeface="Consolas" panose="020B0609020204030204" pitchFamily="49" charset="0"/>
              </a:rPr>
              <a:t>'Lecture_8/airline_passengers.csv'</a:t>
            </a:r>
            <a:r>
              <a:rPr lang="en-US" b="0" dirty="0">
                <a:solidFill>
                  <a:srgbClr val="BBBEBF"/>
                </a:solidFill>
                <a:effectLst/>
                <a:latin typeface="Consolas" panose="020B0609020204030204" pitchFamily="49" charset="0"/>
              </a:rPr>
              <a:t>, </a:t>
            </a:r>
            <a:r>
              <a:rPr lang="en-US" b="0" dirty="0">
                <a:solidFill>
                  <a:srgbClr val="FFA657"/>
                </a:solidFill>
                <a:effectLst/>
                <a:latin typeface="Consolas" panose="020B0609020204030204" pitchFamily="49" charset="0"/>
              </a:rPr>
              <a:t>index</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False</a:t>
            </a:r>
            <a:r>
              <a:rPr lang="en-US" b="0" dirty="0">
                <a:solidFill>
                  <a:srgbClr val="BBBEBF"/>
                </a:solidFill>
                <a:effectLst/>
                <a:latin typeface="Consolas" panose="020B0609020204030204" pitchFamily="49" charset="0"/>
              </a:rPr>
              <a:t>)</a:t>
            </a:r>
          </a:p>
          <a:p>
            <a:pPr>
              <a:lnSpc>
                <a:spcPts val="1425"/>
              </a:lnSpc>
              <a:buNone/>
            </a:pPr>
            <a:br>
              <a:rPr lang="en-US" b="0" dirty="0">
                <a:solidFill>
                  <a:srgbClr val="BBBEBF"/>
                </a:solidFill>
                <a:effectLst/>
                <a:latin typeface="Consolas" panose="020B0609020204030204" pitchFamily="49" charset="0"/>
              </a:rPr>
            </a:br>
            <a:endParaRPr lang="en-US" b="0" dirty="0">
              <a:solidFill>
                <a:srgbClr val="BBBEBF"/>
              </a:solidFill>
              <a:effectLst/>
              <a:latin typeface="Consolas" panose="020B0609020204030204" pitchFamily="49" charset="0"/>
            </a:endParaRPr>
          </a:p>
          <a:p>
            <a:pPr>
              <a:lnSpc>
                <a:spcPts val="1425"/>
              </a:lnSpc>
              <a:buNone/>
            </a:pPr>
            <a:r>
              <a:rPr lang="en-US" b="0" dirty="0">
                <a:solidFill>
                  <a:srgbClr val="8B949E"/>
                </a:solidFill>
                <a:effectLst/>
                <a:latin typeface="Consolas" panose="020B0609020204030204" pitchFamily="49" charset="0"/>
              </a:rPr>
              <a:t># View the data</a:t>
            </a:r>
            <a:endParaRPr lang="en-US" b="0" dirty="0">
              <a:solidFill>
                <a:srgbClr val="BBBEBF"/>
              </a:solidFill>
              <a:effectLst/>
              <a:latin typeface="Consolas" panose="020B0609020204030204" pitchFamily="49" charset="0"/>
            </a:endParaRPr>
          </a:p>
          <a:p>
            <a:pPr>
              <a:lnSpc>
                <a:spcPts val="1425"/>
              </a:lnSpc>
              <a:buNone/>
            </a:pPr>
            <a:r>
              <a:rPr lang="en-US" b="0" dirty="0">
                <a:solidFill>
                  <a:srgbClr val="8B949E"/>
                </a:solidFill>
                <a:effectLst/>
                <a:latin typeface="Consolas" panose="020B0609020204030204" pitchFamily="49" charset="0"/>
              </a:rPr>
              <a:t>#plt.plot(dataset)</a:t>
            </a:r>
            <a:endParaRPr lang="en-US" b="0" dirty="0">
              <a:solidFill>
                <a:srgbClr val="BBBEBF"/>
              </a:solidFill>
              <a:effectLst/>
              <a:latin typeface="Consolas" panose="020B0609020204030204" pitchFamily="49" charset="0"/>
            </a:endParaRPr>
          </a:p>
          <a:p>
            <a:pPr>
              <a:lnSpc>
                <a:spcPts val="1425"/>
              </a:lnSpc>
              <a:buNone/>
            </a:pPr>
            <a:r>
              <a:rPr lang="en-US" b="0" dirty="0">
                <a:solidFill>
                  <a:srgbClr val="8B949E"/>
                </a:solidFill>
                <a:effectLst/>
                <a:latin typeface="Consolas" panose="020B0609020204030204" pitchFamily="49" charset="0"/>
              </a:rPr>
              <a:t>#plt.show()</a:t>
            </a:r>
            <a:endParaRPr lang="en-US" b="0" dirty="0">
              <a:solidFill>
                <a:srgbClr val="BBBEBF"/>
              </a:solidFill>
              <a:effectLst/>
              <a:latin typeface="Consolas" panose="020B0609020204030204" pitchFamily="49" charset="0"/>
            </a:endParaRPr>
          </a:p>
          <a:p>
            <a:pPr>
              <a:lnSpc>
                <a:spcPts val="1425"/>
              </a:lnSpc>
              <a:buNone/>
            </a:pPr>
            <a:r>
              <a:rPr lang="en-US" b="0" dirty="0">
                <a:solidFill>
                  <a:srgbClr val="BBBEBF"/>
                </a:solidFill>
                <a:effectLst/>
                <a:latin typeface="Consolas" panose="020B0609020204030204" pitchFamily="49" charset="0"/>
              </a:rPr>
              <a:t>dataset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df.values</a:t>
            </a:r>
            <a:endParaRPr lang="en-US" b="0" dirty="0">
              <a:solidFill>
                <a:srgbClr val="BBBEBF"/>
              </a:solidFill>
              <a:effectLst/>
              <a:latin typeface="Consolas" panose="020B0609020204030204" pitchFamily="49" charset="0"/>
            </a:endParaRPr>
          </a:p>
          <a:p>
            <a:pPr>
              <a:lnSpc>
                <a:spcPts val="1425"/>
              </a:lnSpc>
              <a:buNone/>
            </a:pPr>
            <a:r>
              <a:rPr lang="en-US" b="0" dirty="0">
                <a:solidFill>
                  <a:srgbClr val="BBBEBF"/>
                </a:solidFill>
                <a:effectLst/>
                <a:latin typeface="Consolas" panose="020B0609020204030204" pitchFamily="49" charset="0"/>
              </a:rPr>
              <a:t>dataset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dataset.astype</a:t>
            </a:r>
            <a:r>
              <a:rPr lang="en-US" b="0" dirty="0">
                <a:solidFill>
                  <a:srgbClr val="BBBEBF"/>
                </a:solidFill>
                <a:effectLst/>
                <a:latin typeface="Consolas" panose="020B0609020204030204" pitchFamily="49" charset="0"/>
              </a:rPr>
              <a:t>(</a:t>
            </a:r>
            <a:r>
              <a:rPr lang="en-US" b="0" dirty="0">
                <a:solidFill>
                  <a:srgbClr val="A5D6FF"/>
                </a:solidFill>
                <a:effectLst/>
                <a:latin typeface="Consolas" panose="020B0609020204030204" pitchFamily="49" charset="0"/>
              </a:rPr>
              <a:t>'float32'</a:t>
            </a:r>
            <a:r>
              <a:rPr lang="en-US" b="0" dirty="0">
                <a:solidFill>
                  <a:srgbClr val="BBBEBF"/>
                </a:solidFill>
                <a:effectLst/>
                <a:latin typeface="Consolas" panose="020B0609020204030204" pitchFamily="49" charset="0"/>
              </a:rPr>
              <a:t>)</a:t>
            </a:r>
          </a:p>
          <a:p>
            <a:pPr>
              <a:lnSpc>
                <a:spcPts val="1425"/>
              </a:lnSpc>
              <a:buNone/>
            </a:pPr>
            <a:br>
              <a:rPr lang="en-US" b="0" dirty="0">
                <a:solidFill>
                  <a:srgbClr val="BBBEBF"/>
                </a:solidFill>
                <a:effectLst/>
                <a:latin typeface="Consolas" panose="020B0609020204030204" pitchFamily="49" charset="0"/>
              </a:rPr>
            </a:br>
            <a:endParaRPr lang="en-US"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936865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1DFDC-5B3D-2C1A-7BC6-24A037EFC9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ABC5998-4939-8FEB-CB80-04A80E700B24}"/>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28017199-FF5D-1BA0-52E3-C4A2A56ADB26}"/>
              </a:ext>
            </a:extLst>
          </p:cNvPr>
          <p:cNvSpPr txBox="1"/>
          <p:nvPr/>
        </p:nvSpPr>
        <p:spPr>
          <a:xfrm>
            <a:off x="88900" y="907472"/>
            <a:ext cx="12014200" cy="3158942"/>
          </a:xfrm>
          <a:prstGeom prst="rect">
            <a:avLst/>
          </a:prstGeom>
          <a:noFill/>
        </p:spPr>
        <p:txBody>
          <a:bodyPr wrap="square">
            <a:spAutoFit/>
          </a:bodyPr>
          <a:lstStyle/>
          <a:p>
            <a:pPr>
              <a:lnSpc>
                <a:spcPts val="1425"/>
              </a:lnSpc>
              <a:buNone/>
            </a:pPr>
            <a:r>
              <a:rPr lang="en-US" b="0" dirty="0">
                <a:effectLst/>
                <a:latin typeface="Consolas" panose="020B0609020204030204" pitchFamily="49" charset="0"/>
              </a:rPr>
              <a:t>scaler = </a:t>
            </a:r>
            <a:r>
              <a:rPr lang="en-US" b="0" dirty="0" err="1">
                <a:effectLst/>
                <a:latin typeface="Consolas" panose="020B0609020204030204" pitchFamily="49" charset="0"/>
              </a:rPr>
              <a:t>MinMaxScaler</a:t>
            </a:r>
            <a:r>
              <a:rPr lang="en-US" b="0" dirty="0">
                <a:effectLst/>
                <a:latin typeface="Consolas" panose="020B0609020204030204" pitchFamily="49" charset="0"/>
              </a:rPr>
              <a:t>(</a:t>
            </a:r>
            <a:r>
              <a:rPr lang="en-US" b="0" dirty="0" err="1">
                <a:effectLst/>
                <a:latin typeface="Consolas" panose="020B0609020204030204" pitchFamily="49" charset="0"/>
              </a:rPr>
              <a:t>feature_range</a:t>
            </a:r>
            <a:r>
              <a:rPr lang="en-US" b="0" dirty="0">
                <a:effectLst/>
                <a:latin typeface="Consolas" panose="020B0609020204030204" pitchFamily="49" charset="0"/>
              </a:rPr>
              <a:t>=(0, 1))</a:t>
            </a:r>
          </a:p>
          <a:p>
            <a:pPr>
              <a:lnSpc>
                <a:spcPts val="1425"/>
              </a:lnSpc>
              <a:buNone/>
            </a:pPr>
            <a:r>
              <a:rPr lang="en-US" b="0" dirty="0">
                <a:effectLst/>
                <a:latin typeface="Consolas" panose="020B0609020204030204" pitchFamily="49" charset="0"/>
              </a:rPr>
              <a:t>dataset = </a:t>
            </a:r>
            <a:r>
              <a:rPr lang="en-US" b="0" dirty="0" err="1">
                <a:effectLst/>
                <a:latin typeface="Consolas" panose="020B0609020204030204" pitchFamily="49" charset="0"/>
              </a:rPr>
              <a:t>scaler.fit_transform</a:t>
            </a:r>
            <a:r>
              <a:rPr lang="en-US" b="0" dirty="0">
                <a:effectLst/>
                <a:latin typeface="Consolas" panose="020B0609020204030204" pitchFamily="49" charset="0"/>
              </a:rPr>
              <a:t>(dataset)</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br>
              <a:rPr lang="en-US" b="0" dirty="0">
                <a:solidFill>
                  <a:srgbClr val="BBBEBF"/>
                </a:solidFill>
                <a:effectLst/>
                <a:latin typeface="Consolas" panose="020B0609020204030204" pitchFamily="49" charset="0"/>
              </a:rPr>
            </a:b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After you model the data and estimate the skill of your model on the training dataset, </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you need to get an idea of the skill of the model on new unseen data. </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For a normal classification or regression problem, you would do this using cross validation.</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With time series data, the sequence of values is important.</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A simple method that you can use is to split the ordered dataset into train and test datasets. </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The code below calculates the index of the split point and separates the data into the training datasets, </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with 67% of the observations used to train the model, leaving the remaining 33% for testing the model.</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a:t>
            </a:r>
            <a:endParaRPr lang="en-US" b="0" dirty="0">
              <a:solidFill>
                <a:srgbClr val="BBBEBF"/>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5B2651F3-7B46-81DD-BF76-C031B04AF997}"/>
              </a:ext>
            </a:extLst>
          </p:cNvPr>
          <p:cNvSpPr txBox="1"/>
          <p:nvPr/>
        </p:nvSpPr>
        <p:spPr>
          <a:xfrm>
            <a:off x="88900" y="4425486"/>
            <a:ext cx="11747500" cy="1363578"/>
          </a:xfrm>
          <a:prstGeom prst="rect">
            <a:avLst/>
          </a:prstGeom>
          <a:noFill/>
        </p:spPr>
        <p:txBody>
          <a:bodyPr wrap="square">
            <a:spAutoFit/>
          </a:bodyPr>
          <a:lstStyle/>
          <a:p>
            <a:pPr>
              <a:lnSpc>
                <a:spcPts val="1425"/>
              </a:lnSpc>
              <a:buNone/>
            </a:pPr>
            <a:r>
              <a:rPr lang="en-US" b="0" dirty="0">
                <a:solidFill>
                  <a:srgbClr val="FF7B72"/>
                </a:solidFill>
                <a:effectLst/>
                <a:latin typeface="Consolas" panose="020B0609020204030204" pitchFamily="49" charset="0"/>
              </a:rPr>
              <a:t>def</a:t>
            </a:r>
            <a:r>
              <a:rPr lang="en-US" b="0" dirty="0">
                <a:solidFill>
                  <a:srgbClr val="BBBEBF"/>
                </a:solidFill>
                <a:effectLst/>
                <a:latin typeface="Consolas" panose="020B0609020204030204" pitchFamily="49" charset="0"/>
              </a:rPr>
              <a:t> </a:t>
            </a:r>
            <a:r>
              <a:rPr lang="en-US" b="0" dirty="0" err="1">
                <a:solidFill>
                  <a:srgbClr val="D2A8FF"/>
                </a:solidFill>
                <a:effectLst/>
                <a:latin typeface="Consolas" panose="020B0609020204030204" pitchFamily="49" charset="0"/>
              </a:rPr>
              <a:t>create_dataset</a:t>
            </a:r>
            <a:r>
              <a:rPr lang="en-US" b="0" dirty="0">
                <a:solidFill>
                  <a:srgbClr val="BBBEBF"/>
                </a:solidFill>
                <a:effectLst/>
                <a:latin typeface="Consolas" panose="020B0609020204030204" pitchFamily="49" charset="0"/>
              </a:rPr>
              <a:t>(</a:t>
            </a:r>
            <a:r>
              <a:rPr lang="en-US" b="0" dirty="0">
                <a:solidFill>
                  <a:srgbClr val="C9D1D9"/>
                </a:solidFill>
                <a:effectLst/>
                <a:latin typeface="Consolas" panose="020B0609020204030204" pitchFamily="49" charset="0"/>
              </a:rPr>
              <a:t>dataset</a:t>
            </a:r>
            <a:r>
              <a:rPr lang="en-US" b="0" dirty="0">
                <a:solidFill>
                  <a:srgbClr val="BBBEBF"/>
                </a:solidFill>
                <a:effectLst/>
                <a:latin typeface="Consolas" panose="020B0609020204030204" pitchFamily="49" charset="0"/>
              </a:rPr>
              <a:t>, </a:t>
            </a:r>
            <a:r>
              <a:rPr lang="en-US" b="0" dirty="0" err="1">
                <a:solidFill>
                  <a:srgbClr val="C9D1D9"/>
                </a:solidFill>
                <a:effectLst/>
                <a:latin typeface="Consolas" panose="020B0609020204030204" pitchFamily="49" charset="0"/>
              </a:rPr>
              <a:t>look_back</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a:t>
            </a:r>
          </a:p>
          <a:p>
            <a:pPr>
              <a:lnSpc>
                <a:spcPts val="1425"/>
              </a:lnSpc>
              <a:buNone/>
            </a:pP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dataX</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dataY</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 []</a:t>
            </a:r>
          </a:p>
          <a:p>
            <a:pPr>
              <a:lnSpc>
                <a:spcPts val="1425"/>
              </a:lnSpc>
              <a:buNone/>
            </a:pPr>
            <a:r>
              <a:rPr lang="en-US" b="0" dirty="0">
                <a:solidFill>
                  <a:srgbClr val="BBBEBF"/>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i</a:t>
            </a:r>
            <a:r>
              <a:rPr lang="en-US" b="0" dirty="0">
                <a:solidFill>
                  <a:srgbClr val="BBBEBF"/>
                </a:solidFill>
                <a:effectLst/>
                <a:latin typeface="Consolas" panose="020B0609020204030204" pitchFamily="49" charset="0"/>
              </a:rPr>
              <a:t> </a:t>
            </a:r>
            <a:r>
              <a:rPr lang="en-US" b="0" dirty="0">
                <a:solidFill>
                  <a:srgbClr val="C586C0"/>
                </a:solidFill>
                <a:effectLst/>
                <a:latin typeface="Consolas" panose="020B0609020204030204" pitchFamily="49" charset="0"/>
              </a:rPr>
              <a:t>in</a:t>
            </a:r>
            <a:r>
              <a:rPr lang="en-US" b="0" dirty="0">
                <a:solidFill>
                  <a:srgbClr val="BBBEBF"/>
                </a:solidFill>
                <a:effectLst/>
                <a:latin typeface="Consolas" panose="020B0609020204030204" pitchFamily="49" charset="0"/>
              </a:rPr>
              <a:t> </a:t>
            </a:r>
            <a:r>
              <a:rPr lang="en-US" b="0" dirty="0">
                <a:solidFill>
                  <a:srgbClr val="DCDCAA"/>
                </a:solidFill>
                <a:effectLst/>
                <a:latin typeface="Consolas" panose="020B0609020204030204" pitchFamily="49" charset="0"/>
              </a:rPr>
              <a:t>range</a:t>
            </a:r>
            <a:r>
              <a:rPr lang="en-US" b="0" dirty="0">
                <a:solidFill>
                  <a:srgbClr val="BBBEBF"/>
                </a:solidFill>
                <a:effectLst/>
                <a:latin typeface="Consolas" panose="020B0609020204030204" pitchFamily="49" charset="0"/>
              </a:rPr>
              <a:t>(</a:t>
            </a:r>
            <a:r>
              <a:rPr lang="en-US" b="0" dirty="0" err="1">
                <a:solidFill>
                  <a:srgbClr val="DCDCAA"/>
                </a:solidFill>
                <a:effectLst/>
                <a:latin typeface="Consolas" panose="020B0609020204030204" pitchFamily="49" charset="0"/>
              </a:rPr>
              <a:t>len</a:t>
            </a:r>
            <a:r>
              <a:rPr lang="en-US" b="0" dirty="0">
                <a:solidFill>
                  <a:srgbClr val="BBBEBF"/>
                </a:solidFill>
                <a:effectLst/>
                <a:latin typeface="Consolas" panose="020B0609020204030204" pitchFamily="49" charset="0"/>
              </a:rPr>
              <a:t>(dataset)</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look_back</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a:t>
            </a:r>
          </a:p>
          <a:p>
            <a:pPr>
              <a:lnSpc>
                <a:spcPts val="1425"/>
              </a:lnSpc>
              <a:buNone/>
            </a:pPr>
            <a:r>
              <a:rPr lang="en-US" b="0" dirty="0">
                <a:solidFill>
                  <a:srgbClr val="BBBEBF"/>
                </a:solidFill>
                <a:effectLst/>
                <a:latin typeface="Consolas" panose="020B0609020204030204" pitchFamily="49" charset="0"/>
              </a:rPr>
              <a:t>        a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dataset[</a:t>
            </a:r>
            <a:r>
              <a:rPr lang="en-US" b="0" dirty="0" err="1">
                <a:solidFill>
                  <a:srgbClr val="BBBEBF"/>
                </a:solidFill>
                <a:effectLst/>
                <a:latin typeface="Consolas" panose="020B0609020204030204" pitchFamily="49" charset="0"/>
              </a:rPr>
              <a:t>i</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i</a:t>
            </a:r>
            <a:r>
              <a:rPr lang="en-US" b="0" dirty="0" err="1">
                <a:solidFill>
                  <a:srgbClr val="D4D4D4"/>
                </a:solidFill>
                <a:effectLst/>
                <a:latin typeface="Consolas" panose="020B0609020204030204" pitchFamily="49" charset="0"/>
              </a:rPr>
              <a:t>+</a:t>
            </a:r>
            <a:r>
              <a:rPr lang="en-US" b="0" dirty="0" err="1">
                <a:solidFill>
                  <a:srgbClr val="BBBEBF"/>
                </a:solidFill>
                <a:effectLst/>
                <a:latin typeface="Consolas" panose="020B0609020204030204" pitchFamily="49" charset="0"/>
              </a:rPr>
              <a:t>look_back</a:t>
            </a:r>
            <a:r>
              <a:rPr lang="en-US" b="0" dirty="0">
                <a:solidFill>
                  <a:srgbClr val="BBBEB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BBBEBF"/>
                </a:solidFill>
                <a:effectLst/>
                <a:latin typeface="Consolas" panose="020B0609020204030204" pitchFamily="49" charset="0"/>
              </a:rPr>
              <a:t>]</a:t>
            </a:r>
          </a:p>
          <a:p>
            <a:pPr>
              <a:lnSpc>
                <a:spcPts val="1425"/>
              </a:lnSpc>
              <a:buNone/>
            </a:pP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dataX.append</a:t>
            </a:r>
            <a:r>
              <a:rPr lang="en-US" b="0" dirty="0">
                <a:solidFill>
                  <a:srgbClr val="BBBEBF"/>
                </a:solidFill>
                <a:effectLst/>
                <a:latin typeface="Consolas" panose="020B0609020204030204" pitchFamily="49" charset="0"/>
              </a:rPr>
              <a:t>(a)</a:t>
            </a:r>
          </a:p>
          <a:p>
            <a:pPr>
              <a:lnSpc>
                <a:spcPts val="1425"/>
              </a:lnSpc>
              <a:buNone/>
            </a:pP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dataY.append</a:t>
            </a:r>
            <a:r>
              <a:rPr lang="en-US" b="0" dirty="0">
                <a:solidFill>
                  <a:srgbClr val="BBBEBF"/>
                </a:solidFill>
                <a:effectLst/>
                <a:latin typeface="Consolas" panose="020B0609020204030204" pitchFamily="49" charset="0"/>
              </a:rPr>
              <a:t>(dataset[</a:t>
            </a:r>
            <a:r>
              <a:rPr lang="en-US" b="0" dirty="0" err="1">
                <a:solidFill>
                  <a:srgbClr val="BBBEBF"/>
                </a:solidFill>
                <a:effectLst/>
                <a:latin typeface="Consolas" panose="020B0609020204030204" pitchFamily="49" charset="0"/>
              </a:rPr>
              <a:t>i</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look_back</a:t>
            </a:r>
            <a:r>
              <a:rPr lang="en-US" b="0" dirty="0">
                <a:solidFill>
                  <a:srgbClr val="BBBEBF"/>
                </a:solidFill>
                <a:effectLst/>
                <a:latin typeface="Consolas" panose="020B0609020204030204" pitchFamily="49" charset="0"/>
              </a:rPr>
              <a:t>, </a:t>
            </a:r>
            <a:r>
              <a:rPr lang="en-US" b="0" dirty="0">
                <a:solidFill>
                  <a:srgbClr val="B5CEA8"/>
                </a:solidFill>
                <a:effectLst/>
                <a:latin typeface="Consolas" panose="020B0609020204030204" pitchFamily="49" charset="0"/>
              </a:rPr>
              <a:t>0</a:t>
            </a:r>
            <a:r>
              <a:rPr lang="en-US" b="0" dirty="0">
                <a:solidFill>
                  <a:srgbClr val="BBBEBF"/>
                </a:solidFill>
                <a:effectLst/>
                <a:latin typeface="Consolas" panose="020B0609020204030204" pitchFamily="49" charset="0"/>
              </a:rPr>
              <a:t>])</a:t>
            </a:r>
          </a:p>
          <a:p>
            <a:pPr>
              <a:lnSpc>
                <a:spcPts val="1425"/>
              </a:lnSpc>
              <a:buNone/>
            </a:pPr>
            <a:r>
              <a:rPr lang="en-US" b="0" dirty="0">
                <a:solidFill>
                  <a:srgbClr val="BBBEBF"/>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np.array</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dataX</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np.array</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dataY</a:t>
            </a:r>
            <a:r>
              <a:rPr lang="en-US" b="0" dirty="0">
                <a:solidFill>
                  <a:srgbClr val="BBBEBF"/>
                </a:solidFill>
                <a:effectLst/>
                <a:latin typeface="Consolas" panose="020B0609020204030204" pitchFamily="49" charset="0"/>
              </a:rPr>
              <a:t>)</a:t>
            </a:r>
          </a:p>
        </p:txBody>
      </p:sp>
    </p:spTree>
    <p:extLst>
      <p:ext uri="{BB962C8B-B14F-4D97-AF65-F5344CB8AC3E}">
        <p14:creationId xmlns:p14="http://schemas.microsoft.com/office/powerpoint/2010/main" val="34894639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33D6E-02D4-AF27-2707-397FA3E13C7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53678F-D2CA-4557-03A9-3221740D94F4}"/>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B008452C-AE60-86A7-4C11-369553209241}"/>
              </a:ext>
            </a:extLst>
          </p:cNvPr>
          <p:cNvSpPr txBox="1"/>
          <p:nvPr/>
        </p:nvSpPr>
        <p:spPr>
          <a:xfrm>
            <a:off x="14262100" y="-5418219"/>
            <a:ext cx="6121400" cy="4236160"/>
          </a:xfrm>
          <a:prstGeom prst="rect">
            <a:avLst/>
          </a:prstGeom>
          <a:noFill/>
        </p:spPr>
        <p:txBody>
          <a:bodyPr wrap="square">
            <a:spAutoFit/>
          </a:bodyPr>
          <a:lstStyle/>
          <a:p>
            <a:pPr>
              <a:lnSpc>
                <a:spcPts val="1425"/>
              </a:lnSpc>
              <a:buNone/>
            </a:pPr>
            <a:r>
              <a:rPr lang="en-US" b="0" dirty="0" err="1">
                <a:solidFill>
                  <a:srgbClr val="BBBEBF"/>
                </a:solidFill>
                <a:effectLst/>
                <a:latin typeface="Consolas" panose="020B0609020204030204" pitchFamily="49" charset="0"/>
              </a:rPr>
              <a:t>train_size</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a:solidFill>
                  <a:srgbClr val="4EC9B0"/>
                </a:solidFill>
                <a:effectLst/>
                <a:latin typeface="Consolas" panose="020B0609020204030204" pitchFamily="49" charset="0"/>
              </a:rPr>
              <a:t>int</a:t>
            </a:r>
            <a:r>
              <a:rPr lang="en-US" b="0" dirty="0">
                <a:solidFill>
                  <a:srgbClr val="BBBEBF"/>
                </a:solidFill>
                <a:effectLst/>
                <a:latin typeface="Consolas" panose="020B0609020204030204" pitchFamily="49" charset="0"/>
              </a:rPr>
              <a:t>(</a:t>
            </a:r>
            <a:r>
              <a:rPr lang="en-US" b="0" dirty="0" err="1">
                <a:solidFill>
                  <a:srgbClr val="DCDCAA"/>
                </a:solidFill>
                <a:effectLst/>
                <a:latin typeface="Consolas" panose="020B0609020204030204" pitchFamily="49" charset="0"/>
              </a:rPr>
              <a:t>len</a:t>
            </a:r>
            <a:r>
              <a:rPr lang="en-US" b="0" dirty="0">
                <a:solidFill>
                  <a:srgbClr val="BBBEBF"/>
                </a:solidFill>
                <a:effectLst/>
                <a:latin typeface="Consolas" panose="020B0609020204030204" pitchFamily="49" charset="0"/>
              </a:rPr>
              <a:t>(dataset)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a:solidFill>
                  <a:srgbClr val="B5CEA8"/>
                </a:solidFill>
                <a:effectLst/>
                <a:latin typeface="Consolas" panose="020B0609020204030204" pitchFamily="49" charset="0"/>
              </a:rPr>
              <a:t>0.67</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test_size</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DCDCAA"/>
                </a:solidFill>
                <a:effectLst/>
                <a:latin typeface="Consolas" panose="020B0609020204030204" pitchFamily="49" charset="0"/>
              </a:rPr>
              <a:t>len</a:t>
            </a:r>
            <a:r>
              <a:rPr lang="en-US" b="0" dirty="0">
                <a:solidFill>
                  <a:srgbClr val="BBBEBF"/>
                </a:solidFill>
                <a:effectLst/>
                <a:latin typeface="Consolas" panose="020B0609020204030204" pitchFamily="49" charset="0"/>
              </a:rPr>
              <a:t>(dataset)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train_size</a:t>
            </a:r>
            <a:endParaRPr lang="en-US" b="0" dirty="0">
              <a:solidFill>
                <a:srgbClr val="BBBEBF"/>
              </a:solidFill>
              <a:effectLst/>
              <a:latin typeface="Consolas" panose="020B0609020204030204" pitchFamily="49" charset="0"/>
            </a:endParaRPr>
          </a:p>
          <a:p>
            <a:pPr>
              <a:lnSpc>
                <a:spcPts val="1425"/>
              </a:lnSpc>
              <a:buNone/>
            </a:pPr>
            <a:r>
              <a:rPr lang="en-US" b="0" dirty="0">
                <a:solidFill>
                  <a:srgbClr val="BBBEBF"/>
                </a:solidFill>
                <a:effectLst/>
                <a:latin typeface="Consolas" panose="020B0609020204030204" pitchFamily="49" charset="0"/>
              </a:rPr>
              <a:t>train, test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dataset[</a:t>
            </a:r>
            <a:r>
              <a:rPr lang="en-US" b="0" dirty="0">
                <a:solidFill>
                  <a:srgbClr val="B5CEA8"/>
                </a:solidFill>
                <a:effectLst/>
                <a:latin typeface="Consolas" panose="020B0609020204030204" pitchFamily="49" charset="0"/>
              </a:rPr>
              <a:t>0</a:t>
            </a:r>
            <a:r>
              <a:rPr lang="en-US" b="0" dirty="0">
                <a:solidFill>
                  <a:srgbClr val="BBBEBF"/>
                </a:solidFill>
                <a:effectLst/>
                <a:latin typeface="Consolas" panose="020B0609020204030204" pitchFamily="49" charset="0"/>
              </a:rPr>
              <a:t>:train_size,:], dataset[</a:t>
            </a:r>
            <a:r>
              <a:rPr lang="en-US" b="0" dirty="0" err="1">
                <a:solidFill>
                  <a:srgbClr val="BBBEBF"/>
                </a:solidFill>
                <a:effectLst/>
                <a:latin typeface="Consolas" panose="020B0609020204030204" pitchFamily="49" charset="0"/>
              </a:rPr>
              <a:t>train_size:</a:t>
            </a:r>
            <a:r>
              <a:rPr lang="en-US" b="0" dirty="0" err="1">
                <a:solidFill>
                  <a:srgbClr val="DCDCAA"/>
                </a:solidFill>
                <a:effectLst/>
                <a:latin typeface="Consolas" panose="020B0609020204030204" pitchFamily="49" charset="0"/>
              </a:rPr>
              <a:t>len</a:t>
            </a:r>
            <a:r>
              <a:rPr lang="en-US" b="0" dirty="0">
                <a:solidFill>
                  <a:srgbClr val="BBBEBF"/>
                </a:solidFill>
                <a:effectLst/>
                <a:latin typeface="Consolas" panose="020B0609020204030204" pitchFamily="49" charset="0"/>
              </a:rPr>
              <a:t>(dataset),:]</a:t>
            </a:r>
          </a:p>
          <a:p>
            <a:pPr>
              <a:lnSpc>
                <a:spcPts val="1425"/>
              </a:lnSpc>
              <a:buNone/>
            </a:pPr>
            <a:r>
              <a:rPr lang="en-US" b="0" dirty="0">
                <a:solidFill>
                  <a:srgbClr val="DCDCAA"/>
                </a:solidFill>
                <a:effectLst/>
                <a:latin typeface="Consolas" panose="020B0609020204030204" pitchFamily="49" charset="0"/>
              </a:rPr>
              <a:t>print</a:t>
            </a:r>
            <a:r>
              <a:rPr lang="en-US" b="0" dirty="0">
                <a:solidFill>
                  <a:srgbClr val="BBBEBF"/>
                </a:solidFill>
                <a:effectLst/>
                <a:latin typeface="Consolas" panose="020B0609020204030204" pitchFamily="49" charset="0"/>
              </a:rPr>
              <a:t>(</a:t>
            </a:r>
            <a:r>
              <a:rPr lang="en-US" b="0" dirty="0" err="1">
                <a:solidFill>
                  <a:srgbClr val="DCDCAA"/>
                </a:solidFill>
                <a:effectLst/>
                <a:latin typeface="Consolas" panose="020B0609020204030204" pitchFamily="49" charset="0"/>
              </a:rPr>
              <a:t>len</a:t>
            </a:r>
            <a:r>
              <a:rPr lang="en-US" b="0" dirty="0">
                <a:solidFill>
                  <a:srgbClr val="BBBEBF"/>
                </a:solidFill>
                <a:effectLst/>
                <a:latin typeface="Consolas" panose="020B0609020204030204" pitchFamily="49" charset="0"/>
              </a:rPr>
              <a:t>(train), </a:t>
            </a:r>
            <a:r>
              <a:rPr lang="en-US" b="0" dirty="0" err="1">
                <a:solidFill>
                  <a:srgbClr val="DCDCAA"/>
                </a:solidFill>
                <a:effectLst/>
                <a:latin typeface="Consolas" panose="020B0609020204030204" pitchFamily="49" charset="0"/>
              </a:rPr>
              <a:t>len</a:t>
            </a:r>
            <a:r>
              <a:rPr lang="en-US" b="0" dirty="0">
                <a:solidFill>
                  <a:srgbClr val="BBBEBF"/>
                </a:solidFill>
                <a:effectLst/>
                <a:latin typeface="Consolas" panose="020B0609020204030204" pitchFamily="49" charset="0"/>
              </a:rPr>
              <a:t>(test))</a:t>
            </a:r>
          </a:p>
          <a:p>
            <a:pPr>
              <a:lnSpc>
                <a:spcPts val="1425"/>
              </a:lnSpc>
              <a:buNone/>
            </a:pPr>
            <a:r>
              <a:rPr lang="en-US" b="0" dirty="0">
                <a:solidFill>
                  <a:srgbClr val="A5D6FF"/>
                </a:solidFill>
                <a:effectLst/>
                <a:latin typeface="Consolas" panose="020B0609020204030204" pitchFamily="49" charset="0"/>
              </a:rPr>
              <a:t>'''</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The function takes two arguments: the dataset, which is a NumPy array you want to convert into a dataset, </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and the </a:t>
            </a:r>
            <a:r>
              <a:rPr lang="en-US" b="0" dirty="0" err="1">
                <a:solidFill>
                  <a:srgbClr val="A5D6FF"/>
                </a:solidFill>
                <a:effectLst/>
                <a:latin typeface="Consolas" panose="020B0609020204030204" pitchFamily="49" charset="0"/>
              </a:rPr>
              <a:t>look_back</a:t>
            </a:r>
            <a:r>
              <a:rPr lang="en-US" b="0" dirty="0">
                <a:solidFill>
                  <a:srgbClr val="A5D6FF"/>
                </a:solidFill>
                <a:effectLst/>
                <a:latin typeface="Consolas" panose="020B0609020204030204" pitchFamily="49" charset="0"/>
              </a:rPr>
              <a:t>, which is the number of previous time steps to use as input variables to predict the next time </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period—in this case, defaulted to 1. This default will create a dataset where X is the number of passengers </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at a given time (t), and Y is the number of passengers at the next time (t + 1).</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a:t>
            </a:r>
            <a:endParaRPr lang="en-US" b="0" dirty="0">
              <a:solidFill>
                <a:srgbClr val="BBBEBF"/>
              </a:solidFill>
              <a:effectLst/>
              <a:latin typeface="Consolas" panose="020B0609020204030204" pitchFamily="49" charset="0"/>
            </a:endParaRPr>
          </a:p>
          <a:p>
            <a:pPr>
              <a:lnSpc>
                <a:spcPts val="1425"/>
              </a:lnSpc>
              <a:buNone/>
            </a:pPr>
            <a:br>
              <a:rPr lang="en-US" b="0" dirty="0">
                <a:solidFill>
                  <a:srgbClr val="BBBEBF"/>
                </a:solidFill>
                <a:effectLst/>
                <a:latin typeface="Consolas" panose="020B0609020204030204" pitchFamily="49" charset="0"/>
              </a:rPr>
            </a:br>
            <a:endParaRPr lang="en-US" b="0" dirty="0">
              <a:solidFill>
                <a:srgbClr val="BBBEBF"/>
              </a:solidFill>
              <a:effectLst/>
              <a:latin typeface="Consolas" panose="020B0609020204030204" pitchFamily="49" charset="0"/>
            </a:endParaRPr>
          </a:p>
          <a:p>
            <a:pPr>
              <a:lnSpc>
                <a:spcPts val="1425"/>
              </a:lnSpc>
              <a:buNone/>
            </a:pPr>
            <a:br>
              <a:rPr lang="en-US" b="0" dirty="0">
                <a:solidFill>
                  <a:srgbClr val="BBBEBF"/>
                </a:solidFill>
                <a:effectLst/>
                <a:latin typeface="Consolas" panose="020B0609020204030204" pitchFamily="49" charset="0"/>
              </a:rPr>
            </a:br>
            <a:endParaRPr lang="en-US" b="0" dirty="0">
              <a:solidFill>
                <a:srgbClr val="BBBEBF"/>
              </a:solidFill>
              <a:effectLst/>
              <a:latin typeface="Consolas" panose="020B0609020204030204" pitchFamily="49" charset="0"/>
            </a:endParaRPr>
          </a:p>
          <a:p>
            <a:pPr>
              <a:lnSpc>
                <a:spcPts val="1425"/>
              </a:lnSpc>
              <a:buNone/>
            </a:pPr>
            <a:endParaRPr lang="en-US" b="0" dirty="0">
              <a:solidFill>
                <a:srgbClr val="BBBEBF"/>
              </a:solidFill>
              <a:effectLst/>
              <a:latin typeface="Consolas" panose="020B0609020204030204" pitchFamily="49" charset="0"/>
            </a:endParaRPr>
          </a:p>
        </p:txBody>
      </p:sp>
      <p:sp>
        <p:nvSpPr>
          <p:cNvPr id="3" name="TextBox 2">
            <a:extLst>
              <a:ext uri="{FF2B5EF4-FFF2-40B4-BE49-F238E27FC236}">
                <a16:creationId xmlns:a16="http://schemas.microsoft.com/office/drawing/2014/main" id="{88A1B148-02C6-FA60-8FF0-10A05C502170}"/>
              </a:ext>
            </a:extLst>
          </p:cNvPr>
          <p:cNvSpPr txBox="1"/>
          <p:nvPr/>
        </p:nvSpPr>
        <p:spPr>
          <a:xfrm>
            <a:off x="304800" y="987666"/>
            <a:ext cx="11318240" cy="2873134"/>
          </a:xfrm>
          <a:prstGeom prst="rect">
            <a:avLst/>
          </a:prstGeom>
          <a:noFill/>
        </p:spPr>
        <p:txBody>
          <a:bodyPr wrap="square">
            <a:spAutoFit/>
          </a:bodyPr>
          <a:lstStyle/>
          <a:p>
            <a:pPr>
              <a:lnSpc>
                <a:spcPts val="1425"/>
              </a:lnSpc>
              <a:buNone/>
            </a:pPr>
            <a:r>
              <a:rPr lang="en-US" b="0" dirty="0" err="1">
                <a:solidFill>
                  <a:srgbClr val="BBBEBF"/>
                </a:solidFill>
                <a:effectLst/>
                <a:latin typeface="Consolas" panose="020B0609020204030204" pitchFamily="49" charset="0"/>
              </a:rPr>
              <a:t>look_back</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trainX</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trainY</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create_dataset</a:t>
            </a:r>
            <a:r>
              <a:rPr lang="en-US" b="0" dirty="0">
                <a:solidFill>
                  <a:srgbClr val="BBBEBF"/>
                </a:solidFill>
                <a:effectLst/>
                <a:latin typeface="Consolas" panose="020B0609020204030204" pitchFamily="49" charset="0"/>
              </a:rPr>
              <a:t>(train, </a:t>
            </a:r>
            <a:r>
              <a:rPr lang="en-US" b="0" dirty="0" err="1">
                <a:solidFill>
                  <a:srgbClr val="BBBEBF"/>
                </a:solidFill>
                <a:effectLst/>
                <a:latin typeface="Consolas" panose="020B0609020204030204" pitchFamily="49" charset="0"/>
              </a:rPr>
              <a:t>look_back</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testX</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testY</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create_dataset</a:t>
            </a:r>
            <a:r>
              <a:rPr lang="en-US" b="0" dirty="0">
                <a:solidFill>
                  <a:srgbClr val="BBBEBF"/>
                </a:solidFill>
                <a:effectLst/>
                <a:latin typeface="Consolas" panose="020B0609020204030204" pitchFamily="49" charset="0"/>
              </a:rPr>
              <a:t>(test, </a:t>
            </a:r>
            <a:r>
              <a:rPr lang="en-US" b="0" dirty="0" err="1">
                <a:solidFill>
                  <a:srgbClr val="BBBEBF"/>
                </a:solidFill>
                <a:effectLst/>
                <a:latin typeface="Consolas" panose="020B0609020204030204" pitchFamily="49" charset="0"/>
              </a:rPr>
              <a:t>look_back</a:t>
            </a:r>
            <a:r>
              <a:rPr lang="en-US" b="0" dirty="0">
                <a:solidFill>
                  <a:srgbClr val="BBBEBF"/>
                </a:solidFill>
                <a:effectLst/>
                <a:latin typeface="Consolas" panose="020B0609020204030204" pitchFamily="49" charset="0"/>
              </a:rPr>
              <a:t>)</a:t>
            </a:r>
          </a:p>
          <a:p>
            <a:pPr>
              <a:lnSpc>
                <a:spcPts val="1425"/>
              </a:lnSpc>
              <a:buNone/>
            </a:pPr>
            <a:br>
              <a:rPr lang="en-US" b="0" dirty="0">
                <a:solidFill>
                  <a:srgbClr val="BBBEBF"/>
                </a:solidFill>
                <a:effectLst/>
                <a:latin typeface="Consolas" panose="020B0609020204030204" pitchFamily="49" charset="0"/>
              </a:rPr>
            </a:b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The LSTM network expects the input data (X) to be provided with a specific array structure in the form of </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[samples, time steps, features].</a:t>
            </a:r>
            <a:endParaRPr lang="en-US" b="0" dirty="0">
              <a:solidFill>
                <a:srgbClr val="BBBEBF"/>
              </a:solidFill>
              <a:effectLst/>
              <a:latin typeface="Consolas" panose="020B0609020204030204" pitchFamily="49" charset="0"/>
            </a:endParaRPr>
          </a:p>
          <a:p>
            <a:pPr>
              <a:lnSpc>
                <a:spcPts val="1425"/>
              </a:lnSpc>
              <a:buNone/>
            </a:pPr>
            <a:r>
              <a:rPr lang="en-US" b="0" dirty="0">
                <a:solidFill>
                  <a:srgbClr val="A5D6FF"/>
                </a:solidFill>
                <a:effectLst/>
                <a:latin typeface="Consolas" panose="020B0609020204030204" pitchFamily="49" charset="0"/>
              </a:rPr>
              <a:t>'''</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trainX</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np.reshape</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trainX</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trainX.shape</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BBBEBF"/>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trainX.shape</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testX</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np.reshape</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testX</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testX.shape</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testX.shape</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a:t>
            </a:r>
          </a:p>
          <a:p>
            <a:pPr>
              <a:lnSpc>
                <a:spcPts val="1425"/>
              </a:lnSpc>
              <a:buNone/>
            </a:pPr>
            <a:br>
              <a:rPr lang="en-US" b="0" dirty="0">
                <a:solidFill>
                  <a:srgbClr val="BBBEBF"/>
                </a:solidFill>
                <a:effectLst/>
                <a:latin typeface="Consolas" panose="020B0609020204030204" pitchFamily="49" charset="0"/>
              </a:rPr>
            </a:br>
            <a:endParaRPr lang="en-US" b="0" dirty="0">
              <a:solidFill>
                <a:srgbClr val="BBBEBF"/>
              </a:solidFill>
              <a:effectLst/>
              <a:latin typeface="Consolas" panose="020B0609020204030204" pitchFamily="49" charset="0"/>
            </a:endParaRPr>
          </a:p>
          <a:p>
            <a:pPr>
              <a:lnSpc>
                <a:spcPts val="1425"/>
              </a:lnSpc>
              <a:buNone/>
            </a:pPr>
            <a:r>
              <a:rPr lang="en-US" b="0" dirty="0">
                <a:solidFill>
                  <a:srgbClr val="8B949E"/>
                </a:solidFill>
                <a:effectLst/>
                <a:latin typeface="Consolas" panose="020B0609020204030204" pitchFamily="49" charset="0"/>
              </a:rPr>
              <a:t># create and fit the LSTM network</a:t>
            </a:r>
            <a:endParaRPr lang="en-US"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41339139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30A66-51ED-8BF5-D653-202B1383A2B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7218E6B-4AA3-0F59-B84C-B80CED38DECD}"/>
              </a:ext>
            </a:extLst>
          </p:cNvPr>
          <p:cNvSpPr txBox="1"/>
          <p:nvPr/>
        </p:nvSpPr>
        <p:spPr>
          <a:xfrm>
            <a:off x="883920" y="254000"/>
            <a:ext cx="10739120" cy="369332"/>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effectLst>
                  <a:outerShdw blurRad="38100" dist="38100" dir="2700000" algn="tl">
                    <a:srgbClr val="000000">
                      <a:alpha val="43137"/>
                    </a:srgbClr>
                  </a:outerShdw>
                </a:effectLst>
                <a:latin typeface="Calibri" panose="020F0502020204030204"/>
              </a:rPr>
              <a:t>RECURRENT NEURAL NETWORKS</a:t>
            </a:r>
            <a:endParaRPr kumimoji="0" lang="en-US" sz="18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B6C7B12-D43E-FE54-D33F-65201BED6F57}"/>
              </a:ext>
            </a:extLst>
          </p:cNvPr>
          <p:cNvSpPr txBox="1"/>
          <p:nvPr/>
        </p:nvSpPr>
        <p:spPr>
          <a:xfrm>
            <a:off x="406400" y="825258"/>
            <a:ext cx="11404600" cy="6032742"/>
          </a:xfrm>
          <a:prstGeom prst="rect">
            <a:avLst/>
          </a:prstGeom>
          <a:noFill/>
        </p:spPr>
        <p:txBody>
          <a:bodyPr wrap="square">
            <a:spAutoFit/>
          </a:bodyPr>
          <a:lstStyle/>
          <a:p>
            <a:pPr>
              <a:lnSpc>
                <a:spcPts val="1425"/>
              </a:lnSpc>
              <a:buNone/>
            </a:pPr>
            <a:r>
              <a:rPr lang="en-US" b="0" dirty="0" err="1">
                <a:solidFill>
                  <a:srgbClr val="BBBEBF"/>
                </a:solidFill>
                <a:effectLst/>
                <a:latin typeface="Consolas" panose="020B0609020204030204" pitchFamily="49" charset="0"/>
              </a:rPr>
              <a:t>input_layer</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tf.keras.layers.Input</a:t>
            </a:r>
            <a:r>
              <a:rPr lang="en-US" b="0" dirty="0">
                <a:solidFill>
                  <a:srgbClr val="BBBEBF"/>
                </a:solidFill>
                <a:effectLst/>
                <a:latin typeface="Consolas" panose="020B0609020204030204" pitchFamily="49" charset="0"/>
              </a:rPr>
              <a:t>(</a:t>
            </a:r>
            <a:r>
              <a:rPr lang="en-US" b="0" dirty="0">
                <a:solidFill>
                  <a:srgbClr val="FFA657"/>
                </a:solidFill>
                <a:effectLst/>
                <a:latin typeface="Consolas" panose="020B0609020204030204" pitchFamily="49" charset="0"/>
              </a:rPr>
              <a:t>shape</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look_back</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Lstm_layer</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tf.keras.layers.LSTM</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4</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input_layer</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output_layer</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tf.keras.layers.Dense</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Lstm_layer</a:t>
            </a:r>
            <a:r>
              <a:rPr lang="en-US" b="0" dirty="0">
                <a:solidFill>
                  <a:srgbClr val="BBBEBF"/>
                </a:solidFill>
                <a:effectLst/>
                <a:latin typeface="Consolas" panose="020B0609020204030204" pitchFamily="49" charset="0"/>
              </a:rPr>
              <a:t>)</a:t>
            </a:r>
          </a:p>
          <a:p>
            <a:pPr>
              <a:lnSpc>
                <a:spcPts val="1425"/>
              </a:lnSpc>
              <a:buNone/>
            </a:pPr>
            <a:r>
              <a:rPr lang="en-US" b="0" dirty="0">
                <a:solidFill>
                  <a:srgbClr val="BBBEBF"/>
                </a:solidFill>
                <a:effectLst/>
                <a:latin typeface="Consolas" panose="020B0609020204030204" pitchFamily="49" charset="0"/>
              </a:rPr>
              <a:t>model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tf.keras.Model</a:t>
            </a:r>
            <a:r>
              <a:rPr lang="en-US" b="0" dirty="0">
                <a:solidFill>
                  <a:srgbClr val="BBBEBF"/>
                </a:solidFill>
                <a:effectLst/>
                <a:latin typeface="Consolas" panose="020B0609020204030204" pitchFamily="49" charset="0"/>
              </a:rPr>
              <a:t>(</a:t>
            </a:r>
            <a:r>
              <a:rPr lang="en-US" b="0" dirty="0">
                <a:solidFill>
                  <a:srgbClr val="FFA657"/>
                </a:solidFill>
                <a:effectLst/>
                <a:latin typeface="Consolas" panose="020B0609020204030204" pitchFamily="49" charset="0"/>
              </a:rPr>
              <a:t>inputs</a:t>
            </a:r>
            <a:r>
              <a:rPr lang="en-US" b="0" dirty="0">
                <a:solidFill>
                  <a:srgbClr val="D4D4D4"/>
                </a:solidFill>
                <a:effectLst/>
                <a:latin typeface="Consolas" panose="020B0609020204030204" pitchFamily="49" charset="0"/>
              </a:rPr>
              <a:t>=</a:t>
            </a:r>
            <a:r>
              <a:rPr lang="en-US" b="0" dirty="0" err="1">
                <a:solidFill>
                  <a:srgbClr val="BBBEBF"/>
                </a:solidFill>
                <a:effectLst/>
                <a:latin typeface="Consolas" panose="020B0609020204030204" pitchFamily="49" charset="0"/>
              </a:rPr>
              <a:t>input_layer</a:t>
            </a:r>
            <a:r>
              <a:rPr lang="en-US" b="0" dirty="0">
                <a:solidFill>
                  <a:srgbClr val="BBBEBF"/>
                </a:solidFill>
                <a:effectLst/>
                <a:latin typeface="Consolas" panose="020B0609020204030204" pitchFamily="49" charset="0"/>
              </a:rPr>
              <a:t>, </a:t>
            </a:r>
            <a:r>
              <a:rPr lang="en-US" b="0" dirty="0">
                <a:solidFill>
                  <a:srgbClr val="FFA657"/>
                </a:solidFill>
                <a:effectLst/>
                <a:latin typeface="Consolas" panose="020B0609020204030204" pitchFamily="49" charset="0"/>
              </a:rPr>
              <a:t>outputs</a:t>
            </a:r>
            <a:r>
              <a:rPr lang="en-US" b="0" dirty="0">
                <a:solidFill>
                  <a:srgbClr val="D4D4D4"/>
                </a:solidFill>
                <a:effectLst/>
                <a:latin typeface="Consolas" panose="020B0609020204030204" pitchFamily="49" charset="0"/>
              </a:rPr>
              <a:t>=</a:t>
            </a:r>
            <a:r>
              <a:rPr lang="en-US" b="0" dirty="0" err="1">
                <a:solidFill>
                  <a:srgbClr val="BBBEBF"/>
                </a:solidFill>
                <a:effectLst/>
                <a:latin typeface="Consolas" panose="020B0609020204030204" pitchFamily="49" charset="0"/>
              </a:rPr>
              <a:t>output_layer</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model.compile</a:t>
            </a:r>
            <a:r>
              <a:rPr lang="en-US" b="0" dirty="0">
                <a:solidFill>
                  <a:srgbClr val="BBBEBF"/>
                </a:solidFill>
                <a:effectLst/>
                <a:latin typeface="Consolas" panose="020B0609020204030204" pitchFamily="49" charset="0"/>
              </a:rPr>
              <a:t>(</a:t>
            </a:r>
            <a:r>
              <a:rPr lang="en-US" b="0" dirty="0">
                <a:solidFill>
                  <a:srgbClr val="FFA657"/>
                </a:solidFill>
                <a:effectLst/>
                <a:latin typeface="Consolas" panose="020B0609020204030204" pitchFamily="49" charset="0"/>
              </a:rPr>
              <a:t>loss</a:t>
            </a:r>
            <a:r>
              <a:rPr lang="en-US" b="0" dirty="0">
                <a:solidFill>
                  <a:srgbClr val="D4D4D4"/>
                </a:solidFill>
                <a:effectLst/>
                <a:latin typeface="Consolas" panose="020B0609020204030204" pitchFamily="49" charset="0"/>
              </a:rPr>
              <a:t>=</a:t>
            </a:r>
            <a:r>
              <a:rPr lang="en-US" b="0" dirty="0">
                <a:solidFill>
                  <a:srgbClr val="A5D6FF"/>
                </a:solidFill>
                <a:effectLst/>
                <a:latin typeface="Consolas" panose="020B0609020204030204" pitchFamily="49" charset="0"/>
              </a:rPr>
              <a:t>'</a:t>
            </a:r>
            <a:r>
              <a:rPr lang="en-US" b="0" dirty="0" err="1">
                <a:solidFill>
                  <a:srgbClr val="A5D6FF"/>
                </a:solidFill>
                <a:effectLst/>
                <a:latin typeface="Consolas" panose="020B0609020204030204" pitchFamily="49" charset="0"/>
              </a:rPr>
              <a:t>mean_squared_error</a:t>
            </a:r>
            <a:r>
              <a:rPr lang="en-US" b="0" dirty="0">
                <a:solidFill>
                  <a:srgbClr val="A5D6FF"/>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a:solidFill>
                  <a:srgbClr val="FFA657"/>
                </a:solidFill>
                <a:effectLst/>
                <a:latin typeface="Consolas" panose="020B0609020204030204" pitchFamily="49" charset="0"/>
              </a:rPr>
              <a:t>optimizer</a:t>
            </a:r>
            <a:r>
              <a:rPr lang="en-US" b="0" dirty="0">
                <a:solidFill>
                  <a:srgbClr val="D4D4D4"/>
                </a:solidFill>
                <a:effectLst/>
                <a:latin typeface="Consolas" panose="020B0609020204030204" pitchFamily="49" charset="0"/>
              </a:rPr>
              <a:t>=</a:t>
            </a:r>
            <a:r>
              <a:rPr lang="en-US" b="0" dirty="0">
                <a:solidFill>
                  <a:srgbClr val="A5D6FF"/>
                </a:solidFill>
                <a:effectLst/>
                <a:latin typeface="Consolas" panose="020B0609020204030204" pitchFamily="49" charset="0"/>
              </a:rPr>
              <a:t>'</a:t>
            </a:r>
            <a:r>
              <a:rPr lang="en-US" b="0" dirty="0" err="1">
                <a:solidFill>
                  <a:srgbClr val="A5D6FF"/>
                </a:solidFill>
                <a:effectLst/>
                <a:latin typeface="Consolas" panose="020B0609020204030204" pitchFamily="49" charset="0"/>
              </a:rPr>
              <a:t>adam</a:t>
            </a:r>
            <a:r>
              <a:rPr lang="en-US" b="0" dirty="0">
                <a:solidFill>
                  <a:srgbClr val="A5D6FF"/>
                </a:solidFill>
                <a:effectLst/>
                <a:latin typeface="Consolas" panose="020B0609020204030204" pitchFamily="49" charset="0"/>
              </a:rPr>
              <a:t>'</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model.fit</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trainX</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trainY</a:t>
            </a:r>
            <a:r>
              <a:rPr lang="en-US" b="0" dirty="0">
                <a:solidFill>
                  <a:srgbClr val="BBBEBF"/>
                </a:solidFill>
                <a:effectLst/>
                <a:latin typeface="Consolas" panose="020B0609020204030204" pitchFamily="49" charset="0"/>
              </a:rPr>
              <a:t>, </a:t>
            </a:r>
            <a:r>
              <a:rPr lang="en-US" b="0" dirty="0">
                <a:solidFill>
                  <a:srgbClr val="FFA657"/>
                </a:solidFill>
                <a:effectLst/>
                <a:latin typeface="Consolas" panose="020B0609020204030204" pitchFamily="49" charset="0"/>
              </a:rPr>
              <a:t>epochs</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100</a:t>
            </a:r>
            <a:r>
              <a:rPr lang="en-US" b="0" dirty="0">
                <a:solidFill>
                  <a:srgbClr val="BBBEBF"/>
                </a:solidFill>
                <a:effectLst/>
                <a:latin typeface="Consolas" panose="020B0609020204030204" pitchFamily="49" charset="0"/>
              </a:rPr>
              <a:t>, </a:t>
            </a:r>
            <a:r>
              <a:rPr lang="en-US" b="0" dirty="0" err="1">
                <a:solidFill>
                  <a:srgbClr val="FFA657"/>
                </a:solidFill>
                <a:effectLst/>
                <a:latin typeface="Consolas" panose="020B0609020204030204" pitchFamily="49" charset="0"/>
              </a:rPr>
              <a:t>batch_size</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 </a:t>
            </a:r>
            <a:r>
              <a:rPr lang="en-US" b="0" dirty="0">
                <a:solidFill>
                  <a:srgbClr val="FFA657"/>
                </a:solidFill>
                <a:effectLst/>
                <a:latin typeface="Consolas" panose="020B0609020204030204" pitchFamily="49" charset="0"/>
              </a:rPr>
              <a:t>verbose</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BBBEBF"/>
                </a:solidFill>
                <a:effectLst/>
                <a:latin typeface="Consolas" panose="020B0609020204030204" pitchFamily="49" charset="0"/>
              </a:rPr>
              <a:t>)</a:t>
            </a:r>
          </a:p>
          <a:p>
            <a:pPr>
              <a:lnSpc>
                <a:spcPts val="1425"/>
              </a:lnSpc>
              <a:buNone/>
            </a:pPr>
            <a:r>
              <a:rPr lang="en-US" b="0" dirty="0">
                <a:solidFill>
                  <a:srgbClr val="8B949E"/>
                </a:solidFill>
                <a:effectLst/>
                <a:latin typeface="Consolas" panose="020B0609020204030204" pitchFamily="49" charset="0"/>
              </a:rPr>
              <a:t># make predictions</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trainPredict</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model.predict</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trainX</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testPredict</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model.predict</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testX</a:t>
            </a:r>
            <a:r>
              <a:rPr lang="en-US" b="0" dirty="0">
                <a:solidFill>
                  <a:srgbClr val="BBBEBF"/>
                </a:solidFill>
                <a:effectLst/>
                <a:latin typeface="Consolas" panose="020B0609020204030204" pitchFamily="49" charset="0"/>
              </a:rPr>
              <a:t>)</a:t>
            </a:r>
          </a:p>
          <a:p>
            <a:pPr>
              <a:lnSpc>
                <a:spcPts val="1425"/>
              </a:lnSpc>
              <a:buNone/>
            </a:pPr>
            <a:r>
              <a:rPr lang="en-US" b="0" dirty="0">
                <a:solidFill>
                  <a:srgbClr val="8B949E"/>
                </a:solidFill>
                <a:effectLst/>
                <a:latin typeface="Consolas" panose="020B0609020204030204" pitchFamily="49" charset="0"/>
              </a:rPr>
              <a:t># invert Predictions</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trainPredict</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scaler.inverse_transform</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trainPredict</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trainY</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scaler.inverse_transform</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trainY</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testPredict</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scaler.inverse_transform</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testPredict</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testY</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scaler.inverse_transform</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testY</a:t>
            </a:r>
            <a:r>
              <a:rPr lang="en-US" b="0" dirty="0">
                <a:solidFill>
                  <a:srgbClr val="BBBEBF"/>
                </a:solidFill>
                <a:effectLst/>
                <a:latin typeface="Consolas" panose="020B0609020204030204" pitchFamily="49" charset="0"/>
              </a:rPr>
              <a:t>])</a:t>
            </a:r>
          </a:p>
          <a:p>
            <a:pPr>
              <a:lnSpc>
                <a:spcPts val="1425"/>
              </a:lnSpc>
              <a:buNone/>
            </a:pPr>
            <a:r>
              <a:rPr lang="en-US" b="0" dirty="0">
                <a:solidFill>
                  <a:srgbClr val="8B949E"/>
                </a:solidFill>
                <a:effectLst/>
                <a:latin typeface="Consolas" panose="020B0609020204030204" pitchFamily="49" charset="0"/>
              </a:rPr>
              <a:t># calculate root mean squared error</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trainScore</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np.sqrt</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mean_squared_error</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trainY</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trainPredict</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BBBEBF"/>
                </a:solidFill>
                <a:effectLst/>
                <a:latin typeface="Consolas" panose="020B0609020204030204" pitchFamily="49" charset="0"/>
              </a:rPr>
              <a:t>]))</a:t>
            </a:r>
          </a:p>
          <a:p>
            <a:pPr>
              <a:lnSpc>
                <a:spcPts val="1425"/>
              </a:lnSpc>
              <a:buNone/>
            </a:pPr>
            <a:r>
              <a:rPr lang="en-US" b="0" dirty="0">
                <a:solidFill>
                  <a:srgbClr val="DCDCAA"/>
                </a:solidFill>
                <a:effectLst/>
                <a:latin typeface="Consolas" panose="020B0609020204030204" pitchFamily="49" charset="0"/>
              </a:rPr>
              <a:t>print</a:t>
            </a:r>
            <a:r>
              <a:rPr lang="en-US" b="0" dirty="0">
                <a:solidFill>
                  <a:srgbClr val="BBBEBF"/>
                </a:solidFill>
                <a:effectLst/>
                <a:latin typeface="Consolas" panose="020B0609020204030204" pitchFamily="49" charset="0"/>
              </a:rPr>
              <a:t>(</a:t>
            </a:r>
            <a:r>
              <a:rPr lang="en-US" b="0" dirty="0">
                <a:solidFill>
                  <a:srgbClr val="A5D6FF"/>
                </a:solidFill>
                <a:effectLst/>
                <a:latin typeface="Consolas" panose="020B0609020204030204" pitchFamily="49" charset="0"/>
              </a:rPr>
              <a:t>'Train Score: </a:t>
            </a:r>
            <a:r>
              <a:rPr lang="en-US" b="0" dirty="0">
                <a:solidFill>
                  <a:srgbClr val="FF7B72"/>
                </a:solidFill>
                <a:effectLst/>
                <a:latin typeface="Consolas" panose="020B0609020204030204" pitchFamily="49" charset="0"/>
              </a:rPr>
              <a:t>%.2f</a:t>
            </a:r>
            <a:r>
              <a:rPr lang="en-US" b="0" dirty="0">
                <a:solidFill>
                  <a:srgbClr val="A5D6FF"/>
                </a:solidFill>
                <a:effectLst/>
                <a:latin typeface="Consolas" panose="020B0609020204030204" pitchFamily="49" charset="0"/>
              </a:rPr>
              <a:t> RMSE'</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trainScore</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testScore</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np.sqrt</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mean_squared_error</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testY</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testPredict</a:t>
            </a:r>
            <a:r>
              <a:rPr lang="en-US" b="0" dirty="0">
                <a:solidFill>
                  <a:srgbClr val="BBBEBF"/>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BBBEBF"/>
                </a:solidFill>
                <a:effectLst/>
                <a:latin typeface="Consolas" panose="020B0609020204030204" pitchFamily="49" charset="0"/>
              </a:rPr>
              <a:t>]))</a:t>
            </a:r>
          </a:p>
          <a:p>
            <a:pPr>
              <a:lnSpc>
                <a:spcPts val="1425"/>
              </a:lnSpc>
              <a:buNone/>
            </a:pPr>
            <a:r>
              <a:rPr lang="en-US" b="0" dirty="0">
                <a:solidFill>
                  <a:srgbClr val="DCDCAA"/>
                </a:solidFill>
                <a:effectLst/>
                <a:latin typeface="Consolas" panose="020B0609020204030204" pitchFamily="49" charset="0"/>
              </a:rPr>
              <a:t>print</a:t>
            </a:r>
            <a:r>
              <a:rPr lang="en-US" b="0" dirty="0">
                <a:solidFill>
                  <a:srgbClr val="BBBEBF"/>
                </a:solidFill>
                <a:effectLst/>
                <a:latin typeface="Consolas" panose="020B0609020204030204" pitchFamily="49" charset="0"/>
              </a:rPr>
              <a:t>(</a:t>
            </a:r>
            <a:r>
              <a:rPr lang="en-US" b="0" dirty="0">
                <a:solidFill>
                  <a:srgbClr val="A5D6FF"/>
                </a:solidFill>
                <a:effectLst/>
                <a:latin typeface="Consolas" panose="020B0609020204030204" pitchFamily="49" charset="0"/>
              </a:rPr>
              <a:t>'Test Score: </a:t>
            </a:r>
            <a:r>
              <a:rPr lang="en-US" b="0" dirty="0">
                <a:solidFill>
                  <a:srgbClr val="FF7B72"/>
                </a:solidFill>
                <a:effectLst/>
                <a:latin typeface="Consolas" panose="020B0609020204030204" pitchFamily="49" charset="0"/>
              </a:rPr>
              <a:t>%.2f</a:t>
            </a:r>
            <a:r>
              <a:rPr lang="en-US" b="0" dirty="0">
                <a:solidFill>
                  <a:srgbClr val="A5D6FF"/>
                </a:solidFill>
                <a:effectLst/>
                <a:latin typeface="Consolas" panose="020B0609020204030204" pitchFamily="49" charset="0"/>
              </a:rPr>
              <a:t> RMSE'</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testScore</a:t>
            </a:r>
            <a:r>
              <a:rPr lang="en-US" b="0" dirty="0">
                <a:solidFill>
                  <a:srgbClr val="BBBEBF"/>
                </a:solidFill>
                <a:effectLst/>
                <a:latin typeface="Consolas" panose="020B0609020204030204" pitchFamily="49" charset="0"/>
              </a:rPr>
              <a:t>))</a:t>
            </a:r>
          </a:p>
          <a:p>
            <a:pPr>
              <a:lnSpc>
                <a:spcPts val="1425"/>
              </a:lnSpc>
              <a:buNone/>
            </a:pPr>
            <a:r>
              <a:rPr lang="en-US" b="0" dirty="0">
                <a:solidFill>
                  <a:srgbClr val="8B949E"/>
                </a:solidFill>
                <a:effectLst/>
                <a:latin typeface="Consolas" panose="020B0609020204030204" pitchFamily="49" charset="0"/>
              </a:rPr>
              <a:t># shift train predictions for plotting</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trainPredictPlot</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np.empty_like</a:t>
            </a:r>
            <a:r>
              <a:rPr lang="en-US" b="0" dirty="0">
                <a:solidFill>
                  <a:srgbClr val="BBBEBF"/>
                </a:solidFill>
                <a:effectLst/>
                <a:latin typeface="Consolas" panose="020B0609020204030204" pitchFamily="49" charset="0"/>
              </a:rPr>
              <a:t>(dataset)</a:t>
            </a:r>
          </a:p>
          <a:p>
            <a:pPr>
              <a:lnSpc>
                <a:spcPts val="1425"/>
              </a:lnSpc>
              <a:buNone/>
            </a:pPr>
            <a:r>
              <a:rPr lang="en-US" b="0" dirty="0" err="1">
                <a:solidFill>
                  <a:srgbClr val="BBBEBF"/>
                </a:solidFill>
                <a:effectLst/>
                <a:latin typeface="Consolas" panose="020B0609020204030204" pitchFamily="49" charset="0"/>
              </a:rPr>
              <a:t>trainPredictPlot</a:t>
            </a:r>
            <a:r>
              <a:rPr lang="en-US" b="0" dirty="0">
                <a:solidFill>
                  <a:srgbClr val="BBBEBF"/>
                </a:solidFill>
                <a:effectLst/>
                <a:latin typeface="Consolas" panose="020B0609020204030204" pitchFamily="49" charset="0"/>
              </a:rPr>
              <a:t>[:, :]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np.nan</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trainPredictPlot</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look_back:</a:t>
            </a:r>
            <a:r>
              <a:rPr lang="en-US" b="0" dirty="0" err="1">
                <a:solidFill>
                  <a:srgbClr val="DCDCAA"/>
                </a:solidFill>
                <a:effectLst/>
                <a:latin typeface="Consolas" panose="020B0609020204030204" pitchFamily="49" charset="0"/>
              </a:rPr>
              <a:t>len</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trainPredict</a:t>
            </a:r>
            <a:r>
              <a:rPr lang="en-US" b="0" dirty="0">
                <a:solidFill>
                  <a:srgbClr val="BBBEBF"/>
                </a:solidFill>
                <a:effectLst/>
                <a:latin typeface="Consolas" panose="020B0609020204030204" pitchFamily="49" charset="0"/>
              </a:rPr>
              <a:t>)</a:t>
            </a:r>
            <a:r>
              <a:rPr lang="en-US" b="0" dirty="0">
                <a:solidFill>
                  <a:srgbClr val="D4D4D4"/>
                </a:solidFill>
                <a:effectLst/>
                <a:latin typeface="Consolas" panose="020B0609020204030204" pitchFamily="49" charset="0"/>
              </a:rPr>
              <a:t>+</a:t>
            </a:r>
            <a:r>
              <a:rPr lang="en-US" b="0" dirty="0" err="1">
                <a:solidFill>
                  <a:srgbClr val="BBBEBF"/>
                </a:solidFill>
                <a:effectLst/>
                <a:latin typeface="Consolas" panose="020B0609020204030204" pitchFamily="49" charset="0"/>
              </a:rPr>
              <a:t>look_back</a:t>
            </a:r>
            <a:r>
              <a:rPr lang="en-US" b="0" dirty="0">
                <a:solidFill>
                  <a:srgbClr val="BBBEBF"/>
                </a:solidFill>
                <a:effectLst/>
                <a:latin typeface="Consolas" panose="020B0609020204030204" pitchFamily="49" charset="0"/>
              </a:rPr>
              <a:t>, :]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trainPredict</a:t>
            </a:r>
            <a:endParaRPr lang="en-US" b="0" dirty="0">
              <a:solidFill>
                <a:srgbClr val="BBBEBF"/>
              </a:solidFill>
              <a:effectLst/>
              <a:latin typeface="Consolas" panose="020B0609020204030204" pitchFamily="49" charset="0"/>
            </a:endParaRPr>
          </a:p>
          <a:p>
            <a:pPr>
              <a:lnSpc>
                <a:spcPts val="1425"/>
              </a:lnSpc>
              <a:buNone/>
            </a:pPr>
            <a:r>
              <a:rPr lang="en-US" b="0" dirty="0">
                <a:solidFill>
                  <a:srgbClr val="8B949E"/>
                </a:solidFill>
                <a:effectLst/>
                <a:latin typeface="Consolas" panose="020B0609020204030204" pitchFamily="49" charset="0"/>
              </a:rPr>
              <a:t># shift test predictions for plotting</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testPredictPlot</a:t>
            </a:r>
            <a:r>
              <a:rPr lang="en-US" b="0" dirty="0">
                <a:solidFill>
                  <a:srgbClr val="BBBEBF"/>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np.empty_like</a:t>
            </a:r>
            <a:r>
              <a:rPr lang="en-US" b="0" dirty="0">
                <a:solidFill>
                  <a:srgbClr val="BBBEBF"/>
                </a:solidFill>
                <a:effectLst/>
                <a:latin typeface="Consolas" panose="020B0609020204030204" pitchFamily="49" charset="0"/>
              </a:rPr>
              <a:t>(dataset)</a:t>
            </a:r>
          </a:p>
          <a:p>
            <a:pPr>
              <a:lnSpc>
                <a:spcPts val="1425"/>
              </a:lnSpc>
              <a:buNone/>
            </a:pPr>
            <a:r>
              <a:rPr lang="en-US" b="0" dirty="0" err="1">
                <a:solidFill>
                  <a:srgbClr val="BBBEBF"/>
                </a:solidFill>
                <a:effectLst/>
                <a:latin typeface="Consolas" panose="020B0609020204030204" pitchFamily="49" charset="0"/>
              </a:rPr>
              <a:t>testPredictPlot</a:t>
            </a:r>
            <a:r>
              <a:rPr lang="en-US" b="0" dirty="0">
                <a:solidFill>
                  <a:srgbClr val="BBBEBF"/>
                </a:solidFill>
                <a:effectLst/>
                <a:latin typeface="Consolas" panose="020B0609020204030204" pitchFamily="49" charset="0"/>
              </a:rPr>
              <a:t>[:, :]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np.nan</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testPredictPlot</a:t>
            </a:r>
            <a:r>
              <a:rPr lang="en-US" b="0" dirty="0">
                <a:solidFill>
                  <a:srgbClr val="BBBEBF"/>
                </a:solidFill>
                <a:effectLst/>
                <a:latin typeface="Consolas" panose="020B0609020204030204" pitchFamily="49" charset="0"/>
              </a:rPr>
              <a:t>[</a:t>
            </a:r>
            <a:r>
              <a:rPr lang="en-US" b="0" dirty="0" err="1">
                <a:solidFill>
                  <a:srgbClr val="DCDCAA"/>
                </a:solidFill>
                <a:effectLst/>
                <a:latin typeface="Consolas" panose="020B0609020204030204" pitchFamily="49" charset="0"/>
              </a:rPr>
              <a:t>len</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trainPredict</a:t>
            </a:r>
            <a:r>
              <a:rPr lang="en-US" b="0" dirty="0">
                <a:solidFill>
                  <a:srgbClr val="BBBEBF"/>
                </a:solidFill>
                <a:effectLst/>
                <a:latin typeface="Consolas" panose="020B0609020204030204" pitchFamily="49" charset="0"/>
              </a:rPr>
              <a:t>)</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look_back</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BBBEBF"/>
                </a:solidFill>
                <a:effectLst/>
                <a:latin typeface="Consolas" panose="020B0609020204030204" pitchFamily="49" charset="0"/>
              </a:rPr>
              <a: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a:t>
            </a:r>
            <a:r>
              <a:rPr lang="en-US" b="0" dirty="0">
                <a:solidFill>
                  <a:srgbClr val="DCDCAA"/>
                </a:solidFill>
                <a:effectLst/>
                <a:latin typeface="Consolas" panose="020B0609020204030204" pitchFamily="49" charset="0"/>
              </a:rPr>
              <a:t>len</a:t>
            </a:r>
            <a:r>
              <a:rPr lang="en-US" b="0" dirty="0">
                <a:solidFill>
                  <a:srgbClr val="BBBEBF"/>
                </a:solidFill>
                <a:effectLst/>
                <a:latin typeface="Consolas" panose="020B0609020204030204" pitchFamily="49" charset="0"/>
              </a:rPr>
              <a:t>(dataset)</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BBBEBF"/>
                </a:solidFill>
                <a:effectLst/>
                <a:latin typeface="Consolas" panose="020B0609020204030204" pitchFamily="49" charset="0"/>
              </a:rPr>
              <a:t>, :] </a:t>
            </a:r>
            <a:r>
              <a:rPr lang="en-US" b="0" dirty="0">
                <a:solidFill>
                  <a:srgbClr val="D4D4D4"/>
                </a:solidFill>
                <a:effectLst/>
                <a:latin typeface="Consolas" panose="020B0609020204030204" pitchFamily="49" charset="0"/>
              </a:rPr>
              <a:t>=</a:t>
            </a:r>
            <a:r>
              <a:rPr lang="en-US" b="0" dirty="0">
                <a:solidFill>
                  <a:srgbClr val="BBBEBF"/>
                </a:solidFill>
                <a:effectLst/>
                <a:latin typeface="Consolas" panose="020B0609020204030204" pitchFamily="49" charset="0"/>
              </a:rPr>
              <a:t> </a:t>
            </a:r>
            <a:r>
              <a:rPr lang="en-US" b="0" dirty="0" err="1">
                <a:solidFill>
                  <a:srgbClr val="BBBEBF"/>
                </a:solidFill>
                <a:effectLst/>
                <a:latin typeface="Consolas" panose="020B0609020204030204" pitchFamily="49" charset="0"/>
              </a:rPr>
              <a:t>testPredict</a:t>
            </a:r>
            <a:endParaRPr lang="en-US" b="0" dirty="0">
              <a:solidFill>
                <a:srgbClr val="BBBEBF"/>
              </a:solidFill>
              <a:effectLst/>
              <a:latin typeface="Consolas" panose="020B0609020204030204" pitchFamily="49" charset="0"/>
            </a:endParaRPr>
          </a:p>
          <a:p>
            <a:pPr>
              <a:lnSpc>
                <a:spcPts val="1425"/>
              </a:lnSpc>
              <a:buNone/>
            </a:pPr>
            <a:r>
              <a:rPr lang="en-US" b="0" dirty="0">
                <a:solidFill>
                  <a:srgbClr val="8B949E"/>
                </a:solidFill>
                <a:effectLst/>
                <a:latin typeface="Consolas" panose="020B0609020204030204" pitchFamily="49" charset="0"/>
              </a:rPr>
              <a:t># plot baseline and predictions</a:t>
            </a:r>
            <a:endParaRPr lang="en-US" b="0" dirty="0">
              <a:solidFill>
                <a:srgbClr val="BBBEBF"/>
              </a:solidFill>
              <a:effectLst/>
              <a:latin typeface="Consolas" panose="020B0609020204030204" pitchFamily="49" charset="0"/>
            </a:endParaRPr>
          </a:p>
          <a:p>
            <a:pPr>
              <a:lnSpc>
                <a:spcPts val="1425"/>
              </a:lnSpc>
              <a:buNone/>
            </a:pPr>
            <a:r>
              <a:rPr lang="en-US" b="0" dirty="0" err="1">
                <a:solidFill>
                  <a:srgbClr val="BBBEBF"/>
                </a:solidFill>
                <a:effectLst/>
                <a:latin typeface="Consolas" panose="020B0609020204030204" pitchFamily="49" charset="0"/>
              </a:rPr>
              <a:t>plt.plot</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scaler.inverse_transform</a:t>
            </a:r>
            <a:r>
              <a:rPr lang="en-US" b="0" dirty="0">
                <a:solidFill>
                  <a:srgbClr val="BBBEBF"/>
                </a:solidFill>
                <a:effectLst/>
                <a:latin typeface="Consolas" panose="020B0609020204030204" pitchFamily="49" charset="0"/>
              </a:rPr>
              <a:t>(dataset))</a:t>
            </a:r>
          </a:p>
          <a:p>
            <a:pPr>
              <a:lnSpc>
                <a:spcPts val="1425"/>
              </a:lnSpc>
              <a:buNone/>
            </a:pPr>
            <a:r>
              <a:rPr lang="en-US" b="0" dirty="0" err="1">
                <a:solidFill>
                  <a:srgbClr val="BBBEBF"/>
                </a:solidFill>
                <a:effectLst/>
                <a:latin typeface="Consolas" panose="020B0609020204030204" pitchFamily="49" charset="0"/>
              </a:rPr>
              <a:t>plt.plot</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trainPredictPlot</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plt.plot</a:t>
            </a:r>
            <a:r>
              <a:rPr lang="en-US" b="0" dirty="0">
                <a:solidFill>
                  <a:srgbClr val="BBBEBF"/>
                </a:solidFill>
                <a:effectLst/>
                <a:latin typeface="Consolas" panose="020B0609020204030204" pitchFamily="49" charset="0"/>
              </a:rPr>
              <a:t>(</a:t>
            </a:r>
            <a:r>
              <a:rPr lang="en-US" b="0" dirty="0" err="1">
                <a:solidFill>
                  <a:srgbClr val="BBBEBF"/>
                </a:solidFill>
                <a:effectLst/>
                <a:latin typeface="Consolas" panose="020B0609020204030204" pitchFamily="49" charset="0"/>
              </a:rPr>
              <a:t>testPredictPlot</a:t>
            </a:r>
            <a:r>
              <a:rPr lang="en-US" b="0" dirty="0">
                <a:solidFill>
                  <a:srgbClr val="BBBEBF"/>
                </a:solidFill>
                <a:effectLst/>
                <a:latin typeface="Consolas" panose="020B0609020204030204" pitchFamily="49" charset="0"/>
              </a:rPr>
              <a:t>)</a:t>
            </a:r>
          </a:p>
          <a:p>
            <a:pPr>
              <a:lnSpc>
                <a:spcPts val="1425"/>
              </a:lnSpc>
              <a:buNone/>
            </a:pPr>
            <a:r>
              <a:rPr lang="en-US" b="0" dirty="0" err="1">
                <a:solidFill>
                  <a:srgbClr val="BBBEBF"/>
                </a:solidFill>
                <a:effectLst/>
                <a:latin typeface="Consolas" panose="020B0609020204030204" pitchFamily="49" charset="0"/>
              </a:rPr>
              <a:t>plt.show</a:t>
            </a:r>
            <a:r>
              <a:rPr lang="en-US" b="0" dirty="0">
                <a:solidFill>
                  <a:srgbClr val="BBBEBF"/>
                </a:solidFill>
                <a:effectLst/>
                <a:latin typeface="Consolas" panose="020B0609020204030204" pitchFamily="49" charset="0"/>
              </a:rPr>
              <a:t>()</a:t>
            </a:r>
            <a:endParaRPr lang="en-US" dirty="0"/>
          </a:p>
        </p:txBody>
      </p:sp>
    </p:spTree>
    <p:extLst>
      <p:ext uri="{BB962C8B-B14F-4D97-AF65-F5344CB8AC3E}">
        <p14:creationId xmlns:p14="http://schemas.microsoft.com/office/powerpoint/2010/main" val="3478758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LSTMS SET OF EQUATIONS</a:t>
            </a:r>
          </a:p>
        </p:txBody>
      </p:sp>
      <p:sp>
        <p:nvSpPr>
          <p:cNvPr id="10" name="TextBox 9"/>
          <p:cNvSpPr txBox="1"/>
          <p:nvPr/>
        </p:nvSpPr>
        <p:spPr>
          <a:xfrm>
            <a:off x="528876" y="3885495"/>
            <a:ext cx="5750171" cy="258532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Here</a:t>
            </a:r>
            <a:r>
              <a:rPr kumimoji="0" lang="en-US" sz="1800" b="0" i="1"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1800" b="0" i="1" u="none" strike="noStrike" kern="1200" cap="none" spc="0" normalizeH="0" baseline="0" noProof="0" dirty="0" err="1">
                <a:ln>
                  <a:noFill/>
                </a:ln>
                <a:solidFill>
                  <a:srgbClr val="FF0000"/>
                </a:solidFill>
                <a:effectLst/>
                <a:uLnTx/>
                <a:uFillTx/>
                <a:latin typeface="Calibri" panose="020F0502020204030204"/>
                <a:ea typeface="+mn-ea"/>
                <a:cs typeface="+mn-cs"/>
              </a:rPr>
              <a:t>i</a:t>
            </a:r>
            <a:r>
              <a:rPr kumimoji="0" lang="en-US" sz="1800" b="0" i="1" u="none" strike="noStrike" kern="1200" cap="none" spc="0" normalizeH="0" baseline="0" noProof="0" dirty="0">
                <a:ln>
                  <a:noFill/>
                </a:ln>
                <a:solidFill>
                  <a:srgbClr val="FF0000"/>
                </a:solidFill>
                <a:effectLst/>
                <a:uLnTx/>
                <a:uFillTx/>
                <a:latin typeface="Calibri" panose="020F0502020204030204"/>
                <a:ea typeface="+mn-ea"/>
                <a:cs typeface="+mn-cs"/>
              </a:rPr>
              <a:t>, f, and o are the input, forget, and output gates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They are computed using the same equations but with different parameter matrices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Wi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1" u="none" strike="noStrike" kern="1200" cap="none" spc="0" normalizeH="0" baseline="0" noProof="0" dirty="0" err="1">
                <a:ln>
                  <a:noFill/>
                </a:ln>
                <a:solidFill>
                  <a:prstClr val="black"/>
                </a:solidFill>
                <a:effectLst/>
                <a:uLnTx/>
                <a:uFillTx/>
                <a:latin typeface="Calibri" panose="020F0502020204030204"/>
                <a:ea typeface="+mn-ea"/>
                <a:cs typeface="+mn-cs"/>
              </a:rPr>
              <a:t>Ui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1" u="none" strike="noStrike" kern="1200" cap="none" spc="0" normalizeH="0" baseline="0" noProof="0" dirty="0" err="1">
                <a:ln>
                  <a:noFill/>
                </a:ln>
                <a:solidFill>
                  <a:prstClr val="black"/>
                </a:solidFill>
                <a:effectLst/>
                <a:uLnTx/>
                <a:uFillTx/>
                <a:latin typeface="Calibri" panose="020F0502020204030204"/>
                <a:ea typeface="+mn-ea"/>
                <a:cs typeface="+mn-cs"/>
              </a:rPr>
              <a:t>Wf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1" u="none" strike="noStrike" kern="1200" cap="none" spc="0" normalizeH="0" baseline="0" noProof="0" dirty="0" err="1">
                <a:ln>
                  <a:noFill/>
                </a:ln>
                <a:solidFill>
                  <a:prstClr val="black"/>
                </a:solidFill>
                <a:effectLst/>
                <a:uLnTx/>
                <a:uFillTx/>
                <a:latin typeface="Calibri" panose="020F0502020204030204"/>
                <a:ea typeface="+mn-ea"/>
                <a:cs typeface="+mn-cs"/>
              </a:rPr>
              <a:t>Uf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 </a:t>
            </a:r>
            <a:r>
              <a:rPr kumimoji="0" lang="en-US" sz="1800" b="0" i="1" u="none" strike="noStrike" kern="1200" cap="none" spc="0" normalizeH="0" baseline="0" noProof="0" dirty="0" err="1">
                <a:ln>
                  <a:noFill/>
                </a:ln>
                <a:solidFill>
                  <a:prstClr val="black"/>
                </a:solidFill>
                <a:effectLst/>
                <a:uLnTx/>
                <a:uFillTx/>
                <a:latin typeface="Calibri" panose="020F0502020204030204"/>
                <a:ea typeface="+mn-ea"/>
                <a:cs typeface="+mn-cs"/>
              </a:rPr>
              <a:t>U</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o</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The sigmoid function modulates the output of these gates between 0 and 1</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so the output vectors produced can be multiplied element-wise with another vector to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define how much of the second vector can pass through the first one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E522D645-1BE6-B0E5-6D3D-CAB615B4A949}"/>
              </a:ext>
            </a:extLst>
          </p:cNvPr>
          <p:cNvPicPr>
            <a:picLocks noChangeAspect="1"/>
          </p:cNvPicPr>
          <p:nvPr/>
        </p:nvPicPr>
        <p:blipFill>
          <a:blip r:embed="rId2"/>
          <a:stretch>
            <a:fillRect/>
          </a:stretch>
        </p:blipFill>
        <p:spPr>
          <a:xfrm>
            <a:off x="6279047" y="822008"/>
            <a:ext cx="5281246" cy="3384333"/>
          </a:xfrm>
          <a:prstGeom prst="rect">
            <a:avLst/>
          </a:prstGeom>
        </p:spPr>
      </p:pic>
      <p:pic>
        <p:nvPicPr>
          <p:cNvPr id="3" name="Picture 2">
            <a:extLst>
              <a:ext uri="{FF2B5EF4-FFF2-40B4-BE49-F238E27FC236}">
                <a16:creationId xmlns:a16="http://schemas.microsoft.com/office/drawing/2014/main" id="{44E3436F-B857-3683-6B80-D69A51D7C7F1}"/>
              </a:ext>
            </a:extLst>
          </p:cNvPr>
          <p:cNvPicPr>
            <a:picLocks noChangeAspect="1"/>
          </p:cNvPicPr>
          <p:nvPr/>
        </p:nvPicPr>
        <p:blipFill>
          <a:blip r:embed="rId3"/>
          <a:stretch>
            <a:fillRect/>
          </a:stretch>
        </p:blipFill>
        <p:spPr>
          <a:xfrm>
            <a:off x="859168" y="1037492"/>
            <a:ext cx="4894817" cy="2694621"/>
          </a:xfrm>
          <a:prstGeom prst="rect">
            <a:avLst/>
          </a:prstGeom>
        </p:spPr>
      </p:pic>
    </p:spTree>
    <p:extLst>
      <p:ext uri="{BB962C8B-B14F-4D97-AF65-F5344CB8AC3E}">
        <p14:creationId xmlns:p14="http://schemas.microsoft.com/office/powerpoint/2010/main" val="3620098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3092" y="1037492"/>
            <a:ext cx="5811716" cy="96715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LSTM NETWORK</a:t>
            </a:r>
          </a:p>
        </p:txBody>
      </p:sp>
      <p:sp>
        <p:nvSpPr>
          <p:cNvPr id="2" name="TextBox 1"/>
          <p:cNvSpPr txBox="1"/>
          <p:nvPr/>
        </p:nvSpPr>
        <p:spPr>
          <a:xfrm>
            <a:off x="536331" y="1169377"/>
            <a:ext cx="11157438" cy="568745"/>
          </a:xfrm>
          <a:prstGeom prst="rect">
            <a:avLst/>
          </a:prstGeom>
          <a:noFill/>
        </p:spPr>
        <p:txBody>
          <a:bodyPr wrap="square" rtlCol="0">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A8474358-C87C-3C6D-E832-9E0D0FD707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33" y="1453749"/>
            <a:ext cx="9126288" cy="3429000"/>
          </a:xfrm>
          <a:prstGeom prst="rect">
            <a:avLst/>
          </a:prstGeom>
        </p:spPr>
      </p:pic>
    </p:spTree>
    <p:extLst>
      <p:ext uri="{BB962C8B-B14F-4D97-AF65-F5344CB8AC3E}">
        <p14:creationId xmlns:p14="http://schemas.microsoft.com/office/powerpoint/2010/main" val="3296529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3092" y="1037492"/>
            <a:ext cx="5811716" cy="96715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PEEP HOLE LSTM</a:t>
            </a:r>
          </a:p>
        </p:txBody>
      </p:sp>
      <p:sp>
        <p:nvSpPr>
          <p:cNvPr id="2" name="TextBox 1"/>
          <p:cNvSpPr txBox="1"/>
          <p:nvPr/>
        </p:nvSpPr>
        <p:spPr>
          <a:xfrm>
            <a:off x="536331" y="1169377"/>
            <a:ext cx="11157438" cy="568745"/>
          </a:xfrm>
          <a:prstGeom prst="rect">
            <a:avLst/>
          </a:prstGeom>
          <a:noFill/>
        </p:spPr>
        <p:txBody>
          <a:bodyPr wrap="square" rtlCol="0">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a:off x="1230923" y="5530362"/>
            <a:ext cx="10410092" cy="92333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adds “peepholes” to the input, forget, and output gates, so they can see the previous cell state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Decisions will be made taking into account the long term memory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39E7EED4-FFFB-3AF9-9992-94313124F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331" y="1453749"/>
            <a:ext cx="11101693" cy="3429000"/>
          </a:xfrm>
          <a:prstGeom prst="rect">
            <a:avLst/>
          </a:prstGeom>
        </p:spPr>
      </p:pic>
    </p:spTree>
    <p:extLst>
      <p:ext uri="{BB962C8B-B14F-4D97-AF65-F5344CB8AC3E}">
        <p14:creationId xmlns:p14="http://schemas.microsoft.com/office/powerpoint/2010/main" val="4232001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3092" y="1037492"/>
            <a:ext cx="5811716" cy="96715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COUPLED FORGET &amp; INPUT GATE LSTM</a:t>
            </a:r>
          </a:p>
        </p:txBody>
      </p:sp>
      <p:sp>
        <p:nvSpPr>
          <p:cNvPr id="2" name="TextBox 1"/>
          <p:cNvSpPr txBox="1"/>
          <p:nvPr/>
        </p:nvSpPr>
        <p:spPr>
          <a:xfrm>
            <a:off x="536331" y="1169377"/>
            <a:ext cx="11157438" cy="568745"/>
          </a:xfrm>
          <a:prstGeom prst="rect">
            <a:avLst/>
          </a:prstGeom>
          <a:noFill/>
        </p:spPr>
        <p:txBody>
          <a:bodyPr wrap="square" rtlCol="0">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a:off x="1230923" y="5530362"/>
            <a:ext cx="10410092" cy="120032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Instead of having a separate decision what to store in the long term memory based on input and short term memory only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we have an input from the long term memory as well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FC33C59F-1A19-3239-AE9F-CCD6E77DD5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150" y="1453749"/>
            <a:ext cx="10721865" cy="3311682"/>
          </a:xfrm>
          <a:prstGeom prst="rect">
            <a:avLst/>
          </a:prstGeom>
        </p:spPr>
      </p:pic>
    </p:spTree>
    <p:extLst>
      <p:ext uri="{BB962C8B-B14F-4D97-AF65-F5344CB8AC3E}">
        <p14:creationId xmlns:p14="http://schemas.microsoft.com/office/powerpoint/2010/main" val="17131204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GATED RECURRENT UNIT (GRU)</a:t>
            </a:r>
          </a:p>
        </p:txBody>
      </p:sp>
      <p:pic>
        <p:nvPicPr>
          <p:cNvPr id="2" name="Picture 1">
            <a:extLst>
              <a:ext uri="{FF2B5EF4-FFF2-40B4-BE49-F238E27FC236}">
                <a16:creationId xmlns:a16="http://schemas.microsoft.com/office/drawing/2014/main" id="{214E7BBA-5F57-0053-9334-3E4FE3125D81}"/>
              </a:ext>
            </a:extLst>
          </p:cNvPr>
          <p:cNvPicPr>
            <a:picLocks noChangeAspect="1"/>
          </p:cNvPicPr>
          <p:nvPr/>
        </p:nvPicPr>
        <p:blipFill>
          <a:blip r:embed="rId2"/>
          <a:stretch>
            <a:fillRect/>
          </a:stretch>
        </p:blipFill>
        <p:spPr>
          <a:xfrm>
            <a:off x="2404088" y="1361162"/>
            <a:ext cx="8002184" cy="5118768"/>
          </a:xfrm>
          <a:prstGeom prst="rect">
            <a:avLst/>
          </a:prstGeom>
        </p:spPr>
      </p:pic>
    </p:spTree>
    <p:extLst>
      <p:ext uri="{BB962C8B-B14F-4D97-AF65-F5344CB8AC3E}">
        <p14:creationId xmlns:p14="http://schemas.microsoft.com/office/powerpoint/2010/main" val="20845887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3092" y="1037492"/>
            <a:ext cx="5811716" cy="96715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GATED RECURRENT UNIT (GRU) </a:t>
            </a:r>
          </a:p>
        </p:txBody>
      </p:sp>
      <p:sp>
        <p:nvSpPr>
          <p:cNvPr id="2" name="TextBox 1"/>
          <p:cNvSpPr txBox="1"/>
          <p:nvPr/>
        </p:nvSpPr>
        <p:spPr>
          <a:xfrm>
            <a:off x="536331" y="1169377"/>
            <a:ext cx="11157438" cy="568745"/>
          </a:xfrm>
          <a:prstGeom prst="rect">
            <a:avLst/>
          </a:prstGeom>
          <a:noFill/>
        </p:spPr>
        <p:txBody>
          <a:bodyPr wrap="square" rtlCol="0">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a:off x="910004" y="4870939"/>
            <a:ext cx="10410092" cy="120032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slightly more dramatic variation on the LSTM is the Gated Recurrent Unit, or GRU, introduced by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2"/>
              </a:rPr>
              <a:t>Cho, et al. (2014)</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combines the </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forget and input gates into a single “update gate.”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resulting model is simpler than standard LSTM models, and has been growing increasingly popular.</a:t>
            </a:r>
          </a:p>
        </p:txBody>
      </p:sp>
      <p:pic>
        <p:nvPicPr>
          <p:cNvPr id="3" name="Picture 2">
            <a:extLst>
              <a:ext uri="{FF2B5EF4-FFF2-40B4-BE49-F238E27FC236}">
                <a16:creationId xmlns:a16="http://schemas.microsoft.com/office/drawing/2014/main" id="{DC5F6F9A-1CBA-1481-3D71-C9136DFFFA5E}"/>
              </a:ext>
            </a:extLst>
          </p:cNvPr>
          <p:cNvPicPr>
            <a:picLocks noChangeAspect="1"/>
          </p:cNvPicPr>
          <p:nvPr/>
        </p:nvPicPr>
        <p:blipFill>
          <a:blip r:embed="rId3"/>
          <a:stretch>
            <a:fillRect/>
          </a:stretch>
        </p:blipFill>
        <p:spPr>
          <a:xfrm>
            <a:off x="1666131" y="1661747"/>
            <a:ext cx="8897838" cy="2886900"/>
          </a:xfrm>
          <a:prstGeom prst="rect">
            <a:avLst/>
          </a:prstGeom>
        </p:spPr>
      </p:pic>
    </p:spTree>
    <p:extLst>
      <p:ext uri="{BB962C8B-B14F-4D97-AF65-F5344CB8AC3E}">
        <p14:creationId xmlns:p14="http://schemas.microsoft.com/office/powerpoint/2010/main" val="765414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3092" y="1037492"/>
            <a:ext cx="5811716" cy="96715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GATED RECURRENT UNIT (GRU)</a:t>
            </a:r>
          </a:p>
        </p:txBody>
      </p:sp>
      <p:sp>
        <p:nvSpPr>
          <p:cNvPr id="2" name="TextBox 1"/>
          <p:cNvSpPr txBox="1"/>
          <p:nvPr/>
        </p:nvSpPr>
        <p:spPr>
          <a:xfrm>
            <a:off x="536331" y="1169377"/>
            <a:ext cx="11157438" cy="5078313"/>
          </a:xfrm>
          <a:prstGeom prst="rect">
            <a:avLst/>
          </a:prstGeom>
          <a:noFill/>
        </p:spPr>
        <p:txBody>
          <a:bodyPr wrap="square" rtlCol="0">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GRU is a variant of the LSTM</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retains the LSTM’s resistance to the vanishing gradient problem, but its internal structure is simpler </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Faster to train, since fewer computations are needed to make updates to its hidden state</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Instead of the input (</a:t>
            </a:r>
            <a:r>
              <a:rPr kumimoji="0" lang="en-US" sz="1800" b="0" i="1"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forgot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output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o</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gates in the LSTM cell, the GRU cell has two gates, </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update gate </a:t>
            </a:r>
            <a:r>
              <a:rPr kumimoji="0" lang="en-US" sz="1800" b="1" i="1" u="none" strike="noStrike" kern="1200" cap="none" spc="0" normalizeH="0" baseline="0" noProof="0" dirty="0">
                <a:ln>
                  <a:noFill/>
                </a:ln>
                <a:solidFill>
                  <a:srgbClr val="FF0000"/>
                </a:solidFill>
                <a:effectLst/>
                <a:uLnTx/>
                <a:uFillTx/>
                <a:latin typeface="Calibri" panose="020F0502020204030204"/>
                <a:ea typeface="+mn-ea"/>
                <a:cs typeface="+mn-cs"/>
              </a:rPr>
              <a:t>z</a:t>
            </a:r>
            <a:r>
              <a:rPr kumimoji="0" lang="en-US" sz="1800" b="0" i="1"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a reset gate </a:t>
            </a:r>
            <a:r>
              <a:rPr kumimoji="0" lang="en-US" sz="1800" b="1" i="1" u="none" strike="noStrike" kern="1200" cap="none" spc="0" normalizeH="0" baseline="0" noProof="0" dirty="0">
                <a:ln>
                  <a:noFill/>
                </a:ln>
                <a:solidFill>
                  <a:srgbClr val="FF0000"/>
                </a:solidFill>
                <a:effectLst/>
                <a:uLnTx/>
                <a:uFillTx/>
                <a:latin typeface="Calibri" panose="020F0502020204030204"/>
                <a:ea typeface="+mn-ea"/>
                <a:cs typeface="+mn-cs"/>
              </a:rPr>
              <a:t>r</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update gate defines how much previous memory to keep around</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reset gate defines how to combine the new input with the previous memory</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There is no persistent cell state distinct from the hidden state as it is in LSTM </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33344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COMPARISON OF GRUS &amp; LSTMS</a:t>
            </a:r>
          </a:p>
        </p:txBody>
      </p:sp>
      <p:graphicFrame>
        <p:nvGraphicFramePr>
          <p:cNvPr id="2" name="Table 1"/>
          <p:cNvGraphicFramePr>
            <a:graphicFrameLocks noGrp="1"/>
          </p:cNvGraphicFramePr>
          <p:nvPr/>
        </p:nvGraphicFramePr>
        <p:xfrm>
          <a:off x="334108" y="719664"/>
          <a:ext cx="11377246" cy="5208010"/>
        </p:xfrm>
        <a:graphic>
          <a:graphicData uri="http://schemas.openxmlformats.org/drawingml/2006/table">
            <a:tbl>
              <a:tblPr firstRow="1" bandRow="1">
                <a:tableStyleId>{5C22544A-7EE6-4342-B048-85BDC9FD1C3A}</a:tableStyleId>
              </a:tblPr>
              <a:tblGrid>
                <a:gridCol w="650630">
                  <a:extLst>
                    <a:ext uri="{9D8B030D-6E8A-4147-A177-3AD203B41FA5}">
                      <a16:colId xmlns:a16="http://schemas.microsoft.com/office/drawing/2014/main" val="3290345991"/>
                    </a:ext>
                  </a:extLst>
                </a:gridCol>
                <a:gridCol w="5353876">
                  <a:extLst>
                    <a:ext uri="{9D8B030D-6E8A-4147-A177-3AD203B41FA5}">
                      <a16:colId xmlns:a16="http://schemas.microsoft.com/office/drawing/2014/main" val="730005603"/>
                    </a:ext>
                  </a:extLst>
                </a:gridCol>
                <a:gridCol w="5372740">
                  <a:extLst>
                    <a:ext uri="{9D8B030D-6E8A-4147-A177-3AD203B41FA5}">
                      <a16:colId xmlns:a16="http://schemas.microsoft.com/office/drawing/2014/main" val="603123538"/>
                    </a:ext>
                  </a:extLst>
                </a:gridCol>
              </a:tblGrid>
              <a:tr h="453130">
                <a:tc>
                  <a:txBody>
                    <a:bodyPr/>
                    <a:lstStyle/>
                    <a:p>
                      <a:r>
                        <a:rPr lang="en-US" dirty="0" err="1">
                          <a:solidFill>
                            <a:schemeClr val="tx2">
                              <a:lumMod val="50000"/>
                            </a:schemeClr>
                          </a:solidFill>
                          <a:effectLst>
                            <a:outerShdw blurRad="38100" dist="38100" dir="2700000" algn="tl">
                              <a:srgbClr val="000000">
                                <a:alpha val="43137"/>
                              </a:srgbClr>
                            </a:outerShdw>
                          </a:effectLst>
                        </a:rPr>
                        <a:t>Ser</a:t>
                      </a:r>
                      <a:endParaRPr lang="en-US" dirty="0">
                        <a:solidFill>
                          <a:schemeClr val="tx2">
                            <a:lumMod val="50000"/>
                          </a:schemeClr>
                        </a:solidFill>
                        <a:effectLst>
                          <a:outerShdw blurRad="38100" dist="38100" dir="2700000" algn="tl">
                            <a:srgbClr val="000000">
                              <a:alpha val="43137"/>
                            </a:srgbClr>
                          </a:outerShdw>
                        </a:effectLst>
                      </a:endParaRPr>
                    </a:p>
                  </a:txBody>
                  <a:tcPr/>
                </a:tc>
                <a:tc>
                  <a:txBody>
                    <a:bodyPr/>
                    <a:lstStyle/>
                    <a:p>
                      <a:r>
                        <a:rPr lang="en-US" dirty="0">
                          <a:solidFill>
                            <a:schemeClr val="tx2">
                              <a:lumMod val="50000"/>
                            </a:schemeClr>
                          </a:solidFill>
                          <a:effectLst>
                            <a:outerShdw blurRad="38100" dist="38100" dir="2700000" algn="tl">
                              <a:srgbClr val="000000">
                                <a:alpha val="43137"/>
                              </a:srgbClr>
                            </a:outerShdw>
                          </a:effectLst>
                        </a:rPr>
                        <a:t>LSTMs</a:t>
                      </a:r>
                    </a:p>
                  </a:txBody>
                  <a:tcPr/>
                </a:tc>
                <a:tc>
                  <a:txBody>
                    <a:bodyPr/>
                    <a:lstStyle/>
                    <a:p>
                      <a:r>
                        <a:rPr lang="en-US" dirty="0">
                          <a:solidFill>
                            <a:schemeClr val="tx2">
                              <a:lumMod val="50000"/>
                            </a:schemeClr>
                          </a:solidFill>
                          <a:effectLst>
                            <a:outerShdw blurRad="38100" dist="38100" dir="2700000" algn="tl">
                              <a:srgbClr val="000000">
                                <a:alpha val="43137"/>
                              </a:srgbClr>
                            </a:outerShdw>
                          </a:effectLst>
                        </a:rPr>
                        <a:t>GRUs</a:t>
                      </a:r>
                    </a:p>
                  </a:txBody>
                  <a:tcPr/>
                </a:tc>
                <a:extLst>
                  <a:ext uri="{0D108BD9-81ED-4DB2-BD59-A6C34878D82A}">
                    <a16:rowId xmlns:a16="http://schemas.microsoft.com/office/drawing/2014/main" val="3011260248"/>
                  </a:ext>
                </a:extLst>
              </a:tr>
              <a:tr h="453130">
                <a:tc>
                  <a:txBody>
                    <a:bodyPr/>
                    <a:lstStyle/>
                    <a:p>
                      <a:pPr algn="ctr"/>
                      <a:r>
                        <a:rPr lang="en-US" dirty="0"/>
                        <a:t>a.</a:t>
                      </a:r>
                    </a:p>
                  </a:txBody>
                  <a:tcPr/>
                </a:tc>
                <a:tc>
                  <a:txBody>
                    <a:bodyPr/>
                    <a:lstStyle/>
                    <a:p>
                      <a:r>
                        <a:rPr lang="en-US" sz="1800" b="0" i="0" kern="1200" dirty="0">
                          <a:solidFill>
                            <a:schemeClr val="dk1"/>
                          </a:solidFill>
                          <a:effectLst/>
                          <a:latin typeface="+mn-lt"/>
                          <a:ea typeface="+mn-ea"/>
                          <a:cs typeface="+mn-cs"/>
                        </a:rPr>
                        <a:t>LSTM has a </a:t>
                      </a:r>
                      <a:r>
                        <a:rPr lang="en-US" sz="1800" b="0" i="0" kern="1200" dirty="0">
                          <a:solidFill>
                            <a:srgbClr val="FF0000"/>
                          </a:solidFill>
                          <a:effectLst/>
                          <a:latin typeface="+mn-lt"/>
                          <a:ea typeface="+mn-ea"/>
                          <a:cs typeface="+mn-cs"/>
                        </a:rPr>
                        <a:t>more complex architecture </a:t>
                      </a:r>
                      <a:r>
                        <a:rPr lang="en-US" sz="1800" b="0" i="0" kern="1200" dirty="0">
                          <a:solidFill>
                            <a:schemeClr val="dk1"/>
                          </a:solidFill>
                          <a:effectLst/>
                          <a:latin typeface="+mn-lt"/>
                          <a:ea typeface="+mn-ea"/>
                          <a:cs typeface="+mn-cs"/>
                        </a:rPr>
                        <a:t>compared to GRU. It consists of </a:t>
                      </a:r>
                      <a:r>
                        <a:rPr lang="en-US" sz="1800" b="0" i="0" kern="1200" dirty="0">
                          <a:solidFill>
                            <a:srgbClr val="FF0000"/>
                          </a:solidFill>
                          <a:effectLst/>
                          <a:latin typeface="+mn-lt"/>
                          <a:ea typeface="+mn-ea"/>
                          <a:cs typeface="+mn-cs"/>
                        </a:rPr>
                        <a:t>three gates</a:t>
                      </a:r>
                      <a:r>
                        <a:rPr lang="en-US" sz="1800" b="0" i="0" kern="1200" dirty="0">
                          <a:solidFill>
                            <a:schemeClr val="dk1"/>
                          </a:solidFill>
                          <a:effectLst/>
                          <a:latin typeface="+mn-lt"/>
                          <a:ea typeface="+mn-ea"/>
                          <a:cs typeface="+mn-cs"/>
                        </a:rPr>
                        <a:t>: the input gate (</a:t>
                      </a:r>
                      <a:r>
                        <a:rPr lang="en-US" sz="1800" b="0" i="0" kern="1200" dirty="0" err="1">
                          <a:solidFill>
                            <a:schemeClr val="dk1"/>
                          </a:solidFill>
                          <a:effectLst/>
                          <a:latin typeface="+mn-lt"/>
                          <a:ea typeface="+mn-ea"/>
                          <a:cs typeface="+mn-cs"/>
                        </a:rPr>
                        <a:t>i</a:t>
                      </a:r>
                      <a:r>
                        <a:rPr lang="en-US" sz="1800" b="0" i="0" kern="1200" dirty="0">
                          <a:solidFill>
                            <a:schemeClr val="dk1"/>
                          </a:solidFill>
                          <a:effectLst/>
                          <a:latin typeface="+mn-lt"/>
                          <a:ea typeface="+mn-ea"/>
                          <a:cs typeface="+mn-cs"/>
                        </a:rPr>
                        <a:t>), forget gate (f), and output gate (o). These gates control the flow of information through the cell state, allowing the LSTM to remember or forget information over time.</a:t>
                      </a:r>
                      <a:endParaRPr lang="en-US" dirty="0"/>
                    </a:p>
                  </a:txBody>
                  <a:tcPr/>
                </a:tc>
                <a:tc>
                  <a:txBody>
                    <a:bodyPr/>
                    <a:lstStyle/>
                    <a:p>
                      <a:r>
                        <a:rPr lang="en-US" sz="1800" b="0" i="0" kern="1200" dirty="0">
                          <a:solidFill>
                            <a:schemeClr val="dk1"/>
                          </a:solidFill>
                          <a:effectLst/>
                          <a:latin typeface="+mn-lt"/>
                          <a:ea typeface="+mn-ea"/>
                          <a:cs typeface="+mn-cs"/>
                        </a:rPr>
                        <a:t>GRU has a </a:t>
                      </a:r>
                      <a:r>
                        <a:rPr lang="en-US" sz="1800" b="0" i="0" kern="1200" dirty="0">
                          <a:solidFill>
                            <a:srgbClr val="FF0000"/>
                          </a:solidFill>
                          <a:effectLst/>
                          <a:latin typeface="+mn-lt"/>
                          <a:ea typeface="+mn-ea"/>
                          <a:cs typeface="+mn-cs"/>
                        </a:rPr>
                        <a:t>simplified architecture </a:t>
                      </a:r>
                      <a:r>
                        <a:rPr lang="en-US" sz="1800" b="0" i="0" kern="1200" dirty="0">
                          <a:solidFill>
                            <a:schemeClr val="dk1"/>
                          </a:solidFill>
                          <a:effectLst/>
                          <a:latin typeface="+mn-lt"/>
                          <a:ea typeface="+mn-ea"/>
                          <a:cs typeface="+mn-cs"/>
                        </a:rPr>
                        <a:t>with </a:t>
                      </a:r>
                      <a:r>
                        <a:rPr lang="en-US" sz="1800" b="0" i="0" kern="1200" dirty="0">
                          <a:solidFill>
                            <a:srgbClr val="FF0000"/>
                          </a:solidFill>
                          <a:effectLst/>
                          <a:latin typeface="+mn-lt"/>
                          <a:ea typeface="+mn-ea"/>
                          <a:cs typeface="+mn-cs"/>
                        </a:rPr>
                        <a:t>two gates</a:t>
                      </a:r>
                      <a:r>
                        <a:rPr lang="en-US" sz="1800" b="0" i="0" kern="1200" dirty="0">
                          <a:solidFill>
                            <a:schemeClr val="dk1"/>
                          </a:solidFill>
                          <a:effectLst/>
                          <a:latin typeface="+mn-lt"/>
                          <a:ea typeface="+mn-ea"/>
                          <a:cs typeface="+mn-cs"/>
                        </a:rPr>
                        <a:t>: the update gate (z) and reset gate (r). The update gate controls how much of the previous hidden state should be retained, and the reset gate determines how much of the past information to forget.</a:t>
                      </a:r>
                      <a:endParaRPr lang="en-US" dirty="0"/>
                    </a:p>
                  </a:txBody>
                  <a:tcPr/>
                </a:tc>
                <a:extLst>
                  <a:ext uri="{0D108BD9-81ED-4DB2-BD59-A6C34878D82A}">
                    <a16:rowId xmlns:a16="http://schemas.microsoft.com/office/drawing/2014/main" val="3084297965"/>
                  </a:ext>
                </a:extLst>
              </a:tr>
              <a:tr h="453130">
                <a:tc>
                  <a:txBody>
                    <a:bodyPr/>
                    <a:lstStyle/>
                    <a:p>
                      <a:pPr algn="ctr"/>
                      <a:r>
                        <a:rPr lang="en-US" dirty="0"/>
                        <a:t>b.</a:t>
                      </a:r>
                    </a:p>
                  </a:txBody>
                  <a:tcPr/>
                </a:tc>
                <a:tc>
                  <a:txBody>
                    <a:bodyPr/>
                    <a:lstStyle/>
                    <a:p>
                      <a:r>
                        <a:rPr lang="en-US" sz="1800" b="0" i="0" kern="1200" dirty="0">
                          <a:solidFill>
                            <a:schemeClr val="dk1"/>
                          </a:solidFill>
                          <a:effectLst/>
                          <a:latin typeface="+mn-lt"/>
                          <a:ea typeface="+mn-ea"/>
                          <a:cs typeface="+mn-cs"/>
                        </a:rPr>
                        <a:t>LSTM typically has </a:t>
                      </a:r>
                      <a:r>
                        <a:rPr lang="en-US" sz="1800" b="0" i="0" kern="1200" dirty="0">
                          <a:solidFill>
                            <a:srgbClr val="FF0000"/>
                          </a:solidFill>
                          <a:effectLst/>
                          <a:latin typeface="+mn-lt"/>
                          <a:ea typeface="+mn-ea"/>
                          <a:cs typeface="+mn-cs"/>
                        </a:rPr>
                        <a:t>more parameters than GRU </a:t>
                      </a:r>
                      <a:r>
                        <a:rPr lang="en-US" sz="1800" b="0" i="0" kern="1200" dirty="0">
                          <a:solidFill>
                            <a:schemeClr val="dk1"/>
                          </a:solidFill>
                          <a:effectLst/>
                          <a:latin typeface="+mn-lt"/>
                          <a:ea typeface="+mn-ea"/>
                          <a:cs typeface="+mn-cs"/>
                        </a:rPr>
                        <a:t>due to the additional gate (forget gate). This </a:t>
                      </a:r>
                      <a:r>
                        <a:rPr lang="en-US" sz="1800" b="0" i="0" kern="1200" dirty="0">
                          <a:solidFill>
                            <a:srgbClr val="FF0000"/>
                          </a:solidFill>
                          <a:effectLst/>
                          <a:latin typeface="+mn-lt"/>
                          <a:ea typeface="+mn-ea"/>
                          <a:cs typeface="+mn-cs"/>
                        </a:rPr>
                        <a:t>can make LSTM more powerful but also more prone to overfitting, especially on smaller datasets</a:t>
                      </a:r>
                      <a:r>
                        <a:rPr lang="en-US" sz="1800" b="0" i="0" kern="1200" dirty="0">
                          <a:solidFill>
                            <a:schemeClr val="dk1"/>
                          </a:solidFill>
                          <a:effectLst/>
                          <a:latin typeface="+mn-lt"/>
                          <a:ea typeface="+mn-ea"/>
                          <a:cs typeface="+mn-cs"/>
                        </a:rPr>
                        <a:t>.</a:t>
                      </a:r>
                      <a:endParaRPr lang="en-US" dirty="0"/>
                    </a:p>
                  </a:txBody>
                  <a:tcPr/>
                </a:tc>
                <a:tc>
                  <a:txBody>
                    <a:bodyPr/>
                    <a:lstStyle/>
                    <a:p>
                      <a:r>
                        <a:rPr lang="en-US" sz="1800" b="0" i="0" kern="1200" dirty="0">
                          <a:solidFill>
                            <a:schemeClr val="dk1"/>
                          </a:solidFill>
                          <a:effectLst/>
                          <a:latin typeface="+mn-lt"/>
                          <a:ea typeface="+mn-ea"/>
                          <a:cs typeface="+mn-cs"/>
                        </a:rPr>
                        <a:t>GRU has </a:t>
                      </a:r>
                      <a:r>
                        <a:rPr lang="en-US" sz="1800" b="0" i="0" kern="1200" dirty="0">
                          <a:solidFill>
                            <a:srgbClr val="FF0000"/>
                          </a:solidFill>
                          <a:effectLst/>
                          <a:latin typeface="+mn-lt"/>
                          <a:ea typeface="+mn-ea"/>
                          <a:cs typeface="+mn-cs"/>
                        </a:rPr>
                        <a:t>fewer parameters since it lacks the forget gate</a:t>
                      </a:r>
                      <a:r>
                        <a:rPr lang="en-US" sz="1800" b="0" i="0" kern="1200" dirty="0">
                          <a:solidFill>
                            <a:schemeClr val="dk1"/>
                          </a:solidFill>
                          <a:effectLst/>
                          <a:latin typeface="+mn-lt"/>
                          <a:ea typeface="+mn-ea"/>
                          <a:cs typeface="+mn-cs"/>
                        </a:rPr>
                        <a:t>. This can make it more computationally efficient and </a:t>
                      </a:r>
                      <a:r>
                        <a:rPr lang="en-US" sz="1800" b="0" i="0" kern="1200" dirty="0">
                          <a:solidFill>
                            <a:srgbClr val="FF0000"/>
                          </a:solidFill>
                          <a:effectLst/>
                          <a:latin typeface="+mn-lt"/>
                          <a:ea typeface="+mn-ea"/>
                          <a:cs typeface="+mn-cs"/>
                        </a:rPr>
                        <a:t>less prone to overfitting</a:t>
                      </a:r>
                      <a:r>
                        <a:rPr lang="en-US" sz="1800" b="0" i="0" kern="1200" dirty="0">
                          <a:solidFill>
                            <a:schemeClr val="dk1"/>
                          </a:solidFill>
                          <a:effectLst/>
                          <a:latin typeface="+mn-lt"/>
                          <a:ea typeface="+mn-ea"/>
                          <a:cs typeface="+mn-cs"/>
                        </a:rPr>
                        <a:t>, making it a good choice for smaller datasets.</a:t>
                      </a:r>
                      <a:endParaRPr lang="en-US" dirty="0"/>
                    </a:p>
                  </a:txBody>
                  <a:tcPr/>
                </a:tc>
                <a:extLst>
                  <a:ext uri="{0D108BD9-81ED-4DB2-BD59-A6C34878D82A}">
                    <a16:rowId xmlns:a16="http://schemas.microsoft.com/office/drawing/2014/main" val="1301423098"/>
                  </a:ext>
                </a:extLst>
              </a:tr>
              <a:tr h="453130">
                <a:tc>
                  <a:txBody>
                    <a:bodyPr/>
                    <a:lstStyle/>
                    <a:p>
                      <a:pPr algn="ctr"/>
                      <a:r>
                        <a:rPr lang="en-US" dirty="0"/>
                        <a:t>c.</a:t>
                      </a:r>
                    </a:p>
                  </a:txBody>
                  <a:tcPr/>
                </a:tc>
                <a:tc>
                  <a:txBody>
                    <a:bodyPr/>
                    <a:lstStyle/>
                    <a:p>
                      <a:r>
                        <a:rPr lang="en-US" sz="1800" b="0" i="0" kern="1200" dirty="0">
                          <a:solidFill>
                            <a:schemeClr val="dk1"/>
                          </a:solidFill>
                          <a:effectLst/>
                          <a:latin typeface="+mn-lt"/>
                          <a:ea typeface="+mn-ea"/>
                          <a:cs typeface="+mn-cs"/>
                        </a:rPr>
                        <a:t>Due to its more complex architecture, LSTM can potentially </a:t>
                      </a:r>
                      <a:r>
                        <a:rPr lang="en-US" sz="1800" b="0" i="0" kern="1200" dirty="0">
                          <a:solidFill>
                            <a:srgbClr val="FF0000"/>
                          </a:solidFill>
                          <a:effectLst/>
                          <a:latin typeface="+mn-lt"/>
                          <a:ea typeface="+mn-ea"/>
                          <a:cs typeface="+mn-cs"/>
                        </a:rPr>
                        <a:t>learn more complex patterns </a:t>
                      </a:r>
                      <a:r>
                        <a:rPr lang="en-US" sz="1800" b="0" i="0" kern="1200" dirty="0">
                          <a:solidFill>
                            <a:schemeClr val="dk1"/>
                          </a:solidFill>
                          <a:effectLst/>
                          <a:latin typeface="+mn-lt"/>
                          <a:ea typeface="+mn-ea"/>
                          <a:cs typeface="+mn-cs"/>
                        </a:rPr>
                        <a:t>and relationships in the data. It is well-suited for tasks where capturing long-term dependencies is critical.</a:t>
                      </a:r>
                      <a:endParaRPr lang="en-US" dirty="0"/>
                    </a:p>
                  </a:txBody>
                  <a:tcPr/>
                </a:tc>
                <a:tc>
                  <a:txBody>
                    <a:bodyPr/>
                    <a:lstStyle/>
                    <a:p>
                      <a:r>
                        <a:rPr lang="en-US" sz="1800" b="0" i="0" kern="1200" dirty="0">
                          <a:solidFill>
                            <a:srgbClr val="FF0000"/>
                          </a:solidFill>
                          <a:effectLst/>
                          <a:latin typeface="+mn-lt"/>
                          <a:ea typeface="+mn-ea"/>
                          <a:cs typeface="+mn-cs"/>
                        </a:rPr>
                        <a:t>While simpler, GRU can still learn to capture long-term dependencies effectively</a:t>
                      </a:r>
                      <a:r>
                        <a:rPr lang="en-US" sz="1800" b="0" i="0" kern="1200" dirty="0">
                          <a:solidFill>
                            <a:schemeClr val="dk1"/>
                          </a:solidFill>
                          <a:effectLst/>
                          <a:latin typeface="+mn-lt"/>
                          <a:ea typeface="+mn-ea"/>
                          <a:cs typeface="+mn-cs"/>
                        </a:rPr>
                        <a:t>. It performs well in many natural language processing tasks and is a popular choice for various sequence modeling tasks.</a:t>
                      </a:r>
                      <a:endParaRPr lang="en-US" dirty="0"/>
                    </a:p>
                  </a:txBody>
                  <a:tcPr/>
                </a:tc>
                <a:extLst>
                  <a:ext uri="{0D108BD9-81ED-4DB2-BD59-A6C34878D82A}">
                    <a16:rowId xmlns:a16="http://schemas.microsoft.com/office/drawing/2014/main" val="1438938752"/>
                  </a:ext>
                </a:extLst>
              </a:tr>
              <a:tr h="453130">
                <a:tc>
                  <a:txBody>
                    <a:bodyPr/>
                    <a:lstStyle/>
                    <a:p>
                      <a:pPr algn="ctr"/>
                      <a:r>
                        <a:rPr lang="en-US" dirty="0"/>
                        <a:t>d.</a:t>
                      </a:r>
                    </a:p>
                  </a:txBody>
                  <a:tcPr/>
                </a:tc>
                <a:tc>
                  <a:txBody>
                    <a:bodyPr/>
                    <a:lstStyle/>
                    <a:p>
                      <a:r>
                        <a:rPr lang="en-US" sz="1800" b="0" i="0" kern="1200" dirty="0">
                          <a:solidFill>
                            <a:schemeClr val="dk1"/>
                          </a:solidFill>
                          <a:effectLst/>
                          <a:latin typeface="+mn-lt"/>
                          <a:ea typeface="+mn-ea"/>
                          <a:cs typeface="+mn-cs"/>
                        </a:rPr>
                        <a:t>LSTM has more parameters, which can result in slightly </a:t>
                      </a:r>
                      <a:r>
                        <a:rPr lang="en-US" sz="1800" b="0" i="0" kern="1200" dirty="0">
                          <a:solidFill>
                            <a:srgbClr val="FF0000"/>
                          </a:solidFill>
                          <a:effectLst/>
                          <a:latin typeface="+mn-lt"/>
                          <a:ea typeface="+mn-ea"/>
                          <a:cs typeface="+mn-cs"/>
                        </a:rPr>
                        <a:t>slower training times </a:t>
                      </a:r>
                      <a:r>
                        <a:rPr lang="en-US" sz="1800" b="0" i="0" kern="1200" dirty="0">
                          <a:solidFill>
                            <a:schemeClr val="dk1"/>
                          </a:solidFill>
                          <a:effectLst/>
                          <a:latin typeface="+mn-lt"/>
                          <a:ea typeface="+mn-ea"/>
                          <a:cs typeface="+mn-cs"/>
                        </a:rPr>
                        <a:t>compared to GRU, especially on larger datasets.</a:t>
                      </a:r>
                      <a:endParaRPr lang="en-US" dirty="0"/>
                    </a:p>
                  </a:txBody>
                  <a:tcPr/>
                </a:tc>
                <a:tc>
                  <a:txBody>
                    <a:bodyPr/>
                    <a:lstStyle/>
                    <a:p>
                      <a:r>
                        <a:rPr lang="en-US" sz="1800" b="0" i="0" kern="1200" dirty="0">
                          <a:solidFill>
                            <a:schemeClr val="dk1"/>
                          </a:solidFill>
                          <a:effectLst/>
                          <a:latin typeface="+mn-lt"/>
                          <a:ea typeface="+mn-ea"/>
                          <a:cs typeface="+mn-cs"/>
                        </a:rPr>
                        <a:t>With fewer parameters, GRU may have </a:t>
                      </a:r>
                      <a:r>
                        <a:rPr lang="en-US" sz="1800" b="0" i="0" kern="1200" dirty="0">
                          <a:solidFill>
                            <a:srgbClr val="FF0000"/>
                          </a:solidFill>
                          <a:effectLst/>
                          <a:latin typeface="+mn-lt"/>
                          <a:ea typeface="+mn-ea"/>
                          <a:cs typeface="+mn-cs"/>
                        </a:rPr>
                        <a:t>faster training time</a:t>
                      </a:r>
                      <a:r>
                        <a:rPr lang="en-US" sz="1800" b="0" i="0" kern="1200" dirty="0">
                          <a:solidFill>
                            <a:schemeClr val="dk1"/>
                          </a:solidFill>
                          <a:effectLst/>
                          <a:latin typeface="+mn-lt"/>
                          <a:ea typeface="+mn-ea"/>
                          <a:cs typeface="+mn-cs"/>
                        </a:rPr>
                        <a:t>s, making it more efficient for larger datasets.</a:t>
                      </a:r>
                      <a:endParaRPr lang="en-US" dirty="0"/>
                    </a:p>
                  </a:txBody>
                  <a:tcPr/>
                </a:tc>
                <a:extLst>
                  <a:ext uri="{0D108BD9-81ED-4DB2-BD59-A6C34878D82A}">
                    <a16:rowId xmlns:a16="http://schemas.microsoft.com/office/drawing/2014/main" val="3351270822"/>
                  </a:ext>
                </a:extLst>
              </a:tr>
            </a:tbl>
          </a:graphicData>
        </a:graphic>
      </p:graphicFrame>
    </p:spTree>
    <p:extLst>
      <p:ext uri="{BB962C8B-B14F-4D97-AF65-F5344CB8AC3E}">
        <p14:creationId xmlns:p14="http://schemas.microsoft.com/office/powerpoint/2010/main" val="2305621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597</TotalTime>
  <Words>5675</Words>
  <Application>Microsoft Office PowerPoint</Application>
  <PresentationFormat>Widescreen</PresentationFormat>
  <Paragraphs>410</Paragraphs>
  <Slides>43</Slides>
  <Notes>34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43</vt:i4>
      </vt:variant>
    </vt:vector>
  </HeadingPairs>
  <TitlesOfParts>
    <vt:vector size="50" baseType="lpstr">
      <vt:lpstr>Arial</vt:lpstr>
      <vt:lpstr>Calibri</vt:lpstr>
      <vt:lpstr>Calibri Light</vt:lpstr>
      <vt:lpstr>Consolas</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Usman Khan</dc:creator>
  <cp:lastModifiedBy>Usman Khan</cp:lastModifiedBy>
  <cp:revision>98</cp:revision>
  <dcterms:created xsi:type="dcterms:W3CDTF">2026-05-10T03:38:28Z</dcterms:created>
  <dcterms:modified xsi:type="dcterms:W3CDTF">2026-05-17T04:04:59Z</dcterms:modified>
</cp:coreProperties>
</file>