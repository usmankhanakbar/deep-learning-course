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6"/>
  </p:notesMasterIdLst>
  <p:sldIdLst>
    <p:sldId id="258" r:id="rId3"/>
    <p:sldId id="261" r:id="rId4"/>
    <p:sldId id="263" r:id="rId5"/>
    <p:sldId id="262" r:id="rId6"/>
    <p:sldId id="264" r:id="rId7"/>
    <p:sldId id="266" r:id="rId8"/>
    <p:sldId id="260" r:id="rId9"/>
    <p:sldId id="265"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437" r:id="rId28"/>
    <p:sldId id="438" r:id="rId29"/>
    <p:sldId id="439" r:id="rId30"/>
    <p:sldId id="440" r:id="rId31"/>
    <p:sldId id="441" r:id="rId32"/>
    <p:sldId id="442" r:id="rId33"/>
    <p:sldId id="444" r:id="rId34"/>
    <p:sldId id="445" r:id="rId35"/>
    <p:sldId id="446" r:id="rId36"/>
    <p:sldId id="450" r:id="rId37"/>
    <p:sldId id="451" r:id="rId38"/>
    <p:sldId id="453" r:id="rId39"/>
    <p:sldId id="455" r:id="rId40"/>
    <p:sldId id="452" r:id="rId41"/>
    <p:sldId id="454" r:id="rId42"/>
    <p:sldId id="456" r:id="rId43"/>
    <p:sldId id="457" r:id="rId44"/>
    <p:sldId id="45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0850" autoAdjust="0"/>
  </p:normalViewPr>
  <p:slideViewPr>
    <p:cSldViewPr snapToGrid="0">
      <p:cViewPr varScale="1">
        <p:scale>
          <a:sx n="68" d="100"/>
          <a:sy n="68" d="100"/>
        </p:scale>
        <p:origin x="123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34318F-9564-451A-86BF-F0EE66DD7127}" type="datetimeFigureOut">
              <a:rPr lang="en-US" smtClean="0"/>
              <a:t>5/23/2026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FF27A9-7ABF-4102-B5A3-5F0A8997E8ED}" type="slidenum">
              <a:rPr lang="en-US" smtClean="0"/>
              <a:t>‹#›</a:t>
            </a:fld>
            <a:endParaRPr lang="en-US"/>
          </a:p>
        </p:txBody>
      </p:sp>
    </p:spTree>
    <p:extLst>
      <p:ext uri="{BB962C8B-B14F-4D97-AF65-F5344CB8AC3E}">
        <p14:creationId xmlns:p14="http://schemas.microsoft.com/office/powerpoint/2010/main" val="2801043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def </a:t>
            </a:r>
            <a:r>
              <a:rPr lang="en-US" sz="1200" b="0" i="0" kern="1200" dirty="0" err="1">
                <a:solidFill>
                  <a:schemeClr val="tx1"/>
                </a:solidFill>
                <a:effectLst/>
                <a:latin typeface="+mn-lt"/>
                <a:ea typeface="+mn-ea"/>
                <a:cs typeface="+mn-cs"/>
              </a:rPr>
              <a:t>download_and_read</a:t>
            </a:r>
            <a:r>
              <a:rPr lang="en-US" sz="1200" b="0" i="0" kern="1200" dirty="0">
                <a:solidFill>
                  <a:schemeClr val="tx1"/>
                </a:solidFill>
                <a:effectLst/>
                <a:latin typeface="+mn-lt"/>
                <a:ea typeface="+mn-ea"/>
                <a:cs typeface="+mn-cs"/>
              </a:rPr>
              <a:t>():</a:t>
            </a:r>
          </a:p>
          <a:p>
            <a:r>
              <a:rPr lang="en-US" sz="1200" b="0" i="0" kern="1200" dirty="0" err="1">
                <a:solidFill>
                  <a:schemeClr val="tx1"/>
                </a:solidFill>
                <a:effectLst/>
                <a:latin typeface="+mn-lt"/>
                <a:ea typeface="+mn-ea"/>
                <a:cs typeface="+mn-cs"/>
              </a:rPr>
              <a:t>en_sents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fr_sents_in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fr_sents_out</a:t>
            </a:r>
            <a:r>
              <a:rPr lang="en-US" sz="1200" b="0" i="0" kern="1200" dirty="0">
                <a:solidFill>
                  <a:schemeClr val="tx1"/>
                </a:solidFill>
                <a:effectLst/>
                <a:latin typeface="+mn-lt"/>
                <a:ea typeface="+mn-ea"/>
                <a:cs typeface="+mn-cs"/>
              </a:rPr>
              <a:t> = [], [], [] </a:t>
            </a:r>
            <a:r>
              <a:rPr lang="en-US" sz="1200" b="0" i="0" kern="1200" dirty="0" err="1">
                <a:solidFill>
                  <a:schemeClr val="tx1"/>
                </a:solidFill>
                <a:effectLst/>
                <a:latin typeface="+mn-lt"/>
                <a:ea typeface="+mn-ea"/>
                <a:cs typeface="+mn-cs"/>
              </a:rPr>
              <a:t>local_file</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os.path.join</a:t>
            </a:r>
            <a:r>
              <a:rPr lang="en-US" sz="1200" b="0" i="0" kern="1200" dirty="0">
                <a:solidFill>
                  <a:schemeClr val="tx1"/>
                </a:solidFill>
                <a:effectLst/>
                <a:latin typeface="+mn-lt"/>
                <a:ea typeface="+mn-ea"/>
                <a:cs typeface="+mn-cs"/>
              </a:rPr>
              <a:t>("datasets", "fra.txt")</a:t>
            </a:r>
          </a:p>
          <a:p>
            <a:r>
              <a:rPr lang="en-US" sz="1200" b="0" i="0" kern="1200" dirty="0">
                <a:solidFill>
                  <a:schemeClr val="tx1"/>
                </a:solidFill>
                <a:effectLst/>
                <a:latin typeface="+mn-lt"/>
                <a:ea typeface="+mn-ea"/>
                <a:cs typeface="+mn-cs"/>
              </a:rPr>
              <a:t>with open(</a:t>
            </a:r>
            <a:r>
              <a:rPr lang="en-US" sz="1200" b="0" i="0" kern="1200" dirty="0" err="1">
                <a:solidFill>
                  <a:schemeClr val="tx1"/>
                </a:solidFill>
                <a:effectLst/>
                <a:latin typeface="+mn-lt"/>
                <a:ea typeface="+mn-ea"/>
                <a:cs typeface="+mn-cs"/>
              </a:rPr>
              <a:t>local_file</a:t>
            </a:r>
            <a:r>
              <a:rPr lang="en-US" sz="1200" b="0" i="0" kern="1200" dirty="0">
                <a:solidFill>
                  <a:schemeClr val="tx1"/>
                </a:solidFill>
                <a:effectLst/>
                <a:latin typeface="+mn-lt"/>
                <a:ea typeface="+mn-ea"/>
                <a:cs typeface="+mn-cs"/>
              </a:rPr>
              <a:t>, "r") as fin: for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line in enumerate(fin):</a:t>
            </a:r>
          </a:p>
          <a:p>
            <a:r>
              <a:rPr lang="en-US" sz="1200" b="0" i="0" kern="1200" dirty="0" err="1">
                <a:solidFill>
                  <a:schemeClr val="tx1"/>
                </a:solidFill>
                <a:effectLst/>
                <a:latin typeface="+mn-lt"/>
                <a:ea typeface="+mn-ea"/>
                <a:cs typeface="+mn-cs"/>
              </a:rPr>
              <a:t>en_sent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line.strip</a:t>
            </a:r>
            <a:r>
              <a:rPr lang="en-US" sz="1200" b="0" i="0" kern="1200" dirty="0">
                <a:solidFill>
                  <a:schemeClr val="tx1"/>
                </a:solidFill>
                <a:effectLst/>
                <a:latin typeface="+mn-lt"/>
                <a:ea typeface="+mn-ea"/>
                <a:cs typeface="+mn-cs"/>
              </a:rPr>
              <a:t>().split('\t')</a:t>
            </a:r>
          </a:p>
          <a:p>
            <a:r>
              <a:rPr lang="en-US" sz="1200" b="0" i="0" kern="1200" dirty="0" err="1">
                <a:solidFill>
                  <a:schemeClr val="tx1"/>
                </a:solidFill>
                <a:effectLst/>
                <a:latin typeface="+mn-lt"/>
                <a:ea typeface="+mn-ea"/>
                <a:cs typeface="+mn-cs"/>
              </a:rPr>
              <a:t>en_sent</a:t>
            </a:r>
            <a:r>
              <a:rPr lang="en-US" sz="1200" b="0" i="0" kern="1200" dirty="0">
                <a:solidFill>
                  <a:schemeClr val="tx1"/>
                </a:solidFill>
                <a:effectLst/>
                <a:latin typeface="+mn-lt"/>
                <a:ea typeface="+mn-ea"/>
                <a:cs typeface="+mn-cs"/>
              </a:rPr>
              <a:t> = [w for w in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en_sent</a:t>
            </a:r>
            <a:r>
              <a:rPr lang="en-US" sz="1200" b="0" i="0" kern="1200" dirty="0">
                <a:solidFill>
                  <a:schemeClr val="tx1"/>
                </a:solidFill>
                <a:effectLst/>
                <a:latin typeface="+mn-lt"/>
                <a:ea typeface="+mn-ea"/>
                <a:cs typeface="+mn-cs"/>
              </a:rPr>
              <a:t>).split()] </a:t>
            </a:r>
            <a:r>
              <a:rPr lang="en-US" sz="1200" b="0" i="0" kern="1200" dirty="0" err="1">
                <a:solidFill>
                  <a:schemeClr val="tx1"/>
                </a:solidFill>
                <a:effectLst/>
                <a:latin typeface="+mn-lt"/>
                <a:ea typeface="+mn-ea"/>
                <a:cs typeface="+mn-cs"/>
              </a:rPr>
              <a:t>fr_sent</a:t>
            </a:r>
            <a:r>
              <a:rPr lang="en-US" sz="1200" b="0" i="0" kern="1200" dirty="0">
                <a:solidFill>
                  <a:schemeClr val="tx1"/>
                </a:solidFill>
                <a:effectLst/>
                <a:latin typeface="+mn-lt"/>
                <a:ea typeface="+mn-ea"/>
                <a:cs typeface="+mn-cs"/>
              </a:rPr>
              <a:t> =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fr_sent</a:t>
            </a:r>
            <a:r>
              <a:rPr lang="en-US" sz="1200" b="0" i="0" kern="1200" dirty="0">
                <a:solidFill>
                  <a:schemeClr val="tx1"/>
                </a:solidFill>
                <a:effectLst/>
                <a:latin typeface="+mn-lt"/>
                <a:ea typeface="+mn-ea"/>
                <a:cs typeface="+mn-cs"/>
              </a:rPr>
              <a:t>)</a:t>
            </a:r>
          </a:p>
          <a:p>
            <a:r>
              <a:rPr lang="en-US" sz="1200" b="0" i="0" kern="1200" dirty="0" err="1">
                <a:solidFill>
                  <a:schemeClr val="tx1"/>
                </a:solidFill>
                <a:effectLst/>
                <a:latin typeface="+mn-lt"/>
                <a:ea typeface="+mn-ea"/>
                <a:cs typeface="+mn-cs"/>
              </a:rPr>
              <a:t>fr_sent_in</a:t>
            </a:r>
            <a:r>
              <a:rPr lang="en-US" sz="1200" b="0" i="0" kern="1200" dirty="0">
                <a:solidFill>
                  <a:schemeClr val="tx1"/>
                </a:solidFill>
                <a:effectLst/>
                <a:latin typeface="+mn-lt"/>
                <a:ea typeface="+mn-ea"/>
                <a:cs typeface="+mn-cs"/>
              </a:rPr>
              <a:t> = [w for w in ("BOS " + </a:t>
            </a:r>
            <a:r>
              <a:rPr lang="en-US" sz="1200" b="0" i="0" kern="1200" dirty="0" err="1">
                <a:solidFill>
                  <a:schemeClr val="tx1"/>
                </a:solidFill>
                <a:effectLst/>
                <a:latin typeface="+mn-lt"/>
                <a:ea typeface="+mn-ea"/>
                <a:cs typeface="+mn-cs"/>
              </a:rPr>
              <a:t>fr_sent</a:t>
            </a:r>
            <a:r>
              <a:rPr lang="en-US" sz="1200" b="0" i="0" kern="1200" dirty="0">
                <a:solidFill>
                  <a:schemeClr val="tx1"/>
                </a:solidFill>
                <a:effectLst/>
                <a:latin typeface="+mn-lt"/>
                <a:ea typeface="+mn-ea"/>
                <a:cs typeface="+mn-cs"/>
              </a:rPr>
              <a:t>).split()] </a:t>
            </a:r>
            <a:r>
              <a:rPr lang="en-US" sz="1200" b="0" i="0" kern="1200" dirty="0" err="1">
                <a:solidFill>
                  <a:schemeClr val="tx1"/>
                </a:solidFill>
                <a:effectLst/>
                <a:latin typeface="+mn-lt"/>
                <a:ea typeface="+mn-ea"/>
                <a:cs typeface="+mn-cs"/>
              </a:rPr>
              <a:t>fr_sent_out</a:t>
            </a:r>
            <a:r>
              <a:rPr lang="en-US" sz="1200" b="0" i="0" kern="1200" dirty="0">
                <a:solidFill>
                  <a:schemeClr val="tx1"/>
                </a:solidFill>
                <a:effectLst/>
                <a:latin typeface="+mn-lt"/>
                <a:ea typeface="+mn-ea"/>
                <a:cs typeface="+mn-cs"/>
              </a:rPr>
              <a:t> = [w for w in (</a:t>
            </a:r>
            <a:r>
              <a:rPr lang="en-US" sz="1200" b="0" i="0" kern="1200" dirty="0" err="1">
                <a:solidFill>
                  <a:schemeClr val="tx1"/>
                </a:solidFill>
                <a:effectLst/>
                <a:latin typeface="+mn-lt"/>
                <a:ea typeface="+mn-ea"/>
                <a:cs typeface="+mn-cs"/>
              </a:rPr>
              <a:t>fr_sent</a:t>
            </a:r>
            <a:r>
              <a:rPr lang="en-US" sz="1200" b="0" i="0" kern="1200" dirty="0">
                <a:solidFill>
                  <a:schemeClr val="tx1"/>
                </a:solidFill>
                <a:effectLst/>
                <a:latin typeface="+mn-lt"/>
                <a:ea typeface="+mn-ea"/>
                <a:cs typeface="+mn-cs"/>
              </a:rPr>
              <a:t> + " EOS").split()] </a:t>
            </a:r>
            <a:r>
              <a:rPr lang="en-US" sz="1200" b="0" i="0" kern="1200" dirty="0" err="1">
                <a:solidFill>
                  <a:schemeClr val="tx1"/>
                </a:solidFill>
                <a:effectLst/>
                <a:latin typeface="+mn-lt"/>
                <a:ea typeface="+mn-ea"/>
                <a:cs typeface="+mn-cs"/>
              </a:rPr>
              <a:t>en_sents.append</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en_sent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fr_sents_in.append</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fr_sent_in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fr_sents_out.append</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fr_sent_out</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if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&gt;= </a:t>
            </a:r>
            <a:r>
              <a:rPr lang="en-US" sz="1200" b="0" i="0" kern="1200" dirty="0" err="1">
                <a:solidFill>
                  <a:schemeClr val="tx1"/>
                </a:solidFill>
                <a:effectLst/>
                <a:latin typeface="+mn-lt"/>
                <a:ea typeface="+mn-ea"/>
                <a:cs typeface="+mn-cs"/>
              </a:rPr>
              <a:t>num_sent_pairs</a:t>
            </a:r>
            <a:r>
              <a:rPr lang="en-US" sz="1200" b="0" i="0" kern="1200" dirty="0">
                <a:solidFill>
                  <a:schemeClr val="tx1"/>
                </a:solidFill>
                <a:effectLst/>
                <a:latin typeface="+mn-lt"/>
                <a:ea typeface="+mn-ea"/>
                <a:cs typeface="+mn-cs"/>
              </a:rPr>
              <a:t> - 1: break</a:t>
            </a:r>
          </a:p>
          <a:p>
            <a:r>
              <a:rPr lang="en-US" sz="1200" b="0" i="0" kern="1200" dirty="0">
                <a:solidFill>
                  <a:schemeClr val="tx1"/>
                </a:solidFill>
                <a:effectLst/>
                <a:latin typeface="+mn-lt"/>
                <a:ea typeface="+mn-ea"/>
                <a:cs typeface="+mn-cs"/>
              </a:rPr>
              <a:t>return </a:t>
            </a:r>
            <a:r>
              <a:rPr lang="en-US" sz="1200" b="0" i="0" kern="1200" dirty="0" err="1">
                <a:solidFill>
                  <a:schemeClr val="tx1"/>
                </a:solidFill>
                <a:effectLst/>
                <a:latin typeface="+mn-lt"/>
                <a:ea typeface="+mn-ea"/>
                <a:cs typeface="+mn-cs"/>
              </a:rPr>
              <a:t>en_sents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fr_sents_in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fr_sents_out</a:t>
            </a:r>
            <a:r>
              <a:rPr lang="en-US" dirty="0"/>
              <a:t> </a:t>
            </a:r>
            <a:br>
              <a:rPr lang="en-US" dirty="0"/>
            </a:br>
            <a:endParaRPr lang="en-US" dirty="0"/>
          </a:p>
          <a:p>
            <a:endParaRPr lang="en-US" dirty="0"/>
          </a:p>
        </p:txBody>
      </p:sp>
      <p:sp>
        <p:nvSpPr>
          <p:cNvPr id="4" name="Slide Number Placeholder 3"/>
          <p:cNvSpPr>
            <a:spLocks noGrp="1"/>
          </p:cNvSpPr>
          <p:nvPr>
            <p:ph type="sldNum" sz="quarter" idx="5"/>
          </p:nvPr>
        </p:nvSpPr>
        <p:spPr/>
        <p:txBody>
          <a:bodyPr/>
          <a:lstStyle/>
          <a:p>
            <a:fld id="{B2FF27A9-7ABF-4102-B5A3-5F0A8997E8ED}" type="slidenum">
              <a:rPr lang="en-US" smtClean="0"/>
              <a:t>37</a:t>
            </a:fld>
            <a:endParaRPr lang="en-US"/>
          </a:p>
        </p:txBody>
      </p:sp>
    </p:spTree>
    <p:extLst>
      <p:ext uri="{BB962C8B-B14F-4D97-AF65-F5344CB8AC3E}">
        <p14:creationId xmlns:p14="http://schemas.microsoft.com/office/powerpoint/2010/main" val="3700942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 function performs several text cleaning steps:</a:t>
            </a:r>
          </a:p>
          <a:p>
            <a:r>
              <a:rPr lang="en-US" sz="1200" b="1" i="0" kern="1200" dirty="0">
                <a:solidFill>
                  <a:schemeClr val="tx1"/>
                </a:solidFill>
                <a:effectLst/>
                <a:latin typeface="+mn-lt"/>
                <a:ea typeface="+mn-ea"/>
                <a:cs typeface="+mn-cs"/>
              </a:rPr>
              <a:t>Remove diacritics</a:t>
            </a:r>
            <a:r>
              <a:rPr lang="en-US" sz="1200" b="0" i="0" kern="1200" dirty="0">
                <a:solidFill>
                  <a:schemeClr val="tx1"/>
                </a:solidFill>
                <a:effectLst/>
                <a:latin typeface="+mn-lt"/>
                <a:ea typeface="+mn-ea"/>
                <a:cs typeface="+mn-cs"/>
              </a:rPr>
              <a:t> (accents, tildes, etc.)</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unicodedata.normalize</a:t>
            </a:r>
            <a:r>
              <a:rPr lang="en-US" sz="1200" b="0" i="0" kern="1200" dirty="0">
                <a:solidFill>
                  <a:schemeClr val="tx1"/>
                </a:solidFill>
                <a:effectLst/>
                <a:latin typeface="+mn-lt"/>
                <a:ea typeface="+mn-ea"/>
                <a:cs typeface="+mn-cs"/>
              </a:rPr>
              <a:t>("NFD", sent) decomposes characters (e.g., "é" → "e" +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a:t>
            </a:r>
            <a:r>
              <a:rPr lang="en-US" sz="1200" b="0" i="0" kern="1200" dirty="0" err="1">
                <a:solidFill>
                  <a:schemeClr val="tx1"/>
                </a:solidFill>
                <a:effectLst/>
                <a:latin typeface="+mn-lt"/>
                <a:ea typeface="+mn-ea"/>
                <a:cs typeface="+mn-cs"/>
              </a:rPr>
              <a:t>unicodedata.category</a:t>
            </a:r>
            <a:r>
              <a:rPr lang="en-US" sz="1200" b="0" i="0" kern="1200" dirty="0">
                <a:solidFill>
                  <a:schemeClr val="tx1"/>
                </a:solidFill>
                <a:effectLst/>
                <a:latin typeface="+mn-lt"/>
                <a:ea typeface="+mn-ea"/>
                <a:cs typeface="+mn-cs"/>
              </a:rPr>
              <a:t>(c) != "Mn" keeps only characters that are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combining marks (like accents).</a:t>
            </a:r>
          </a:p>
          <a:p>
            <a:r>
              <a:rPr lang="en-US" sz="1200" b="1" i="0" kern="1200" dirty="0">
                <a:solidFill>
                  <a:schemeClr val="tx1"/>
                </a:solidFill>
                <a:effectLst/>
                <a:latin typeface="+mn-lt"/>
                <a:ea typeface="+mn-ea"/>
                <a:cs typeface="+mn-cs"/>
              </a:rPr>
              <a:t>Add spaces around punctuation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 r" \1", sent) inserts a space before !, ., ? (but keeps the punctuation).</a:t>
            </a:r>
          </a:p>
          <a:p>
            <a:r>
              <a:rPr lang="en-US" sz="1200" b="1" i="0" kern="1200" dirty="0">
                <a:solidFill>
                  <a:schemeClr val="tx1"/>
                </a:solidFill>
                <a:effectLst/>
                <a:latin typeface="+mn-lt"/>
                <a:ea typeface="+mn-ea"/>
                <a:cs typeface="+mn-cs"/>
              </a:rPr>
              <a:t>Keep only letters,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(r"[^a-</a:t>
            </a:r>
            <a:r>
              <a:rPr lang="en-US" sz="1200" b="0" i="0" kern="1200" dirty="0" err="1">
                <a:solidFill>
                  <a:schemeClr val="tx1"/>
                </a:solidFill>
                <a:effectLst/>
                <a:latin typeface="+mn-lt"/>
                <a:ea typeface="+mn-ea"/>
                <a:cs typeface="+mn-cs"/>
              </a:rPr>
              <a:t>zA</a:t>
            </a:r>
            <a:r>
              <a:rPr lang="en-US" sz="1200" b="0" i="0" kern="1200" dirty="0">
                <a:solidFill>
                  <a:schemeClr val="tx1"/>
                </a:solidFill>
                <a:effectLst/>
                <a:latin typeface="+mn-lt"/>
                <a:ea typeface="+mn-ea"/>
                <a:cs typeface="+mn-cs"/>
              </a:rPr>
              <a:t>-Z!.?]+", r" ", sent) replaces any character that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letter or ! . ? with a space.</a:t>
            </a:r>
          </a:p>
          <a:p>
            <a:r>
              <a:rPr lang="en-US" sz="1200" b="1" i="0" kern="1200" dirty="0">
                <a:solidFill>
                  <a:schemeClr val="tx1"/>
                </a:solidFill>
                <a:effectLst/>
                <a:latin typeface="+mn-lt"/>
                <a:ea typeface="+mn-ea"/>
                <a:cs typeface="+mn-cs"/>
              </a:rPr>
              <a:t>Collapse multiple spaces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(r"\s+", " ", sent) replaces any whitespace sequence with a single space.</a:t>
            </a:r>
          </a:p>
          <a:p>
            <a:r>
              <a:rPr lang="en-US" sz="1200" b="1" i="0" kern="1200" dirty="0">
                <a:solidFill>
                  <a:schemeClr val="tx1"/>
                </a:solidFill>
                <a:effectLst/>
                <a:latin typeface="+mn-lt"/>
                <a:ea typeface="+mn-ea"/>
                <a:cs typeface="+mn-cs"/>
              </a:rPr>
              <a:t>Lowercase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sent.lower</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B2FF27A9-7ABF-4102-B5A3-5F0A8997E8ED}" type="slidenum">
              <a:rPr lang="en-US" smtClean="0"/>
              <a:t>40</a:t>
            </a:fld>
            <a:endParaRPr lang="en-US"/>
          </a:p>
        </p:txBody>
      </p:sp>
    </p:spTree>
    <p:extLst>
      <p:ext uri="{BB962C8B-B14F-4D97-AF65-F5344CB8AC3E}">
        <p14:creationId xmlns:p14="http://schemas.microsoft.com/office/powerpoint/2010/main" val="1667920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B2FD8-4A13-AB92-4972-BE318FF6B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49BEC-6D4E-FDBB-1445-78633A74DD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7CCD11-0661-D2A5-9889-7B32F8BD42B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 function performs several text cleaning steps:</a:t>
            </a:r>
          </a:p>
          <a:p>
            <a:r>
              <a:rPr lang="en-US" sz="1200" b="1" i="0" kern="1200" dirty="0">
                <a:solidFill>
                  <a:schemeClr val="tx1"/>
                </a:solidFill>
                <a:effectLst/>
                <a:latin typeface="+mn-lt"/>
                <a:ea typeface="+mn-ea"/>
                <a:cs typeface="+mn-cs"/>
              </a:rPr>
              <a:t>Remove diacritics</a:t>
            </a:r>
            <a:r>
              <a:rPr lang="en-US" sz="1200" b="0" i="0" kern="1200" dirty="0">
                <a:solidFill>
                  <a:schemeClr val="tx1"/>
                </a:solidFill>
                <a:effectLst/>
                <a:latin typeface="+mn-lt"/>
                <a:ea typeface="+mn-ea"/>
                <a:cs typeface="+mn-cs"/>
              </a:rPr>
              <a:t> (accents, tildes, etc.)</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unicodedata.normalize</a:t>
            </a:r>
            <a:r>
              <a:rPr lang="en-US" sz="1200" b="0" i="0" kern="1200" dirty="0">
                <a:solidFill>
                  <a:schemeClr val="tx1"/>
                </a:solidFill>
                <a:effectLst/>
                <a:latin typeface="+mn-lt"/>
                <a:ea typeface="+mn-ea"/>
                <a:cs typeface="+mn-cs"/>
              </a:rPr>
              <a:t>("NFD", sent) decomposes characters (e.g., "é" → "e" +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a:t>
            </a:r>
            <a:r>
              <a:rPr lang="en-US" sz="1200" b="0" i="0" kern="1200" dirty="0" err="1">
                <a:solidFill>
                  <a:schemeClr val="tx1"/>
                </a:solidFill>
                <a:effectLst/>
                <a:latin typeface="+mn-lt"/>
                <a:ea typeface="+mn-ea"/>
                <a:cs typeface="+mn-cs"/>
              </a:rPr>
              <a:t>unicodedata.category</a:t>
            </a:r>
            <a:r>
              <a:rPr lang="en-US" sz="1200" b="0" i="0" kern="1200" dirty="0">
                <a:solidFill>
                  <a:schemeClr val="tx1"/>
                </a:solidFill>
                <a:effectLst/>
                <a:latin typeface="+mn-lt"/>
                <a:ea typeface="+mn-ea"/>
                <a:cs typeface="+mn-cs"/>
              </a:rPr>
              <a:t>(c) != "Mn" keeps only characters that are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combining marks (like accents).</a:t>
            </a:r>
          </a:p>
          <a:p>
            <a:r>
              <a:rPr lang="en-US" sz="1200" b="1" i="0" kern="1200" dirty="0">
                <a:solidFill>
                  <a:schemeClr val="tx1"/>
                </a:solidFill>
                <a:effectLst/>
                <a:latin typeface="+mn-lt"/>
                <a:ea typeface="+mn-ea"/>
                <a:cs typeface="+mn-cs"/>
              </a:rPr>
              <a:t>Add spaces around punctuation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 r" \1", sent) inserts a space before !, ., ? (but keeps the punctuation).</a:t>
            </a:r>
          </a:p>
          <a:p>
            <a:r>
              <a:rPr lang="en-US" sz="1200" b="1" i="0" kern="1200" dirty="0">
                <a:solidFill>
                  <a:schemeClr val="tx1"/>
                </a:solidFill>
                <a:effectLst/>
                <a:latin typeface="+mn-lt"/>
                <a:ea typeface="+mn-ea"/>
                <a:cs typeface="+mn-cs"/>
              </a:rPr>
              <a:t>Keep only letters,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(r"[^a-</a:t>
            </a:r>
            <a:r>
              <a:rPr lang="en-US" sz="1200" b="0" i="0" kern="1200" dirty="0" err="1">
                <a:solidFill>
                  <a:schemeClr val="tx1"/>
                </a:solidFill>
                <a:effectLst/>
                <a:latin typeface="+mn-lt"/>
                <a:ea typeface="+mn-ea"/>
                <a:cs typeface="+mn-cs"/>
              </a:rPr>
              <a:t>zA</a:t>
            </a:r>
            <a:r>
              <a:rPr lang="en-US" sz="1200" b="0" i="0" kern="1200" dirty="0">
                <a:solidFill>
                  <a:schemeClr val="tx1"/>
                </a:solidFill>
                <a:effectLst/>
                <a:latin typeface="+mn-lt"/>
                <a:ea typeface="+mn-ea"/>
                <a:cs typeface="+mn-cs"/>
              </a:rPr>
              <a:t>-Z!.?]+", r" ", sent) replaces any character that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letter or ! . ? with a space.</a:t>
            </a:r>
          </a:p>
          <a:p>
            <a:r>
              <a:rPr lang="en-US" sz="1200" b="1" i="0" kern="1200" dirty="0">
                <a:solidFill>
                  <a:schemeClr val="tx1"/>
                </a:solidFill>
                <a:effectLst/>
                <a:latin typeface="+mn-lt"/>
                <a:ea typeface="+mn-ea"/>
                <a:cs typeface="+mn-cs"/>
              </a:rPr>
              <a:t>Collapse multiple spaces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(r"\s+", " ", sent) replaces any whitespace sequence with a single space.</a:t>
            </a:r>
          </a:p>
          <a:p>
            <a:r>
              <a:rPr lang="en-US" sz="1200" b="1" i="0" kern="1200" dirty="0">
                <a:solidFill>
                  <a:schemeClr val="tx1"/>
                </a:solidFill>
                <a:effectLst/>
                <a:latin typeface="+mn-lt"/>
                <a:ea typeface="+mn-ea"/>
                <a:cs typeface="+mn-cs"/>
              </a:rPr>
              <a:t>Lowercase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sent.lower</a:t>
            </a:r>
            <a:r>
              <a:rPr lang="en-US" sz="1200" b="0" i="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FF10DFFB-0E2D-8611-DE9C-3BD6405E764F}"/>
              </a:ext>
            </a:extLst>
          </p:cNvPr>
          <p:cNvSpPr>
            <a:spLocks noGrp="1"/>
          </p:cNvSpPr>
          <p:nvPr>
            <p:ph type="sldNum" sz="quarter" idx="5"/>
          </p:nvPr>
        </p:nvSpPr>
        <p:spPr/>
        <p:txBody>
          <a:bodyPr/>
          <a:lstStyle/>
          <a:p>
            <a:fld id="{B2FF27A9-7ABF-4102-B5A3-5F0A8997E8ED}" type="slidenum">
              <a:rPr lang="en-US" smtClean="0"/>
              <a:t>41</a:t>
            </a:fld>
            <a:endParaRPr lang="en-US"/>
          </a:p>
        </p:txBody>
      </p:sp>
    </p:spTree>
    <p:extLst>
      <p:ext uri="{BB962C8B-B14F-4D97-AF65-F5344CB8AC3E}">
        <p14:creationId xmlns:p14="http://schemas.microsoft.com/office/powerpoint/2010/main" val="1250486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EE7A2-340F-DF30-B7EE-BBA1D5811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2B50B-4CD3-7A68-779B-A109E0899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186130-1DF7-71EA-A523-5676832C027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 function performs several text cleaning steps:</a:t>
            </a:r>
          </a:p>
          <a:p>
            <a:r>
              <a:rPr lang="en-US" sz="1200" b="1" i="0" kern="1200" dirty="0">
                <a:solidFill>
                  <a:schemeClr val="tx1"/>
                </a:solidFill>
                <a:effectLst/>
                <a:latin typeface="+mn-lt"/>
                <a:ea typeface="+mn-ea"/>
                <a:cs typeface="+mn-cs"/>
              </a:rPr>
              <a:t>Remove diacritics</a:t>
            </a:r>
            <a:r>
              <a:rPr lang="en-US" sz="1200" b="0" i="0" kern="1200" dirty="0">
                <a:solidFill>
                  <a:schemeClr val="tx1"/>
                </a:solidFill>
                <a:effectLst/>
                <a:latin typeface="+mn-lt"/>
                <a:ea typeface="+mn-ea"/>
                <a:cs typeface="+mn-cs"/>
              </a:rPr>
              <a:t> (accents, tildes, etc.)</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unicodedata.normalize</a:t>
            </a:r>
            <a:r>
              <a:rPr lang="en-US" sz="1200" b="0" i="0" kern="1200" dirty="0">
                <a:solidFill>
                  <a:schemeClr val="tx1"/>
                </a:solidFill>
                <a:effectLst/>
                <a:latin typeface="+mn-lt"/>
                <a:ea typeface="+mn-ea"/>
                <a:cs typeface="+mn-cs"/>
              </a:rPr>
              <a:t>("NFD", sent) decomposes characters (e.g., "é" → "e" +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a:t>
            </a:r>
            <a:r>
              <a:rPr lang="en-US" sz="1200" b="0" i="0" kern="1200" dirty="0" err="1">
                <a:solidFill>
                  <a:schemeClr val="tx1"/>
                </a:solidFill>
                <a:effectLst/>
                <a:latin typeface="+mn-lt"/>
                <a:ea typeface="+mn-ea"/>
                <a:cs typeface="+mn-cs"/>
              </a:rPr>
              <a:t>unicodedata.category</a:t>
            </a:r>
            <a:r>
              <a:rPr lang="en-US" sz="1200" b="0" i="0" kern="1200" dirty="0">
                <a:solidFill>
                  <a:schemeClr val="tx1"/>
                </a:solidFill>
                <a:effectLst/>
                <a:latin typeface="+mn-lt"/>
                <a:ea typeface="+mn-ea"/>
                <a:cs typeface="+mn-cs"/>
              </a:rPr>
              <a:t>(c) != "Mn" keeps only characters that are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combining marks (like accents).</a:t>
            </a:r>
          </a:p>
          <a:p>
            <a:r>
              <a:rPr lang="en-US" sz="1200" b="1" i="0" kern="1200" dirty="0">
                <a:solidFill>
                  <a:schemeClr val="tx1"/>
                </a:solidFill>
                <a:effectLst/>
                <a:latin typeface="+mn-lt"/>
                <a:ea typeface="+mn-ea"/>
                <a:cs typeface="+mn-cs"/>
              </a:rPr>
              <a:t>Add spaces around punctuation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 r" \1", sent) inserts a space before !, ., ? (but keeps the punctuation).</a:t>
            </a:r>
          </a:p>
          <a:p>
            <a:r>
              <a:rPr lang="en-US" sz="1200" b="1" i="0" kern="1200" dirty="0">
                <a:solidFill>
                  <a:schemeClr val="tx1"/>
                </a:solidFill>
                <a:effectLst/>
                <a:latin typeface="+mn-lt"/>
                <a:ea typeface="+mn-ea"/>
                <a:cs typeface="+mn-cs"/>
              </a:rPr>
              <a:t>Keep only letters,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(r"[^a-</a:t>
            </a:r>
            <a:r>
              <a:rPr lang="en-US" sz="1200" b="0" i="0" kern="1200" dirty="0" err="1">
                <a:solidFill>
                  <a:schemeClr val="tx1"/>
                </a:solidFill>
                <a:effectLst/>
                <a:latin typeface="+mn-lt"/>
                <a:ea typeface="+mn-ea"/>
                <a:cs typeface="+mn-cs"/>
              </a:rPr>
              <a:t>zA</a:t>
            </a:r>
            <a:r>
              <a:rPr lang="en-US" sz="1200" b="0" i="0" kern="1200" dirty="0">
                <a:solidFill>
                  <a:schemeClr val="tx1"/>
                </a:solidFill>
                <a:effectLst/>
                <a:latin typeface="+mn-lt"/>
                <a:ea typeface="+mn-ea"/>
                <a:cs typeface="+mn-cs"/>
              </a:rPr>
              <a:t>-Z!.?]+", r" ", sent) replaces any character that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letter or ! . ? with a space.</a:t>
            </a:r>
          </a:p>
          <a:p>
            <a:r>
              <a:rPr lang="en-US" sz="1200" b="1" i="0" kern="1200" dirty="0">
                <a:solidFill>
                  <a:schemeClr val="tx1"/>
                </a:solidFill>
                <a:effectLst/>
                <a:latin typeface="+mn-lt"/>
                <a:ea typeface="+mn-ea"/>
                <a:cs typeface="+mn-cs"/>
              </a:rPr>
              <a:t>Collapse multiple spaces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(r"\s+", " ", sent) replaces any whitespace sequence with a single space.</a:t>
            </a:r>
          </a:p>
          <a:p>
            <a:r>
              <a:rPr lang="en-US" sz="1200" b="1" i="0" kern="1200" dirty="0">
                <a:solidFill>
                  <a:schemeClr val="tx1"/>
                </a:solidFill>
                <a:effectLst/>
                <a:latin typeface="+mn-lt"/>
                <a:ea typeface="+mn-ea"/>
                <a:cs typeface="+mn-cs"/>
              </a:rPr>
              <a:t>Lowercase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sent.lower</a:t>
            </a:r>
            <a:r>
              <a:rPr lang="en-US" sz="1200" b="0" i="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07BFC6E1-0834-74C7-FC98-4130E2E525C3}"/>
              </a:ext>
            </a:extLst>
          </p:cNvPr>
          <p:cNvSpPr>
            <a:spLocks noGrp="1"/>
          </p:cNvSpPr>
          <p:nvPr>
            <p:ph type="sldNum" sz="quarter" idx="5"/>
          </p:nvPr>
        </p:nvSpPr>
        <p:spPr/>
        <p:txBody>
          <a:bodyPr/>
          <a:lstStyle/>
          <a:p>
            <a:fld id="{B2FF27A9-7ABF-4102-B5A3-5F0A8997E8ED}" type="slidenum">
              <a:rPr lang="en-US" smtClean="0"/>
              <a:t>42</a:t>
            </a:fld>
            <a:endParaRPr lang="en-US"/>
          </a:p>
        </p:txBody>
      </p:sp>
    </p:spTree>
    <p:extLst>
      <p:ext uri="{BB962C8B-B14F-4D97-AF65-F5344CB8AC3E}">
        <p14:creationId xmlns:p14="http://schemas.microsoft.com/office/powerpoint/2010/main" val="77711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3B53B-4B97-E79E-93AB-E6A549475F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916B3-CE5A-9EB1-5408-8A75D98769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16C5A-E3F9-CCD5-58C9-EEEBF2568AE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a:t>
            </a:r>
            <a:r>
              <a:rPr lang="en-US" sz="1200" b="0" i="0" kern="1200" dirty="0" err="1">
                <a:solidFill>
                  <a:schemeClr val="tx1"/>
                </a:solidFill>
                <a:effectLst/>
                <a:latin typeface="+mn-lt"/>
                <a:ea typeface="+mn-ea"/>
                <a:cs typeface="+mn-cs"/>
              </a:rPr>
              <a:t>preprocess_sentence</a:t>
            </a:r>
            <a:r>
              <a:rPr lang="en-US" sz="1200" b="0" i="0" kern="1200" dirty="0">
                <a:solidFill>
                  <a:schemeClr val="tx1"/>
                </a:solidFill>
                <a:effectLst/>
                <a:latin typeface="+mn-lt"/>
                <a:ea typeface="+mn-ea"/>
                <a:cs typeface="+mn-cs"/>
              </a:rPr>
              <a:t> function performs several text cleaning steps:</a:t>
            </a:r>
          </a:p>
          <a:p>
            <a:r>
              <a:rPr lang="en-US" sz="1200" b="1" i="0" kern="1200" dirty="0">
                <a:solidFill>
                  <a:schemeClr val="tx1"/>
                </a:solidFill>
                <a:effectLst/>
                <a:latin typeface="+mn-lt"/>
                <a:ea typeface="+mn-ea"/>
                <a:cs typeface="+mn-cs"/>
              </a:rPr>
              <a:t>Remove diacritics</a:t>
            </a:r>
            <a:r>
              <a:rPr lang="en-US" sz="1200" b="0" i="0" kern="1200" dirty="0">
                <a:solidFill>
                  <a:schemeClr val="tx1"/>
                </a:solidFill>
                <a:effectLst/>
                <a:latin typeface="+mn-lt"/>
                <a:ea typeface="+mn-ea"/>
                <a:cs typeface="+mn-cs"/>
              </a:rPr>
              <a:t> (accents, tildes, etc.)</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unicodedata.normalize</a:t>
            </a:r>
            <a:r>
              <a:rPr lang="en-US" sz="1200" b="0" i="0" kern="1200" dirty="0">
                <a:solidFill>
                  <a:schemeClr val="tx1"/>
                </a:solidFill>
                <a:effectLst/>
                <a:latin typeface="+mn-lt"/>
                <a:ea typeface="+mn-ea"/>
                <a:cs typeface="+mn-cs"/>
              </a:rPr>
              <a:t>("NFD", sent) decomposes characters (e.g., "é" → "e" +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Then </a:t>
            </a:r>
            <a:r>
              <a:rPr lang="en-US" sz="1200" b="0" i="0" kern="1200" dirty="0" err="1">
                <a:solidFill>
                  <a:schemeClr val="tx1"/>
                </a:solidFill>
                <a:effectLst/>
                <a:latin typeface="+mn-lt"/>
                <a:ea typeface="+mn-ea"/>
                <a:cs typeface="+mn-cs"/>
              </a:rPr>
              <a:t>unicodedata.category</a:t>
            </a:r>
            <a:r>
              <a:rPr lang="en-US" sz="1200" b="0" i="0" kern="1200" dirty="0">
                <a:solidFill>
                  <a:schemeClr val="tx1"/>
                </a:solidFill>
                <a:effectLst/>
                <a:latin typeface="+mn-lt"/>
                <a:ea typeface="+mn-ea"/>
                <a:cs typeface="+mn-cs"/>
              </a:rPr>
              <a:t>(c) != "Mn" keeps only characters that are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combining marks (like accents).</a:t>
            </a:r>
          </a:p>
          <a:p>
            <a:r>
              <a:rPr lang="en-US" sz="1200" b="1" i="0" kern="1200" dirty="0">
                <a:solidFill>
                  <a:schemeClr val="tx1"/>
                </a:solidFill>
                <a:effectLst/>
                <a:latin typeface="+mn-lt"/>
                <a:ea typeface="+mn-ea"/>
                <a:cs typeface="+mn-cs"/>
              </a:rPr>
              <a:t>Add spaces around punctuation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 r" \1", sent) inserts a space before !, ., ? (but keeps the punctuation).</a:t>
            </a:r>
          </a:p>
          <a:p>
            <a:r>
              <a:rPr lang="en-US" sz="1200" b="1" i="0" kern="1200" dirty="0">
                <a:solidFill>
                  <a:schemeClr val="tx1"/>
                </a:solidFill>
                <a:effectLst/>
                <a:latin typeface="+mn-lt"/>
                <a:ea typeface="+mn-ea"/>
                <a:cs typeface="+mn-cs"/>
              </a:rPr>
              <a:t>Keep only letters,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(r"[^a-</a:t>
            </a:r>
            <a:r>
              <a:rPr lang="en-US" sz="1200" b="0" i="0" kern="1200" dirty="0" err="1">
                <a:solidFill>
                  <a:schemeClr val="tx1"/>
                </a:solidFill>
                <a:effectLst/>
                <a:latin typeface="+mn-lt"/>
                <a:ea typeface="+mn-ea"/>
                <a:cs typeface="+mn-cs"/>
              </a:rPr>
              <a:t>zA</a:t>
            </a:r>
            <a:r>
              <a:rPr lang="en-US" sz="1200" b="0" i="0" kern="1200" dirty="0">
                <a:solidFill>
                  <a:schemeClr val="tx1"/>
                </a:solidFill>
                <a:effectLst/>
                <a:latin typeface="+mn-lt"/>
                <a:ea typeface="+mn-ea"/>
                <a:cs typeface="+mn-cs"/>
              </a:rPr>
              <a:t>-Z!.?]+", r" ", sent) replaces any character that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a letter or ! . ? with a space.</a:t>
            </a:r>
          </a:p>
          <a:p>
            <a:r>
              <a:rPr lang="en-US" sz="1200" b="1" i="0" kern="1200" dirty="0">
                <a:solidFill>
                  <a:schemeClr val="tx1"/>
                </a:solidFill>
                <a:effectLst/>
                <a:latin typeface="+mn-lt"/>
                <a:ea typeface="+mn-ea"/>
                <a:cs typeface="+mn-cs"/>
              </a:rPr>
              <a:t>Collapse multiple spaces</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re.sub</a:t>
            </a:r>
            <a:r>
              <a:rPr lang="en-US" sz="1200" b="0" i="0" kern="1200" dirty="0">
                <a:solidFill>
                  <a:schemeClr val="tx1"/>
                </a:solidFill>
                <a:effectLst/>
                <a:latin typeface="+mn-lt"/>
                <a:ea typeface="+mn-ea"/>
                <a:cs typeface="+mn-cs"/>
              </a:rPr>
              <a:t>(r"\s+", " ", sent) replaces any whitespace sequence with a single space.</a:t>
            </a:r>
          </a:p>
          <a:p>
            <a:r>
              <a:rPr lang="en-US" sz="1200" b="1" i="0" kern="1200" dirty="0">
                <a:solidFill>
                  <a:schemeClr val="tx1"/>
                </a:solidFill>
                <a:effectLst/>
                <a:latin typeface="+mn-lt"/>
                <a:ea typeface="+mn-ea"/>
                <a:cs typeface="+mn-cs"/>
              </a:rPr>
              <a:t>Lowercase</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sent.lower</a:t>
            </a:r>
            <a:r>
              <a:rPr lang="en-US" sz="1200" b="0" i="0" kern="1200" dirty="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305296B-1A45-3C34-23C5-18B8CB070040}"/>
              </a:ext>
            </a:extLst>
          </p:cNvPr>
          <p:cNvSpPr>
            <a:spLocks noGrp="1"/>
          </p:cNvSpPr>
          <p:nvPr>
            <p:ph type="sldNum" sz="quarter" idx="5"/>
          </p:nvPr>
        </p:nvSpPr>
        <p:spPr/>
        <p:txBody>
          <a:bodyPr/>
          <a:lstStyle/>
          <a:p>
            <a:fld id="{B2FF27A9-7ABF-4102-B5A3-5F0A8997E8ED}" type="slidenum">
              <a:rPr lang="en-US" smtClean="0"/>
              <a:t>43</a:t>
            </a:fld>
            <a:endParaRPr lang="en-US"/>
          </a:p>
        </p:txBody>
      </p:sp>
    </p:spTree>
    <p:extLst>
      <p:ext uri="{BB962C8B-B14F-4D97-AF65-F5344CB8AC3E}">
        <p14:creationId xmlns:p14="http://schemas.microsoft.com/office/powerpoint/2010/main" val="3730520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37339-70CF-B171-EDF7-9CAE0D8667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1A06A2-5F85-BEFC-7D59-A1A0058BA4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B9DEBE-4AC2-DE1B-DDA3-B45F955BB282}"/>
              </a:ext>
            </a:extLst>
          </p:cNvPr>
          <p:cNvSpPr>
            <a:spLocks noGrp="1"/>
          </p:cNvSpPr>
          <p:nvPr>
            <p:ph type="dt" sz="half" idx="10"/>
          </p:nvPr>
        </p:nvSpPr>
        <p:spPr/>
        <p:txBody>
          <a:bodyPr/>
          <a:lstStyle/>
          <a:p>
            <a:fld id="{7ED90274-685F-4D7E-99ED-88171C3A13D5}" type="datetimeFigureOut">
              <a:rPr lang="en-US" smtClean="0"/>
              <a:t>5/23/2026</a:t>
            </a:fld>
            <a:endParaRPr lang="en-US"/>
          </a:p>
        </p:txBody>
      </p:sp>
      <p:sp>
        <p:nvSpPr>
          <p:cNvPr id="5" name="Footer Placeholder 4">
            <a:extLst>
              <a:ext uri="{FF2B5EF4-FFF2-40B4-BE49-F238E27FC236}">
                <a16:creationId xmlns:a16="http://schemas.microsoft.com/office/drawing/2014/main" id="{F426391D-B6C0-6798-9548-6367CADA03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CDBEC9-0975-996F-FBE5-F22F1530946B}"/>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755515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37E8D-1118-AD02-A998-925EFEDFDF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2DAF40-9A7F-7D70-0129-97B7F3EEB3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890879-E024-EE0D-F725-3F659B557161}"/>
              </a:ext>
            </a:extLst>
          </p:cNvPr>
          <p:cNvSpPr>
            <a:spLocks noGrp="1"/>
          </p:cNvSpPr>
          <p:nvPr>
            <p:ph type="dt" sz="half" idx="10"/>
          </p:nvPr>
        </p:nvSpPr>
        <p:spPr/>
        <p:txBody>
          <a:bodyPr/>
          <a:lstStyle/>
          <a:p>
            <a:fld id="{7ED90274-685F-4D7E-99ED-88171C3A13D5}" type="datetimeFigureOut">
              <a:rPr lang="en-US" smtClean="0"/>
              <a:t>5/23/2026</a:t>
            </a:fld>
            <a:endParaRPr lang="en-US"/>
          </a:p>
        </p:txBody>
      </p:sp>
      <p:sp>
        <p:nvSpPr>
          <p:cNvPr id="5" name="Footer Placeholder 4">
            <a:extLst>
              <a:ext uri="{FF2B5EF4-FFF2-40B4-BE49-F238E27FC236}">
                <a16:creationId xmlns:a16="http://schemas.microsoft.com/office/drawing/2014/main" id="{971276EB-7667-B317-D5B4-39EC250B6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D58FB7-9821-F6D4-7916-BDBB4FE9C834}"/>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755532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5CD8D-26BB-4C36-B5F0-7D91AD56F0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0E65C6-4D25-CBE7-3562-6BD3EA9148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C9CF3F-27C8-5DDD-5A4B-14D3C66E0DF4}"/>
              </a:ext>
            </a:extLst>
          </p:cNvPr>
          <p:cNvSpPr>
            <a:spLocks noGrp="1"/>
          </p:cNvSpPr>
          <p:nvPr>
            <p:ph type="dt" sz="half" idx="10"/>
          </p:nvPr>
        </p:nvSpPr>
        <p:spPr/>
        <p:txBody>
          <a:bodyPr/>
          <a:lstStyle/>
          <a:p>
            <a:fld id="{7ED90274-685F-4D7E-99ED-88171C3A13D5}" type="datetimeFigureOut">
              <a:rPr lang="en-US" smtClean="0"/>
              <a:t>5/23/2026</a:t>
            </a:fld>
            <a:endParaRPr lang="en-US"/>
          </a:p>
        </p:txBody>
      </p:sp>
      <p:sp>
        <p:nvSpPr>
          <p:cNvPr id="5" name="Footer Placeholder 4">
            <a:extLst>
              <a:ext uri="{FF2B5EF4-FFF2-40B4-BE49-F238E27FC236}">
                <a16:creationId xmlns:a16="http://schemas.microsoft.com/office/drawing/2014/main" id="{E3CB5667-2BB9-8D53-C541-B3B5C31CCF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24F18C-FBDF-3057-8B85-8EB1E40EB65F}"/>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2866752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3ACBE-BC65-B29C-B4CD-5AC2F26737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2FD52D-59A7-94E8-90E7-047B59F87B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B45C2A-FDBD-BF29-8448-1DC4146AAA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F0FC33-A9A3-17D4-1120-3B264A8CA2CC}"/>
              </a:ext>
            </a:extLst>
          </p:cNvPr>
          <p:cNvSpPr>
            <a:spLocks noGrp="1"/>
          </p:cNvSpPr>
          <p:nvPr>
            <p:ph type="dt" sz="half" idx="10"/>
          </p:nvPr>
        </p:nvSpPr>
        <p:spPr/>
        <p:txBody>
          <a:bodyPr/>
          <a:lstStyle/>
          <a:p>
            <a:fld id="{7ED90274-685F-4D7E-99ED-88171C3A13D5}" type="datetimeFigureOut">
              <a:rPr lang="en-US" smtClean="0"/>
              <a:t>5/23/2026</a:t>
            </a:fld>
            <a:endParaRPr lang="en-US"/>
          </a:p>
        </p:txBody>
      </p:sp>
      <p:sp>
        <p:nvSpPr>
          <p:cNvPr id="6" name="Footer Placeholder 5">
            <a:extLst>
              <a:ext uri="{FF2B5EF4-FFF2-40B4-BE49-F238E27FC236}">
                <a16:creationId xmlns:a16="http://schemas.microsoft.com/office/drawing/2014/main" id="{8B65FBE1-1774-58FC-CF20-C2C6C9766F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1CD767-F3CC-415E-9586-0879FC4B6A0A}"/>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1162618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2D5FE-82F0-409B-3D80-B7FAACACA8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A04BA8-B429-4FD2-F4D6-FA7833C25A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23F225-057C-F240-3524-09AD8431AA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CE29C0-0F10-5ADD-AB50-56C9D162D6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516C84-1C5A-4A52-B7A1-8E44F0C26B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0D221C-46D0-E380-5B72-7F426BBFCF31}"/>
              </a:ext>
            </a:extLst>
          </p:cNvPr>
          <p:cNvSpPr>
            <a:spLocks noGrp="1"/>
          </p:cNvSpPr>
          <p:nvPr>
            <p:ph type="dt" sz="half" idx="10"/>
          </p:nvPr>
        </p:nvSpPr>
        <p:spPr/>
        <p:txBody>
          <a:bodyPr/>
          <a:lstStyle/>
          <a:p>
            <a:fld id="{7ED90274-685F-4D7E-99ED-88171C3A13D5}" type="datetimeFigureOut">
              <a:rPr lang="en-US" smtClean="0"/>
              <a:t>5/23/2026</a:t>
            </a:fld>
            <a:endParaRPr lang="en-US"/>
          </a:p>
        </p:txBody>
      </p:sp>
      <p:sp>
        <p:nvSpPr>
          <p:cNvPr id="8" name="Footer Placeholder 7">
            <a:extLst>
              <a:ext uri="{FF2B5EF4-FFF2-40B4-BE49-F238E27FC236}">
                <a16:creationId xmlns:a16="http://schemas.microsoft.com/office/drawing/2014/main" id="{D4FD60F4-02F2-3A09-B9C6-EFAF1798BB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9F2F76-0C6C-652C-608C-3BF6BB6A10A8}"/>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1315990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CD49B-C3AA-4678-F787-187D1071F7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1C3BBF-17BB-B619-42D0-695206702841}"/>
              </a:ext>
            </a:extLst>
          </p:cNvPr>
          <p:cNvSpPr>
            <a:spLocks noGrp="1"/>
          </p:cNvSpPr>
          <p:nvPr>
            <p:ph type="dt" sz="half" idx="10"/>
          </p:nvPr>
        </p:nvSpPr>
        <p:spPr/>
        <p:txBody>
          <a:bodyPr/>
          <a:lstStyle/>
          <a:p>
            <a:fld id="{7ED90274-685F-4D7E-99ED-88171C3A13D5}" type="datetimeFigureOut">
              <a:rPr lang="en-US" smtClean="0"/>
              <a:t>5/23/2026</a:t>
            </a:fld>
            <a:endParaRPr lang="en-US"/>
          </a:p>
        </p:txBody>
      </p:sp>
      <p:sp>
        <p:nvSpPr>
          <p:cNvPr id="4" name="Footer Placeholder 3">
            <a:extLst>
              <a:ext uri="{FF2B5EF4-FFF2-40B4-BE49-F238E27FC236}">
                <a16:creationId xmlns:a16="http://schemas.microsoft.com/office/drawing/2014/main" id="{77162889-3F8A-1E84-B031-9594D027E7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6E6227-B198-7DBA-DCD6-613970161207}"/>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1366986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E38819-2E61-5AB0-A0C2-3A8AB5EB26E7}"/>
              </a:ext>
            </a:extLst>
          </p:cNvPr>
          <p:cNvSpPr>
            <a:spLocks noGrp="1"/>
          </p:cNvSpPr>
          <p:nvPr>
            <p:ph type="dt" sz="half" idx="10"/>
          </p:nvPr>
        </p:nvSpPr>
        <p:spPr/>
        <p:txBody>
          <a:bodyPr/>
          <a:lstStyle/>
          <a:p>
            <a:fld id="{7ED90274-685F-4D7E-99ED-88171C3A13D5}" type="datetimeFigureOut">
              <a:rPr lang="en-US" smtClean="0"/>
              <a:t>5/23/2026</a:t>
            </a:fld>
            <a:endParaRPr lang="en-US"/>
          </a:p>
        </p:txBody>
      </p:sp>
      <p:sp>
        <p:nvSpPr>
          <p:cNvPr id="3" name="Footer Placeholder 2">
            <a:extLst>
              <a:ext uri="{FF2B5EF4-FFF2-40B4-BE49-F238E27FC236}">
                <a16:creationId xmlns:a16="http://schemas.microsoft.com/office/drawing/2014/main" id="{7F2F763D-B884-51D7-D1C5-01893BD844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31B94E-4F3F-00A8-0D9C-8375F3951B4E}"/>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1910367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114E5-E7B3-C6A0-0DD0-C51DEAEB07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09FB24-C95A-BF34-558F-29DE18809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579D93-B637-C272-8BDF-663F181A7E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977EF5-1738-A078-2A6E-20FB42A4D567}"/>
              </a:ext>
            </a:extLst>
          </p:cNvPr>
          <p:cNvSpPr>
            <a:spLocks noGrp="1"/>
          </p:cNvSpPr>
          <p:nvPr>
            <p:ph type="dt" sz="half" idx="10"/>
          </p:nvPr>
        </p:nvSpPr>
        <p:spPr/>
        <p:txBody>
          <a:bodyPr/>
          <a:lstStyle/>
          <a:p>
            <a:fld id="{7ED90274-685F-4D7E-99ED-88171C3A13D5}" type="datetimeFigureOut">
              <a:rPr lang="en-US" smtClean="0"/>
              <a:t>5/23/2026</a:t>
            </a:fld>
            <a:endParaRPr lang="en-US"/>
          </a:p>
        </p:txBody>
      </p:sp>
      <p:sp>
        <p:nvSpPr>
          <p:cNvPr id="6" name="Footer Placeholder 5">
            <a:extLst>
              <a:ext uri="{FF2B5EF4-FFF2-40B4-BE49-F238E27FC236}">
                <a16:creationId xmlns:a16="http://schemas.microsoft.com/office/drawing/2014/main" id="{DF9C800F-5DF8-1F36-EF38-F0FCD2CE8E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A157E1-E569-7009-4A6C-749B74B13CA1}"/>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392227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57276-3562-9CA0-B5A2-65241FF3F1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2DCEE2-0456-9771-AB3F-C1695E113C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3AD728-05C0-66F5-3E32-3E16D75442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1E82EC-350B-E3CD-38B2-F6130BD2F6B2}"/>
              </a:ext>
            </a:extLst>
          </p:cNvPr>
          <p:cNvSpPr>
            <a:spLocks noGrp="1"/>
          </p:cNvSpPr>
          <p:nvPr>
            <p:ph type="dt" sz="half" idx="10"/>
          </p:nvPr>
        </p:nvSpPr>
        <p:spPr/>
        <p:txBody>
          <a:bodyPr/>
          <a:lstStyle/>
          <a:p>
            <a:fld id="{7ED90274-685F-4D7E-99ED-88171C3A13D5}" type="datetimeFigureOut">
              <a:rPr lang="en-US" smtClean="0"/>
              <a:t>5/23/2026</a:t>
            </a:fld>
            <a:endParaRPr lang="en-US"/>
          </a:p>
        </p:txBody>
      </p:sp>
      <p:sp>
        <p:nvSpPr>
          <p:cNvPr id="6" name="Footer Placeholder 5">
            <a:extLst>
              <a:ext uri="{FF2B5EF4-FFF2-40B4-BE49-F238E27FC236}">
                <a16:creationId xmlns:a16="http://schemas.microsoft.com/office/drawing/2014/main" id="{F36D6231-E8AE-9C21-7315-561AF64054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BBF700-52DA-8EE5-79CA-0BDEADB37854}"/>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3934366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0DC3F-7B74-4B7F-A695-EFDF1E34DA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855576-3E52-AFF4-8C3C-F3A84C4480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0D68B8-E481-CE7E-B65F-FF346CA8294C}"/>
              </a:ext>
            </a:extLst>
          </p:cNvPr>
          <p:cNvSpPr>
            <a:spLocks noGrp="1"/>
          </p:cNvSpPr>
          <p:nvPr>
            <p:ph type="dt" sz="half" idx="10"/>
          </p:nvPr>
        </p:nvSpPr>
        <p:spPr/>
        <p:txBody>
          <a:bodyPr/>
          <a:lstStyle/>
          <a:p>
            <a:fld id="{7ED90274-685F-4D7E-99ED-88171C3A13D5}" type="datetimeFigureOut">
              <a:rPr lang="en-US" smtClean="0"/>
              <a:t>5/23/2026</a:t>
            </a:fld>
            <a:endParaRPr lang="en-US"/>
          </a:p>
        </p:txBody>
      </p:sp>
      <p:sp>
        <p:nvSpPr>
          <p:cNvPr id="5" name="Footer Placeholder 4">
            <a:extLst>
              <a:ext uri="{FF2B5EF4-FFF2-40B4-BE49-F238E27FC236}">
                <a16:creationId xmlns:a16="http://schemas.microsoft.com/office/drawing/2014/main" id="{90B9EF36-20DE-D982-910C-722C79C4E9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316067-93D7-A9AD-CEFC-E1546AEB5FD4}"/>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1281175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08B5DE-5495-11F7-9B06-871AE11D80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E2D4E2-AC56-762E-11D7-59305129F9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3242C8-E980-64E8-C0B6-078E8CAB6738}"/>
              </a:ext>
            </a:extLst>
          </p:cNvPr>
          <p:cNvSpPr>
            <a:spLocks noGrp="1"/>
          </p:cNvSpPr>
          <p:nvPr>
            <p:ph type="dt" sz="half" idx="10"/>
          </p:nvPr>
        </p:nvSpPr>
        <p:spPr/>
        <p:txBody>
          <a:bodyPr/>
          <a:lstStyle/>
          <a:p>
            <a:fld id="{7ED90274-685F-4D7E-99ED-88171C3A13D5}" type="datetimeFigureOut">
              <a:rPr lang="en-US" smtClean="0"/>
              <a:t>5/23/2026</a:t>
            </a:fld>
            <a:endParaRPr lang="en-US"/>
          </a:p>
        </p:txBody>
      </p:sp>
      <p:sp>
        <p:nvSpPr>
          <p:cNvPr id="5" name="Footer Placeholder 4">
            <a:extLst>
              <a:ext uri="{FF2B5EF4-FFF2-40B4-BE49-F238E27FC236}">
                <a16:creationId xmlns:a16="http://schemas.microsoft.com/office/drawing/2014/main" id="{2B75F0CE-E222-4151-A228-80AAC9B51C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65850B-0067-25B6-8844-BE20E43929B2}"/>
              </a:ext>
            </a:extLst>
          </p:cNvPr>
          <p:cNvSpPr>
            <a:spLocks noGrp="1"/>
          </p:cNvSpPr>
          <p:nvPr>
            <p:ph type="sldNum" sz="quarter" idx="12"/>
          </p:nvPr>
        </p:nvSpPr>
        <p:spPr/>
        <p:txBody>
          <a:bodyPr/>
          <a:lstStyle/>
          <a:p>
            <a:fld id="{A295DDFD-3EB8-49F3-926B-5550164471ED}" type="slidenum">
              <a:rPr lang="en-US" smtClean="0"/>
              <a:t>‹#›</a:t>
            </a:fld>
            <a:endParaRPr lang="en-US"/>
          </a:p>
        </p:txBody>
      </p:sp>
    </p:spTree>
    <p:extLst>
      <p:ext uri="{BB962C8B-B14F-4D97-AF65-F5344CB8AC3E}">
        <p14:creationId xmlns:p14="http://schemas.microsoft.com/office/powerpoint/2010/main" val="8858820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7997E41-8A74-440F-8728-FC7F2D05942E}"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3208625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997E41-8A74-440F-8728-FC7F2D05942E}"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2092152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7997E41-8A74-440F-8728-FC7F2D05942E}"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9313816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7997E41-8A74-440F-8728-FC7F2D05942E}"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3343671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7997E41-8A74-440F-8728-FC7F2D05942E}" type="datetimeFigureOut">
              <a:rPr lang="en-US" smtClean="0"/>
              <a:t>5/23/2026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140441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7997E41-8A74-440F-8728-FC7F2D05942E}" type="datetimeFigureOut">
              <a:rPr lang="en-US" smtClean="0"/>
              <a:t>5/23/2026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2831353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997E41-8A74-440F-8728-FC7F2D05942E}" type="datetimeFigureOut">
              <a:rPr lang="en-US" smtClean="0"/>
              <a:t>5/23/2026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35514205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997E41-8A74-440F-8728-FC7F2D05942E}"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37824304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997E41-8A74-440F-8728-FC7F2D05942E}" type="datetimeFigureOut">
              <a:rPr lang="en-US" smtClean="0"/>
              <a:t>5/23/2026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20990041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997E41-8A74-440F-8728-FC7F2D05942E}"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1141141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997E41-8A74-440F-8728-FC7F2D05942E}" type="datetimeFigureOut">
              <a:rPr lang="en-US" smtClean="0"/>
              <a:t>5/23/2026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B7610C-C9A5-481B-9FB9-351E71BF674B}" type="slidenum">
              <a:rPr lang="en-US" smtClean="0"/>
              <a:t>‹#›</a:t>
            </a:fld>
            <a:endParaRPr lang="en-US"/>
          </a:p>
        </p:txBody>
      </p:sp>
    </p:spTree>
    <p:extLst>
      <p:ext uri="{BB962C8B-B14F-4D97-AF65-F5344CB8AC3E}">
        <p14:creationId xmlns:p14="http://schemas.microsoft.com/office/powerpoint/2010/main" val="955851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94EBA8-2DE3-34BA-0B04-A54249F92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296858-F4FB-7416-ED99-3FDB936ADF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87B541-2EF3-9AE1-8C19-7211202601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D90274-685F-4D7E-99ED-88171C3A13D5}" type="datetimeFigureOut">
              <a:rPr lang="en-US" smtClean="0"/>
              <a:t>5/23/2026</a:t>
            </a:fld>
            <a:endParaRPr lang="en-US"/>
          </a:p>
        </p:txBody>
      </p:sp>
      <p:sp>
        <p:nvSpPr>
          <p:cNvPr id="5" name="Footer Placeholder 4">
            <a:extLst>
              <a:ext uri="{FF2B5EF4-FFF2-40B4-BE49-F238E27FC236}">
                <a16:creationId xmlns:a16="http://schemas.microsoft.com/office/drawing/2014/main" id="{0605F200-F078-28B8-3FD9-9D1F8D80ED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E9C7A8-4A5F-F56D-1B16-1BBCBA6C32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95DDFD-3EB8-49F3-926B-5550164471ED}" type="slidenum">
              <a:rPr lang="en-US" smtClean="0"/>
              <a:t>‹#›</a:t>
            </a:fld>
            <a:endParaRPr lang="en-US"/>
          </a:p>
        </p:txBody>
      </p:sp>
    </p:spTree>
    <p:extLst>
      <p:ext uri="{BB962C8B-B14F-4D97-AF65-F5344CB8AC3E}">
        <p14:creationId xmlns:p14="http://schemas.microsoft.com/office/powerpoint/2010/main" val="3496223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997E41-8A74-440F-8728-FC7F2D05942E}" type="datetimeFigureOut">
              <a:rPr lang="en-US" smtClean="0"/>
              <a:t>5/23/2026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B7610C-C9A5-481B-9FB9-351E71BF674B}" type="slidenum">
              <a:rPr lang="en-US" smtClean="0"/>
              <a:t>‹#›</a:t>
            </a:fld>
            <a:endParaRPr lang="en-US"/>
          </a:p>
        </p:txBody>
      </p:sp>
      <p:sp>
        <p:nvSpPr>
          <p:cNvPr id="7" name="Rectangle 6"/>
          <p:cNvSpPr/>
          <p:nvPr userDrawn="1"/>
        </p:nvSpPr>
        <p:spPr>
          <a:xfrm>
            <a:off x="0" y="0"/>
            <a:ext cx="12192000" cy="573741"/>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25124712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arxiv.org/pdf/1406.1078v3.pdf" TargetMode="Externa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49.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99899" y="2693745"/>
            <a:ext cx="6192202" cy="1272389"/>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DEEP LEARNING COURSE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FALL 2024</a:t>
            </a:r>
          </a:p>
        </p:txBody>
      </p:sp>
      <p:sp>
        <p:nvSpPr>
          <p:cNvPr id="4" name="Rectangle 3"/>
          <p:cNvSpPr/>
          <p:nvPr/>
        </p:nvSpPr>
        <p:spPr>
          <a:xfrm>
            <a:off x="0" y="0"/>
            <a:ext cx="12192000" cy="1362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8107680" y="6263640"/>
            <a:ext cx="35204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Usman Khan, PhD</a:t>
            </a:r>
          </a:p>
        </p:txBody>
      </p:sp>
    </p:spTree>
    <p:extLst>
      <p:ext uri="{BB962C8B-B14F-4D97-AF65-F5344CB8AC3E}">
        <p14:creationId xmlns:p14="http://schemas.microsoft.com/office/powerpoint/2010/main" val="1188647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3092" y="1037492"/>
            <a:ext cx="5811716" cy="96715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LSTM NETWORK</a:t>
            </a:r>
          </a:p>
        </p:txBody>
      </p:sp>
      <p:sp>
        <p:nvSpPr>
          <p:cNvPr id="2" name="TextBox 1"/>
          <p:cNvSpPr txBox="1"/>
          <p:nvPr/>
        </p:nvSpPr>
        <p:spPr>
          <a:xfrm>
            <a:off x="536331" y="1169377"/>
            <a:ext cx="11157438" cy="568745"/>
          </a:xfrm>
          <a:prstGeom prst="rect">
            <a:avLst/>
          </a:prstGeom>
          <a:noFill/>
        </p:spPr>
        <p:txBody>
          <a:bodyPr wrap="square" rtlCol="0">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A8474358-C87C-3C6D-E832-9E0D0FD707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33" y="1453749"/>
            <a:ext cx="9126288" cy="3429000"/>
          </a:xfrm>
          <a:prstGeom prst="rect">
            <a:avLst/>
          </a:prstGeom>
        </p:spPr>
      </p:pic>
    </p:spTree>
    <p:extLst>
      <p:ext uri="{BB962C8B-B14F-4D97-AF65-F5344CB8AC3E}">
        <p14:creationId xmlns:p14="http://schemas.microsoft.com/office/powerpoint/2010/main" val="3296529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3092" y="1037492"/>
            <a:ext cx="5811716" cy="96715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PEEP HOLE LSTM</a:t>
            </a:r>
          </a:p>
        </p:txBody>
      </p:sp>
      <p:sp>
        <p:nvSpPr>
          <p:cNvPr id="2" name="TextBox 1"/>
          <p:cNvSpPr txBox="1"/>
          <p:nvPr/>
        </p:nvSpPr>
        <p:spPr>
          <a:xfrm>
            <a:off x="536331" y="1169377"/>
            <a:ext cx="11157438" cy="568745"/>
          </a:xfrm>
          <a:prstGeom prst="rect">
            <a:avLst/>
          </a:prstGeom>
          <a:noFill/>
        </p:spPr>
        <p:txBody>
          <a:bodyPr wrap="square" rtlCol="0">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a:off x="1230923" y="5530362"/>
            <a:ext cx="10410092" cy="92333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adds “peepholes” to the input, forget, and output gates, so they can see the previous cell state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Decisions will be made taking into account the long term memory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39E7EED4-FFFB-3AF9-9992-94313124F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331" y="1453749"/>
            <a:ext cx="11101693" cy="3429000"/>
          </a:xfrm>
          <a:prstGeom prst="rect">
            <a:avLst/>
          </a:prstGeom>
        </p:spPr>
      </p:pic>
    </p:spTree>
    <p:extLst>
      <p:ext uri="{BB962C8B-B14F-4D97-AF65-F5344CB8AC3E}">
        <p14:creationId xmlns:p14="http://schemas.microsoft.com/office/powerpoint/2010/main" val="4232001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3092" y="1037492"/>
            <a:ext cx="5811716" cy="96715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COUPLED FORGET &amp; INPUT GATE LSTM</a:t>
            </a:r>
          </a:p>
        </p:txBody>
      </p:sp>
      <p:sp>
        <p:nvSpPr>
          <p:cNvPr id="2" name="TextBox 1"/>
          <p:cNvSpPr txBox="1"/>
          <p:nvPr/>
        </p:nvSpPr>
        <p:spPr>
          <a:xfrm>
            <a:off x="536331" y="1169377"/>
            <a:ext cx="11157438" cy="568745"/>
          </a:xfrm>
          <a:prstGeom prst="rect">
            <a:avLst/>
          </a:prstGeom>
          <a:noFill/>
        </p:spPr>
        <p:txBody>
          <a:bodyPr wrap="square" rtlCol="0">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a:off x="1230923" y="5530362"/>
            <a:ext cx="10410092" cy="120032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Instead of having a separate decision what to store in the long term memory based on input and short term memory only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we have an input from the long term memory as well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FC33C59F-1A19-3239-AE9F-CCD6E77DD5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150" y="1453749"/>
            <a:ext cx="10721865" cy="3311682"/>
          </a:xfrm>
          <a:prstGeom prst="rect">
            <a:avLst/>
          </a:prstGeom>
        </p:spPr>
      </p:pic>
    </p:spTree>
    <p:extLst>
      <p:ext uri="{BB962C8B-B14F-4D97-AF65-F5344CB8AC3E}">
        <p14:creationId xmlns:p14="http://schemas.microsoft.com/office/powerpoint/2010/main" val="1713120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GATED RECURRENT UNIT (GRU)</a:t>
            </a:r>
          </a:p>
        </p:txBody>
      </p:sp>
      <p:pic>
        <p:nvPicPr>
          <p:cNvPr id="2" name="Picture 1">
            <a:extLst>
              <a:ext uri="{FF2B5EF4-FFF2-40B4-BE49-F238E27FC236}">
                <a16:creationId xmlns:a16="http://schemas.microsoft.com/office/drawing/2014/main" id="{214E7BBA-5F57-0053-9334-3E4FE3125D81}"/>
              </a:ext>
            </a:extLst>
          </p:cNvPr>
          <p:cNvPicPr>
            <a:picLocks noChangeAspect="1"/>
          </p:cNvPicPr>
          <p:nvPr/>
        </p:nvPicPr>
        <p:blipFill>
          <a:blip r:embed="rId2"/>
          <a:stretch>
            <a:fillRect/>
          </a:stretch>
        </p:blipFill>
        <p:spPr>
          <a:xfrm>
            <a:off x="2404088" y="1361162"/>
            <a:ext cx="8002184" cy="5118768"/>
          </a:xfrm>
          <a:prstGeom prst="rect">
            <a:avLst/>
          </a:prstGeom>
        </p:spPr>
      </p:pic>
    </p:spTree>
    <p:extLst>
      <p:ext uri="{BB962C8B-B14F-4D97-AF65-F5344CB8AC3E}">
        <p14:creationId xmlns:p14="http://schemas.microsoft.com/office/powerpoint/2010/main" val="2084588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3092" y="1037492"/>
            <a:ext cx="5811716" cy="96715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GATED RECURRENT UNIT (GRU) </a:t>
            </a:r>
          </a:p>
        </p:txBody>
      </p:sp>
      <p:sp>
        <p:nvSpPr>
          <p:cNvPr id="2" name="TextBox 1"/>
          <p:cNvSpPr txBox="1"/>
          <p:nvPr/>
        </p:nvSpPr>
        <p:spPr>
          <a:xfrm>
            <a:off x="536331" y="1169377"/>
            <a:ext cx="11157438" cy="568745"/>
          </a:xfrm>
          <a:prstGeom prst="rect">
            <a:avLst/>
          </a:prstGeom>
          <a:noFill/>
        </p:spPr>
        <p:txBody>
          <a:bodyPr wrap="square" rtlCol="0">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p:cNvSpPr txBox="1"/>
          <p:nvPr/>
        </p:nvSpPr>
        <p:spPr>
          <a:xfrm>
            <a:off x="910004" y="4870939"/>
            <a:ext cx="10410092" cy="120032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slightly more dramatic variation on the LSTM is the Gated Recurrent Unit, or GRU, introduced by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2"/>
              </a:rPr>
              <a:t>Cho, et al. (2014)</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combines the </a:t>
            </a:r>
            <a:r>
              <a:rPr kumimoji="0" lang="en-US" sz="1800" b="1" i="0" u="none" strike="noStrike" kern="1200" cap="none" spc="0" normalizeH="0" baseline="0" noProof="0" dirty="0">
                <a:ln>
                  <a:noFill/>
                </a:ln>
                <a:solidFill>
                  <a:srgbClr val="FF0000"/>
                </a:solidFill>
                <a:effectLst/>
                <a:uLnTx/>
                <a:uFillTx/>
                <a:latin typeface="Calibri" panose="020F0502020204030204"/>
                <a:ea typeface="+mn-ea"/>
                <a:cs typeface="+mn-cs"/>
              </a:rPr>
              <a:t>forget and input gates into a single “update gate.”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resulting model is simpler than standard LSTM models, and has been growing increasingly popular.</a:t>
            </a:r>
          </a:p>
        </p:txBody>
      </p:sp>
      <p:pic>
        <p:nvPicPr>
          <p:cNvPr id="3" name="Picture 2">
            <a:extLst>
              <a:ext uri="{FF2B5EF4-FFF2-40B4-BE49-F238E27FC236}">
                <a16:creationId xmlns:a16="http://schemas.microsoft.com/office/drawing/2014/main" id="{DC5F6F9A-1CBA-1481-3D71-C9136DFFFA5E}"/>
              </a:ext>
            </a:extLst>
          </p:cNvPr>
          <p:cNvPicPr>
            <a:picLocks noChangeAspect="1"/>
          </p:cNvPicPr>
          <p:nvPr/>
        </p:nvPicPr>
        <p:blipFill>
          <a:blip r:embed="rId3"/>
          <a:stretch>
            <a:fillRect/>
          </a:stretch>
        </p:blipFill>
        <p:spPr>
          <a:xfrm>
            <a:off x="1666131" y="1661747"/>
            <a:ext cx="8897838" cy="2886900"/>
          </a:xfrm>
          <a:prstGeom prst="rect">
            <a:avLst/>
          </a:prstGeom>
        </p:spPr>
      </p:pic>
    </p:spTree>
    <p:extLst>
      <p:ext uri="{BB962C8B-B14F-4D97-AF65-F5344CB8AC3E}">
        <p14:creationId xmlns:p14="http://schemas.microsoft.com/office/powerpoint/2010/main" val="765414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3092" y="1037492"/>
            <a:ext cx="5811716" cy="967154"/>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GATED RECURRENT UNIT (GRU)</a:t>
            </a:r>
          </a:p>
        </p:txBody>
      </p:sp>
      <p:sp>
        <p:nvSpPr>
          <p:cNvPr id="2" name="TextBox 1"/>
          <p:cNvSpPr txBox="1"/>
          <p:nvPr/>
        </p:nvSpPr>
        <p:spPr>
          <a:xfrm>
            <a:off x="536331" y="1169377"/>
            <a:ext cx="11157438" cy="5078313"/>
          </a:xfrm>
          <a:prstGeom prst="rect">
            <a:avLst/>
          </a:prstGeom>
          <a:noFill/>
        </p:spPr>
        <p:txBody>
          <a:bodyPr wrap="square" rtlCol="0">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GRU is a variant of the LSTM</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retains the LSTM’s resistance to the vanishing gradient problem, but its internal structure is simpler </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Faster to train, since fewer computations are needed to make updates to its hidden state</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Instead of the input (</a:t>
            </a:r>
            <a:r>
              <a:rPr kumimoji="0" lang="en-US" sz="1800" b="0" i="1" u="none" strike="noStrike" kern="1200" cap="none" spc="0" normalizeH="0" baseline="0" noProof="0" dirty="0" err="1">
                <a:ln>
                  <a:noFill/>
                </a:ln>
                <a:solidFill>
                  <a:prstClr val="black"/>
                </a:solidFill>
                <a:effectLst/>
                <a:uLnTx/>
                <a:uFillTx/>
                <a:latin typeface="Calibri" panose="020F0502020204030204"/>
                <a:ea typeface="+mn-ea"/>
                <a:cs typeface="+mn-cs"/>
              </a:rPr>
              <a:t>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forgot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output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o</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gates in the LSTM cell, the GRU cell has two gates, </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update gate </a:t>
            </a:r>
            <a:r>
              <a:rPr kumimoji="0" lang="en-US" sz="1800" b="1" i="1" u="none" strike="noStrike" kern="1200" cap="none" spc="0" normalizeH="0" baseline="0" noProof="0" dirty="0">
                <a:ln>
                  <a:noFill/>
                </a:ln>
                <a:solidFill>
                  <a:srgbClr val="FF0000"/>
                </a:solidFill>
                <a:effectLst/>
                <a:uLnTx/>
                <a:uFillTx/>
                <a:latin typeface="Calibri" panose="020F0502020204030204"/>
                <a:ea typeface="+mn-ea"/>
                <a:cs typeface="+mn-cs"/>
              </a:rPr>
              <a:t>z</a:t>
            </a:r>
            <a:r>
              <a:rPr kumimoji="0" lang="en-US" sz="1800" b="0" i="1"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a reset gate </a:t>
            </a:r>
            <a:r>
              <a:rPr kumimoji="0" lang="en-US" sz="1800" b="1" i="1" u="none" strike="noStrike" kern="1200" cap="none" spc="0" normalizeH="0" baseline="0" noProof="0" dirty="0">
                <a:ln>
                  <a:noFill/>
                </a:ln>
                <a:solidFill>
                  <a:srgbClr val="FF0000"/>
                </a:solidFill>
                <a:effectLst/>
                <a:uLnTx/>
                <a:uFillTx/>
                <a:latin typeface="Calibri" panose="020F0502020204030204"/>
                <a:ea typeface="+mn-ea"/>
                <a:cs typeface="+mn-cs"/>
              </a:rPr>
              <a:t>r</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update gate defines how much previous memory to keep around</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reset gate defines how to combine the new input with the previous memory</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There is no persistent cell state distinct from the hidden state as it is in LSTM </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3334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COMPARISON OF GRUS &amp; LSTMS</a:t>
            </a:r>
          </a:p>
        </p:txBody>
      </p:sp>
      <p:graphicFrame>
        <p:nvGraphicFramePr>
          <p:cNvPr id="2" name="Table 1"/>
          <p:cNvGraphicFramePr>
            <a:graphicFrameLocks noGrp="1"/>
          </p:cNvGraphicFramePr>
          <p:nvPr/>
        </p:nvGraphicFramePr>
        <p:xfrm>
          <a:off x="334108" y="719664"/>
          <a:ext cx="11377246" cy="5208010"/>
        </p:xfrm>
        <a:graphic>
          <a:graphicData uri="http://schemas.openxmlformats.org/drawingml/2006/table">
            <a:tbl>
              <a:tblPr firstRow="1" bandRow="1">
                <a:tableStyleId>{5C22544A-7EE6-4342-B048-85BDC9FD1C3A}</a:tableStyleId>
              </a:tblPr>
              <a:tblGrid>
                <a:gridCol w="650630">
                  <a:extLst>
                    <a:ext uri="{9D8B030D-6E8A-4147-A177-3AD203B41FA5}">
                      <a16:colId xmlns:a16="http://schemas.microsoft.com/office/drawing/2014/main" val="3290345991"/>
                    </a:ext>
                  </a:extLst>
                </a:gridCol>
                <a:gridCol w="5353876">
                  <a:extLst>
                    <a:ext uri="{9D8B030D-6E8A-4147-A177-3AD203B41FA5}">
                      <a16:colId xmlns:a16="http://schemas.microsoft.com/office/drawing/2014/main" val="730005603"/>
                    </a:ext>
                  </a:extLst>
                </a:gridCol>
                <a:gridCol w="5372740">
                  <a:extLst>
                    <a:ext uri="{9D8B030D-6E8A-4147-A177-3AD203B41FA5}">
                      <a16:colId xmlns:a16="http://schemas.microsoft.com/office/drawing/2014/main" val="603123538"/>
                    </a:ext>
                  </a:extLst>
                </a:gridCol>
              </a:tblGrid>
              <a:tr h="453130">
                <a:tc>
                  <a:txBody>
                    <a:bodyPr/>
                    <a:lstStyle/>
                    <a:p>
                      <a:r>
                        <a:rPr lang="en-US" dirty="0" err="1">
                          <a:solidFill>
                            <a:schemeClr val="tx2">
                              <a:lumMod val="50000"/>
                            </a:schemeClr>
                          </a:solidFill>
                          <a:effectLst>
                            <a:outerShdw blurRad="38100" dist="38100" dir="2700000" algn="tl">
                              <a:srgbClr val="000000">
                                <a:alpha val="43137"/>
                              </a:srgbClr>
                            </a:outerShdw>
                          </a:effectLst>
                        </a:rPr>
                        <a:t>Ser</a:t>
                      </a:r>
                      <a:endParaRPr lang="en-US" dirty="0">
                        <a:solidFill>
                          <a:schemeClr val="tx2">
                            <a:lumMod val="50000"/>
                          </a:schemeClr>
                        </a:solidFill>
                        <a:effectLst>
                          <a:outerShdw blurRad="38100" dist="38100" dir="2700000" algn="tl">
                            <a:srgbClr val="000000">
                              <a:alpha val="43137"/>
                            </a:srgbClr>
                          </a:outerShdw>
                        </a:effectLst>
                      </a:endParaRPr>
                    </a:p>
                  </a:txBody>
                  <a:tcPr/>
                </a:tc>
                <a:tc>
                  <a:txBody>
                    <a:bodyPr/>
                    <a:lstStyle/>
                    <a:p>
                      <a:r>
                        <a:rPr lang="en-US" dirty="0">
                          <a:solidFill>
                            <a:schemeClr val="tx2">
                              <a:lumMod val="50000"/>
                            </a:schemeClr>
                          </a:solidFill>
                          <a:effectLst>
                            <a:outerShdw blurRad="38100" dist="38100" dir="2700000" algn="tl">
                              <a:srgbClr val="000000">
                                <a:alpha val="43137"/>
                              </a:srgbClr>
                            </a:outerShdw>
                          </a:effectLst>
                        </a:rPr>
                        <a:t>LSTMs</a:t>
                      </a:r>
                    </a:p>
                  </a:txBody>
                  <a:tcPr/>
                </a:tc>
                <a:tc>
                  <a:txBody>
                    <a:bodyPr/>
                    <a:lstStyle/>
                    <a:p>
                      <a:r>
                        <a:rPr lang="en-US" dirty="0">
                          <a:solidFill>
                            <a:schemeClr val="tx2">
                              <a:lumMod val="50000"/>
                            </a:schemeClr>
                          </a:solidFill>
                          <a:effectLst>
                            <a:outerShdw blurRad="38100" dist="38100" dir="2700000" algn="tl">
                              <a:srgbClr val="000000">
                                <a:alpha val="43137"/>
                              </a:srgbClr>
                            </a:outerShdw>
                          </a:effectLst>
                        </a:rPr>
                        <a:t>GRUs</a:t>
                      </a:r>
                    </a:p>
                  </a:txBody>
                  <a:tcPr/>
                </a:tc>
                <a:extLst>
                  <a:ext uri="{0D108BD9-81ED-4DB2-BD59-A6C34878D82A}">
                    <a16:rowId xmlns:a16="http://schemas.microsoft.com/office/drawing/2014/main" val="3011260248"/>
                  </a:ext>
                </a:extLst>
              </a:tr>
              <a:tr h="453130">
                <a:tc>
                  <a:txBody>
                    <a:bodyPr/>
                    <a:lstStyle/>
                    <a:p>
                      <a:pPr algn="ctr"/>
                      <a:r>
                        <a:rPr lang="en-US" dirty="0"/>
                        <a:t>a.</a:t>
                      </a:r>
                    </a:p>
                  </a:txBody>
                  <a:tcPr/>
                </a:tc>
                <a:tc>
                  <a:txBody>
                    <a:bodyPr/>
                    <a:lstStyle/>
                    <a:p>
                      <a:r>
                        <a:rPr lang="en-US" sz="1800" b="0" i="0" kern="1200" dirty="0">
                          <a:solidFill>
                            <a:schemeClr val="dk1"/>
                          </a:solidFill>
                          <a:effectLst/>
                          <a:latin typeface="+mn-lt"/>
                          <a:ea typeface="+mn-ea"/>
                          <a:cs typeface="+mn-cs"/>
                        </a:rPr>
                        <a:t>LSTM has a </a:t>
                      </a:r>
                      <a:r>
                        <a:rPr lang="en-US" sz="1800" b="0" i="0" kern="1200" dirty="0">
                          <a:solidFill>
                            <a:srgbClr val="FF0000"/>
                          </a:solidFill>
                          <a:effectLst/>
                          <a:latin typeface="+mn-lt"/>
                          <a:ea typeface="+mn-ea"/>
                          <a:cs typeface="+mn-cs"/>
                        </a:rPr>
                        <a:t>more complex architecture </a:t>
                      </a:r>
                      <a:r>
                        <a:rPr lang="en-US" sz="1800" b="0" i="0" kern="1200" dirty="0">
                          <a:solidFill>
                            <a:schemeClr val="dk1"/>
                          </a:solidFill>
                          <a:effectLst/>
                          <a:latin typeface="+mn-lt"/>
                          <a:ea typeface="+mn-ea"/>
                          <a:cs typeface="+mn-cs"/>
                        </a:rPr>
                        <a:t>compared to GRU. It consists of </a:t>
                      </a:r>
                      <a:r>
                        <a:rPr lang="en-US" sz="1800" b="0" i="0" kern="1200" dirty="0">
                          <a:solidFill>
                            <a:srgbClr val="FF0000"/>
                          </a:solidFill>
                          <a:effectLst/>
                          <a:latin typeface="+mn-lt"/>
                          <a:ea typeface="+mn-ea"/>
                          <a:cs typeface="+mn-cs"/>
                        </a:rPr>
                        <a:t>three gates</a:t>
                      </a:r>
                      <a:r>
                        <a:rPr lang="en-US" sz="1800" b="0" i="0" kern="1200" dirty="0">
                          <a:solidFill>
                            <a:schemeClr val="dk1"/>
                          </a:solidFill>
                          <a:effectLst/>
                          <a:latin typeface="+mn-lt"/>
                          <a:ea typeface="+mn-ea"/>
                          <a:cs typeface="+mn-cs"/>
                        </a:rPr>
                        <a:t>: the input gate (</a:t>
                      </a:r>
                      <a:r>
                        <a:rPr lang="en-US" sz="1800" b="0" i="0" kern="1200" dirty="0" err="1">
                          <a:solidFill>
                            <a:schemeClr val="dk1"/>
                          </a:solidFill>
                          <a:effectLst/>
                          <a:latin typeface="+mn-lt"/>
                          <a:ea typeface="+mn-ea"/>
                          <a:cs typeface="+mn-cs"/>
                        </a:rPr>
                        <a:t>i</a:t>
                      </a:r>
                      <a:r>
                        <a:rPr lang="en-US" sz="1800" b="0" i="0" kern="1200" dirty="0">
                          <a:solidFill>
                            <a:schemeClr val="dk1"/>
                          </a:solidFill>
                          <a:effectLst/>
                          <a:latin typeface="+mn-lt"/>
                          <a:ea typeface="+mn-ea"/>
                          <a:cs typeface="+mn-cs"/>
                        </a:rPr>
                        <a:t>), forget gate (f), and output gate (o). These gates control the flow of information through the cell state, allowing the LSTM to remember or forget information over time.</a:t>
                      </a:r>
                      <a:endParaRPr lang="en-US" dirty="0"/>
                    </a:p>
                  </a:txBody>
                  <a:tcPr/>
                </a:tc>
                <a:tc>
                  <a:txBody>
                    <a:bodyPr/>
                    <a:lstStyle/>
                    <a:p>
                      <a:r>
                        <a:rPr lang="en-US" sz="1800" b="0" i="0" kern="1200" dirty="0">
                          <a:solidFill>
                            <a:schemeClr val="dk1"/>
                          </a:solidFill>
                          <a:effectLst/>
                          <a:latin typeface="+mn-lt"/>
                          <a:ea typeface="+mn-ea"/>
                          <a:cs typeface="+mn-cs"/>
                        </a:rPr>
                        <a:t>GRU has a </a:t>
                      </a:r>
                      <a:r>
                        <a:rPr lang="en-US" sz="1800" b="0" i="0" kern="1200" dirty="0">
                          <a:solidFill>
                            <a:srgbClr val="FF0000"/>
                          </a:solidFill>
                          <a:effectLst/>
                          <a:latin typeface="+mn-lt"/>
                          <a:ea typeface="+mn-ea"/>
                          <a:cs typeface="+mn-cs"/>
                        </a:rPr>
                        <a:t>simplified architecture </a:t>
                      </a:r>
                      <a:r>
                        <a:rPr lang="en-US" sz="1800" b="0" i="0" kern="1200" dirty="0">
                          <a:solidFill>
                            <a:schemeClr val="dk1"/>
                          </a:solidFill>
                          <a:effectLst/>
                          <a:latin typeface="+mn-lt"/>
                          <a:ea typeface="+mn-ea"/>
                          <a:cs typeface="+mn-cs"/>
                        </a:rPr>
                        <a:t>with </a:t>
                      </a:r>
                      <a:r>
                        <a:rPr lang="en-US" sz="1800" b="0" i="0" kern="1200" dirty="0">
                          <a:solidFill>
                            <a:srgbClr val="FF0000"/>
                          </a:solidFill>
                          <a:effectLst/>
                          <a:latin typeface="+mn-lt"/>
                          <a:ea typeface="+mn-ea"/>
                          <a:cs typeface="+mn-cs"/>
                        </a:rPr>
                        <a:t>two gates</a:t>
                      </a:r>
                      <a:r>
                        <a:rPr lang="en-US" sz="1800" b="0" i="0" kern="1200" dirty="0">
                          <a:solidFill>
                            <a:schemeClr val="dk1"/>
                          </a:solidFill>
                          <a:effectLst/>
                          <a:latin typeface="+mn-lt"/>
                          <a:ea typeface="+mn-ea"/>
                          <a:cs typeface="+mn-cs"/>
                        </a:rPr>
                        <a:t>: the update gate (z) and reset gate (r). The update gate controls how much of the previous hidden state should be retained, and the reset gate determines how much of the past information to forget.</a:t>
                      </a:r>
                      <a:endParaRPr lang="en-US" dirty="0"/>
                    </a:p>
                  </a:txBody>
                  <a:tcPr/>
                </a:tc>
                <a:extLst>
                  <a:ext uri="{0D108BD9-81ED-4DB2-BD59-A6C34878D82A}">
                    <a16:rowId xmlns:a16="http://schemas.microsoft.com/office/drawing/2014/main" val="3084297965"/>
                  </a:ext>
                </a:extLst>
              </a:tr>
              <a:tr h="453130">
                <a:tc>
                  <a:txBody>
                    <a:bodyPr/>
                    <a:lstStyle/>
                    <a:p>
                      <a:pPr algn="ctr"/>
                      <a:r>
                        <a:rPr lang="en-US" dirty="0"/>
                        <a:t>b.</a:t>
                      </a:r>
                    </a:p>
                  </a:txBody>
                  <a:tcPr/>
                </a:tc>
                <a:tc>
                  <a:txBody>
                    <a:bodyPr/>
                    <a:lstStyle/>
                    <a:p>
                      <a:r>
                        <a:rPr lang="en-US" sz="1800" b="0" i="0" kern="1200" dirty="0">
                          <a:solidFill>
                            <a:schemeClr val="dk1"/>
                          </a:solidFill>
                          <a:effectLst/>
                          <a:latin typeface="+mn-lt"/>
                          <a:ea typeface="+mn-ea"/>
                          <a:cs typeface="+mn-cs"/>
                        </a:rPr>
                        <a:t>LSTM typically has </a:t>
                      </a:r>
                      <a:r>
                        <a:rPr lang="en-US" sz="1800" b="0" i="0" kern="1200" dirty="0">
                          <a:solidFill>
                            <a:srgbClr val="FF0000"/>
                          </a:solidFill>
                          <a:effectLst/>
                          <a:latin typeface="+mn-lt"/>
                          <a:ea typeface="+mn-ea"/>
                          <a:cs typeface="+mn-cs"/>
                        </a:rPr>
                        <a:t>more parameters than GRU </a:t>
                      </a:r>
                      <a:r>
                        <a:rPr lang="en-US" sz="1800" b="0" i="0" kern="1200" dirty="0">
                          <a:solidFill>
                            <a:schemeClr val="dk1"/>
                          </a:solidFill>
                          <a:effectLst/>
                          <a:latin typeface="+mn-lt"/>
                          <a:ea typeface="+mn-ea"/>
                          <a:cs typeface="+mn-cs"/>
                        </a:rPr>
                        <a:t>due to the additional gate (forget gate). This </a:t>
                      </a:r>
                      <a:r>
                        <a:rPr lang="en-US" sz="1800" b="0" i="0" kern="1200" dirty="0">
                          <a:solidFill>
                            <a:srgbClr val="FF0000"/>
                          </a:solidFill>
                          <a:effectLst/>
                          <a:latin typeface="+mn-lt"/>
                          <a:ea typeface="+mn-ea"/>
                          <a:cs typeface="+mn-cs"/>
                        </a:rPr>
                        <a:t>can make LSTM more powerful but also more prone to overfitting, especially on smaller datasets</a:t>
                      </a:r>
                      <a:r>
                        <a:rPr lang="en-US" sz="1800" b="0" i="0" kern="1200" dirty="0">
                          <a:solidFill>
                            <a:schemeClr val="dk1"/>
                          </a:solidFill>
                          <a:effectLst/>
                          <a:latin typeface="+mn-lt"/>
                          <a:ea typeface="+mn-ea"/>
                          <a:cs typeface="+mn-cs"/>
                        </a:rPr>
                        <a:t>.</a:t>
                      </a:r>
                      <a:endParaRPr lang="en-US" dirty="0"/>
                    </a:p>
                  </a:txBody>
                  <a:tcPr/>
                </a:tc>
                <a:tc>
                  <a:txBody>
                    <a:bodyPr/>
                    <a:lstStyle/>
                    <a:p>
                      <a:r>
                        <a:rPr lang="en-US" sz="1800" b="0" i="0" kern="1200" dirty="0">
                          <a:solidFill>
                            <a:schemeClr val="dk1"/>
                          </a:solidFill>
                          <a:effectLst/>
                          <a:latin typeface="+mn-lt"/>
                          <a:ea typeface="+mn-ea"/>
                          <a:cs typeface="+mn-cs"/>
                        </a:rPr>
                        <a:t>GRU has </a:t>
                      </a:r>
                      <a:r>
                        <a:rPr lang="en-US" sz="1800" b="0" i="0" kern="1200" dirty="0">
                          <a:solidFill>
                            <a:srgbClr val="FF0000"/>
                          </a:solidFill>
                          <a:effectLst/>
                          <a:latin typeface="+mn-lt"/>
                          <a:ea typeface="+mn-ea"/>
                          <a:cs typeface="+mn-cs"/>
                        </a:rPr>
                        <a:t>fewer parameters since it lacks the forget gate</a:t>
                      </a:r>
                      <a:r>
                        <a:rPr lang="en-US" sz="1800" b="0" i="0" kern="1200" dirty="0">
                          <a:solidFill>
                            <a:schemeClr val="dk1"/>
                          </a:solidFill>
                          <a:effectLst/>
                          <a:latin typeface="+mn-lt"/>
                          <a:ea typeface="+mn-ea"/>
                          <a:cs typeface="+mn-cs"/>
                        </a:rPr>
                        <a:t>. This can make it more computationally efficient and </a:t>
                      </a:r>
                      <a:r>
                        <a:rPr lang="en-US" sz="1800" b="0" i="0" kern="1200" dirty="0">
                          <a:solidFill>
                            <a:srgbClr val="FF0000"/>
                          </a:solidFill>
                          <a:effectLst/>
                          <a:latin typeface="+mn-lt"/>
                          <a:ea typeface="+mn-ea"/>
                          <a:cs typeface="+mn-cs"/>
                        </a:rPr>
                        <a:t>less prone to overfitting</a:t>
                      </a:r>
                      <a:r>
                        <a:rPr lang="en-US" sz="1800" b="0" i="0" kern="1200" dirty="0">
                          <a:solidFill>
                            <a:schemeClr val="dk1"/>
                          </a:solidFill>
                          <a:effectLst/>
                          <a:latin typeface="+mn-lt"/>
                          <a:ea typeface="+mn-ea"/>
                          <a:cs typeface="+mn-cs"/>
                        </a:rPr>
                        <a:t>, making it a good choice for smaller datasets.</a:t>
                      </a:r>
                      <a:endParaRPr lang="en-US" dirty="0"/>
                    </a:p>
                  </a:txBody>
                  <a:tcPr/>
                </a:tc>
                <a:extLst>
                  <a:ext uri="{0D108BD9-81ED-4DB2-BD59-A6C34878D82A}">
                    <a16:rowId xmlns:a16="http://schemas.microsoft.com/office/drawing/2014/main" val="1301423098"/>
                  </a:ext>
                </a:extLst>
              </a:tr>
              <a:tr h="453130">
                <a:tc>
                  <a:txBody>
                    <a:bodyPr/>
                    <a:lstStyle/>
                    <a:p>
                      <a:pPr algn="ctr"/>
                      <a:r>
                        <a:rPr lang="en-US" dirty="0"/>
                        <a:t>c.</a:t>
                      </a:r>
                    </a:p>
                  </a:txBody>
                  <a:tcPr/>
                </a:tc>
                <a:tc>
                  <a:txBody>
                    <a:bodyPr/>
                    <a:lstStyle/>
                    <a:p>
                      <a:r>
                        <a:rPr lang="en-US" sz="1800" b="0" i="0" kern="1200" dirty="0">
                          <a:solidFill>
                            <a:schemeClr val="dk1"/>
                          </a:solidFill>
                          <a:effectLst/>
                          <a:latin typeface="+mn-lt"/>
                          <a:ea typeface="+mn-ea"/>
                          <a:cs typeface="+mn-cs"/>
                        </a:rPr>
                        <a:t>Due to its more complex architecture, LSTM can potentially </a:t>
                      </a:r>
                      <a:r>
                        <a:rPr lang="en-US" sz="1800" b="0" i="0" kern="1200" dirty="0">
                          <a:solidFill>
                            <a:srgbClr val="FF0000"/>
                          </a:solidFill>
                          <a:effectLst/>
                          <a:latin typeface="+mn-lt"/>
                          <a:ea typeface="+mn-ea"/>
                          <a:cs typeface="+mn-cs"/>
                        </a:rPr>
                        <a:t>learn more complex patterns </a:t>
                      </a:r>
                      <a:r>
                        <a:rPr lang="en-US" sz="1800" b="0" i="0" kern="1200" dirty="0">
                          <a:solidFill>
                            <a:schemeClr val="dk1"/>
                          </a:solidFill>
                          <a:effectLst/>
                          <a:latin typeface="+mn-lt"/>
                          <a:ea typeface="+mn-ea"/>
                          <a:cs typeface="+mn-cs"/>
                        </a:rPr>
                        <a:t>and relationships in the data. It is well-suited for tasks where capturing long-term dependencies is critical.</a:t>
                      </a:r>
                      <a:endParaRPr lang="en-US" dirty="0"/>
                    </a:p>
                  </a:txBody>
                  <a:tcPr/>
                </a:tc>
                <a:tc>
                  <a:txBody>
                    <a:bodyPr/>
                    <a:lstStyle/>
                    <a:p>
                      <a:r>
                        <a:rPr lang="en-US" sz="1800" b="0" i="0" kern="1200" dirty="0">
                          <a:solidFill>
                            <a:srgbClr val="FF0000"/>
                          </a:solidFill>
                          <a:effectLst/>
                          <a:latin typeface="+mn-lt"/>
                          <a:ea typeface="+mn-ea"/>
                          <a:cs typeface="+mn-cs"/>
                        </a:rPr>
                        <a:t>While simpler, GRU can still learn to capture long-term dependencies effectively</a:t>
                      </a:r>
                      <a:r>
                        <a:rPr lang="en-US" sz="1800" b="0" i="0" kern="1200" dirty="0">
                          <a:solidFill>
                            <a:schemeClr val="dk1"/>
                          </a:solidFill>
                          <a:effectLst/>
                          <a:latin typeface="+mn-lt"/>
                          <a:ea typeface="+mn-ea"/>
                          <a:cs typeface="+mn-cs"/>
                        </a:rPr>
                        <a:t>. It performs well in many natural language processing tasks and is a popular choice for various sequence modeling tasks.</a:t>
                      </a:r>
                      <a:endParaRPr lang="en-US" dirty="0"/>
                    </a:p>
                  </a:txBody>
                  <a:tcPr/>
                </a:tc>
                <a:extLst>
                  <a:ext uri="{0D108BD9-81ED-4DB2-BD59-A6C34878D82A}">
                    <a16:rowId xmlns:a16="http://schemas.microsoft.com/office/drawing/2014/main" val="1438938752"/>
                  </a:ext>
                </a:extLst>
              </a:tr>
              <a:tr h="453130">
                <a:tc>
                  <a:txBody>
                    <a:bodyPr/>
                    <a:lstStyle/>
                    <a:p>
                      <a:pPr algn="ctr"/>
                      <a:r>
                        <a:rPr lang="en-US" dirty="0"/>
                        <a:t>d.</a:t>
                      </a:r>
                    </a:p>
                  </a:txBody>
                  <a:tcPr/>
                </a:tc>
                <a:tc>
                  <a:txBody>
                    <a:bodyPr/>
                    <a:lstStyle/>
                    <a:p>
                      <a:r>
                        <a:rPr lang="en-US" sz="1800" b="0" i="0" kern="1200" dirty="0">
                          <a:solidFill>
                            <a:schemeClr val="dk1"/>
                          </a:solidFill>
                          <a:effectLst/>
                          <a:latin typeface="+mn-lt"/>
                          <a:ea typeface="+mn-ea"/>
                          <a:cs typeface="+mn-cs"/>
                        </a:rPr>
                        <a:t>LSTM has more parameters, which can result in slightly </a:t>
                      </a:r>
                      <a:r>
                        <a:rPr lang="en-US" sz="1800" b="0" i="0" kern="1200" dirty="0">
                          <a:solidFill>
                            <a:srgbClr val="FF0000"/>
                          </a:solidFill>
                          <a:effectLst/>
                          <a:latin typeface="+mn-lt"/>
                          <a:ea typeface="+mn-ea"/>
                          <a:cs typeface="+mn-cs"/>
                        </a:rPr>
                        <a:t>slower training times </a:t>
                      </a:r>
                      <a:r>
                        <a:rPr lang="en-US" sz="1800" b="0" i="0" kern="1200" dirty="0">
                          <a:solidFill>
                            <a:schemeClr val="dk1"/>
                          </a:solidFill>
                          <a:effectLst/>
                          <a:latin typeface="+mn-lt"/>
                          <a:ea typeface="+mn-ea"/>
                          <a:cs typeface="+mn-cs"/>
                        </a:rPr>
                        <a:t>compared to GRU, especially on larger datasets.</a:t>
                      </a:r>
                      <a:endParaRPr lang="en-US" dirty="0"/>
                    </a:p>
                  </a:txBody>
                  <a:tcPr/>
                </a:tc>
                <a:tc>
                  <a:txBody>
                    <a:bodyPr/>
                    <a:lstStyle/>
                    <a:p>
                      <a:r>
                        <a:rPr lang="en-US" sz="1800" b="0" i="0" kern="1200" dirty="0">
                          <a:solidFill>
                            <a:schemeClr val="dk1"/>
                          </a:solidFill>
                          <a:effectLst/>
                          <a:latin typeface="+mn-lt"/>
                          <a:ea typeface="+mn-ea"/>
                          <a:cs typeface="+mn-cs"/>
                        </a:rPr>
                        <a:t>With fewer parameters, GRU may have </a:t>
                      </a:r>
                      <a:r>
                        <a:rPr lang="en-US" sz="1800" b="0" i="0" kern="1200" dirty="0">
                          <a:solidFill>
                            <a:srgbClr val="FF0000"/>
                          </a:solidFill>
                          <a:effectLst/>
                          <a:latin typeface="+mn-lt"/>
                          <a:ea typeface="+mn-ea"/>
                          <a:cs typeface="+mn-cs"/>
                        </a:rPr>
                        <a:t>faster training time</a:t>
                      </a:r>
                      <a:r>
                        <a:rPr lang="en-US" sz="1800" b="0" i="0" kern="1200" dirty="0">
                          <a:solidFill>
                            <a:schemeClr val="dk1"/>
                          </a:solidFill>
                          <a:effectLst/>
                          <a:latin typeface="+mn-lt"/>
                          <a:ea typeface="+mn-ea"/>
                          <a:cs typeface="+mn-cs"/>
                        </a:rPr>
                        <a:t>s, making it more efficient for larger datasets.</a:t>
                      </a:r>
                      <a:endParaRPr lang="en-US" dirty="0"/>
                    </a:p>
                  </a:txBody>
                  <a:tcPr/>
                </a:tc>
                <a:extLst>
                  <a:ext uri="{0D108BD9-81ED-4DB2-BD59-A6C34878D82A}">
                    <a16:rowId xmlns:a16="http://schemas.microsoft.com/office/drawing/2014/main" val="3351270822"/>
                  </a:ext>
                </a:extLst>
              </a:tr>
            </a:tbl>
          </a:graphicData>
        </a:graphic>
      </p:graphicFrame>
    </p:spTree>
    <p:extLst>
      <p:ext uri="{BB962C8B-B14F-4D97-AF65-F5344CB8AC3E}">
        <p14:creationId xmlns:p14="http://schemas.microsoft.com/office/powerpoint/2010/main" val="2305621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WORD EMBEDDINGS</a:t>
            </a:r>
          </a:p>
        </p:txBody>
      </p:sp>
      <p:sp>
        <p:nvSpPr>
          <p:cNvPr id="5" name="TextBox 4"/>
          <p:cNvSpPr txBox="1"/>
          <p:nvPr/>
        </p:nvSpPr>
        <p:spPr>
          <a:xfrm>
            <a:off x="281354" y="1028700"/>
            <a:ext cx="11676184" cy="5078313"/>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Wikipedia defines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word embedding as the collective name for a set of language modeling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feature learning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techniques in natural language processing (NLP) where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words or phrases from a vocabulary are mapped to vectors of real numbers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Deep learning models, like other machine learning models, typically don’t work directly with text</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the text needs to be converted to numbers instead</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process of converting text to numbers is a process called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vectorization</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early technique for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vectorizing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words was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one-hot encoding</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Since 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similarity between any two words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(measured by the dot product of the two word vectors)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is always zero</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NLP community has borrowed techniques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from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Information Retrieval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(IR) to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vectorize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text using the document as the context</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Techniques from Information Retrieval (IR) to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vectorize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text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using the document as the context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Notable techniques are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Term Frequency-Inverse Document Frequency (TF-IDF) , Latent Semantic Analysis (LSA) , and topic modeling  </a:t>
            </a:r>
          </a:p>
        </p:txBody>
      </p:sp>
    </p:spTree>
    <p:extLst>
      <p:ext uri="{BB962C8B-B14F-4D97-AF65-F5344CB8AC3E}">
        <p14:creationId xmlns:p14="http://schemas.microsoft.com/office/powerpoint/2010/main" val="679136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WORD EMBEDDINGS</a:t>
            </a:r>
          </a:p>
        </p:txBody>
      </p:sp>
      <mc:AlternateContent xmlns:mc="http://schemas.openxmlformats.org/markup-compatibility/2006" xmlns:a14="http://schemas.microsoft.com/office/drawing/2010/main">
        <mc:Choice Requires="a14">
          <p:sp>
            <p:nvSpPr>
              <p:cNvPr id="5" name="TextBox 4"/>
              <p:cNvSpPr txBox="1"/>
              <p:nvPr/>
            </p:nvSpPr>
            <p:spPr>
              <a:xfrm>
                <a:off x="281354" y="1028700"/>
                <a:ext cx="11676184" cy="6746399"/>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One-hot and TF-IDF are relatively sparse </a:t>
                </a:r>
                <a:r>
                  <a:rPr kumimoji="0" lang="en-US" sz="1800" b="0" i="0" u="none" strike="noStrike" kern="1200" cap="none" spc="0" normalizeH="0" baseline="0" noProof="0" dirty="0" err="1">
                    <a:ln>
                      <a:noFill/>
                    </a:ln>
                    <a:solidFill>
                      <a:srgbClr val="FF0000"/>
                    </a:solidFill>
                    <a:effectLst/>
                    <a:uLnTx/>
                    <a:uFillTx/>
                    <a:latin typeface="Calibri" panose="020F0502020204030204"/>
                    <a:ea typeface="+mn-ea"/>
                    <a:cs typeface="+mn-cs"/>
                  </a:rPr>
                  <a:t>embeddings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since vocabularies are usually quite large, and a word is unlikely to occur in more than a few documents in the corpus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Today, word embedding is a foundational technique for all kinds of NLP tasks, such as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text classification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document clustering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part of-speech tagging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sentiment analysis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many more</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TF-IDF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stands for </a:t>
                </a:r>
                <a:r>
                  <a:rPr kumimoji="0" lang="en-US" sz="1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mn-cs"/>
                  </a:rPr>
                  <a:t>Term Frequency Inverse Document Frequency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records. It can be defined as 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calculation of how relevant a word in a series or corpus is to a text</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mn-cs"/>
                  </a:rPr>
                  <a:t>meaning increases proportionally to the number of times in the text a word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appears but is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compensated by the word frequency in the corpus (data-set)</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Term Frequency</a:t>
                </a:r>
              </a:p>
              <a:p>
                <a:pPr marL="573088"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document d, the frequency represents the number of instances of a given word t</a:t>
                </a:r>
              </a:p>
              <a:p>
                <a:pPr marL="573088"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weight of a term that occurs in a document is simply proportional to the term frequency</a:t>
                </a:r>
              </a:p>
              <a:p>
                <a:pPr marL="287338" marR="0" lvl="0" indent="0" algn="l"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𝑡𝑓</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𝑐𝑜𝑢𝑛𝑡</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𝑜𝑓</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𝑖𝑛</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e>
                          </m:d>
                        </m:num>
                        <m:den>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𝑁𝑜</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𝑜𝑓</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𝑤𝑜𝑟𝑑𝑠</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𝑖𝑛</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e>
                          </m:d>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7338"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81354" y="1028700"/>
                <a:ext cx="11676184" cy="6746399"/>
              </a:xfrm>
              <a:prstGeom prst="rect">
                <a:avLst/>
              </a:prstGeom>
              <a:blipFill>
                <a:blip r:embed="rId2"/>
                <a:stretch>
                  <a:fillRect l="-313" r="-626"/>
                </a:stretch>
              </a:blipFill>
            </p:spPr>
            <p:txBody>
              <a:bodyPr/>
              <a:lstStyle/>
              <a:p>
                <a:r>
                  <a:rPr lang="en-US">
                    <a:noFill/>
                  </a:rPr>
                  <a:t> </a:t>
                </a:r>
              </a:p>
            </p:txBody>
          </p:sp>
        </mc:Fallback>
      </mc:AlternateContent>
    </p:spTree>
    <p:extLst>
      <p:ext uri="{BB962C8B-B14F-4D97-AF65-F5344CB8AC3E}">
        <p14:creationId xmlns:p14="http://schemas.microsoft.com/office/powerpoint/2010/main" val="2697373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WORD EMBEDDINGS</a:t>
            </a:r>
          </a:p>
        </p:txBody>
      </p:sp>
      <mc:AlternateContent xmlns:mc="http://schemas.openxmlformats.org/markup-compatibility/2006" xmlns:a14="http://schemas.microsoft.com/office/drawing/2010/main">
        <mc:Choice Requires="a14">
          <p:sp>
            <p:nvSpPr>
              <p:cNvPr id="5" name="TextBox 4"/>
              <p:cNvSpPr txBox="1"/>
              <p:nvPr/>
            </p:nvSpPr>
            <p:spPr>
              <a:xfrm>
                <a:off x="281354" y="1028700"/>
                <a:ext cx="11676184" cy="5470600"/>
              </a:xfrm>
              <a:prstGeom prst="rect">
                <a:avLst/>
              </a:prstGeom>
              <a:noFill/>
            </p:spPr>
            <p:txBody>
              <a:bodyPr wrap="square" rtlCol="0">
                <a:spAutoFit/>
              </a:bodyPr>
              <a:lstStyle/>
              <a:p>
                <a:pPr marL="285750" marR="0" lvl="0" indent="-285750" algn="l" defTabSz="914400" rtl="0" eaLnBrk="1" fontAlgn="base" latinLnBrk="0" hangingPunct="1">
                  <a:lnSpc>
                    <a:spcPct val="15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Document Frequency: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tests the meaning of the text, which is very similar to TF, in the whole corpus collection. The only difference is that in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document d, TF is the frequency counter for a term 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while </a:t>
                </a:r>
                <a:r>
                  <a:rPr kumimoji="0" lang="en-US" sz="1800" b="0" i="0" u="none" strike="noStrike" kern="1200" cap="none" spc="0" normalizeH="0" baseline="0" noProof="0" dirty="0" err="1">
                    <a:ln>
                      <a:noFill/>
                    </a:ln>
                    <a:solidFill>
                      <a:srgbClr val="FF0000"/>
                    </a:solidFill>
                    <a:effectLst/>
                    <a:uLnTx/>
                    <a:uFillTx/>
                    <a:latin typeface="Calibri" panose="020F0502020204030204"/>
                    <a:ea typeface="+mn-ea"/>
                    <a:cs typeface="+mn-cs"/>
                  </a:rPr>
                  <a:t>df</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is the number of occurrences in the document set N of the term 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other words, the number of papers in which the word is present is DF</a:t>
                </a:r>
              </a:p>
              <a:p>
                <a:pPr marL="0" marR="0" lvl="0" indent="0" algn="ctr" defTabSz="914400" rtl="0" eaLnBrk="1" fontAlgn="base"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Df</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(t) = Occurrence of t in documents</a:t>
                </a:r>
              </a:p>
              <a:p>
                <a:pPr marL="285750" marR="0" lvl="0" indent="-285750" algn="just" defTabSz="914400" rtl="0" eaLnBrk="1" fontAlgn="base" latinLnBrk="0" hangingPunct="1">
                  <a:lnSpc>
                    <a:spcPct val="15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Inverse Document Frequency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Mainly,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it tests how relevant the word is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a:t>
                </a:r>
                <a:r>
                  <a:rPr kumimoji="0" lang="en-US" sz="1800" b="1" i="0" u="none" strike="noStrike" kern="1200" cap="none" spc="0" normalizeH="0" baseline="0" noProof="0" dirty="0">
                    <a:ln>
                      <a:noFill/>
                    </a:ln>
                    <a:solidFill>
                      <a:srgbClr val="002060"/>
                    </a:solidFill>
                    <a:effectLst/>
                    <a:uLnTx/>
                    <a:uFillTx/>
                    <a:latin typeface="Calibri" panose="020F0502020204030204"/>
                    <a:ea typeface="+mn-ea"/>
                    <a:cs typeface="+mn-cs"/>
                  </a:rPr>
                  <a:t>key aim of the search is to locate the appropriate records that fit the demand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Since TF considers all terms equally significant, it is not only possible to use the term frequencies to measure the weight of the term in the paper.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First, find the document frequency of a term 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by counting the number of documents containing the term:</a:t>
                </a:r>
              </a:p>
              <a:p>
                <a:pPr marL="0" marR="0" lvl="0" indent="0" algn="just" defTabSz="914400" rtl="0" eaLnBrk="1" fontAlgn="base"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𝑑𝑓</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𝑁</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𝑤h𝑒𝑟𝑒</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𝑑𝑓</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𝐷𝑜𝑐𝑢𝑚𝑒𝑛𝑡</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𝑓𝑟𝑒𝑞</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𝑜𝑓</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𝑡𝑒𝑟𝑚</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𝑁</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𝑁𝑜</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𝑜𝑓</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𝑑𝑜𝑐𝑢𝑚𝑒𝑛𝑡𝑠</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𝑐𝑜𝑛𝑡𝑎𝑖𝑛𝑖𝑛𝑔</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𝑡h𝑒</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𝑡𝑒𝑟𝑚</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just" defTabSz="914400" rtl="0" eaLnBrk="1" fontAlgn="base"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IDF of the word is 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number of documents in the corpus separated by the frequency of the text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just" defTabSz="914400" rtl="0" eaLnBrk="1" fontAlgn="base"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𝑖𝑑𝑓</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𝑁</m:t>
                          </m:r>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𝑑𝑓</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d>
                        </m:den>
                      </m:f>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𝑁</m:t>
                          </m:r>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𝑁</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d>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base"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81354" y="1028700"/>
                <a:ext cx="11676184" cy="5470600"/>
              </a:xfrm>
              <a:prstGeom prst="rect">
                <a:avLst/>
              </a:prstGeom>
              <a:blipFill>
                <a:blip r:embed="rId2"/>
                <a:stretch>
                  <a:fillRect l="-313" r="-418"/>
                </a:stretch>
              </a:blipFill>
            </p:spPr>
            <p:txBody>
              <a:bodyPr/>
              <a:lstStyle/>
              <a:p>
                <a:r>
                  <a:rPr lang="en-US">
                    <a:noFill/>
                  </a:rPr>
                  <a:t> </a:t>
                </a:r>
              </a:p>
            </p:txBody>
          </p:sp>
        </mc:Fallback>
      </mc:AlternateContent>
    </p:spTree>
    <p:extLst>
      <p:ext uri="{BB962C8B-B14F-4D97-AF65-F5344CB8AC3E}">
        <p14:creationId xmlns:p14="http://schemas.microsoft.com/office/powerpoint/2010/main" val="1056749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WORD EMBEDDINGS</a:t>
            </a:r>
          </a:p>
        </p:txBody>
      </p:sp>
      <mc:AlternateContent xmlns:mc="http://schemas.openxmlformats.org/markup-compatibility/2006" xmlns:a14="http://schemas.microsoft.com/office/drawing/2010/main">
        <mc:Choice Requires="a14">
          <p:sp>
            <p:nvSpPr>
              <p:cNvPr id="5" name="TextBox 4"/>
              <p:cNvSpPr txBox="1"/>
              <p:nvPr/>
            </p:nvSpPr>
            <p:spPr>
              <a:xfrm>
                <a:off x="281354" y="1028700"/>
                <a:ext cx="11676184" cy="3934347"/>
              </a:xfrm>
              <a:prstGeom prst="rect">
                <a:avLst/>
              </a:prstGeom>
              <a:noFill/>
            </p:spPr>
            <p:txBody>
              <a:bodyPr wrap="square" rtlCol="0">
                <a:spAutoFit/>
              </a:bodyPr>
              <a:lstStyle/>
              <a:p>
                <a:pPr marL="285750" marR="0" lvl="0" indent="-285750" algn="just" defTabSz="914400" rtl="0" eaLnBrk="1" fontAlgn="base"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more common word is supposed to be considered less significant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just" defTabSz="914400" rtl="0" eaLnBrk="1" fontAlgn="base"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Take the logarithm (with base 2) of the inverse frequency</a:t>
                </a:r>
              </a:p>
              <a:p>
                <a:pPr marL="0" marR="0" lvl="0" indent="0" algn="just" defTabSz="914400" rtl="0" eaLnBrk="1" fontAlgn="base"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𝑖𝑑𝑓</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𝑓</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unc>
                        <m:func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uncPr>
                        <m:fName>
                          <m:r>
                            <m:rPr>
                              <m:sty m:val="p"/>
                            </m:rPr>
                            <a:rPr kumimoji="0" lang="en-US" sz="18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log</m:t>
                          </m:r>
                        </m:fName>
                        <m:e>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𝑁</m:t>
                                  </m:r>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𝑑𝑓</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d>
                                </m:den>
                              </m:f>
                            </m:e>
                          </m:d>
                        </m:e>
                      </m:func>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just" defTabSz="914400" rtl="0" eaLnBrk="1" fontAlgn="base" latinLnBrk="0" hangingPunct="1">
                  <a:lnSpc>
                    <a:spcPct val="15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Computation: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srgbClr val="FF0000"/>
                    </a:solidFill>
                    <a:effectLst/>
                    <a:uLnTx/>
                    <a:uFillTx/>
                    <a:latin typeface="Calibri" panose="020F0502020204030204"/>
                    <a:ea typeface="+mn-ea"/>
                    <a:cs typeface="+mn-cs"/>
                  </a:rPr>
                  <a:t>Tf-Idf</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is one of the best metrics to determine how significant a term is to a text in a series or a corpus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tf-idf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weighting system that assigns a weight to each word in a document based on its term frequency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the reciprocal document frequency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idf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words with higher scores of weight are deemed to be more significant.</a:t>
                </a:r>
              </a:p>
              <a:p>
                <a:pPr marL="0" marR="0" lvl="0" indent="0" algn="just" defTabSz="914400" rtl="0" eaLnBrk="1" fontAlgn="base"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𝑡𝑓</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𝑖𝑑𝑓</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just" defTabSz="914400" rtl="0" eaLnBrk="1" fontAlgn="base"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python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tf-idf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values can be computed using </a:t>
                </a:r>
                <a:r>
                  <a:rPr kumimoji="0" lang="en-US" sz="1800" b="0" i="1" u="none" strike="noStrike" kern="1200" cap="none" spc="0" normalizeH="0" baseline="0" noProof="0" dirty="0" err="1">
                    <a:ln>
                      <a:noFill/>
                    </a:ln>
                    <a:solidFill>
                      <a:srgbClr val="FF0000"/>
                    </a:solidFill>
                    <a:effectLst/>
                    <a:uLnTx/>
                    <a:uFillTx/>
                    <a:latin typeface="Calibri" panose="020F0502020204030204"/>
                    <a:ea typeface="+mn-ea"/>
                    <a:cs typeface="+mn-cs"/>
                  </a:rPr>
                  <a:t>TfidfVectorizer</a:t>
                </a:r>
                <a:r>
                  <a:rPr kumimoji="0" lang="en-US" sz="1800" b="0" i="1" u="none" strike="noStrike" kern="1200" cap="none" spc="0" normalizeH="0" baseline="0" noProof="0" dirty="0">
                    <a:ln>
                      <a:noFill/>
                    </a:ln>
                    <a:solidFill>
                      <a:srgbClr val="FF0000"/>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method in </a:t>
                </a:r>
                <a:r>
                  <a:rPr kumimoji="0" lang="en-US" sz="1800" b="0" i="1" u="none" strike="noStrike" kern="1200" cap="none" spc="0" normalizeH="0" baseline="0" noProof="0" dirty="0" err="1">
                    <a:ln>
                      <a:noFill/>
                    </a:ln>
                    <a:solidFill>
                      <a:srgbClr val="FF0000"/>
                    </a:solidFill>
                    <a:effectLst/>
                    <a:uLnTx/>
                    <a:uFillTx/>
                    <a:latin typeface="Calibri" panose="020F0502020204030204"/>
                    <a:ea typeface="+mn-ea"/>
                    <a:cs typeface="+mn-cs"/>
                  </a:rPr>
                  <a:t>sklearn</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module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81354" y="1028700"/>
                <a:ext cx="11676184" cy="3934347"/>
              </a:xfrm>
              <a:prstGeom prst="rect">
                <a:avLst/>
              </a:prstGeom>
              <a:blipFill>
                <a:blip r:embed="rId2"/>
                <a:stretch>
                  <a:fillRect l="-313" r="-418" b="-465"/>
                </a:stretch>
              </a:blipFill>
            </p:spPr>
            <p:txBody>
              <a:bodyPr/>
              <a:lstStyle/>
              <a:p>
                <a:r>
                  <a:rPr lang="en-US">
                    <a:noFill/>
                  </a:rPr>
                  <a:t> </a:t>
                </a:r>
              </a:p>
            </p:txBody>
          </p:sp>
        </mc:Fallback>
      </mc:AlternateContent>
    </p:spTree>
    <p:extLst>
      <p:ext uri="{BB962C8B-B14F-4D97-AF65-F5344CB8AC3E}">
        <p14:creationId xmlns:p14="http://schemas.microsoft.com/office/powerpoint/2010/main" val="42441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TF IDF EXAMPLE</a:t>
            </a:r>
          </a:p>
        </p:txBody>
      </p:sp>
      <p:sp>
        <p:nvSpPr>
          <p:cNvPr id="7" name="TextBox 6"/>
          <p:cNvSpPr txBox="1"/>
          <p:nvPr/>
        </p:nvSpPr>
        <p:spPr>
          <a:xfrm>
            <a:off x="2244436" y="3611418"/>
            <a:ext cx="814647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After Processing that includes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Tokenization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Stop words removal</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Lower case</a:t>
            </a:r>
          </a:p>
        </p:txBody>
      </p:sp>
      <p:pic>
        <p:nvPicPr>
          <p:cNvPr id="2" name="Picture 1">
            <a:extLst>
              <a:ext uri="{FF2B5EF4-FFF2-40B4-BE49-F238E27FC236}">
                <a16:creationId xmlns:a16="http://schemas.microsoft.com/office/drawing/2014/main" id="{BDBBCD4E-8AB5-EC62-AACB-D54E9B94776F}"/>
              </a:ext>
            </a:extLst>
          </p:cNvPr>
          <p:cNvPicPr>
            <a:picLocks noChangeAspect="1"/>
          </p:cNvPicPr>
          <p:nvPr/>
        </p:nvPicPr>
        <p:blipFill>
          <a:blip r:embed="rId2"/>
          <a:stretch>
            <a:fillRect/>
          </a:stretch>
        </p:blipFill>
        <p:spPr>
          <a:xfrm>
            <a:off x="1968618" y="1246123"/>
            <a:ext cx="7940728" cy="2149026"/>
          </a:xfrm>
          <a:prstGeom prst="rect">
            <a:avLst/>
          </a:prstGeom>
        </p:spPr>
      </p:pic>
      <p:pic>
        <p:nvPicPr>
          <p:cNvPr id="3" name="Picture 2">
            <a:extLst>
              <a:ext uri="{FF2B5EF4-FFF2-40B4-BE49-F238E27FC236}">
                <a16:creationId xmlns:a16="http://schemas.microsoft.com/office/drawing/2014/main" id="{8AEF6525-DD28-E9BB-1DC6-4912B088F586}"/>
              </a:ext>
            </a:extLst>
          </p:cNvPr>
          <p:cNvPicPr>
            <a:picLocks noChangeAspect="1"/>
          </p:cNvPicPr>
          <p:nvPr/>
        </p:nvPicPr>
        <p:blipFill>
          <a:blip r:embed="rId3"/>
          <a:stretch>
            <a:fillRect/>
          </a:stretch>
        </p:blipFill>
        <p:spPr>
          <a:xfrm>
            <a:off x="2284148" y="5143351"/>
            <a:ext cx="8085521" cy="1714649"/>
          </a:xfrm>
          <a:prstGeom prst="rect">
            <a:avLst/>
          </a:prstGeom>
        </p:spPr>
      </p:pic>
    </p:spTree>
    <p:extLst>
      <p:ext uri="{BB962C8B-B14F-4D97-AF65-F5344CB8AC3E}">
        <p14:creationId xmlns:p14="http://schemas.microsoft.com/office/powerpoint/2010/main" val="4226004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925515" y="74521"/>
            <a:ext cx="902090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TF IDF EXAMPLE</a:t>
            </a:r>
          </a:p>
        </p:txBody>
      </p:sp>
      <p:pic>
        <p:nvPicPr>
          <p:cNvPr id="4" name="Picture 3">
            <a:extLst>
              <a:ext uri="{FF2B5EF4-FFF2-40B4-BE49-F238E27FC236}">
                <a16:creationId xmlns:a16="http://schemas.microsoft.com/office/drawing/2014/main" id="{CC74DBA0-637C-D701-2F62-E36DACF05DD8}"/>
              </a:ext>
            </a:extLst>
          </p:cNvPr>
          <p:cNvPicPr>
            <a:picLocks noChangeAspect="1"/>
          </p:cNvPicPr>
          <p:nvPr/>
        </p:nvPicPr>
        <p:blipFill>
          <a:blip r:embed="rId2"/>
          <a:stretch>
            <a:fillRect/>
          </a:stretch>
        </p:blipFill>
        <p:spPr>
          <a:xfrm>
            <a:off x="284447" y="842765"/>
            <a:ext cx="6081287" cy="5944115"/>
          </a:xfrm>
          <a:prstGeom prst="rect">
            <a:avLst/>
          </a:prstGeom>
        </p:spPr>
      </p:pic>
      <p:pic>
        <p:nvPicPr>
          <p:cNvPr id="6" name="Picture 5">
            <a:extLst>
              <a:ext uri="{FF2B5EF4-FFF2-40B4-BE49-F238E27FC236}">
                <a16:creationId xmlns:a16="http://schemas.microsoft.com/office/drawing/2014/main" id="{46BA49D5-7A5A-C54B-32F7-33870D7FDACB}"/>
              </a:ext>
            </a:extLst>
          </p:cNvPr>
          <p:cNvPicPr>
            <a:picLocks noChangeAspect="1"/>
          </p:cNvPicPr>
          <p:nvPr/>
        </p:nvPicPr>
        <p:blipFill>
          <a:blip r:embed="rId3"/>
          <a:stretch>
            <a:fillRect/>
          </a:stretch>
        </p:blipFill>
        <p:spPr>
          <a:xfrm>
            <a:off x="9335690" y="1848692"/>
            <a:ext cx="1851820" cy="4938188"/>
          </a:xfrm>
          <a:prstGeom prst="rect">
            <a:avLst/>
          </a:prstGeom>
        </p:spPr>
      </p:pic>
      <p:pic>
        <p:nvPicPr>
          <p:cNvPr id="7" name="Picture 6">
            <a:extLst>
              <a:ext uri="{FF2B5EF4-FFF2-40B4-BE49-F238E27FC236}">
                <a16:creationId xmlns:a16="http://schemas.microsoft.com/office/drawing/2014/main" id="{4BAFB1AA-E4E0-546C-02F5-B94375EE0DFC}"/>
              </a:ext>
            </a:extLst>
          </p:cNvPr>
          <p:cNvPicPr>
            <a:picLocks noChangeAspect="1"/>
          </p:cNvPicPr>
          <p:nvPr/>
        </p:nvPicPr>
        <p:blipFill>
          <a:blip r:embed="rId4"/>
          <a:stretch>
            <a:fillRect/>
          </a:stretch>
        </p:blipFill>
        <p:spPr>
          <a:xfrm>
            <a:off x="6279433" y="929219"/>
            <a:ext cx="5636769" cy="610913"/>
          </a:xfrm>
          <a:prstGeom prst="rect">
            <a:avLst/>
          </a:prstGeom>
        </p:spPr>
      </p:pic>
    </p:spTree>
    <p:extLst>
      <p:ext uri="{BB962C8B-B14F-4D97-AF65-F5344CB8AC3E}">
        <p14:creationId xmlns:p14="http://schemas.microsoft.com/office/powerpoint/2010/main" val="169178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TF IDF EXAMPLE</a:t>
            </a:r>
          </a:p>
        </p:txBody>
      </p:sp>
      <p:pic>
        <p:nvPicPr>
          <p:cNvPr id="2" name="Picture 1">
            <a:extLst>
              <a:ext uri="{FF2B5EF4-FFF2-40B4-BE49-F238E27FC236}">
                <a16:creationId xmlns:a16="http://schemas.microsoft.com/office/drawing/2014/main" id="{DA2079FF-35C4-DE0F-7960-D4A79014D3BF}"/>
              </a:ext>
            </a:extLst>
          </p:cNvPr>
          <p:cNvPicPr>
            <a:picLocks noChangeAspect="1"/>
          </p:cNvPicPr>
          <p:nvPr/>
        </p:nvPicPr>
        <p:blipFill>
          <a:blip r:embed="rId2"/>
          <a:stretch>
            <a:fillRect/>
          </a:stretch>
        </p:blipFill>
        <p:spPr>
          <a:xfrm>
            <a:off x="200551" y="865547"/>
            <a:ext cx="4750139" cy="5872772"/>
          </a:xfrm>
          <a:prstGeom prst="rect">
            <a:avLst/>
          </a:prstGeom>
        </p:spPr>
      </p:pic>
      <p:pic>
        <p:nvPicPr>
          <p:cNvPr id="3" name="Picture 2">
            <a:extLst>
              <a:ext uri="{FF2B5EF4-FFF2-40B4-BE49-F238E27FC236}">
                <a16:creationId xmlns:a16="http://schemas.microsoft.com/office/drawing/2014/main" id="{8388BC36-9955-CC4D-22D1-820653A81D2D}"/>
              </a:ext>
            </a:extLst>
          </p:cNvPr>
          <p:cNvPicPr>
            <a:picLocks noChangeAspect="1"/>
          </p:cNvPicPr>
          <p:nvPr/>
        </p:nvPicPr>
        <p:blipFill>
          <a:blip r:embed="rId3"/>
          <a:stretch>
            <a:fillRect/>
          </a:stretch>
        </p:blipFill>
        <p:spPr>
          <a:xfrm>
            <a:off x="5546064" y="865547"/>
            <a:ext cx="5921253" cy="815411"/>
          </a:xfrm>
          <a:prstGeom prst="rect">
            <a:avLst/>
          </a:prstGeom>
        </p:spPr>
      </p:pic>
      <p:pic>
        <p:nvPicPr>
          <p:cNvPr id="8" name="Picture 7">
            <a:extLst>
              <a:ext uri="{FF2B5EF4-FFF2-40B4-BE49-F238E27FC236}">
                <a16:creationId xmlns:a16="http://schemas.microsoft.com/office/drawing/2014/main" id="{A27ADEB5-8228-274D-6B80-E1E9C81F68EE}"/>
              </a:ext>
            </a:extLst>
          </p:cNvPr>
          <p:cNvPicPr>
            <a:picLocks noChangeAspect="1"/>
          </p:cNvPicPr>
          <p:nvPr/>
        </p:nvPicPr>
        <p:blipFill>
          <a:blip r:embed="rId4"/>
          <a:stretch>
            <a:fillRect/>
          </a:stretch>
        </p:blipFill>
        <p:spPr>
          <a:xfrm>
            <a:off x="5070712" y="2224895"/>
            <a:ext cx="6871956" cy="4412807"/>
          </a:xfrm>
          <a:prstGeom prst="rect">
            <a:avLst/>
          </a:prstGeom>
        </p:spPr>
      </p:pic>
    </p:spTree>
    <p:extLst>
      <p:ext uri="{BB962C8B-B14F-4D97-AF65-F5344CB8AC3E}">
        <p14:creationId xmlns:p14="http://schemas.microsoft.com/office/powerpoint/2010/main" val="1058916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LATENT SEMANTIC ANALYSIS</a:t>
            </a:r>
          </a:p>
        </p:txBody>
      </p:sp>
      <p:sp>
        <p:nvSpPr>
          <p:cNvPr id="2" name="TextBox 1"/>
          <p:cNvSpPr txBox="1"/>
          <p:nvPr/>
        </p:nvSpPr>
        <p:spPr>
          <a:xfrm>
            <a:off x="572655" y="1154545"/>
            <a:ext cx="11351490" cy="5216813"/>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LSA deals with the following kind of issue:  </a:t>
            </a:r>
          </a:p>
          <a:p>
            <a:pPr marL="573088"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Example: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mobile, phone, cell phone, telephone are all similar but if we pose a query like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“The cell phone has been ringing” then the documents which have “cell phone” are only retrieved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whereas the documents containing the mobile, phone, telephone are not retrieved.</a:t>
            </a:r>
          </a:p>
          <a:p>
            <a:pPr marL="285750" marR="0" lvl="0" indent="-285750" algn="l" defTabSz="914400" rtl="0" eaLnBrk="1" fontAlgn="base" latinLnBrk="0" hangingPunct="1">
              <a:lnSpc>
                <a:spcPct val="15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Assumptions of LSA:</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17525" marR="0" lvl="0" indent="-285750" algn="l" defTabSz="914400" rtl="0" eaLnBrk="1" fontAlgn="base"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The words which are used in the same context are analogous to each other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517525" marR="0" lvl="0" indent="-285750" algn="l" defTabSz="914400" rtl="0" eaLnBrk="1" fontAlgn="base"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The hidden semantic structure of the data is unclear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due to the ambiguity of the words chosen.</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Singular Value Decomposition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517525"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Singular Value Decomposition is the statistical method that is used to find the latent(hidden) semantic structure of words spread across the document</a:t>
            </a:r>
          </a:p>
          <a:p>
            <a:pPr marL="517525"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Let’s recap SVD</a:t>
            </a:r>
          </a:p>
          <a:p>
            <a:pPr marL="231775"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17525"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5843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Singular Value Decomposition SVD RECAP</a:t>
            </a:r>
          </a:p>
        </p:txBody>
      </p:sp>
      <p:pic>
        <p:nvPicPr>
          <p:cNvPr id="2" name="Picture 1">
            <a:extLst>
              <a:ext uri="{FF2B5EF4-FFF2-40B4-BE49-F238E27FC236}">
                <a16:creationId xmlns:a16="http://schemas.microsoft.com/office/drawing/2014/main" id="{D04C3A7A-96E1-E35E-CD60-22ADDC5CA582}"/>
              </a:ext>
            </a:extLst>
          </p:cNvPr>
          <p:cNvPicPr>
            <a:picLocks noChangeAspect="1"/>
          </p:cNvPicPr>
          <p:nvPr/>
        </p:nvPicPr>
        <p:blipFill>
          <a:blip r:embed="rId2"/>
          <a:stretch>
            <a:fillRect/>
          </a:stretch>
        </p:blipFill>
        <p:spPr>
          <a:xfrm>
            <a:off x="274726" y="1616364"/>
            <a:ext cx="5933382" cy="3131127"/>
          </a:xfrm>
          <a:prstGeom prst="rect">
            <a:avLst/>
          </a:prstGeom>
        </p:spPr>
      </p:pic>
      <p:pic>
        <p:nvPicPr>
          <p:cNvPr id="3" name="Picture 2">
            <a:extLst>
              <a:ext uri="{FF2B5EF4-FFF2-40B4-BE49-F238E27FC236}">
                <a16:creationId xmlns:a16="http://schemas.microsoft.com/office/drawing/2014/main" id="{793CF402-60AB-DC2B-E31C-736114B0D13B}"/>
              </a:ext>
            </a:extLst>
          </p:cNvPr>
          <p:cNvPicPr>
            <a:picLocks noChangeAspect="1"/>
          </p:cNvPicPr>
          <p:nvPr/>
        </p:nvPicPr>
        <p:blipFill>
          <a:blip r:embed="rId3"/>
          <a:stretch>
            <a:fillRect/>
          </a:stretch>
        </p:blipFill>
        <p:spPr>
          <a:xfrm>
            <a:off x="6173315" y="1422400"/>
            <a:ext cx="5521981" cy="4824966"/>
          </a:xfrm>
          <a:prstGeom prst="rect">
            <a:avLst/>
          </a:prstGeom>
        </p:spPr>
      </p:pic>
    </p:spTree>
    <p:extLst>
      <p:ext uri="{BB962C8B-B14F-4D97-AF65-F5344CB8AC3E}">
        <p14:creationId xmlns:p14="http://schemas.microsoft.com/office/powerpoint/2010/main" val="1015762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SVD RECAP</a:t>
            </a:r>
          </a:p>
        </p:txBody>
      </p:sp>
      <p:pic>
        <p:nvPicPr>
          <p:cNvPr id="5" name="Picture 4">
            <a:extLst>
              <a:ext uri="{FF2B5EF4-FFF2-40B4-BE49-F238E27FC236}">
                <a16:creationId xmlns:a16="http://schemas.microsoft.com/office/drawing/2014/main" id="{27F62624-FC7E-46A9-CFB4-E594892BF6DB}"/>
              </a:ext>
            </a:extLst>
          </p:cNvPr>
          <p:cNvPicPr>
            <a:picLocks noChangeAspect="1"/>
          </p:cNvPicPr>
          <p:nvPr/>
        </p:nvPicPr>
        <p:blipFill>
          <a:blip r:embed="rId2"/>
          <a:stretch>
            <a:fillRect/>
          </a:stretch>
        </p:blipFill>
        <p:spPr>
          <a:xfrm>
            <a:off x="431045" y="1607126"/>
            <a:ext cx="5380322" cy="4162479"/>
          </a:xfrm>
          <a:prstGeom prst="rect">
            <a:avLst/>
          </a:prstGeom>
        </p:spPr>
      </p:pic>
      <p:pic>
        <p:nvPicPr>
          <p:cNvPr id="6" name="Picture 5">
            <a:extLst>
              <a:ext uri="{FF2B5EF4-FFF2-40B4-BE49-F238E27FC236}">
                <a16:creationId xmlns:a16="http://schemas.microsoft.com/office/drawing/2014/main" id="{2EB29D44-86EB-374C-F51A-822A0F038BDE}"/>
              </a:ext>
            </a:extLst>
          </p:cNvPr>
          <p:cNvPicPr>
            <a:picLocks noChangeAspect="1"/>
          </p:cNvPicPr>
          <p:nvPr/>
        </p:nvPicPr>
        <p:blipFill>
          <a:blip r:embed="rId3"/>
          <a:stretch>
            <a:fillRect/>
          </a:stretch>
        </p:blipFill>
        <p:spPr>
          <a:xfrm>
            <a:off x="6094795" y="1341407"/>
            <a:ext cx="5515316" cy="5334909"/>
          </a:xfrm>
          <a:prstGeom prst="rect">
            <a:avLst/>
          </a:prstGeom>
        </p:spPr>
      </p:pic>
    </p:spTree>
    <p:extLst>
      <p:ext uri="{BB962C8B-B14F-4D97-AF65-F5344CB8AC3E}">
        <p14:creationId xmlns:p14="http://schemas.microsoft.com/office/powerpoint/2010/main" val="565981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SVD RECAP</a:t>
            </a:r>
          </a:p>
        </p:txBody>
      </p:sp>
      <p:pic>
        <p:nvPicPr>
          <p:cNvPr id="2" name="Picture 1">
            <a:extLst>
              <a:ext uri="{FF2B5EF4-FFF2-40B4-BE49-F238E27FC236}">
                <a16:creationId xmlns:a16="http://schemas.microsoft.com/office/drawing/2014/main" id="{C69B37A2-87F0-61A3-4986-9BED6800E17D}"/>
              </a:ext>
            </a:extLst>
          </p:cNvPr>
          <p:cNvPicPr>
            <a:picLocks noChangeAspect="1"/>
          </p:cNvPicPr>
          <p:nvPr/>
        </p:nvPicPr>
        <p:blipFill>
          <a:blip r:embed="rId2"/>
          <a:stretch>
            <a:fillRect/>
          </a:stretch>
        </p:blipFill>
        <p:spPr>
          <a:xfrm>
            <a:off x="2796254" y="1287594"/>
            <a:ext cx="6599492" cy="4282811"/>
          </a:xfrm>
          <a:prstGeom prst="rect">
            <a:avLst/>
          </a:prstGeom>
        </p:spPr>
      </p:pic>
    </p:spTree>
    <p:extLst>
      <p:ext uri="{BB962C8B-B14F-4D97-AF65-F5344CB8AC3E}">
        <p14:creationId xmlns:p14="http://schemas.microsoft.com/office/powerpoint/2010/main" val="3460898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LATENT SEMANTIC ANALYSIS</a:t>
            </a:r>
          </a:p>
        </p:txBody>
      </p:sp>
      <mc:AlternateContent xmlns:mc="http://schemas.openxmlformats.org/markup-compatibility/2006" xmlns:a14="http://schemas.microsoft.com/office/drawing/2010/main">
        <mc:Choice Requires="a14">
          <p:sp>
            <p:nvSpPr>
              <p:cNvPr id="2" name="TextBox 1"/>
              <p:cNvSpPr txBox="1"/>
              <p:nvPr/>
            </p:nvSpPr>
            <p:spPr>
              <a:xfrm>
                <a:off x="692727" y="1043709"/>
                <a:ext cx="11129818" cy="4619150"/>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Let:</a:t>
                </a:r>
              </a:p>
              <a:p>
                <a:pPr marL="52070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 = Collection of Documents</a:t>
                </a:r>
              </a:p>
              <a:p>
                <a:pPr marL="52070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 number of documents</a:t>
                </a:r>
              </a:p>
              <a:p>
                <a:pPr marL="52070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 number of unique words in the whole document</a:t>
                </a:r>
              </a:p>
              <a:p>
                <a:pPr marL="52070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 = d X n</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SVD decomposes the M matrix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 word to document matrix into three matrices as follows:-</a:t>
                </a:r>
              </a:p>
              <a:p>
                <a:pPr marL="0" marR="0" lvl="0" indent="0" algn="l" defTabSz="914400" rtl="0" eaLnBrk="1" fontAlgn="auto" latinLnBrk="0" hangingPunct="1">
                  <a:lnSpc>
                    <a:spcPct val="15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𝑴</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𝑼</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𝑽</m:t>
                      </m:r>
                      <m:r>
                        <a:rPr kumimoji="0" lang="en-US" sz="1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oMath>
                  </m:oMathPara>
                </a14:m>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Where</a:t>
                </a:r>
              </a:p>
              <a:p>
                <a:pPr marL="573088"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 =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distribution of words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across the different contexts</a:t>
                </a:r>
              </a:p>
              <a:p>
                <a:pPr marL="573088"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a14:m>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diagonal matrix of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association among the contexts</a:t>
                </a:r>
              </a:p>
              <a:p>
                <a:pPr marL="573088"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14:m>
                  <m:oMath xmlns:m="http://schemas.openxmlformats.org/officeDocument/2006/math">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𝑉</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sub>
                    </m:sSub>
                  </m:oMath>
                </a14:m>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distribution of contexts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across different documents</a:t>
                </a:r>
              </a:p>
            </p:txBody>
          </p:sp>
        </mc:Choice>
        <mc:Fallback xmlns="">
          <p:sp>
            <p:nvSpPr>
              <p:cNvPr id="2" name="TextBox 1"/>
              <p:cNvSpPr txBox="1">
                <a:spLocks noRot="1" noChangeAspect="1" noMove="1" noResize="1" noEditPoints="1" noAdjustHandles="1" noChangeArrowheads="1" noChangeShapeType="1" noTextEdit="1"/>
              </p:cNvSpPr>
              <p:nvPr/>
            </p:nvSpPr>
            <p:spPr>
              <a:xfrm>
                <a:off x="692727" y="1043709"/>
                <a:ext cx="11129818" cy="4619150"/>
              </a:xfrm>
              <a:prstGeom prst="rect">
                <a:avLst/>
              </a:prstGeom>
              <a:blipFill>
                <a:blip r:embed="rId2"/>
                <a:stretch>
                  <a:fillRect l="-384" b="-1187"/>
                </a:stretch>
              </a:blipFill>
            </p:spPr>
            <p:txBody>
              <a:bodyPr/>
              <a:lstStyle/>
              <a:p>
                <a:r>
                  <a:rPr lang="en-US">
                    <a:noFill/>
                  </a:rPr>
                  <a:t> </a:t>
                </a:r>
              </a:p>
            </p:txBody>
          </p:sp>
        </mc:Fallback>
      </mc:AlternateContent>
    </p:spTree>
    <p:extLst>
      <p:ext uri="{BB962C8B-B14F-4D97-AF65-F5344CB8AC3E}">
        <p14:creationId xmlns:p14="http://schemas.microsoft.com/office/powerpoint/2010/main" val="30085602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LATENT SEMANTIC ANALYSIS</a:t>
            </a:r>
          </a:p>
        </p:txBody>
      </p:sp>
      <p:pic>
        <p:nvPicPr>
          <p:cNvPr id="2" name="Picture 1">
            <a:extLst>
              <a:ext uri="{FF2B5EF4-FFF2-40B4-BE49-F238E27FC236}">
                <a16:creationId xmlns:a16="http://schemas.microsoft.com/office/drawing/2014/main" id="{69156B5E-DC03-73B6-1646-FBF31231A507}"/>
              </a:ext>
            </a:extLst>
          </p:cNvPr>
          <p:cNvPicPr>
            <a:picLocks noChangeAspect="1"/>
          </p:cNvPicPr>
          <p:nvPr/>
        </p:nvPicPr>
        <p:blipFill>
          <a:blip r:embed="rId2"/>
          <a:stretch>
            <a:fillRect/>
          </a:stretch>
        </p:blipFill>
        <p:spPr>
          <a:xfrm>
            <a:off x="1363987" y="1593267"/>
            <a:ext cx="8783015" cy="3773059"/>
          </a:xfrm>
          <a:prstGeom prst="rect">
            <a:avLst/>
          </a:prstGeom>
        </p:spPr>
      </p:pic>
    </p:spTree>
    <p:extLst>
      <p:ext uri="{BB962C8B-B14F-4D97-AF65-F5344CB8AC3E}">
        <p14:creationId xmlns:p14="http://schemas.microsoft.com/office/powerpoint/2010/main" val="3319957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LATENT SEMANTIC ANALYSIS</a:t>
            </a:r>
          </a:p>
        </p:txBody>
      </p:sp>
      <p:sp>
        <p:nvSpPr>
          <p:cNvPr id="2" name="TextBox 1"/>
          <p:cNvSpPr txBox="1"/>
          <p:nvPr/>
        </p:nvSpPr>
        <p:spPr>
          <a:xfrm>
            <a:off x="572655" y="701964"/>
            <a:ext cx="11286836" cy="3693319"/>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very significant feature of SVD is that it allows us to truncate few contexts which are not necessarily required by us.</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 matrix provides us with the diagonal values which represent the significance of the context from highest to the lowest</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By using these values we can reduce the dimensions and hence this can be used as a dimensionality reduction technique too</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we select the k the largest diagonal values in ∑ a matrix we obtain  </a:t>
            </a:r>
          </a:p>
          <a:p>
            <a:pPr marL="0" marR="0" lvl="0" indent="0" algn="ctr" defTabSz="914400" rtl="0" eaLnBrk="1" fontAlgn="base"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k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a:t>
            </a:r>
            <a:r>
              <a:rPr kumimoji="0" lang="en-US" sz="1800" b="0" i="0" u="none" strike="noStrike" kern="1200" cap="none" spc="0" normalizeH="0" baseline="-25000" noProof="0" dirty="0" err="1">
                <a:ln>
                  <a:noFill/>
                </a:ln>
                <a:solidFill>
                  <a:prstClr val="black"/>
                </a:solidFill>
                <a:effectLst/>
                <a:uLnTx/>
                <a:uFillTx/>
                <a:latin typeface="Calibri" panose="020F0502020204030204"/>
                <a:ea typeface="+mn-ea"/>
                <a:cs typeface="+mn-cs"/>
              </a:rPr>
              <a:t>k</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25000" noProof="0" dirty="0" err="1">
                <a:ln>
                  <a:noFill/>
                </a:ln>
                <a:solidFill>
                  <a:prstClr val="black"/>
                </a:solidFill>
                <a:effectLst/>
                <a:uLnTx/>
                <a:uFillTx/>
                <a:latin typeface="Calibri" panose="020F0502020204030204"/>
                <a:ea typeface="+mn-ea"/>
                <a:cs typeface="+mn-cs"/>
              </a:rPr>
              <a:t>k</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V</a:t>
            </a:r>
            <a:r>
              <a:rPr kumimoji="0" lang="en-US" sz="1800" b="0" i="0" u="none" strike="noStrike" kern="1200" cap="none" spc="0" normalizeH="0" baseline="30000" noProof="0" dirty="0" err="1">
                <a:ln>
                  <a:noFill/>
                </a:ln>
                <a:solidFill>
                  <a:prstClr val="black"/>
                </a:solidFill>
                <a:effectLst/>
                <a:uLnTx/>
                <a:uFillTx/>
                <a:latin typeface="Calibri" panose="020F0502020204030204"/>
                <a:ea typeface="+mn-ea"/>
                <a:cs typeface="+mn-cs"/>
              </a:rPr>
              <a:t>T</a:t>
            </a:r>
            <a:r>
              <a:rPr kumimoji="0" lang="en-US" sz="1800" b="0" i="0" u="none" strike="noStrike" kern="1200" cap="none" spc="0" normalizeH="0" baseline="-25000" noProof="0" dirty="0" err="1">
                <a:ln>
                  <a:noFill/>
                </a:ln>
                <a:solidFill>
                  <a:prstClr val="black"/>
                </a:solidFill>
                <a:effectLst/>
                <a:uLnTx/>
                <a:uFillTx/>
                <a:latin typeface="Calibri" panose="020F0502020204030204"/>
                <a:ea typeface="+mn-ea"/>
                <a:cs typeface="+mn-cs"/>
              </a:rPr>
              <a:t>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02DE5691-D9C0-491B-2904-8A03D3E0345F}"/>
              </a:ext>
            </a:extLst>
          </p:cNvPr>
          <p:cNvPicPr>
            <a:picLocks noChangeAspect="1"/>
          </p:cNvPicPr>
          <p:nvPr/>
        </p:nvPicPr>
        <p:blipFill>
          <a:blip r:embed="rId2"/>
          <a:stretch>
            <a:fillRect/>
          </a:stretch>
        </p:blipFill>
        <p:spPr>
          <a:xfrm>
            <a:off x="2905044" y="4091700"/>
            <a:ext cx="5883150" cy="2766300"/>
          </a:xfrm>
          <a:prstGeom prst="rect">
            <a:avLst/>
          </a:prstGeom>
        </p:spPr>
      </p:pic>
    </p:spTree>
    <p:extLst>
      <p:ext uri="{BB962C8B-B14F-4D97-AF65-F5344CB8AC3E}">
        <p14:creationId xmlns:p14="http://schemas.microsoft.com/office/powerpoint/2010/main" val="2862836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WORD2VEC</a:t>
            </a:r>
          </a:p>
        </p:txBody>
      </p:sp>
      <p:sp>
        <p:nvSpPr>
          <p:cNvPr id="6" name="TextBox 5"/>
          <p:cNvSpPr txBox="1"/>
          <p:nvPr/>
        </p:nvSpPr>
        <p:spPr>
          <a:xfrm>
            <a:off x="581891" y="1034473"/>
            <a:ext cx="11018982" cy="3416320"/>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models known as Word2Vec were first created in 2013 by a team of researchers at Google led by Tomas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Mikolov</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[1, 2, 3]</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models are self-supervised, that is, they are supervised models that depend on the structure of natural language to provide labeled training data</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two architectures for Word2Vec are as follows: </a:t>
            </a:r>
          </a:p>
          <a:p>
            <a:pPr marL="573088"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Continuous Bag of Words (CBOW) </a:t>
            </a:r>
          </a:p>
          <a:p>
            <a:pPr marL="573088"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Skip-gram</a:t>
            </a:r>
          </a:p>
          <a:p>
            <a:pPr marL="341313"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FF1C9FB1-9D7A-5451-498E-E6F2AA4F65A5}"/>
              </a:ext>
            </a:extLst>
          </p:cNvPr>
          <p:cNvPicPr>
            <a:picLocks noChangeAspect="1"/>
          </p:cNvPicPr>
          <p:nvPr/>
        </p:nvPicPr>
        <p:blipFill>
          <a:blip r:embed="rId2"/>
          <a:stretch>
            <a:fillRect/>
          </a:stretch>
        </p:blipFill>
        <p:spPr>
          <a:xfrm>
            <a:off x="5154921" y="3351314"/>
            <a:ext cx="5596207" cy="3365005"/>
          </a:xfrm>
          <a:prstGeom prst="rect">
            <a:avLst/>
          </a:prstGeom>
        </p:spPr>
      </p:pic>
    </p:spTree>
    <p:extLst>
      <p:ext uri="{BB962C8B-B14F-4D97-AF65-F5344CB8AC3E}">
        <p14:creationId xmlns:p14="http://schemas.microsoft.com/office/powerpoint/2010/main" val="3916720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WORD2VEC</a:t>
            </a:r>
          </a:p>
        </p:txBody>
      </p:sp>
      <p:sp>
        <p:nvSpPr>
          <p:cNvPr id="6" name="TextBox 5"/>
          <p:cNvSpPr txBox="1"/>
          <p:nvPr/>
        </p:nvSpPr>
        <p:spPr>
          <a:xfrm>
            <a:off x="628073" y="618840"/>
            <a:ext cx="11379200" cy="5035353"/>
          </a:xfrm>
          <a:prstGeom prst="rect">
            <a:avLst/>
          </a:prstGeom>
          <a:noFill/>
        </p:spPr>
        <p:txBody>
          <a:bodyPr wrap="square" rtlCol="0">
            <a:spAutoFit/>
          </a:bodyPr>
          <a:lstStyle/>
          <a:p>
            <a:pPr marL="341313"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the skip-gram architecture, 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model predicts the surrounding words given the context word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341313"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According to the Word2Vec website,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CBOW is faster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but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skip-gram does a better job at predicting infrequent words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1313"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can simplify the skip-gram model objective of predicting a context word given a target word to basically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predicting if a pair of words are contextually related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341313"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Contextually related means that a pair of words within a context window are somehow related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is,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the input to the skip-gram model for the following first example would be the sparse vectors for the context words “The” and “Earth,” and the output would be the value 1</a:t>
            </a:r>
          </a:p>
          <a:p>
            <a:pPr marL="341313"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Earth], 1) ([The, travels], 1)</a:t>
            </a:r>
          </a:p>
          <a:p>
            <a:pPr marL="341313"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We also need negative samples to train a model properly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so we generate additional negative samples by pairing each input word with some random word in the vocabulary.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This process is called negative sampling and might result in the following additional inputs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([Earth, zebra], 0) </a:t>
            </a:r>
          </a:p>
          <a:p>
            <a:pPr marL="341313"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Box 1"/>
          <p:cNvSpPr txBox="1"/>
          <p:nvPr/>
        </p:nvSpPr>
        <p:spPr>
          <a:xfrm>
            <a:off x="628073" y="5615709"/>
            <a:ext cx="11139054" cy="1615827"/>
          </a:xfrm>
          <a:prstGeom prst="rect">
            <a:avLst/>
          </a:prstGeom>
          <a:noFill/>
        </p:spPr>
        <p:txBody>
          <a:bodyPr wrap="square" rtlCol="0">
            <a:spAutoFit/>
          </a:bodyPr>
          <a:lstStyle/>
          <a:p>
            <a:pPr marL="341313"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Semantic analysis is a process that helps computers </a:t>
            </a:r>
            <a:r>
              <a:rPr kumimoji="0" lang="en-US" sz="1800" b="0" i="1" u="none" strike="noStrike" kern="1200" cap="none" spc="0" normalizeH="0" baseline="0" noProof="0" dirty="0">
                <a:ln>
                  <a:noFill/>
                </a:ln>
                <a:solidFill>
                  <a:srgbClr val="FF0000"/>
                </a:solidFill>
                <a:effectLst/>
                <a:uLnTx/>
                <a:uFillTx/>
                <a:latin typeface="Calibri" panose="020F0502020204030204"/>
                <a:ea typeface="+mn-ea"/>
                <a:cs typeface="+mn-cs"/>
              </a:rPr>
              <a:t>understand the meaning of words and phrases in context</a:t>
            </a:r>
          </a:p>
          <a:p>
            <a:pPr marL="341313"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Syntactic analysis, also known as parsing, is the </a:t>
            </a:r>
            <a:r>
              <a:rPr kumimoji="0" lang="en-US" sz="1800" b="0" i="1" u="none" strike="noStrike" kern="1200" cap="none" spc="0" normalizeH="0" baseline="0" noProof="0" dirty="0">
                <a:ln>
                  <a:noFill/>
                </a:ln>
                <a:solidFill>
                  <a:srgbClr val="FF0000"/>
                </a:solidFill>
                <a:effectLst/>
                <a:uLnTx/>
                <a:uFillTx/>
                <a:latin typeface="Calibri" panose="020F0502020204030204"/>
                <a:ea typeface="+mn-ea"/>
                <a:cs typeface="+mn-cs"/>
              </a:rPr>
              <a:t>process of analyzing a string of symbols using the rules of a formal grammar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3461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911927" y="74521"/>
            <a:ext cx="903449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WORD2VEC</a:t>
            </a:r>
          </a:p>
        </p:txBody>
      </p:sp>
      <p:sp>
        <p:nvSpPr>
          <p:cNvPr id="5" name="TextBox 4"/>
          <p:cNvSpPr txBox="1"/>
          <p:nvPr/>
        </p:nvSpPr>
        <p:spPr>
          <a:xfrm>
            <a:off x="720437" y="749276"/>
            <a:ext cx="11009745" cy="6186309"/>
          </a:xfrm>
          <a:prstGeom prst="rect">
            <a:avLst/>
          </a:prstGeom>
          <a:noFill/>
        </p:spPr>
        <p:txBody>
          <a:bodyPr wrap="square" rtlCol="0">
            <a:spAutoFit/>
          </a:bodyPr>
          <a:lstStyle/>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model trained with all of these inputs is called a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Skip-Gram with Negative Sampling (SGNS) model</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important to understand that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we are not interested in the ability of these models to classify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rather, we are interested in the side effect of training – the learned weights. </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These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learned weights are what we call the embedding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Word2Vec model was trained in a self-supervised manner by Google on roughly 100 billion words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from the Google News dataset and contains a vocabulary of 3 million words. </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Google then released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pretrained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model for anyone to download and use. </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pretrained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Word2Vec model is available here (https://drive.google.com/file/d/0B7XkCwpI5KDYNlNUTTlSS21pQmM/edit). </a:t>
            </a:r>
          </a:p>
          <a:p>
            <a:pPr marL="285750" marR="0" lvl="0" indent="-285750" algn="l" defTabSz="914400" rtl="0" eaLnBrk="1" fontAlgn="auto" latinLnBrk="0" hangingPunct="1">
              <a:lnSpc>
                <a:spcPct val="2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output vector dimensionality is 300</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It is available as a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BIN file and can be opened using </a:t>
            </a:r>
            <a:r>
              <a:rPr kumimoji="0" lang="en-US" sz="1800" b="0" i="0" u="none" strike="noStrike" kern="1200" cap="none" spc="0" normalizeH="0" baseline="0" noProof="0" dirty="0" err="1">
                <a:ln>
                  <a:noFill/>
                </a:ln>
                <a:solidFill>
                  <a:srgbClr val="FF0000"/>
                </a:solidFill>
                <a:effectLst/>
                <a:uLnTx/>
                <a:uFillTx/>
                <a:latin typeface="Calibri" panose="020F0502020204030204"/>
                <a:ea typeface="+mn-ea"/>
                <a:cs typeface="+mn-cs"/>
              </a:rPr>
              <a:t>Gensim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by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gensim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2360619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9F55BE-ADDD-4AC2-6FD3-C52C0E54A8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9BF5C23-D03A-BD25-18C2-C5EC6418EF09}"/>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GLOBAL VECTOR FOR WORD EMBEDDING</a:t>
            </a:r>
          </a:p>
        </p:txBody>
      </p:sp>
      <p:sp>
        <p:nvSpPr>
          <p:cNvPr id="5" name="TextBox 4">
            <a:extLst>
              <a:ext uri="{FF2B5EF4-FFF2-40B4-BE49-F238E27FC236}">
                <a16:creationId xmlns:a16="http://schemas.microsoft.com/office/drawing/2014/main" id="{00C841CE-11E4-D7F6-1AF9-F224F3FFBEB8}"/>
              </a:ext>
            </a:extLst>
          </p:cNvPr>
          <p:cNvSpPr txBox="1"/>
          <p:nvPr/>
        </p:nvSpPr>
        <p:spPr>
          <a:xfrm>
            <a:off x="720437" y="749276"/>
            <a:ext cx="11009745" cy="568745"/>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endParaRPr lang="en-US"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6266742-D9D3-915B-AF1C-7335FCEF6805}"/>
                  </a:ext>
                </a:extLst>
              </p:cNvPr>
              <p:cNvSpPr txBox="1"/>
              <p:nvPr/>
            </p:nvSpPr>
            <p:spPr>
              <a:xfrm>
                <a:off x="849745" y="536186"/>
                <a:ext cx="11102110" cy="6385722"/>
              </a:xfrm>
              <a:prstGeom prst="rect">
                <a:avLst/>
              </a:prstGeom>
              <a:noFill/>
            </p:spPr>
            <p:txBody>
              <a:bodyPr wrap="square" rtlCol="0">
                <a:spAutoFit/>
              </a:bodyPr>
              <a:lstStyle/>
              <a:p>
                <a:pPr marL="285750" indent="-285750">
                  <a:lnSpc>
                    <a:spcPct val="120000"/>
                  </a:lnSpc>
                  <a:buFont typeface="Wingdings" panose="05000000000000000000" pitchFamily="2" charset="2"/>
                  <a:buChar char="q"/>
                </a:pPr>
                <a:r>
                  <a:rPr lang="en-US" dirty="0"/>
                  <a:t>Training is performed on aggregated global word-word co-occurrence statistics from a corpus, and the resulting representations show similar clustering behavior between similar words as seen in Word2Vec.</a:t>
                </a:r>
              </a:p>
              <a:p>
                <a:pPr marL="285750" indent="-285750">
                  <a:lnSpc>
                    <a:spcPct val="120000"/>
                  </a:lnSpc>
                  <a:buFont typeface="Wingdings" panose="05000000000000000000" pitchFamily="2" charset="2"/>
                  <a:buChar char="q"/>
                </a:pPr>
                <a:r>
                  <a:rPr lang="en-US" dirty="0" err="1"/>
                  <a:t>GloVe</a:t>
                </a:r>
                <a:r>
                  <a:rPr lang="en-US" dirty="0"/>
                  <a:t> differs from Word2Vec in that Word2Vec is a predictive model while </a:t>
                </a:r>
                <a:r>
                  <a:rPr lang="en-US" dirty="0" err="1">
                    <a:solidFill>
                      <a:srgbClr val="FF0000"/>
                    </a:solidFill>
                  </a:rPr>
                  <a:t>GloVe</a:t>
                </a:r>
                <a:r>
                  <a:rPr lang="en-US" dirty="0">
                    <a:solidFill>
                      <a:srgbClr val="FF0000"/>
                    </a:solidFill>
                  </a:rPr>
                  <a:t> is a count-based model</a:t>
                </a:r>
                <a:r>
                  <a:rPr lang="en-US" dirty="0"/>
                  <a:t>. </a:t>
                </a:r>
              </a:p>
              <a:p>
                <a:pPr marL="285750" indent="-285750">
                  <a:lnSpc>
                    <a:spcPct val="120000"/>
                  </a:lnSpc>
                  <a:buFont typeface="Wingdings" panose="05000000000000000000" pitchFamily="2" charset="2"/>
                  <a:buChar char="q"/>
                </a:pPr>
                <a:r>
                  <a:rPr lang="en-US" dirty="0"/>
                  <a:t>The first step is to construct a large matrix of (word, context) pairs that co-occur in the training corpus. </a:t>
                </a:r>
              </a:p>
              <a:p>
                <a:pPr marL="285750" indent="-285750">
                  <a:lnSpc>
                    <a:spcPct val="120000"/>
                  </a:lnSpc>
                  <a:buFont typeface="Wingdings" panose="05000000000000000000" pitchFamily="2" charset="2"/>
                  <a:buChar char="q"/>
                </a:pPr>
                <a:r>
                  <a:rPr lang="en-US" dirty="0">
                    <a:solidFill>
                      <a:srgbClr val="FF0000"/>
                    </a:solidFill>
                  </a:rPr>
                  <a:t>Rows correspond to words and columns correspond to contexts</a:t>
                </a:r>
                <a:r>
                  <a:rPr lang="en-US" dirty="0"/>
                  <a:t>, usually a sequence of one or more words. Each element of the matrix represents how often the word co-occurs in the context.</a:t>
                </a:r>
              </a:p>
              <a:p>
                <a:pPr marL="285750" indent="-285750">
                  <a:lnSpc>
                    <a:spcPct val="120000"/>
                  </a:lnSpc>
                  <a:buFont typeface="Wingdings" panose="05000000000000000000" pitchFamily="2" charset="2"/>
                  <a:buChar char="q"/>
                </a:pPr>
                <a:r>
                  <a:rPr lang="en-US" dirty="0"/>
                  <a:t>The </a:t>
                </a:r>
                <a:r>
                  <a:rPr lang="en-US" dirty="0" err="1">
                    <a:solidFill>
                      <a:srgbClr val="FF0000"/>
                    </a:solidFill>
                  </a:rPr>
                  <a:t>GloVe</a:t>
                </a:r>
                <a:r>
                  <a:rPr lang="en-US" dirty="0">
                    <a:solidFill>
                      <a:srgbClr val="FF0000"/>
                    </a:solidFill>
                  </a:rPr>
                  <a:t> process factorizes this co-occurrence matrix into a pair of (word, feature) and (feature, context) matrices</a:t>
                </a:r>
                <a:r>
                  <a:rPr lang="en-US" dirty="0"/>
                  <a:t>.</a:t>
                </a:r>
              </a:p>
              <a:p>
                <a:pPr marL="285750" indent="-285750">
                  <a:lnSpc>
                    <a:spcPct val="120000"/>
                  </a:lnSpc>
                  <a:buFont typeface="Wingdings" panose="05000000000000000000" pitchFamily="2" charset="2"/>
                  <a:buChar char="q"/>
                </a:pPr>
                <a:r>
                  <a:rPr lang="en-US" dirty="0"/>
                  <a:t>The process is known as </a:t>
                </a:r>
                <a:r>
                  <a:rPr lang="en-US" dirty="0">
                    <a:solidFill>
                      <a:srgbClr val="FF0000"/>
                    </a:solidFill>
                  </a:rPr>
                  <a:t>matrix factorization and is done using Stochastic Gradient Descent (SGD), </a:t>
                </a:r>
                <a:r>
                  <a:rPr lang="en-US" dirty="0"/>
                  <a:t>an iterative numerical method. For example, consider that we want to factorize a matrix R into its factors P and Q:</a:t>
                </a:r>
              </a:p>
              <a:p>
                <a:pPr algn="ctr">
                  <a:lnSpc>
                    <a:spcPct val="12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m:t>
                          </m:r>
                        </m:sup>
                      </m:sSup>
                    </m:oMath>
                  </m:oMathPara>
                </a14:m>
                <a:endParaRPr lang="en-US" b="0" dirty="0"/>
              </a:p>
              <a:p>
                <a:pPr marL="285750" indent="-285750" algn="just">
                  <a:lnSpc>
                    <a:spcPct val="120000"/>
                  </a:lnSpc>
                  <a:buFont typeface="Wingdings" panose="05000000000000000000" pitchFamily="2" charset="2"/>
                  <a:buChar char="q"/>
                </a:pPr>
                <a:r>
                  <a:rPr lang="en-US" dirty="0"/>
                  <a:t>The </a:t>
                </a:r>
                <a:r>
                  <a:rPr lang="en-US" dirty="0">
                    <a:solidFill>
                      <a:srgbClr val="FF0000"/>
                    </a:solidFill>
                  </a:rPr>
                  <a:t>SGD process will start with P and Q composed of random values and attempt to reconstruct the matrix R’ </a:t>
                </a:r>
                <a:r>
                  <a:rPr lang="en-US" dirty="0"/>
                  <a:t>by multiplying them. </a:t>
                </a:r>
              </a:p>
              <a:p>
                <a:pPr marL="285750" indent="-285750" algn="just">
                  <a:lnSpc>
                    <a:spcPct val="120000"/>
                  </a:lnSpc>
                  <a:buFont typeface="Wingdings" panose="05000000000000000000" pitchFamily="2" charset="2"/>
                  <a:buChar char="q"/>
                </a:pPr>
                <a:r>
                  <a:rPr lang="en-US" dirty="0"/>
                  <a:t>The </a:t>
                </a:r>
                <a:r>
                  <a:rPr lang="en-US" dirty="0">
                    <a:solidFill>
                      <a:srgbClr val="FF0000"/>
                    </a:solidFill>
                  </a:rPr>
                  <a:t>difference between the matrices R and R’ represents the loss </a:t>
                </a:r>
                <a:r>
                  <a:rPr lang="en-US" dirty="0"/>
                  <a:t>and is usually computed as the mean-squared error between the two matrices. </a:t>
                </a:r>
              </a:p>
              <a:p>
                <a:pPr marL="285750" indent="-285750" algn="just">
                  <a:lnSpc>
                    <a:spcPct val="120000"/>
                  </a:lnSpc>
                  <a:buFont typeface="Wingdings" panose="05000000000000000000" pitchFamily="2" charset="2"/>
                  <a:buChar char="q"/>
                </a:pPr>
                <a:r>
                  <a:rPr lang="en-US" dirty="0"/>
                  <a:t>The </a:t>
                </a:r>
                <a:r>
                  <a:rPr lang="en-US" dirty="0">
                    <a:solidFill>
                      <a:srgbClr val="FF0000"/>
                    </a:solidFill>
                  </a:rPr>
                  <a:t>loss dictates how much the values of P and Q need to change for R’ </a:t>
                </a:r>
                <a:r>
                  <a:rPr lang="en-US" dirty="0"/>
                  <a:t>to move closer to R to minimize the reconstruction loss. </a:t>
                </a:r>
              </a:p>
              <a:p>
                <a:pPr marL="285750" indent="-285750" algn="just">
                  <a:lnSpc>
                    <a:spcPct val="120000"/>
                  </a:lnSpc>
                  <a:buFont typeface="Wingdings" panose="05000000000000000000" pitchFamily="2" charset="2"/>
                  <a:buChar char="q"/>
                </a:pPr>
                <a:r>
                  <a:rPr lang="en-US" dirty="0"/>
                  <a:t>This process is repeated multiple times until the loss is within some acceptable threshold. At that point, the (word, feature) matrix P is the </a:t>
                </a:r>
                <a:r>
                  <a:rPr lang="en-US" dirty="0" err="1"/>
                  <a:t>GloVe</a:t>
                </a:r>
                <a:r>
                  <a:rPr lang="en-US" dirty="0"/>
                  <a:t> embedding</a:t>
                </a:r>
              </a:p>
            </p:txBody>
          </p:sp>
        </mc:Choice>
        <mc:Fallback xmlns="">
          <p:sp>
            <p:nvSpPr>
              <p:cNvPr id="2" name="TextBox 1">
                <a:extLst>
                  <a:ext uri="{FF2B5EF4-FFF2-40B4-BE49-F238E27FC236}">
                    <a16:creationId xmlns:a16="http://schemas.microsoft.com/office/drawing/2014/main" id="{86266742-D9D3-915B-AF1C-7335FCEF6805}"/>
                  </a:ext>
                </a:extLst>
              </p:cNvPr>
              <p:cNvSpPr txBox="1">
                <a:spLocks noRot="1" noChangeAspect="1" noMove="1" noResize="1" noEditPoints="1" noAdjustHandles="1" noChangeArrowheads="1" noChangeShapeType="1" noTextEdit="1"/>
              </p:cNvSpPr>
              <p:nvPr/>
            </p:nvSpPr>
            <p:spPr>
              <a:xfrm>
                <a:off x="849745" y="536186"/>
                <a:ext cx="11102110" cy="6385722"/>
              </a:xfrm>
              <a:prstGeom prst="rect">
                <a:avLst/>
              </a:prstGeom>
              <a:blipFill>
                <a:blip r:embed="rId2"/>
                <a:stretch>
                  <a:fillRect l="-329" r="-439" b="-669"/>
                </a:stretch>
              </a:blipFill>
            </p:spPr>
            <p:txBody>
              <a:bodyPr/>
              <a:lstStyle/>
              <a:p>
                <a:r>
                  <a:rPr lang="en-US">
                    <a:noFill/>
                  </a:rPr>
                  <a:t> </a:t>
                </a:r>
              </a:p>
            </p:txBody>
          </p:sp>
        </mc:Fallback>
      </mc:AlternateContent>
    </p:spTree>
    <p:extLst>
      <p:ext uri="{BB962C8B-B14F-4D97-AF65-F5344CB8AC3E}">
        <p14:creationId xmlns:p14="http://schemas.microsoft.com/office/powerpoint/2010/main" val="3016117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9D639-9C93-A133-9A92-368433CA3C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BE4AC9F-93C4-DBF7-4ED9-0EB0FA9A7639}"/>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DEEP RNN, LSTM OR GRU</a:t>
            </a:r>
          </a:p>
        </p:txBody>
      </p:sp>
      <p:sp>
        <p:nvSpPr>
          <p:cNvPr id="3" name="TextBox 2">
            <a:extLst>
              <a:ext uri="{FF2B5EF4-FFF2-40B4-BE49-F238E27FC236}">
                <a16:creationId xmlns:a16="http://schemas.microsoft.com/office/drawing/2014/main" id="{D0C4AFCC-B638-41B8-4801-5B3EBD58CC8A}"/>
              </a:ext>
            </a:extLst>
          </p:cNvPr>
          <p:cNvSpPr txBox="1"/>
          <p:nvPr/>
        </p:nvSpPr>
        <p:spPr>
          <a:xfrm>
            <a:off x="467360" y="1076960"/>
            <a:ext cx="11318240" cy="3693319"/>
          </a:xfrm>
          <a:prstGeom prst="rect">
            <a:avLst/>
          </a:prstGeom>
          <a:noFill/>
        </p:spPr>
        <p:txBody>
          <a:bodyPr wrap="square" rtlCol="0">
            <a:spAutoFit/>
          </a:bodyPr>
          <a:lstStyle/>
          <a:p>
            <a:pPr marL="285750" indent="-285750">
              <a:buFont typeface="Wingdings" panose="05000000000000000000" pitchFamily="2" charset="2"/>
              <a:buChar char="q"/>
            </a:pPr>
            <a:r>
              <a:rPr lang="en-US" dirty="0"/>
              <a:t>Make sure to set </a:t>
            </a:r>
            <a:r>
              <a:rPr lang="en-US" dirty="0" err="1"/>
              <a:t>return_sequences</a:t>
            </a:r>
            <a:r>
              <a:rPr lang="en-US" dirty="0"/>
              <a:t>=True for all recurrent layers (except the last one, if you only care about the last output). If you don’t, they will output a 2D array (containing only the output of the last time step) instead of a 3D array (containing outputs for all time steps), and the next recurrent layer will complain that you are not feeding it sequences in the expected 3D format. </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p:txBody>
      </p:sp>
      <p:pic>
        <p:nvPicPr>
          <p:cNvPr id="7" name="Picture 6">
            <a:extLst>
              <a:ext uri="{FF2B5EF4-FFF2-40B4-BE49-F238E27FC236}">
                <a16:creationId xmlns:a16="http://schemas.microsoft.com/office/drawing/2014/main" id="{7ABEEDD7-922D-582B-8451-87758C3EAF5C}"/>
              </a:ext>
            </a:extLst>
          </p:cNvPr>
          <p:cNvPicPr>
            <a:picLocks noChangeAspect="1"/>
          </p:cNvPicPr>
          <p:nvPr/>
        </p:nvPicPr>
        <p:blipFill>
          <a:blip r:embed="rId2"/>
          <a:stretch>
            <a:fillRect/>
          </a:stretch>
        </p:blipFill>
        <p:spPr>
          <a:xfrm>
            <a:off x="1456246" y="2439616"/>
            <a:ext cx="9279507" cy="1482143"/>
          </a:xfrm>
          <a:prstGeom prst="rect">
            <a:avLst/>
          </a:prstGeom>
        </p:spPr>
      </p:pic>
      <p:pic>
        <p:nvPicPr>
          <p:cNvPr id="9" name="Picture 8">
            <a:extLst>
              <a:ext uri="{FF2B5EF4-FFF2-40B4-BE49-F238E27FC236}">
                <a16:creationId xmlns:a16="http://schemas.microsoft.com/office/drawing/2014/main" id="{38A690BC-A78A-E17E-FB3B-CC88097C7EE3}"/>
              </a:ext>
            </a:extLst>
          </p:cNvPr>
          <p:cNvPicPr>
            <a:picLocks noChangeAspect="1"/>
          </p:cNvPicPr>
          <p:nvPr/>
        </p:nvPicPr>
        <p:blipFill>
          <a:blip r:embed="rId3"/>
          <a:stretch>
            <a:fillRect/>
          </a:stretch>
        </p:blipFill>
        <p:spPr>
          <a:xfrm>
            <a:off x="3075164" y="3673480"/>
            <a:ext cx="6041671" cy="3109999"/>
          </a:xfrm>
          <a:prstGeom prst="rect">
            <a:avLst/>
          </a:prstGeom>
        </p:spPr>
      </p:pic>
    </p:spTree>
    <p:extLst>
      <p:ext uri="{BB962C8B-B14F-4D97-AF65-F5344CB8AC3E}">
        <p14:creationId xmlns:p14="http://schemas.microsoft.com/office/powerpoint/2010/main" val="323169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0401E-B5F6-00F2-DD08-E823D4B53E4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DFC213B-6CBF-2002-3BA8-1998ACC27705}"/>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DEEP RNN, LSTM OR GRU</a:t>
            </a:r>
          </a:p>
        </p:txBody>
      </p:sp>
      <p:sp>
        <p:nvSpPr>
          <p:cNvPr id="3" name="TextBox 2">
            <a:extLst>
              <a:ext uri="{FF2B5EF4-FFF2-40B4-BE49-F238E27FC236}">
                <a16:creationId xmlns:a16="http://schemas.microsoft.com/office/drawing/2014/main" id="{5929777B-761B-8EF0-FC9D-3E9DD5E86C4A}"/>
              </a:ext>
            </a:extLst>
          </p:cNvPr>
          <p:cNvSpPr txBox="1"/>
          <p:nvPr/>
        </p:nvSpPr>
        <p:spPr>
          <a:xfrm>
            <a:off x="467360" y="1076960"/>
            <a:ext cx="11318240" cy="7155805"/>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dirty="0"/>
              <a:t>Note that the last layer is not ideal: </a:t>
            </a:r>
            <a:r>
              <a:rPr lang="en-US" dirty="0">
                <a:solidFill>
                  <a:srgbClr val="FF0000"/>
                </a:solidFill>
              </a:rPr>
              <a:t>it must have a single unit because we want to forecast a univariate time series</a:t>
            </a:r>
            <a:r>
              <a:rPr lang="en-US" dirty="0"/>
              <a:t>, and this means </a:t>
            </a:r>
            <a:r>
              <a:rPr lang="en-US" dirty="0">
                <a:solidFill>
                  <a:srgbClr val="FF0000"/>
                </a:solidFill>
              </a:rPr>
              <a:t>we must have a single output value per time step</a:t>
            </a:r>
            <a:r>
              <a:rPr lang="en-US" dirty="0"/>
              <a:t>. However, having a single unit means that the hidden state is just a single number. That’s really not much, and it’s probably not that useful; presumably, the RNN will mostly use the hidden states of the other recurrent layers to carry over all the information it needs from time step to time step, and it will not use the final layer’s hidden state very much. Moreover, since a </a:t>
            </a:r>
            <a:r>
              <a:rPr lang="en-US" dirty="0" err="1">
                <a:solidFill>
                  <a:srgbClr val="FF0000"/>
                </a:solidFill>
              </a:rPr>
              <a:t>SimpleRNN</a:t>
            </a:r>
            <a:r>
              <a:rPr lang="en-US" dirty="0">
                <a:solidFill>
                  <a:srgbClr val="FF0000"/>
                </a:solidFill>
              </a:rPr>
              <a:t> layer uses the tanh activation function by default, the predicted values must lie within the range –1 to 1</a:t>
            </a:r>
            <a:r>
              <a:rPr lang="en-US" dirty="0"/>
              <a:t>. </a:t>
            </a:r>
            <a:r>
              <a:rPr lang="en-US" dirty="0">
                <a:solidFill>
                  <a:schemeClr val="accent6">
                    <a:lumMod val="75000"/>
                  </a:schemeClr>
                </a:solidFill>
              </a:rPr>
              <a:t>But what if you want to use another activation function</a:t>
            </a:r>
            <a:r>
              <a:rPr lang="en-US" dirty="0"/>
              <a:t>? For both these reasons, </a:t>
            </a:r>
            <a:r>
              <a:rPr lang="en-US" b="1" dirty="0">
                <a:solidFill>
                  <a:schemeClr val="accent6">
                    <a:lumMod val="75000"/>
                  </a:schemeClr>
                </a:solidFill>
              </a:rPr>
              <a:t>it might be preferable to replace the output layer with a Dense layer: it would run slightly faster, the accuracy would be roughly the same</a:t>
            </a:r>
            <a:r>
              <a:rPr lang="en-US" dirty="0"/>
              <a:t>, and it would allow us to choose any output activation function we want. If you make this change, also make sure to remove </a:t>
            </a:r>
            <a:r>
              <a:rPr lang="en-US" dirty="0" err="1"/>
              <a:t>return_sequences</a:t>
            </a:r>
            <a:r>
              <a:rPr lang="en-US" dirty="0"/>
              <a:t>=True from the second (now last) recurrent layer :</a:t>
            </a:r>
            <a:br>
              <a:rPr lang="en-US" dirty="0"/>
            </a:b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p:txBody>
      </p:sp>
      <p:pic>
        <p:nvPicPr>
          <p:cNvPr id="5" name="Picture 4">
            <a:extLst>
              <a:ext uri="{FF2B5EF4-FFF2-40B4-BE49-F238E27FC236}">
                <a16:creationId xmlns:a16="http://schemas.microsoft.com/office/drawing/2014/main" id="{2DD3AE4A-ED60-23F6-0D74-E03DBB233546}"/>
              </a:ext>
            </a:extLst>
          </p:cNvPr>
          <p:cNvPicPr>
            <a:picLocks noChangeAspect="1"/>
          </p:cNvPicPr>
          <p:nvPr/>
        </p:nvPicPr>
        <p:blipFill>
          <a:blip r:embed="rId2"/>
          <a:stretch>
            <a:fillRect/>
          </a:stretch>
        </p:blipFill>
        <p:spPr>
          <a:xfrm>
            <a:off x="2239946" y="5416497"/>
            <a:ext cx="7712108" cy="1226926"/>
          </a:xfrm>
          <a:prstGeom prst="rect">
            <a:avLst/>
          </a:prstGeom>
        </p:spPr>
      </p:pic>
    </p:spTree>
    <p:extLst>
      <p:ext uri="{BB962C8B-B14F-4D97-AF65-F5344CB8AC3E}">
        <p14:creationId xmlns:p14="http://schemas.microsoft.com/office/powerpoint/2010/main" val="2046523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C8DFC-F668-2706-F8B0-FBD39A7327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2869441-8796-05EA-CC98-B06A20E6197D}"/>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DEEP RNN, LSTM OR GRU</a:t>
            </a:r>
          </a:p>
        </p:txBody>
      </p:sp>
      <p:sp>
        <p:nvSpPr>
          <p:cNvPr id="3" name="TextBox 2">
            <a:extLst>
              <a:ext uri="{FF2B5EF4-FFF2-40B4-BE49-F238E27FC236}">
                <a16:creationId xmlns:a16="http://schemas.microsoft.com/office/drawing/2014/main" id="{1BA7D8A0-9244-D387-87BB-EA44A33D82C7}"/>
              </a:ext>
            </a:extLst>
          </p:cNvPr>
          <p:cNvSpPr txBox="1"/>
          <p:nvPr/>
        </p:nvSpPr>
        <p:spPr>
          <a:xfrm>
            <a:off x="436880" y="822960"/>
            <a:ext cx="11318240" cy="6740307"/>
          </a:xfrm>
          <a:prstGeom prst="rect">
            <a:avLst/>
          </a:prstGeom>
          <a:noFill/>
        </p:spPr>
        <p:txBody>
          <a:bodyPr wrap="square" rtlCol="0">
            <a:spAutoFit/>
          </a:bodyPr>
          <a:lstStyle/>
          <a:p>
            <a:pPr marL="285750" indent="-285750">
              <a:buFont typeface="Wingdings" panose="05000000000000000000" pitchFamily="2" charset="2"/>
              <a:buChar char="q"/>
            </a:pPr>
            <a:endParaRPr lang="en-US" dirty="0"/>
          </a:p>
          <a:p>
            <a:pPr marL="285750" indent="-285750">
              <a:lnSpc>
                <a:spcPct val="200000"/>
              </a:lnSpc>
              <a:buFont typeface="Wingdings" panose="05000000000000000000" pitchFamily="2" charset="2"/>
              <a:buChar char="q"/>
            </a:pPr>
            <a:r>
              <a:rPr lang="en-US" dirty="0"/>
              <a:t>When to use </a:t>
            </a:r>
            <a:r>
              <a:rPr lang="en-US" dirty="0" err="1"/>
              <a:t>return_sequences</a:t>
            </a:r>
            <a:r>
              <a:rPr lang="en-US" dirty="0"/>
              <a:t> = True</a:t>
            </a:r>
          </a:p>
          <a:p>
            <a:pPr marL="517525" indent="-233363">
              <a:lnSpc>
                <a:spcPct val="200000"/>
              </a:lnSpc>
              <a:buFont typeface="Wingdings" panose="05000000000000000000" pitchFamily="2" charset="2"/>
              <a:buChar char="ü"/>
            </a:pPr>
            <a:r>
              <a:rPr lang="en-US" dirty="0"/>
              <a:t>Sentiment Analysis</a:t>
            </a:r>
          </a:p>
          <a:p>
            <a:pPr marL="517525" indent="-233363">
              <a:lnSpc>
                <a:spcPct val="200000"/>
              </a:lnSpc>
              <a:buFont typeface="Wingdings" panose="05000000000000000000" pitchFamily="2" charset="2"/>
              <a:buChar char="ü"/>
            </a:pPr>
            <a:r>
              <a:rPr lang="en-US" dirty="0"/>
              <a:t>Classification</a:t>
            </a:r>
          </a:p>
          <a:p>
            <a:pPr marL="517525" indent="-233363">
              <a:lnSpc>
                <a:spcPct val="200000"/>
              </a:lnSpc>
              <a:buFont typeface="Wingdings" panose="05000000000000000000" pitchFamily="2" charset="2"/>
              <a:buChar char="ü"/>
            </a:pPr>
            <a:r>
              <a:rPr lang="en-US" dirty="0"/>
              <a:t>Regression</a:t>
            </a:r>
          </a:p>
          <a:p>
            <a:pPr marL="285750" indent="-285750">
              <a:lnSpc>
                <a:spcPct val="200000"/>
              </a:lnSpc>
              <a:buFont typeface="Wingdings" panose="05000000000000000000" pitchFamily="2" charset="2"/>
              <a:buChar char="q"/>
            </a:pPr>
            <a:r>
              <a:rPr lang="en-US" dirty="0"/>
              <a:t>When to use </a:t>
            </a:r>
            <a:r>
              <a:rPr lang="en-US" dirty="0" err="1"/>
              <a:t>return_sequences</a:t>
            </a:r>
            <a:r>
              <a:rPr lang="en-US" dirty="0"/>
              <a:t> = False</a:t>
            </a:r>
          </a:p>
          <a:p>
            <a:pPr marL="517525" indent="-285750">
              <a:lnSpc>
                <a:spcPct val="200000"/>
              </a:lnSpc>
              <a:buFont typeface="Wingdings" panose="05000000000000000000" pitchFamily="2" charset="2"/>
              <a:buChar char="ü"/>
            </a:pPr>
            <a:r>
              <a:rPr lang="en-US" dirty="0"/>
              <a:t>Sequence to Sequence Models like Machine Translation</a:t>
            </a:r>
          </a:p>
          <a:p>
            <a:pPr marL="517525" indent="-285750">
              <a:lnSpc>
                <a:spcPct val="200000"/>
              </a:lnSpc>
              <a:buFont typeface="Wingdings" panose="05000000000000000000" pitchFamily="2" charset="2"/>
              <a:buChar char="ü"/>
            </a:pPr>
            <a:r>
              <a:rPr lang="en-US" dirty="0"/>
              <a:t>Time Series Prediction at each step</a:t>
            </a:r>
          </a:p>
          <a:p>
            <a:pPr marL="517525" indent="-285750">
              <a:lnSpc>
                <a:spcPct val="200000"/>
              </a:lnSpc>
              <a:buFont typeface="Wingdings" panose="05000000000000000000" pitchFamily="2" charset="2"/>
              <a:buChar char="ü"/>
            </a:pPr>
            <a:r>
              <a:rPr lang="en-US" dirty="0"/>
              <a:t>Named Entity Recognition</a:t>
            </a:r>
          </a:p>
          <a:p>
            <a:pPr marL="517525" indent="-285750">
              <a:lnSpc>
                <a:spcPct val="200000"/>
              </a:lnSpc>
              <a:buFont typeface="Wingdings" panose="05000000000000000000" pitchFamily="2" charset="2"/>
              <a:buChar char="ü"/>
            </a:pPr>
            <a:r>
              <a:rPr lang="en-US" dirty="0"/>
              <a:t>Part of Speech Tagging</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p:txBody>
      </p:sp>
    </p:spTree>
    <p:extLst>
      <p:ext uri="{BB962C8B-B14F-4D97-AF65-F5344CB8AC3E}">
        <p14:creationId xmlns:p14="http://schemas.microsoft.com/office/powerpoint/2010/main" val="36896376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9B2AE-F2A5-48E4-950B-6F28D2F611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3BD46C3-761E-B69C-320A-694A477E3DCB}"/>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DEEP RNN, LSTM OR GRU</a:t>
            </a:r>
          </a:p>
        </p:txBody>
      </p:sp>
      <p:sp>
        <p:nvSpPr>
          <p:cNvPr id="3" name="TextBox 2">
            <a:extLst>
              <a:ext uri="{FF2B5EF4-FFF2-40B4-BE49-F238E27FC236}">
                <a16:creationId xmlns:a16="http://schemas.microsoft.com/office/drawing/2014/main" id="{F3E83556-6684-5918-7DAE-F49B41364EE5}"/>
              </a:ext>
            </a:extLst>
          </p:cNvPr>
          <p:cNvSpPr txBox="1"/>
          <p:nvPr/>
        </p:nvSpPr>
        <p:spPr>
          <a:xfrm>
            <a:off x="436880" y="822960"/>
            <a:ext cx="11318240" cy="1754326"/>
          </a:xfrm>
          <a:prstGeom prst="rect">
            <a:avLst/>
          </a:prstGeom>
          <a:noFill/>
        </p:spPr>
        <p:txBody>
          <a:bodyPr wrap="square" rtlCol="0">
            <a:spAutoFit/>
          </a:bodyPr>
          <a:lstStyle/>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p:txBody>
      </p:sp>
      <p:sp>
        <p:nvSpPr>
          <p:cNvPr id="5" name="TextBox 4">
            <a:extLst>
              <a:ext uri="{FF2B5EF4-FFF2-40B4-BE49-F238E27FC236}">
                <a16:creationId xmlns:a16="http://schemas.microsoft.com/office/drawing/2014/main" id="{BDEFDF4F-D887-50D1-670C-4D9DBE3D03F2}"/>
              </a:ext>
            </a:extLst>
          </p:cNvPr>
          <p:cNvSpPr txBox="1"/>
          <p:nvPr/>
        </p:nvSpPr>
        <p:spPr>
          <a:xfrm>
            <a:off x="711200" y="822960"/>
            <a:ext cx="10769600" cy="4619854"/>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US" b="0" i="0" dirty="0">
                <a:solidFill>
                  <a:srgbClr val="000000"/>
                </a:solidFill>
                <a:effectLst/>
                <a:latin typeface="MinionPro-Regular"/>
              </a:rPr>
              <a:t>To turn the model into a sequence-to-sequence model, we must set </a:t>
            </a:r>
            <a:r>
              <a:rPr lang="en-US" b="0" i="0" dirty="0" err="1">
                <a:solidFill>
                  <a:srgbClr val="FF0000"/>
                </a:solidFill>
                <a:effectLst>
                  <a:outerShdw blurRad="38100" dist="38100" dir="2700000" algn="tl">
                    <a:srgbClr val="000000">
                      <a:alpha val="43137"/>
                    </a:srgbClr>
                  </a:outerShdw>
                </a:effectLst>
                <a:latin typeface="UbuntuMono-Regular"/>
              </a:rPr>
              <a:t>return_sequences</a:t>
            </a:r>
            <a:r>
              <a:rPr lang="en-US" b="0" i="0" dirty="0">
                <a:solidFill>
                  <a:srgbClr val="FF0000"/>
                </a:solidFill>
                <a:effectLst>
                  <a:outerShdw blurRad="38100" dist="38100" dir="2700000" algn="tl">
                    <a:srgbClr val="000000">
                      <a:alpha val="43137"/>
                    </a:srgbClr>
                  </a:outerShdw>
                </a:effectLst>
                <a:latin typeface="UbuntuMono-Regular"/>
              </a:rPr>
              <a:t>=True </a:t>
            </a:r>
            <a:r>
              <a:rPr lang="en-US" b="0" i="0" dirty="0">
                <a:solidFill>
                  <a:srgbClr val="000000"/>
                </a:solidFill>
                <a:effectLst/>
                <a:latin typeface="MinionPro-Regular"/>
              </a:rPr>
              <a:t>in all recurrent layers (even the last one), and we must apply the output </a:t>
            </a:r>
            <a:r>
              <a:rPr lang="en-US" b="0" i="0" dirty="0">
                <a:solidFill>
                  <a:srgbClr val="000000"/>
                </a:solidFill>
                <a:effectLst/>
                <a:latin typeface="UbuntuMono-Regular"/>
              </a:rPr>
              <a:t>Dense </a:t>
            </a:r>
            <a:r>
              <a:rPr lang="en-US" b="0" i="0" dirty="0">
                <a:solidFill>
                  <a:srgbClr val="000000"/>
                </a:solidFill>
                <a:effectLst/>
                <a:latin typeface="MinionPro-Regular"/>
              </a:rPr>
              <a:t>layer at every time step. </a:t>
            </a:r>
          </a:p>
          <a:p>
            <a:pPr marL="342900" indent="-342900">
              <a:lnSpc>
                <a:spcPct val="150000"/>
              </a:lnSpc>
              <a:buFont typeface="Wingdings" panose="05000000000000000000" pitchFamily="2" charset="2"/>
              <a:buChar char="q"/>
            </a:pPr>
            <a:r>
              <a:rPr lang="en-US" b="0" i="0" dirty="0" err="1">
                <a:solidFill>
                  <a:srgbClr val="000000"/>
                </a:solidFill>
                <a:effectLst/>
                <a:latin typeface="MinionPro-Regular"/>
              </a:rPr>
              <a:t>Keras</a:t>
            </a:r>
            <a:r>
              <a:rPr lang="en-US" b="0" i="0" dirty="0">
                <a:solidFill>
                  <a:srgbClr val="000000"/>
                </a:solidFill>
                <a:effectLst/>
                <a:latin typeface="MinionPro-Regular"/>
              </a:rPr>
              <a:t> offers a </a:t>
            </a:r>
            <a:r>
              <a:rPr lang="en-US" b="0" i="0" dirty="0" err="1">
                <a:solidFill>
                  <a:srgbClr val="FF0000"/>
                </a:solidFill>
                <a:effectLst>
                  <a:outerShdw blurRad="38100" dist="38100" dir="2700000" algn="tl">
                    <a:srgbClr val="000000">
                      <a:alpha val="43137"/>
                    </a:srgbClr>
                  </a:outerShdw>
                </a:effectLst>
                <a:latin typeface="UbuntuMono-Regular"/>
              </a:rPr>
              <a:t>TimeDistributed</a:t>
            </a:r>
            <a:r>
              <a:rPr lang="en-US" b="0" i="0" dirty="0">
                <a:solidFill>
                  <a:srgbClr val="FF0000"/>
                </a:solidFill>
                <a:effectLst>
                  <a:outerShdw blurRad="38100" dist="38100" dir="2700000" algn="tl">
                    <a:srgbClr val="000000">
                      <a:alpha val="43137"/>
                    </a:srgbClr>
                  </a:outerShdw>
                </a:effectLst>
                <a:latin typeface="UbuntuMono-Regular"/>
              </a:rPr>
              <a:t> </a:t>
            </a:r>
            <a:r>
              <a:rPr lang="en-US" b="0" i="0" dirty="0">
                <a:solidFill>
                  <a:srgbClr val="FF0000"/>
                </a:solidFill>
                <a:effectLst>
                  <a:outerShdw blurRad="38100" dist="38100" dir="2700000" algn="tl">
                    <a:srgbClr val="000000">
                      <a:alpha val="43137"/>
                    </a:srgbClr>
                  </a:outerShdw>
                </a:effectLst>
                <a:latin typeface="MinionPro-Regular"/>
              </a:rPr>
              <a:t>layer </a:t>
            </a:r>
            <a:r>
              <a:rPr lang="en-US" b="0" i="0" dirty="0">
                <a:solidFill>
                  <a:srgbClr val="000000"/>
                </a:solidFill>
                <a:effectLst/>
                <a:latin typeface="MinionPro-Regular"/>
              </a:rPr>
              <a:t>for this very purpose: it wraps any layer (e.g., a </a:t>
            </a:r>
            <a:r>
              <a:rPr lang="en-US" b="0" i="0" dirty="0">
                <a:solidFill>
                  <a:srgbClr val="000000"/>
                </a:solidFill>
                <a:effectLst/>
                <a:latin typeface="UbuntuMono-Regular"/>
              </a:rPr>
              <a:t>Dense </a:t>
            </a:r>
            <a:r>
              <a:rPr lang="en-US" b="0" i="0" dirty="0">
                <a:solidFill>
                  <a:srgbClr val="000000"/>
                </a:solidFill>
                <a:effectLst/>
                <a:latin typeface="MinionPro-Regular"/>
              </a:rPr>
              <a:t>layer) and applies it at every time step of its input sequence. It does this efficiently, by reshaping the inputs so that each time step is treated as a separate instance (i.e., </a:t>
            </a:r>
            <a:r>
              <a:rPr lang="en-US" b="0" i="0" dirty="0">
                <a:solidFill>
                  <a:srgbClr val="FF0000"/>
                </a:solidFill>
                <a:effectLst>
                  <a:outerShdw blurRad="38100" dist="38100" dir="2700000" algn="tl">
                    <a:srgbClr val="000000">
                      <a:alpha val="43137"/>
                    </a:srgbClr>
                  </a:outerShdw>
                </a:effectLst>
                <a:latin typeface="MinionPro-Regular"/>
              </a:rPr>
              <a:t>it reshapes the inputs from [</a:t>
            </a:r>
            <a:r>
              <a:rPr lang="en-US" b="0" i="1" dirty="0">
                <a:solidFill>
                  <a:srgbClr val="FF0000"/>
                </a:solidFill>
                <a:effectLst>
                  <a:outerShdw blurRad="38100" dist="38100" dir="2700000" algn="tl">
                    <a:srgbClr val="000000">
                      <a:alpha val="43137"/>
                    </a:srgbClr>
                  </a:outerShdw>
                </a:effectLst>
                <a:latin typeface="MinionPro-It"/>
              </a:rPr>
              <a:t>batch size</a:t>
            </a:r>
            <a:r>
              <a:rPr lang="en-US" b="0" i="0" dirty="0">
                <a:solidFill>
                  <a:srgbClr val="FF0000"/>
                </a:solidFill>
                <a:effectLst>
                  <a:outerShdw blurRad="38100" dist="38100" dir="2700000" algn="tl">
                    <a:srgbClr val="000000">
                      <a:alpha val="43137"/>
                    </a:srgbClr>
                  </a:outerShdw>
                </a:effectLst>
                <a:latin typeface="MinionPro-Regular"/>
              </a:rPr>
              <a:t>, </a:t>
            </a:r>
            <a:r>
              <a:rPr lang="en-US" b="0" i="1" dirty="0">
                <a:solidFill>
                  <a:srgbClr val="FF0000"/>
                </a:solidFill>
                <a:effectLst>
                  <a:outerShdw blurRad="38100" dist="38100" dir="2700000" algn="tl">
                    <a:srgbClr val="000000">
                      <a:alpha val="43137"/>
                    </a:srgbClr>
                  </a:outerShdw>
                </a:effectLst>
                <a:latin typeface="MinionPro-It"/>
              </a:rPr>
              <a:t>time steps</a:t>
            </a:r>
            <a:r>
              <a:rPr lang="en-US" b="0" i="0" dirty="0">
                <a:solidFill>
                  <a:srgbClr val="FF0000"/>
                </a:solidFill>
                <a:effectLst>
                  <a:outerShdw blurRad="38100" dist="38100" dir="2700000" algn="tl">
                    <a:srgbClr val="000000">
                      <a:alpha val="43137"/>
                    </a:srgbClr>
                  </a:outerShdw>
                </a:effectLst>
                <a:latin typeface="MinionPro-Regular"/>
              </a:rPr>
              <a:t>, </a:t>
            </a:r>
            <a:r>
              <a:rPr lang="en-US" b="0" i="1" dirty="0">
                <a:solidFill>
                  <a:srgbClr val="FF0000"/>
                </a:solidFill>
                <a:effectLst>
                  <a:outerShdw blurRad="38100" dist="38100" dir="2700000" algn="tl">
                    <a:srgbClr val="000000">
                      <a:alpha val="43137"/>
                    </a:srgbClr>
                  </a:outerShdw>
                </a:effectLst>
                <a:latin typeface="MinionPro-It"/>
              </a:rPr>
              <a:t>input dimensions</a:t>
            </a:r>
            <a:r>
              <a:rPr lang="en-US" b="0" i="0" dirty="0">
                <a:solidFill>
                  <a:srgbClr val="FF0000"/>
                </a:solidFill>
                <a:effectLst>
                  <a:outerShdw blurRad="38100" dist="38100" dir="2700000" algn="tl">
                    <a:srgbClr val="000000">
                      <a:alpha val="43137"/>
                    </a:srgbClr>
                  </a:outerShdw>
                </a:effectLst>
                <a:latin typeface="MinionPro-Regular"/>
              </a:rPr>
              <a:t>] to [</a:t>
            </a:r>
            <a:r>
              <a:rPr lang="en-US" b="0" i="1" dirty="0">
                <a:solidFill>
                  <a:srgbClr val="FF0000"/>
                </a:solidFill>
                <a:effectLst>
                  <a:outerShdw blurRad="38100" dist="38100" dir="2700000" algn="tl">
                    <a:srgbClr val="000000">
                      <a:alpha val="43137"/>
                    </a:srgbClr>
                  </a:outerShdw>
                </a:effectLst>
                <a:latin typeface="MinionPro-It"/>
              </a:rPr>
              <a:t>batch size </a:t>
            </a:r>
            <a:r>
              <a:rPr lang="en-US" b="0" i="0" dirty="0">
                <a:solidFill>
                  <a:srgbClr val="FF0000"/>
                </a:solidFill>
                <a:effectLst>
                  <a:outerShdw blurRad="38100" dist="38100" dir="2700000" algn="tl">
                    <a:srgbClr val="000000">
                      <a:alpha val="43137"/>
                    </a:srgbClr>
                  </a:outerShdw>
                </a:effectLst>
                <a:latin typeface="MinionPro-Regular"/>
              </a:rPr>
              <a:t>× </a:t>
            </a:r>
            <a:r>
              <a:rPr lang="en-US" b="0" i="1" dirty="0">
                <a:solidFill>
                  <a:srgbClr val="FF0000"/>
                </a:solidFill>
                <a:effectLst>
                  <a:outerShdw blurRad="38100" dist="38100" dir="2700000" algn="tl">
                    <a:srgbClr val="000000">
                      <a:alpha val="43137"/>
                    </a:srgbClr>
                  </a:outerShdw>
                </a:effectLst>
                <a:latin typeface="MinionPro-It"/>
              </a:rPr>
              <a:t>time steps</a:t>
            </a:r>
            <a:r>
              <a:rPr lang="en-US" b="0" i="0" dirty="0">
                <a:solidFill>
                  <a:srgbClr val="FF0000"/>
                </a:solidFill>
                <a:effectLst>
                  <a:outerShdw blurRad="38100" dist="38100" dir="2700000" algn="tl">
                    <a:srgbClr val="000000">
                      <a:alpha val="43137"/>
                    </a:srgbClr>
                  </a:outerShdw>
                </a:effectLst>
                <a:latin typeface="MinionPro-Regular"/>
              </a:rPr>
              <a:t>, </a:t>
            </a:r>
            <a:r>
              <a:rPr lang="en-US" b="0" i="1" dirty="0">
                <a:solidFill>
                  <a:srgbClr val="FF0000"/>
                </a:solidFill>
                <a:effectLst>
                  <a:outerShdw blurRad="38100" dist="38100" dir="2700000" algn="tl">
                    <a:srgbClr val="000000">
                      <a:alpha val="43137"/>
                    </a:srgbClr>
                  </a:outerShdw>
                </a:effectLst>
                <a:latin typeface="MinionPro-It"/>
              </a:rPr>
              <a:t>input dimensions</a:t>
            </a:r>
            <a:r>
              <a:rPr lang="en-US" b="0" i="0" dirty="0">
                <a:solidFill>
                  <a:srgbClr val="FF0000"/>
                </a:solidFill>
                <a:effectLst>
                  <a:outerShdw blurRad="38100" dist="38100" dir="2700000" algn="tl">
                    <a:srgbClr val="000000">
                      <a:alpha val="43137"/>
                    </a:srgbClr>
                  </a:outerShdw>
                </a:effectLst>
                <a:latin typeface="MinionPro-Regular"/>
              </a:rPr>
              <a:t>]</a:t>
            </a:r>
            <a:r>
              <a:rPr lang="en-US" b="0" i="0" dirty="0">
                <a:solidFill>
                  <a:srgbClr val="000000"/>
                </a:solidFill>
                <a:effectLst/>
                <a:latin typeface="MinionPro-Regular"/>
              </a:rPr>
              <a:t>; in this example, the number of input dimensions is 20 because the previous </a:t>
            </a:r>
            <a:r>
              <a:rPr lang="en-US" b="0" i="0" dirty="0" err="1">
                <a:solidFill>
                  <a:srgbClr val="000000"/>
                </a:solidFill>
                <a:effectLst/>
                <a:latin typeface="UbuntuMono-Regular"/>
              </a:rPr>
              <a:t>SimpleRNN</a:t>
            </a:r>
            <a:r>
              <a:rPr lang="en-US" b="0" i="0" dirty="0">
                <a:solidFill>
                  <a:srgbClr val="000000"/>
                </a:solidFill>
                <a:effectLst/>
                <a:latin typeface="UbuntuMono-Regular"/>
              </a:rPr>
              <a:t> </a:t>
            </a:r>
            <a:r>
              <a:rPr lang="en-US" b="0" i="0" dirty="0">
                <a:solidFill>
                  <a:srgbClr val="000000"/>
                </a:solidFill>
                <a:effectLst/>
                <a:latin typeface="MinionPro-Regular"/>
              </a:rPr>
              <a:t>layer has 20 units), then it runs the </a:t>
            </a:r>
            <a:r>
              <a:rPr lang="en-US" b="0" i="0" dirty="0">
                <a:solidFill>
                  <a:srgbClr val="000000"/>
                </a:solidFill>
                <a:effectLst/>
                <a:latin typeface="UbuntuMono-Regular"/>
              </a:rPr>
              <a:t>Dense </a:t>
            </a:r>
            <a:r>
              <a:rPr lang="en-US" b="0" i="0" dirty="0">
                <a:solidFill>
                  <a:srgbClr val="000000"/>
                </a:solidFill>
                <a:effectLst/>
                <a:latin typeface="MinionPro-Regular"/>
              </a:rPr>
              <a:t>layer, and finally it reshapes the outputs back to sequences (i.e., </a:t>
            </a:r>
            <a:r>
              <a:rPr lang="en-US" b="0" i="0" dirty="0">
                <a:solidFill>
                  <a:srgbClr val="FF0000"/>
                </a:solidFill>
                <a:effectLst>
                  <a:outerShdw blurRad="38100" dist="38100" dir="2700000" algn="tl">
                    <a:srgbClr val="000000">
                      <a:alpha val="43137"/>
                    </a:srgbClr>
                  </a:outerShdw>
                </a:effectLst>
                <a:latin typeface="MinionPro-Regular"/>
              </a:rPr>
              <a:t>it reshapes the outputs from [</a:t>
            </a:r>
            <a:r>
              <a:rPr lang="en-US" b="0" i="1" dirty="0">
                <a:solidFill>
                  <a:srgbClr val="FF0000"/>
                </a:solidFill>
                <a:effectLst>
                  <a:outerShdw blurRad="38100" dist="38100" dir="2700000" algn="tl">
                    <a:srgbClr val="000000">
                      <a:alpha val="43137"/>
                    </a:srgbClr>
                  </a:outerShdw>
                </a:effectLst>
                <a:latin typeface="MinionPro-It"/>
              </a:rPr>
              <a:t>batch size </a:t>
            </a:r>
            <a:r>
              <a:rPr lang="en-US" b="0" i="0" dirty="0">
                <a:solidFill>
                  <a:srgbClr val="FF0000"/>
                </a:solidFill>
                <a:effectLst>
                  <a:outerShdw blurRad="38100" dist="38100" dir="2700000" algn="tl">
                    <a:srgbClr val="000000">
                      <a:alpha val="43137"/>
                    </a:srgbClr>
                  </a:outerShdw>
                </a:effectLst>
                <a:latin typeface="MinionPro-Regular"/>
              </a:rPr>
              <a:t>× </a:t>
            </a:r>
            <a:r>
              <a:rPr lang="en-US" b="0" i="1" dirty="0">
                <a:solidFill>
                  <a:srgbClr val="FF0000"/>
                </a:solidFill>
                <a:effectLst>
                  <a:outerShdw blurRad="38100" dist="38100" dir="2700000" algn="tl">
                    <a:srgbClr val="000000">
                      <a:alpha val="43137"/>
                    </a:srgbClr>
                  </a:outerShdw>
                </a:effectLst>
                <a:latin typeface="MinionPro-It"/>
              </a:rPr>
              <a:t>time steps</a:t>
            </a:r>
            <a:r>
              <a:rPr lang="en-US" b="0" i="0" dirty="0">
                <a:solidFill>
                  <a:srgbClr val="FF0000"/>
                </a:solidFill>
                <a:effectLst>
                  <a:outerShdw blurRad="38100" dist="38100" dir="2700000" algn="tl">
                    <a:srgbClr val="000000">
                      <a:alpha val="43137"/>
                    </a:srgbClr>
                  </a:outerShdw>
                </a:effectLst>
                <a:latin typeface="MinionPro-Regular"/>
              </a:rPr>
              <a:t>, </a:t>
            </a:r>
            <a:r>
              <a:rPr lang="en-US" b="0" i="1" dirty="0">
                <a:solidFill>
                  <a:srgbClr val="FF0000"/>
                </a:solidFill>
                <a:effectLst>
                  <a:outerShdw blurRad="38100" dist="38100" dir="2700000" algn="tl">
                    <a:srgbClr val="000000">
                      <a:alpha val="43137"/>
                    </a:srgbClr>
                  </a:outerShdw>
                </a:effectLst>
                <a:latin typeface="MinionPro-It"/>
              </a:rPr>
              <a:t>output dimensions</a:t>
            </a:r>
            <a:r>
              <a:rPr lang="en-US" b="0" i="0" dirty="0">
                <a:solidFill>
                  <a:srgbClr val="FF0000"/>
                </a:solidFill>
                <a:effectLst>
                  <a:outerShdw blurRad="38100" dist="38100" dir="2700000" algn="tl">
                    <a:srgbClr val="000000">
                      <a:alpha val="43137"/>
                    </a:srgbClr>
                  </a:outerShdw>
                </a:effectLst>
                <a:latin typeface="MinionPro-Regular"/>
              </a:rPr>
              <a:t>] to [</a:t>
            </a:r>
            <a:r>
              <a:rPr lang="en-US" b="0" i="1" dirty="0">
                <a:solidFill>
                  <a:srgbClr val="FF0000"/>
                </a:solidFill>
                <a:effectLst>
                  <a:outerShdw blurRad="38100" dist="38100" dir="2700000" algn="tl">
                    <a:srgbClr val="000000">
                      <a:alpha val="43137"/>
                    </a:srgbClr>
                  </a:outerShdw>
                </a:effectLst>
                <a:latin typeface="MinionPro-It"/>
              </a:rPr>
              <a:t>batch size</a:t>
            </a:r>
            <a:r>
              <a:rPr lang="en-US" b="0" i="0" dirty="0">
                <a:solidFill>
                  <a:srgbClr val="FF0000"/>
                </a:solidFill>
                <a:effectLst>
                  <a:outerShdw blurRad="38100" dist="38100" dir="2700000" algn="tl">
                    <a:srgbClr val="000000">
                      <a:alpha val="43137"/>
                    </a:srgbClr>
                  </a:outerShdw>
                </a:effectLst>
                <a:latin typeface="MinionPro-Regular"/>
              </a:rPr>
              <a:t>, </a:t>
            </a:r>
            <a:r>
              <a:rPr lang="en-US" b="0" i="1" dirty="0">
                <a:solidFill>
                  <a:srgbClr val="FF0000"/>
                </a:solidFill>
                <a:effectLst>
                  <a:outerShdw blurRad="38100" dist="38100" dir="2700000" algn="tl">
                    <a:srgbClr val="000000">
                      <a:alpha val="43137"/>
                    </a:srgbClr>
                  </a:outerShdw>
                </a:effectLst>
                <a:latin typeface="MinionPro-It"/>
              </a:rPr>
              <a:t>time steps</a:t>
            </a:r>
            <a:r>
              <a:rPr lang="en-US" b="0" i="0" dirty="0">
                <a:solidFill>
                  <a:srgbClr val="FF0000"/>
                </a:solidFill>
                <a:effectLst>
                  <a:outerShdw blurRad="38100" dist="38100" dir="2700000" algn="tl">
                    <a:srgbClr val="000000">
                      <a:alpha val="43137"/>
                    </a:srgbClr>
                  </a:outerShdw>
                </a:effectLst>
                <a:latin typeface="MinionPro-Regular"/>
              </a:rPr>
              <a:t>, </a:t>
            </a:r>
            <a:r>
              <a:rPr lang="en-US" b="0" i="1" dirty="0">
                <a:solidFill>
                  <a:srgbClr val="FF0000"/>
                </a:solidFill>
                <a:effectLst>
                  <a:outerShdw blurRad="38100" dist="38100" dir="2700000" algn="tl">
                    <a:srgbClr val="000000">
                      <a:alpha val="43137"/>
                    </a:srgbClr>
                  </a:outerShdw>
                </a:effectLst>
                <a:latin typeface="MinionPro-It"/>
              </a:rPr>
              <a:t>output dimensions</a:t>
            </a:r>
            <a:r>
              <a:rPr lang="en-US" b="0" i="0" dirty="0">
                <a:solidFill>
                  <a:srgbClr val="FF0000"/>
                </a:solidFill>
                <a:effectLst>
                  <a:outerShdw blurRad="38100" dist="38100" dir="2700000" algn="tl">
                    <a:srgbClr val="000000">
                      <a:alpha val="43137"/>
                    </a:srgbClr>
                  </a:outerShdw>
                </a:effectLst>
                <a:latin typeface="MinionPro-Regular"/>
              </a:rPr>
              <a:t>]; </a:t>
            </a:r>
            <a:r>
              <a:rPr lang="en-US" b="0" i="0" dirty="0">
                <a:solidFill>
                  <a:srgbClr val="000000"/>
                </a:solidFill>
                <a:effectLst/>
                <a:latin typeface="MinionPro-Regular"/>
              </a:rPr>
              <a:t>in this example the </a:t>
            </a:r>
            <a:r>
              <a:rPr lang="en-US" b="0" i="0" dirty="0">
                <a:solidFill>
                  <a:srgbClr val="FF0000"/>
                </a:solidFill>
                <a:effectLst>
                  <a:outerShdw blurRad="38100" dist="38100" dir="2700000" algn="tl">
                    <a:srgbClr val="000000">
                      <a:alpha val="43137"/>
                    </a:srgbClr>
                  </a:outerShdw>
                </a:effectLst>
                <a:latin typeface="MinionPro-Regular"/>
              </a:rPr>
              <a:t>number of output dimensions is 10</a:t>
            </a:r>
            <a:r>
              <a:rPr lang="en-US" b="0" i="0" dirty="0">
                <a:solidFill>
                  <a:srgbClr val="000000"/>
                </a:solidFill>
                <a:effectLst/>
                <a:latin typeface="MinionPro-Regular"/>
              </a:rPr>
              <a:t>, since the </a:t>
            </a:r>
            <a:r>
              <a:rPr lang="en-US" b="0" i="0" dirty="0">
                <a:solidFill>
                  <a:srgbClr val="000000"/>
                </a:solidFill>
                <a:effectLst/>
                <a:latin typeface="UbuntuMono-Regular"/>
              </a:rPr>
              <a:t>Dense </a:t>
            </a:r>
            <a:r>
              <a:rPr lang="en-US" b="0" i="0" dirty="0">
                <a:solidFill>
                  <a:srgbClr val="000000"/>
                </a:solidFill>
                <a:effectLst/>
                <a:latin typeface="MinionPro-Regular"/>
              </a:rPr>
              <a:t>layer has 10 units).</a:t>
            </a:r>
            <a:r>
              <a:rPr lang="en-US" dirty="0"/>
              <a:t> </a:t>
            </a:r>
            <a:br>
              <a:rPr lang="en-US" dirty="0"/>
            </a:br>
            <a:endParaRPr lang="en-US" dirty="0"/>
          </a:p>
        </p:txBody>
      </p:sp>
      <p:pic>
        <p:nvPicPr>
          <p:cNvPr id="7" name="Picture 6">
            <a:extLst>
              <a:ext uri="{FF2B5EF4-FFF2-40B4-BE49-F238E27FC236}">
                <a16:creationId xmlns:a16="http://schemas.microsoft.com/office/drawing/2014/main" id="{DD89BECE-A543-1383-F697-567C68E6D4B5}"/>
              </a:ext>
            </a:extLst>
          </p:cNvPr>
          <p:cNvPicPr>
            <a:picLocks noChangeAspect="1"/>
          </p:cNvPicPr>
          <p:nvPr/>
        </p:nvPicPr>
        <p:blipFill>
          <a:blip r:embed="rId2"/>
          <a:stretch>
            <a:fillRect/>
          </a:stretch>
        </p:blipFill>
        <p:spPr>
          <a:xfrm>
            <a:off x="2346616" y="5321246"/>
            <a:ext cx="7925487" cy="1234547"/>
          </a:xfrm>
          <a:prstGeom prst="rect">
            <a:avLst/>
          </a:prstGeom>
        </p:spPr>
      </p:pic>
    </p:spTree>
    <p:extLst>
      <p:ext uri="{BB962C8B-B14F-4D97-AF65-F5344CB8AC3E}">
        <p14:creationId xmlns:p14="http://schemas.microsoft.com/office/powerpoint/2010/main" val="1187528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C9CBE-E860-325C-FA08-7232E7F2DC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32EDE1-8C7A-7C17-0D78-59F735468AB4}"/>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DEEP RNN, LSTM OR GRU</a:t>
            </a:r>
          </a:p>
        </p:txBody>
      </p:sp>
      <p:sp>
        <p:nvSpPr>
          <p:cNvPr id="3" name="TextBox 2">
            <a:extLst>
              <a:ext uri="{FF2B5EF4-FFF2-40B4-BE49-F238E27FC236}">
                <a16:creationId xmlns:a16="http://schemas.microsoft.com/office/drawing/2014/main" id="{6F73D1F6-AF99-FC17-3E34-D476ABB20497}"/>
              </a:ext>
            </a:extLst>
          </p:cNvPr>
          <p:cNvSpPr txBox="1"/>
          <p:nvPr/>
        </p:nvSpPr>
        <p:spPr>
          <a:xfrm>
            <a:off x="436880" y="822960"/>
            <a:ext cx="11318240" cy="1754326"/>
          </a:xfrm>
          <a:prstGeom prst="rect">
            <a:avLst/>
          </a:prstGeom>
          <a:noFill/>
        </p:spPr>
        <p:txBody>
          <a:bodyPr wrap="square" rtlCol="0">
            <a:spAutoFit/>
          </a:bodyPr>
          <a:lstStyle/>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p:txBody>
      </p:sp>
      <p:sp>
        <p:nvSpPr>
          <p:cNvPr id="5" name="TextBox 4">
            <a:extLst>
              <a:ext uri="{FF2B5EF4-FFF2-40B4-BE49-F238E27FC236}">
                <a16:creationId xmlns:a16="http://schemas.microsoft.com/office/drawing/2014/main" id="{247062E6-B5ED-7207-9FB2-F6A1442FD785}"/>
              </a:ext>
            </a:extLst>
          </p:cNvPr>
          <p:cNvSpPr txBox="1"/>
          <p:nvPr/>
        </p:nvSpPr>
        <p:spPr>
          <a:xfrm>
            <a:off x="711200" y="822960"/>
            <a:ext cx="10769600" cy="2230739"/>
          </a:xfrm>
          <a:prstGeom prst="rect">
            <a:avLst/>
          </a:prstGeom>
          <a:noFill/>
        </p:spPr>
        <p:txBody>
          <a:bodyPr wrap="square">
            <a:spAutoFit/>
          </a:bodyPr>
          <a:lstStyle/>
          <a:p>
            <a:pPr marL="342900" indent="-342900" algn="just">
              <a:lnSpc>
                <a:spcPct val="200000"/>
              </a:lnSpc>
              <a:buFont typeface="Wingdings" panose="05000000000000000000" pitchFamily="2" charset="2"/>
              <a:buChar char="q"/>
            </a:pPr>
            <a:r>
              <a:rPr lang="en-US" dirty="0"/>
              <a:t>All outputs are needed during training, but only the output at the last time step is useful for predictions and for evaluation. So although we will rely on the MSE over all the outputs for training, we will use a custom metric for evaluation, to only compute the MSE over the output at the last time step </a:t>
            </a:r>
            <a:br>
              <a:rPr lang="en-US" dirty="0"/>
            </a:br>
            <a:endParaRPr lang="en-US" dirty="0"/>
          </a:p>
        </p:txBody>
      </p:sp>
      <p:pic>
        <p:nvPicPr>
          <p:cNvPr id="6" name="Picture 5">
            <a:extLst>
              <a:ext uri="{FF2B5EF4-FFF2-40B4-BE49-F238E27FC236}">
                <a16:creationId xmlns:a16="http://schemas.microsoft.com/office/drawing/2014/main" id="{27C6BAB1-3046-9F53-B2C1-2AEF8E9631E0}"/>
              </a:ext>
            </a:extLst>
          </p:cNvPr>
          <p:cNvPicPr>
            <a:picLocks noChangeAspect="1"/>
          </p:cNvPicPr>
          <p:nvPr/>
        </p:nvPicPr>
        <p:blipFill>
          <a:blip r:embed="rId2"/>
          <a:stretch>
            <a:fillRect/>
          </a:stretch>
        </p:blipFill>
        <p:spPr>
          <a:xfrm>
            <a:off x="2224704" y="3340473"/>
            <a:ext cx="7742591" cy="1341236"/>
          </a:xfrm>
          <a:prstGeom prst="rect">
            <a:avLst/>
          </a:prstGeom>
        </p:spPr>
      </p:pic>
    </p:spTree>
    <p:extLst>
      <p:ext uri="{BB962C8B-B14F-4D97-AF65-F5344CB8AC3E}">
        <p14:creationId xmlns:p14="http://schemas.microsoft.com/office/powerpoint/2010/main" val="2979339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B17A4-BBCA-B49A-E889-EED4AED80D5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5A3CFC6-D479-CA0F-423C-73E95FF47209}"/>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CONV2D COUPLED WITH GRU</a:t>
            </a:r>
          </a:p>
        </p:txBody>
      </p:sp>
      <p:sp>
        <p:nvSpPr>
          <p:cNvPr id="3" name="TextBox 2">
            <a:extLst>
              <a:ext uri="{FF2B5EF4-FFF2-40B4-BE49-F238E27FC236}">
                <a16:creationId xmlns:a16="http://schemas.microsoft.com/office/drawing/2014/main" id="{1185E96B-322E-A61D-5B5E-71B509230DAD}"/>
              </a:ext>
            </a:extLst>
          </p:cNvPr>
          <p:cNvSpPr txBox="1"/>
          <p:nvPr/>
        </p:nvSpPr>
        <p:spPr>
          <a:xfrm>
            <a:off x="436880" y="822960"/>
            <a:ext cx="11318240" cy="1754326"/>
          </a:xfrm>
          <a:prstGeom prst="rect">
            <a:avLst/>
          </a:prstGeom>
          <a:noFill/>
        </p:spPr>
        <p:txBody>
          <a:bodyPr wrap="square" rtlCol="0">
            <a:spAutoFit/>
          </a:bodyPr>
          <a:lstStyle/>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p:txBody>
      </p:sp>
      <p:sp>
        <p:nvSpPr>
          <p:cNvPr id="5" name="TextBox 4">
            <a:extLst>
              <a:ext uri="{FF2B5EF4-FFF2-40B4-BE49-F238E27FC236}">
                <a16:creationId xmlns:a16="http://schemas.microsoft.com/office/drawing/2014/main" id="{0F546D07-36F2-7A6E-38E3-B7BAEBD1896D}"/>
              </a:ext>
            </a:extLst>
          </p:cNvPr>
          <p:cNvSpPr txBox="1"/>
          <p:nvPr/>
        </p:nvSpPr>
        <p:spPr>
          <a:xfrm>
            <a:off x="711200" y="822960"/>
            <a:ext cx="10769600" cy="568745"/>
          </a:xfrm>
          <a:prstGeom prst="rect">
            <a:avLst/>
          </a:prstGeom>
          <a:noFill/>
        </p:spPr>
        <p:txBody>
          <a:bodyPr wrap="square">
            <a:spAutoFit/>
          </a:bodyPr>
          <a:lstStyle/>
          <a:p>
            <a:pPr marL="342900" indent="-342900" algn="just">
              <a:lnSpc>
                <a:spcPct val="200000"/>
              </a:lnSpc>
              <a:buFont typeface="Wingdings" panose="05000000000000000000" pitchFamily="2" charset="2"/>
              <a:buChar char="q"/>
            </a:pPr>
            <a:endParaRPr lang="en-US" dirty="0"/>
          </a:p>
        </p:txBody>
      </p:sp>
      <p:pic>
        <p:nvPicPr>
          <p:cNvPr id="6" name="Picture 5">
            <a:extLst>
              <a:ext uri="{FF2B5EF4-FFF2-40B4-BE49-F238E27FC236}">
                <a16:creationId xmlns:a16="http://schemas.microsoft.com/office/drawing/2014/main" id="{00C62B10-B7BC-8A1F-9E56-7C0A2EFE3356}"/>
              </a:ext>
            </a:extLst>
          </p:cNvPr>
          <p:cNvPicPr>
            <a:picLocks noChangeAspect="1"/>
          </p:cNvPicPr>
          <p:nvPr/>
        </p:nvPicPr>
        <p:blipFill>
          <a:blip r:embed="rId2"/>
          <a:stretch>
            <a:fillRect/>
          </a:stretch>
        </p:blipFill>
        <p:spPr>
          <a:xfrm>
            <a:off x="1009304" y="1700123"/>
            <a:ext cx="10629662" cy="3563526"/>
          </a:xfrm>
          <a:prstGeom prst="rect">
            <a:avLst/>
          </a:prstGeom>
        </p:spPr>
      </p:pic>
    </p:spTree>
    <p:extLst>
      <p:ext uri="{BB962C8B-B14F-4D97-AF65-F5344CB8AC3E}">
        <p14:creationId xmlns:p14="http://schemas.microsoft.com/office/powerpoint/2010/main" val="16904387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5A789-054A-AA8C-2C7F-DAA15D6A264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A0E949-E81D-F342-5211-1A3325C84EB7}"/>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DILATED CONVOLUTION &amp; WAVE NET</a:t>
            </a:r>
          </a:p>
        </p:txBody>
      </p:sp>
      <p:sp>
        <p:nvSpPr>
          <p:cNvPr id="3" name="TextBox 2">
            <a:extLst>
              <a:ext uri="{FF2B5EF4-FFF2-40B4-BE49-F238E27FC236}">
                <a16:creationId xmlns:a16="http://schemas.microsoft.com/office/drawing/2014/main" id="{7767B2EA-2DEA-95EC-44DC-B4CF3413C830}"/>
              </a:ext>
            </a:extLst>
          </p:cNvPr>
          <p:cNvSpPr txBox="1"/>
          <p:nvPr/>
        </p:nvSpPr>
        <p:spPr>
          <a:xfrm>
            <a:off x="436880" y="822960"/>
            <a:ext cx="11318240" cy="1754326"/>
          </a:xfrm>
          <a:prstGeom prst="rect">
            <a:avLst/>
          </a:prstGeom>
          <a:noFill/>
        </p:spPr>
        <p:txBody>
          <a:bodyPr wrap="square" rtlCol="0">
            <a:spAutoFit/>
          </a:bodyPr>
          <a:lstStyle/>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p:txBody>
      </p:sp>
      <p:sp>
        <p:nvSpPr>
          <p:cNvPr id="5" name="TextBox 4">
            <a:extLst>
              <a:ext uri="{FF2B5EF4-FFF2-40B4-BE49-F238E27FC236}">
                <a16:creationId xmlns:a16="http://schemas.microsoft.com/office/drawing/2014/main" id="{C11DFAE6-D90F-20FD-1A67-5B32E8C957E1}"/>
              </a:ext>
            </a:extLst>
          </p:cNvPr>
          <p:cNvSpPr txBox="1"/>
          <p:nvPr/>
        </p:nvSpPr>
        <p:spPr>
          <a:xfrm>
            <a:off x="711200" y="822960"/>
            <a:ext cx="10769600" cy="568745"/>
          </a:xfrm>
          <a:prstGeom prst="rect">
            <a:avLst/>
          </a:prstGeom>
          <a:noFill/>
        </p:spPr>
        <p:txBody>
          <a:bodyPr wrap="square">
            <a:spAutoFit/>
          </a:bodyPr>
          <a:lstStyle/>
          <a:p>
            <a:pPr marL="342900" indent="-342900" algn="just">
              <a:lnSpc>
                <a:spcPct val="200000"/>
              </a:lnSpc>
              <a:buFont typeface="Wingdings" panose="05000000000000000000" pitchFamily="2" charset="2"/>
              <a:buChar char="q"/>
            </a:pPr>
            <a:endParaRPr lang="en-US" dirty="0"/>
          </a:p>
        </p:txBody>
      </p:sp>
      <p:sp>
        <p:nvSpPr>
          <p:cNvPr id="2" name="TextBox 1">
            <a:extLst>
              <a:ext uri="{FF2B5EF4-FFF2-40B4-BE49-F238E27FC236}">
                <a16:creationId xmlns:a16="http://schemas.microsoft.com/office/drawing/2014/main" id="{E9A8ECED-4D7B-2152-0119-9E51897262DF}"/>
              </a:ext>
            </a:extLst>
          </p:cNvPr>
          <p:cNvSpPr txBox="1"/>
          <p:nvPr/>
        </p:nvSpPr>
        <p:spPr>
          <a:xfrm>
            <a:off x="436880" y="1026160"/>
            <a:ext cx="11318240" cy="1477328"/>
          </a:xfrm>
          <a:prstGeom prst="rect">
            <a:avLst/>
          </a:prstGeom>
          <a:noFill/>
        </p:spPr>
        <p:txBody>
          <a:bodyPr wrap="square" rtlCol="0">
            <a:spAutoFit/>
          </a:bodyPr>
          <a:lstStyle/>
          <a:p>
            <a:pPr marL="285750" indent="-285750">
              <a:buFont typeface="Wingdings" panose="05000000000000000000" pitchFamily="2" charset="2"/>
              <a:buChar char="q"/>
            </a:pPr>
            <a:r>
              <a:rPr lang="en-US" dirty="0"/>
              <a:t>In a 2016 paper,13 Aaron van den Oord and other DeepMind researchers introduced an architecture called </a:t>
            </a:r>
            <a:r>
              <a:rPr lang="en-US" i="1" dirty="0" err="1"/>
              <a:t>WaveNet</a:t>
            </a:r>
            <a:endParaRPr lang="en-US" i="1" dirty="0"/>
          </a:p>
          <a:p>
            <a:pPr marL="285750" indent="-285750">
              <a:buFont typeface="Wingdings" panose="05000000000000000000" pitchFamily="2" charset="2"/>
              <a:buChar char="q"/>
            </a:pPr>
            <a:r>
              <a:rPr lang="en-US" i="1" dirty="0"/>
              <a:t>Dilated Convolution introduces gaps between the filter elements, allowing the network to have larger receptive fields without increasing the number of parameters. This makes them particularly useful in tasks requiring multiscale context and long range dependances, such as audio generation and image classification</a:t>
            </a:r>
          </a:p>
          <a:p>
            <a:endParaRPr lang="en-US" dirty="0"/>
          </a:p>
        </p:txBody>
      </p:sp>
      <p:pic>
        <p:nvPicPr>
          <p:cNvPr id="7" name="Picture 6">
            <a:extLst>
              <a:ext uri="{FF2B5EF4-FFF2-40B4-BE49-F238E27FC236}">
                <a16:creationId xmlns:a16="http://schemas.microsoft.com/office/drawing/2014/main" id="{56CF0DFD-9BD8-458A-76EC-E1CB5AAA8208}"/>
              </a:ext>
            </a:extLst>
          </p:cNvPr>
          <p:cNvPicPr>
            <a:picLocks noChangeAspect="1"/>
          </p:cNvPicPr>
          <p:nvPr/>
        </p:nvPicPr>
        <p:blipFill>
          <a:blip r:embed="rId2"/>
          <a:stretch>
            <a:fillRect/>
          </a:stretch>
        </p:blipFill>
        <p:spPr>
          <a:xfrm>
            <a:off x="223409" y="2411098"/>
            <a:ext cx="5730351" cy="2824318"/>
          </a:xfrm>
          <a:prstGeom prst="rect">
            <a:avLst/>
          </a:prstGeom>
        </p:spPr>
      </p:pic>
      <p:pic>
        <p:nvPicPr>
          <p:cNvPr id="11" name="Picture 10">
            <a:extLst>
              <a:ext uri="{FF2B5EF4-FFF2-40B4-BE49-F238E27FC236}">
                <a16:creationId xmlns:a16="http://schemas.microsoft.com/office/drawing/2014/main" id="{0119452A-4A42-CE80-0600-DF05B1A74C4B}"/>
              </a:ext>
            </a:extLst>
          </p:cNvPr>
          <p:cNvPicPr>
            <a:picLocks noChangeAspect="1"/>
          </p:cNvPicPr>
          <p:nvPr/>
        </p:nvPicPr>
        <p:blipFill>
          <a:blip r:embed="rId3"/>
          <a:stretch>
            <a:fillRect/>
          </a:stretch>
        </p:blipFill>
        <p:spPr>
          <a:xfrm>
            <a:off x="1500644" y="5027314"/>
            <a:ext cx="3677920" cy="1593040"/>
          </a:xfrm>
          <a:prstGeom prst="rect">
            <a:avLst/>
          </a:prstGeom>
        </p:spPr>
      </p:pic>
      <p:pic>
        <p:nvPicPr>
          <p:cNvPr id="13" name="Picture 12">
            <a:extLst>
              <a:ext uri="{FF2B5EF4-FFF2-40B4-BE49-F238E27FC236}">
                <a16:creationId xmlns:a16="http://schemas.microsoft.com/office/drawing/2014/main" id="{32E87B21-1948-7BBF-E555-F8339DB9226B}"/>
              </a:ext>
            </a:extLst>
          </p:cNvPr>
          <p:cNvPicPr>
            <a:picLocks noChangeAspect="1"/>
          </p:cNvPicPr>
          <p:nvPr/>
        </p:nvPicPr>
        <p:blipFill>
          <a:blip r:embed="rId4"/>
          <a:stretch>
            <a:fillRect/>
          </a:stretch>
        </p:blipFill>
        <p:spPr>
          <a:xfrm>
            <a:off x="7013438" y="4769988"/>
            <a:ext cx="4024426" cy="1850366"/>
          </a:xfrm>
          <a:prstGeom prst="rect">
            <a:avLst/>
          </a:prstGeom>
        </p:spPr>
      </p:pic>
      <p:pic>
        <p:nvPicPr>
          <p:cNvPr id="15" name="Picture 14">
            <a:extLst>
              <a:ext uri="{FF2B5EF4-FFF2-40B4-BE49-F238E27FC236}">
                <a16:creationId xmlns:a16="http://schemas.microsoft.com/office/drawing/2014/main" id="{3D4F26A9-68D4-18A2-2CD4-0441F63DFE36}"/>
              </a:ext>
            </a:extLst>
          </p:cNvPr>
          <p:cNvPicPr>
            <a:picLocks noChangeAspect="1"/>
          </p:cNvPicPr>
          <p:nvPr/>
        </p:nvPicPr>
        <p:blipFill>
          <a:blip r:embed="rId5"/>
          <a:stretch>
            <a:fillRect/>
          </a:stretch>
        </p:blipFill>
        <p:spPr>
          <a:xfrm>
            <a:off x="6566988" y="2503488"/>
            <a:ext cx="4487552" cy="2336743"/>
          </a:xfrm>
          <a:prstGeom prst="rect">
            <a:avLst/>
          </a:prstGeom>
        </p:spPr>
      </p:pic>
    </p:spTree>
    <p:extLst>
      <p:ext uri="{BB962C8B-B14F-4D97-AF65-F5344CB8AC3E}">
        <p14:creationId xmlns:p14="http://schemas.microsoft.com/office/powerpoint/2010/main" val="4130652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55C90-4495-2215-B83E-C622B7F09A3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2D6AA7-6837-8384-05C5-B3DE080F325A}"/>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DILATED CONVOLUTION &amp; WAVE NET</a:t>
            </a:r>
          </a:p>
        </p:txBody>
      </p:sp>
      <p:sp>
        <p:nvSpPr>
          <p:cNvPr id="2" name="TextBox 1">
            <a:extLst>
              <a:ext uri="{FF2B5EF4-FFF2-40B4-BE49-F238E27FC236}">
                <a16:creationId xmlns:a16="http://schemas.microsoft.com/office/drawing/2014/main" id="{E5A85AB4-9299-F97B-8786-6B4F2461B87B}"/>
              </a:ext>
            </a:extLst>
          </p:cNvPr>
          <p:cNvSpPr txBox="1"/>
          <p:nvPr/>
        </p:nvSpPr>
        <p:spPr>
          <a:xfrm>
            <a:off x="436880" y="1026160"/>
            <a:ext cx="11318240" cy="369332"/>
          </a:xfrm>
          <a:prstGeom prst="rect">
            <a:avLst/>
          </a:prstGeom>
          <a:noFill/>
        </p:spPr>
        <p:txBody>
          <a:bodyPr wrap="square" rtlCol="0">
            <a:spAutoFit/>
          </a:bodyPr>
          <a:lstStyle/>
          <a:p>
            <a:pPr marL="285750" indent="-285750">
              <a:buFont typeface="Wingdings" panose="05000000000000000000" pitchFamily="2" charset="2"/>
              <a:buChar char="q"/>
            </a:pPr>
            <a:endParaRPr lang="en-US" dirty="0"/>
          </a:p>
        </p:txBody>
      </p:sp>
      <p:pic>
        <p:nvPicPr>
          <p:cNvPr id="7" name="Picture 6">
            <a:extLst>
              <a:ext uri="{FF2B5EF4-FFF2-40B4-BE49-F238E27FC236}">
                <a16:creationId xmlns:a16="http://schemas.microsoft.com/office/drawing/2014/main" id="{EFEB76CA-F8D7-C8B4-FE47-F207B408B6CE}"/>
              </a:ext>
            </a:extLst>
          </p:cNvPr>
          <p:cNvPicPr>
            <a:picLocks noChangeAspect="1"/>
          </p:cNvPicPr>
          <p:nvPr/>
        </p:nvPicPr>
        <p:blipFill>
          <a:blip r:embed="rId2"/>
          <a:stretch>
            <a:fillRect/>
          </a:stretch>
        </p:blipFill>
        <p:spPr>
          <a:xfrm>
            <a:off x="1838459" y="4280715"/>
            <a:ext cx="8901162" cy="2402840"/>
          </a:xfrm>
          <a:prstGeom prst="rect">
            <a:avLst/>
          </a:prstGeom>
        </p:spPr>
      </p:pic>
      <p:sp>
        <p:nvSpPr>
          <p:cNvPr id="9" name="TextBox 8">
            <a:extLst>
              <a:ext uri="{FF2B5EF4-FFF2-40B4-BE49-F238E27FC236}">
                <a16:creationId xmlns:a16="http://schemas.microsoft.com/office/drawing/2014/main" id="{53AE382A-D751-F2E2-3251-B621A5DBC209}"/>
              </a:ext>
            </a:extLst>
          </p:cNvPr>
          <p:cNvSpPr txBox="1"/>
          <p:nvPr/>
        </p:nvSpPr>
        <p:spPr>
          <a:xfrm>
            <a:off x="510540" y="682998"/>
            <a:ext cx="11318240" cy="3788858"/>
          </a:xfrm>
          <a:prstGeom prst="rect">
            <a:avLst/>
          </a:prstGeom>
          <a:noFill/>
        </p:spPr>
        <p:txBody>
          <a:bodyPr wrap="square">
            <a:spAutoFit/>
          </a:bodyPr>
          <a:lstStyle/>
          <a:p>
            <a:pPr marL="285750" indent="-285750" algn="just">
              <a:lnSpc>
                <a:spcPct val="150000"/>
              </a:lnSpc>
              <a:buFont typeface="Wingdings" panose="05000000000000000000" pitchFamily="2" charset="2"/>
              <a:buChar char="q"/>
            </a:pPr>
            <a:r>
              <a:rPr lang="en-US" sz="1800" b="0" i="0" dirty="0">
                <a:solidFill>
                  <a:srgbClr val="000000"/>
                </a:solidFill>
                <a:effectLst/>
                <a:latin typeface="MinionPro-Regular"/>
              </a:rPr>
              <a:t>In the </a:t>
            </a:r>
            <a:r>
              <a:rPr lang="en-US" sz="1800" b="0" i="0" dirty="0" err="1">
                <a:solidFill>
                  <a:srgbClr val="000000"/>
                </a:solidFill>
                <a:effectLst/>
                <a:latin typeface="MinionPro-Regular"/>
              </a:rPr>
              <a:t>WaveNet</a:t>
            </a:r>
            <a:r>
              <a:rPr lang="en-US" sz="1800" b="0" i="0" dirty="0">
                <a:solidFill>
                  <a:srgbClr val="000000"/>
                </a:solidFill>
                <a:effectLst/>
                <a:latin typeface="MinionPro-Regular"/>
              </a:rPr>
              <a:t> paper, the authors actually stacked 10 convolutional layers with dilation rates of 1, 2, 4, 8, …, 256, 512, then they stacked another group of 10 identical layers (also with dilation rates 1, 2, 4, 8, …, 256, 512), then again another identical group of 10 layers. </a:t>
            </a:r>
          </a:p>
          <a:p>
            <a:pPr marL="285750" indent="-285750">
              <a:lnSpc>
                <a:spcPct val="150000"/>
              </a:lnSpc>
              <a:buFont typeface="Wingdings" panose="05000000000000000000" pitchFamily="2" charset="2"/>
              <a:buChar char="q"/>
            </a:pPr>
            <a:r>
              <a:rPr lang="en-US" sz="1800" b="0" i="0" dirty="0">
                <a:solidFill>
                  <a:srgbClr val="000000"/>
                </a:solidFill>
                <a:effectLst/>
                <a:latin typeface="MinionPro-Regular"/>
              </a:rPr>
              <a:t>They justified this architecture by pointing out that a single stack of 10 convolutional layers with these dilation rates will act like a super-efficient convolutional layer with a kernel of size 1,024 (except way faster, more powerful, and using significantly fewer parameters), which is why they stacked 3 such blocks. They also left-padded the input sequences with a number of zeros equal to the dilation rate before every layer, to preserve the same sequence length throughout the network</a:t>
            </a:r>
            <a:r>
              <a:rPr lang="en-US" dirty="0"/>
              <a:t> </a:t>
            </a:r>
            <a:br>
              <a:rPr lang="en-US" dirty="0"/>
            </a:br>
            <a:endParaRPr lang="en-US" dirty="0"/>
          </a:p>
        </p:txBody>
      </p:sp>
    </p:spTree>
    <p:extLst>
      <p:ext uri="{BB962C8B-B14F-4D97-AF65-F5344CB8AC3E}">
        <p14:creationId xmlns:p14="http://schemas.microsoft.com/office/powerpoint/2010/main" val="18753354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0BFD0-469B-46C3-D4D7-25416BB738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8DD5963-1DE8-B1F5-68D6-7FC6AD11CB9D}"/>
              </a:ext>
            </a:extLst>
          </p:cNvPr>
          <p:cNvSpPr txBox="1"/>
          <p:nvPr/>
        </p:nvSpPr>
        <p:spPr>
          <a:xfrm>
            <a:off x="1911927" y="74521"/>
            <a:ext cx="9034496" cy="830997"/>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SEQ TO SEQ MODEL</a:t>
            </a:r>
          </a:p>
          <a:p>
            <a:pPr algn="ctr"/>
            <a:endParaRPr lang="en-US" sz="2400" b="1" dirty="0">
              <a:solidFill>
                <a:srgbClr val="FFFF00"/>
              </a:solidFill>
              <a:effectLst>
                <a:outerShdw blurRad="38100" dist="38100" dir="2700000" algn="tl">
                  <a:srgbClr val="000000">
                    <a:alpha val="43137"/>
                  </a:srgbClr>
                </a:outerShdw>
              </a:effectLst>
            </a:endParaRPr>
          </a:p>
        </p:txBody>
      </p:sp>
      <p:pic>
        <p:nvPicPr>
          <p:cNvPr id="5" name="Picture 4">
            <a:extLst>
              <a:ext uri="{FF2B5EF4-FFF2-40B4-BE49-F238E27FC236}">
                <a16:creationId xmlns:a16="http://schemas.microsoft.com/office/drawing/2014/main" id="{17553566-969B-2538-7EC3-05D89E7C2BF9}"/>
              </a:ext>
            </a:extLst>
          </p:cNvPr>
          <p:cNvPicPr>
            <a:picLocks noChangeAspect="1"/>
          </p:cNvPicPr>
          <p:nvPr/>
        </p:nvPicPr>
        <p:blipFill>
          <a:blip r:embed="rId2"/>
          <a:stretch>
            <a:fillRect/>
          </a:stretch>
        </p:blipFill>
        <p:spPr>
          <a:xfrm>
            <a:off x="1382621" y="701039"/>
            <a:ext cx="9426757" cy="3132091"/>
          </a:xfrm>
          <a:prstGeom prst="rect">
            <a:avLst/>
          </a:prstGeom>
        </p:spPr>
      </p:pic>
      <p:sp>
        <p:nvSpPr>
          <p:cNvPr id="8" name="TextBox 7">
            <a:extLst>
              <a:ext uri="{FF2B5EF4-FFF2-40B4-BE49-F238E27FC236}">
                <a16:creationId xmlns:a16="http://schemas.microsoft.com/office/drawing/2014/main" id="{C8B61F97-D324-4778-44FD-CC944C4BFD5B}"/>
              </a:ext>
            </a:extLst>
          </p:cNvPr>
          <p:cNvSpPr txBox="1"/>
          <p:nvPr/>
        </p:nvSpPr>
        <p:spPr>
          <a:xfrm>
            <a:off x="0" y="4280170"/>
            <a:ext cx="5770880" cy="1754326"/>
          </a:xfrm>
          <a:prstGeom prst="rect">
            <a:avLst/>
          </a:prstGeom>
          <a:noFill/>
        </p:spPr>
        <p:txBody>
          <a:bodyPr wrap="square" rtlCol="0">
            <a:spAutoFit/>
          </a:bodyPr>
          <a:lstStyle/>
          <a:p>
            <a:pPr marL="285750" indent="-285750" algn="just">
              <a:buFont typeface="Wingdings" panose="05000000000000000000" pitchFamily="2" charset="2"/>
              <a:buChar char="ü"/>
            </a:pPr>
            <a:r>
              <a:rPr lang="en-US" b="1" u="sng" dirty="0"/>
              <a:t>Step 1</a:t>
            </a:r>
            <a:r>
              <a:rPr lang="en-US" dirty="0"/>
              <a:t>: Input Shape : (Batch Size, Number of Encoder Time Steps)</a:t>
            </a:r>
          </a:p>
          <a:p>
            <a:pPr marL="285750" indent="-285750" algn="just">
              <a:buFont typeface="Wingdings" panose="05000000000000000000" pitchFamily="2" charset="2"/>
              <a:buChar char="ü"/>
            </a:pPr>
            <a:r>
              <a:rPr lang="en-US" b="1" u="sng" dirty="0"/>
              <a:t>Step 2</a:t>
            </a:r>
            <a:r>
              <a:rPr lang="en-US" dirty="0"/>
              <a:t>: Embedding Layer : (Batch Size, Number of Encoder Time Steps, Embedding Dimension)</a:t>
            </a:r>
          </a:p>
          <a:p>
            <a:pPr marL="285750" indent="-285750" algn="just">
              <a:buFont typeface="Wingdings" panose="05000000000000000000" pitchFamily="2" charset="2"/>
              <a:buChar char="ü"/>
            </a:pPr>
            <a:r>
              <a:rPr lang="en-US" b="1" u="sng" dirty="0"/>
              <a:t>Step 3</a:t>
            </a:r>
            <a:r>
              <a:rPr lang="en-US" dirty="0"/>
              <a:t>: Passed through the Encoder RNN block to generate (Batch Size, Encoder RNN Dimension)</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27D5EFD-CF5F-326F-4FB1-B26DEED6CC0E}"/>
                  </a:ext>
                </a:extLst>
              </p:cNvPr>
              <p:cNvSpPr txBox="1"/>
              <p:nvPr/>
            </p:nvSpPr>
            <p:spPr>
              <a:xfrm>
                <a:off x="5974080" y="4127770"/>
                <a:ext cx="5892800" cy="2585323"/>
              </a:xfrm>
              <a:prstGeom prst="rect">
                <a:avLst/>
              </a:prstGeom>
              <a:noFill/>
            </p:spPr>
            <p:txBody>
              <a:bodyPr wrap="square" rtlCol="0">
                <a:spAutoFit/>
              </a:bodyPr>
              <a:lstStyle/>
              <a:p>
                <a:pPr marL="285750" indent="-285750" algn="just">
                  <a:buFont typeface="Wingdings" panose="05000000000000000000" pitchFamily="2" charset="2"/>
                  <a:buChar char="ü"/>
                </a:pPr>
                <a:r>
                  <a:rPr lang="en-US" b="1" u="sng" dirty="0"/>
                  <a:t>Step 1</a:t>
                </a:r>
                <a:r>
                  <a:rPr lang="en-US" dirty="0"/>
                  <a:t>: Input Shape : h: (Batch Size, Encoder RNN Dimension) &amp;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𝑋</m:t>
                        </m:r>
                      </m:e>
                      <m:sub>
                        <m:r>
                          <a:rPr lang="en-US" b="0" i="1" dirty="0" smtClean="0">
                            <a:latin typeface="Cambria Math" panose="02040503050406030204" pitchFamily="18" charset="0"/>
                          </a:rPr>
                          <m:t>𝑛</m:t>
                        </m:r>
                      </m:sub>
                    </m:sSub>
                  </m:oMath>
                </a14:m>
                <a:r>
                  <a:rPr lang="en-US" dirty="0"/>
                  <a:t> : (Batch Size, No of Decoder Time Steps)</a:t>
                </a:r>
              </a:p>
              <a:p>
                <a:pPr marL="285750" indent="-285750" algn="just">
                  <a:buFont typeface="Wingdings" panose="05000000000000000000" pitchFamily="2" charset="2"/>
                  <a:buChar char="ü"/>
                </a:pPr>
                <a:r>
                  <a:rPr lang="en-US" b="1" u="sng" dirty="0"/>
                  <a:t>Step 2</a:t>
                </a:r>
                <a:r>
                  <a:rPr lang="en-US" dirty="0"/>
                  <a:t>: Embedding Layer : (Batch Size, Number of Decoder Time Steps, Embedding Dimension)</a:t>
                </a:r>
              </a:p>
              <a:p>
                <a:pPr marL="285750" indent="-285750" algn="just">
                  <a:buFont typeface="Wingdings" panose="05000000000000000000" pitchFamily="2" charset="2"/>
                  <a:buChar char="ü"/>
                </a:pPr>
                <a:r>
                  <a:rPr lang="en-US" b="1" u="sng" dirty="0"/>
                  <a:t>Step 3</a:t>
                </a:r>
                <a:r>
                  <a:rPr lang="en-US" dirty="0"/>
                  <a:t>: Passed through the Encoder RNN block to generate (Batch Size, Number of Decoder Time Steps, </a:t>
                </a:r>
                <a:r>
                  <a:rPr lang="en-US" dirty="0" err="1"/>
                  <a:t>output_vocab_size</a:t>
                </a:r>
                <a:r>
                  <a:rPr lang="en-US" dirty="0"/>
                  <a:t>)</a:t>
                </a:r>
              </a:p>
              <a:p>
                <a:pPr marL="285750" indent="-285750" algn="just">
                  <a:buFont typeface="Wingdings" panose="05000000000000000000" pitchFamily="2" charset="2"/>
                  <a:buChar char="ü"/>
                </a:pPr>
                <a:r>
                  <a:rPr lang="en-US" b="1" u="sng" dirty="0"/>
                  <a:t>Step_4</a:t>
                </a:r>
                <a:r>
                  <a:rPr lang="en-US" dirty="0"/>
                  <a:t>: Argmax taken over the last dimension to predict the exact vocab word next</a:t>
                </a:r>
              </a:p>
            </p:txBody>
          </p:sp>
        </mc:Choice>
        <mc:Fallback xmlns="">
          <p:sp>
            <p:nvSpPr>
              <p:cNvPr id="10" name="TextBox 9">
                <a:extLst>
                  <a:ext uri="{FF2B5EF4-FFF2-40B4-BE49-F238E27FC236}">
                    <a16:creationId xmlns:a16="http://schemas.microsoft.com/office/drawing/2014/main" id="{727D5EFD-CF5F-326F-4FB1-B26DEED6CC0E}"/>
                  </a:ext>
                </a:extLst>
              </p:cNvPr>
              <p:cNvSpPr txBox="1">
                <a:spLocks noRot="1" noChangeAspect="1" noMove="1" noResize="1" noEditPoints="1" noAdjustHandles="1" noChangeArrowheads="1" noChangeShapeType="1" noTextEdit="1"/>
              </p:cNvSpPr>
              <p:nvPr/>
            </p:nvSpPr>
            <p:spPr>
              <a:xfrm>
                <a:off x="5974080" y="4127770"/>
                <a:ext cx="5892800" cy="2585323"/>
              </a:xfrm>
              <a:prstGeom prst="rect">
                <a:avLst/>
              </a:prstGeom>
              <a:blipFill>
                <a:blip r:embed="rId3"/>
                <a:stretch>
                  <a:fillRect l="-620" t="-1179" r="-724" b="-2830"/>
                </a:stretch>
              </a:blipFill>
            </p:spPr>
            <p:txBody>
              <a:bodyPr/>
              <a:lstStyle/>
              <a:p>
                <a:r>
                  <a:rPr lang="en-US">
                    <a:noFill/>
                  </a:rPr>
                  <a:t> </a:t>
                </a:r>
              </a:p>
            </p:txBody>
          </p:sp>
        </mc:Fallback>
      </mc:AlternateContent>
    </p:spTree>
    <p:extLst>
      <p:ext uri="{BB962C8B-B14F-4D97-AF65-F5344CB8AC3E}">
        <p14:creationId xmlns:p14="http://schemas.microsoft.com/office/powerpoint/2010/main" val="5889225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BC22B-9DCE-86BC-9598-1F3E96CA6A4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EFA4C0C-8CD2-FFBD-44EB-053429B27374}"/>
              </a:ext>
            </a:extLst>
          </p:cNvPr>
          <p:cNvSpPr txBox="1"/>
          <p:nvPr/>
        </p:nvSpPr>
        <p:spPr>
          <a:xfrm>
            <a:off x="1911927" y="74521"/>
            <a:ext cx="9034496" cy="830997"/>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SEQ TO SEQ MODEL</a:t>
            </a:r>
          </a:p>
          <a:p>
            <a:pPr algn="ctr"/>
            <a:endParaRPr lang="en-US" sz="2400" b="1" dirty="0">
              <a:solidFill>
                <a:srgbClr val="FFFF00"/>
              </a:solidFill>
              <a:effectLst>
                <a:outerShdw blurRad="38100" dist="38100" dir="2700000" algn="tl">
                  <a:srgbClr val="000000">
                    <a:alpha val="43137"/>
                  </a:srgbClr>
                </a:outerShdw>
              </a:effectLst>
            </a:endParaRPr>
          </a:p>
        </p:txBody>
      </p:sp>
      <p:pic>
        <p:nvPicPr>
          <p:cNvPr id="11" name="Picture 10">
            <a:extLst>
              <a:ext uri="{FF2B5EF4-FFF2-40B4-BE49-F238E27FC236}">
                <a16:creationId xmlns:a16="http://schemas.microsoft.com/office/drawing/2014/main" id="{04824107-2614-B334-9A3E-0521B3775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9242" y="831810"/>
            <a:ext cx="3967779" cy="5951669"/>
          </a:xfrm>
          <a:prstGeom prst="rect">
            <a:avLst/>
          </a:prstGeom>
        </p:spPr>
      </p:pic>
    </p:spTree>
    <p:extLst>
      <p:ext uri="{BB962C8B-B14F-4D97-AF65-F5344CB8AC3E}">
        <p14:creationId xmlns:p14="http://schemas.microsoft.com/office/powerpoint/2010/main" val="12384838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E523B-8370-A44E-7473-1ED93FFF664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2B68F0-354A-D83A-C5BC-387DF16DF00A}"/>
              </a:ext>
            </a:extLst>
          </p:cNvPr>
          <p:cNvSpPr txBox="1"/>
          <p:nvPr/>
        </p:nvSpPr>
        <p:spPr>
          <a:xfrm>
            <a:off x="1911927" y="74521"/>
            <a:ext cx="9034496" cy="830997"/>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SEQ TO SEQ MODEL</a:t>
            </a:r>
          </a:p>
          <a:p>
            <a:pPr algn="ctr"/>
            <a:endParaRPr lang="en-US" sz="2400" b="1" dirty="0">
              <a:solidFill>
                <a:srgbClr val="FFFF00"/>
              </a:solidFill>
              <a:effectLst>
                <a:outerShdw blurRad="38100" dist="38100" dir="2700000" algn="tl">
                  <a:srgbClr val="000000">
                    <a:alpha val="43137"/>
                  </a:srgbClr>
                </a:outerShdw>
              </a:effectLst>
            </a:endParaRPr>
          </a:p>
        </p:txBody>
      </p:sp>
      <p:pic>
        <p:nvPicPr>
          <p:cNvPr id="3" name="Picture 2">
            <a:extLst>
              <a:ext uri="{FF2B5EF4-FFF2-40B4-BE49-F238E27FC236}">
                <a16:creationId xmlns:a16="http://schemas.microsoft.com/office/drawing/2014/main" id="{42D2BAA6-FE2B-EF77-923A-69A337E894F5}"/>
              </a:ext>
            </a:extLst>
          </p:cNvPr>
          <p:cNvPicPr>
            <a:picLocks noChangeAspect="1"/>
          </p:cNvPicPr>
          <p:nvPr/>
        </p:nvPicPr>
        <p:blipFill>
          <a:blip r:embed="rId3"/>
          <a:stretch>
            <a:fillRect/>
          </a:stretch>
        </p:blipFill>
        <p:spPr>
          <a:xfrm>
            <a:off x="1264530" y="2773589"/>
            <a:ext cx="8992379" cy="2103302"/>
          </a:xfrm>
          <a:prstGeom prst="rect">
            <a:avLst/>
          </a:prstGeom>
        </p:spPr>
      </p:pic>
      <p:sp>
        <p:nvSpPr>
          <p:cNvPr id="6" name="TextBox 5">
            <a:extLst>
              <a:ext uri="{FF2B5EF4-FFF2-40B4-BE49-F238E27FC236}">
                <a16:creationId xmlns:a16="http://schemas.microsoft.com/office/drawing/2014/main" id="{8B85C448-0ACD-E9D1-4DC7-9ABBFC59F4FC}"/>
              </a:ext>
            </a:extLst>
          </p:cNvPr>
          <p:cNvSpPr txBox="1"/>
          <p:nvPr/>
        </p:nvSpPr>
        <p:spPr>
          <a:xfrm>
            <a:off x="995680" y="1625600"/>
            <a:ext cx="1158240" cy="369332"/>
          </a:xfrm>
          <a:prstGeom prst="rect">
            <a:avLst/>
          </a:prstGeom>
          <a:noFill/>
        </p:spPr>
        <p:txBody>
          <a:bodyPr wrap="square" rtlCol="0">
            <a:spAutoFit/>
          </a:bodyPr>
          <a:lstStyle/>
          <a:p>
            <a:pPr algn="ctr"/>
            <a:r>
              <a:rPr lang="en-US" b="1" dirty="0" err="1">
                <a:solidFill>
                  <a:srgbClr val="FF0000"/>
                </a:solidFill>
              </a:rPr>
              <a:t>data_en</a:t>
            </a:r>
            <a:endParaRPr lang="en-US" b="1" dirty="0">
              <a:solidFill>
                <a:srgbClr val="FF0000"/>
              </a:solidFill>
            </a:endParaRPr>
          </a:p>
        </p:txBody>
      </p:sp>
      <p:sp>
        <p:nvSpPr>
          <p:cNvPr id="8" name="TextBox 7">
            <a:extLst>
              <a:ext uri="{FF2B5EF4-FFF2-40B4-BE49-F238E27FC236}">
                <a16:creationId xmlns:a16="http://schemas.microsoft.com/office/drawing/2014/main" id="{81FA247B-A897-451D-1E18-E206C36C5419}"/>
              </a:ext>
            </a:extLst>
          </p:cNvPr>
          <p:cNvSpPr txBox="1"/>
          <p:nvPr/>
        </p:nvSpPr>
        <p:spPr>
          <a:xfrm>
            <a:off x="2326640" y="1625600"/>
            <a:ext cx="1300480" cy="369332"/>
          </a:xfrm>
          <a:prstGeom prst="rect">
            <a:avLst/>
          </a:prstGeom>
          <a:noFill/>
        </p:spPr>
        <p:txBody>
          <a:bodyPr wrap="square" rtlCol="0">
            <a:spAutoFit/>
          </a:bodyPr>
          <a:lstStyle/>
          <a:p>
            <a:pPr algn="ctr"/>
            <a:r>
              <a:rPr lang="en-US" b="1" dirty="0" err="1">
                <a:solidFill>
                  <a:srgbClr val="FF0000"/>
                </a:solidFill>
              </a:rPr>
              <a:t>data_fr_in</a:t>
            </a:r>
            <a:endParaRPr lang="en-US" b="1" dirty="0">
              <a:solidFill>
                <a:srgbClr val="FF0000"/>
              </a:solidFill>
            </a:endParaRPr>
          </a:p>
        </p:txBody>
      </p:sp>
      <p:sp>
        <p:nvSpPr>
          <p:cNvPr id="9" name="TextBox 8">
            <a:extLst>
              <a:ext uri="{FF2B5EF4-FFF2-40B4-BE49-F238E27FC236}">
                <a16:creationId xmlns:a16="http://schemas.microsoft.com/office/drawing/2014/main" id="{42014BEF-BF18-1C78-E077-CE31952182EA}"/>
              </a:ext>
            </a:extLst>
          </p:cNvPr>
          <p:cNvSpPr txBox="1"/>
          <p:nvPr/>
        </p:nvSpPr>
        <p:spPr>
          <a:xfrm>
            <a:off x="3799840" y="1625600"/>
            <a:ext cx="1524000" cy="369332"/>
          </a:xfrm>
          <a:prstGeom prst="rect">
            <a:avLst/>
          </a:prstGeom>
          <a:noFill/>
        </p:spPr>
        <p:txBody>
          <a:bodyPr wrap="square" rtlCol="0">
            <a:spAutoFit/>
          </a:bodyPr>
          <a:lstStyle/>
          <a:p>
            <a:pPr algn="ctr"/>
            <a:r>
              <a:rPr lang="en-US" b="1" dirty="0" err="1">
                <a:solidFill>
                  <a:srgbClr val="FF0000"/>
                </a:solidFill>
              </a:rPr>
              <a:t>data_fr_out</a:t>
            </a:r>
            <a:endParaRPr lang="en-US" b="1" dirty="0">
              <a:solidFill>
                <a:srgbClr val="FF0000"/>
              </a:solidFill>
            </a:endParaRPr>
          </a:p>
        </p:txBody>
      </p:sp>
      <p:cxnSp>
        <p:nvCxnSpPr>
          <p:cNvPr id="11" name="Straight Arrow Connector 10">
            <a:extLst>
              <a:ext uri="{FF2B5EF4-FFF2-40B4-BE49-F238E27FC236}">
                <a16:creationId xmlns:a16="http://schemas.microsoft.com/office/drawing/2014/main" id="{8A70943A-8AF5-A675-D7A7-AD1B73AC35BD}"/>
              </a:ext>
            </a:extLst>
          </p:cNvPr>
          <p:cNvCxnSpPr>
            <a:stCxn id="6" idx="2"/>
          </p:cNvCxnSpPr>
          <p:nvPr/>
        </p:nvCxnSpPr>
        <p:spPr>
          <a:xfrm>
            <a:off x="1574800" y="1994932"/>
            <a:ext cx="477520" cy="77865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CE313A5-3D76-30FB-7FB3-1E15DCFED500}"/>
              </a:ext>
            </a:extLst>
          </p:cNvPr>
          <p:cNvCxnSpPr/>
          <p:nvPr/>
        </p:nvCxnSpPr>
        <p:spPr>
          <a:xfrm>
            <a:off x="3149600" y="1994931"/>
            <a:ext cx="477520" cy="77865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BB46430-878E-BB50-3CCD-2A5B01D03401}"/>
              </a:ext>
            </a:extLst>
          </p:cNvPr>
          <p:cNvCxnSpPr/>
          <p:nvPr/>
        </p:nvCxnSpPr>
        <p:spPr>
          <a:xfrm>
            <a:off x="4622800" y="1936357"/>
            <a:ext cx="477520" cy="77865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41110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0AF8E-ACEA-B8C5-9942-2A00116F2A6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EE9A671-C441-8248-DEB4-EF55AB5D4B23}"/>
              </a:ext>
            </a:extLst>
          </p:cNvPr>
          <p:cNvSpPr txBox="1"/>
          <p:nvPr/>
        </p:nvSpPr>
        <p:spPr>
          <a:xfrm>
            <a:off x="1911927" y="74521"/>
            <a:ext cx="9034496" cy="830997"/>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SEQ TO SEQ MODEL</a:t>
            </a:r>
          </a:p>
          <a:p>
            <a:pPr algn="ctr"/>
            <a:endParaRPr lang="en-US" sz="2400" b="1" dirty="0">
              <a:solidFill>
                <a:srgbClr val="FFFF00"/>
              </a:solidFill>
              <a:effectLst>
                <a:outerShdw blurRad="38100" dist="38100" dir="2700000" algn="tl">
                  <a:srgbClr val="000000">
                    <a:alpha val="43137"/>
                  </a:srgbClr>
                </a:outerShdw>
              </a:effectLst>
            </a:endParaRPr>
          </a:p>
        </p:txBody>
      </p:sp>
      <p:pic>
        <p:nvPicPr>
          <p:cNvPr id="3" name="Picture 2">
            <a:extLst>
              <a:ext uri="{FF2B5EF4-FFF2-40B4-BE49-F238E27FC236}">
                <a16:creationId xmlns:a16="http://schemas.microsoft.com/office/drawing/2014/main" id="{D018B342-9652-8AEE-3AC0-F6A440494534}"/>
              </a:ext>
            </a:extLst>
          </p:cNvPr>
          <p:cNvPicPr>
            <a:picLocks noChangeAspect="1"/>
          </p:cNvPicPr>
          <p:nvPr/>
        </p:nvPicPr>
        <p:blipFill>
          <a:blip r:embed="rId2"/>
          <a:stretch>
            <a:fillRect/>
          </a:stretch>
        </p:blipFill>
        <p:spPr>
          <a:xfrm>
            <a:off x="1394073" y="920758"/>
            <a:ext cx="8916173" cy="5265876"/>
          </a:xfrm>
          <a:prstGeom prst="rect">
            <a:avLst/>
          </a:prstGeom>
        </p:spPr>
      </p:pic>
    </p:spTree>
    <p:extLst>
      <p:ext uri="{BB962C8B-B14F-4D97-AF65-F5344CB8AC3E}">
        <p14:creationId xmlns:p14="http://schemas.microsoft.com/office/powerpoint/2010/main" val="1375408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16445-8D8B-61EF-41A9-A7D6413CCC8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A99A1C-2A9F-5BB8-D107-AB3D4FA455E0}"/>
              </a:ext>
            </a:extLst>
          </p:cNvPr>
          <p:cNvSpPr txBox="1"/>
          <p:nvPr/>
        </p:nvSpPr>
        <p:spPr>
          <a:xfrm>
            <a:off x="1911927" y="74521"/>
            <a:ext cx="9034496" cy="830997"/>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SEQ TO SEQ MODEL</a:t>
            </a:r>
          </a:p>
          <a:p>
            <a:pPr algn="ctr"/>
            <a:endParaRPr lang="en-US" sz="2400" b="1" dirty="0">
              <a:solidFill>
                <a:srgbClr val="FFFF00"/>
              </a:solidFill>
              <a:effectLst>
                <a:outerShdw blurRad="38100" dist="38100" dir="2700000" algn="tl">
                  <a:srgbClr val="000000">
                    <a:alpha val="43137"/>
                  </a:srgbClr>
                </a:outerShdw>
              </a:effectLst>
            </a:endParaRPr>
          </a:p>
        </p:txBody>
      </p:sp>
      <p:pic>
        <p:nvPicPr>
          <p:cNvPr id="5" name="Picture 4">
            <a:extLst>
              <a:ext uri="{FF2B5EF4-FFF2-40B4-BE49-F238E27FC236}">
                <a16:creationId xmlns:a16="http://schemas.microsoft.com/office/drawing/2014/main" id="{F18430F4-9325-DBC1-85A2-022B7314E193}"/>
              </a:ext>
            </a:extLst>
          </p:cNvPr>
          <p:cNvPicPr>
            <a:picLocks noChangeAspect="1"/>
          </p:cNvPicPr>
          <p:nvPr/>
        </p:nvPicPr>
        <p:blipFill>
          <a:blip r:embed="rId2"/>
          <a:srcRect r="8386"/>
          <a:stretch>
            <a:fillRect/>
          </a:stretch>
        </p:blipFill>
        <p:spPr>
          <a:xfrm>
            <a:off x="1325466" y="905518"/>
            <a:ext cx="8740897" cy="1737511"/>
          </a:xfrm>
          <a:prstGeom prst="rect">
            <a:avLst/>
          </a:prstGeom>
        </p:spPr>
      </p:pic>
      <p:pic>
        <p:nvPicPr>
          <p:cNvPr id="7" name="Picture 6">
            <a:extLst>
              <a:ext uri="{FF2B5EF4-FFF2-40B4-BE49-F238E27FC236}">
                <a16:creationId xmlns:a16="http://schemas.microsoft.com/office/drawing/2014/main" id="{AC2A1CF7-F7EC-BBE9-5A1E-1FFB0601564C}"/>
              </a:ext>
            </a:extLst>
          </p:cNvPr>
          <p:cNvPicPr>
            <a:picLocks noChangeAspect="1"/>
          </p:cNvPicPr>
          <p:nvPr/>
        </p:nvPicPr>
        <p:blipFill>
          <a:blip r:embed="rId3"/>
          <a:stretch>
            <a:fillRect/>
          </a:stretch>
        </p:blipFill>
        <p:spPr>
          <a:xfrm>
            <a:off x="1325466" y="2643029"/>
            <a:ext cx="8740897" cy="3528366"/>
          </a:xfrm>
          <a:prstGeom prst="rect">
            <a:avLst/>
          </a:prstGeom>
        </p:spPr>
      </p:pic>
    </p:spTree>
    <p:extLst>
      <p:ext uri="{BB962C8B-B14F-4D97-AF65-F5344CB8AC3E}">
        <p14:creationId xmlns:p14="http://schemas.microsoft.com/office/powerpoint/2010/main" val="1463639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8AA21-47B7-02DF-2B23-5F167A6C94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F484D75-C0B3-EC19-EF35-4545F865446B}"/>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ATTENTION MECHANISM</a:t>
            </a:r>
          </a:p>
        </p:txBody>
      </p:sp>
      <p:sp>
        <p:nvSpPr>
          <p:cNvPr id="2" name="TextBox 1">
            <a:extLst>
              <a:ext uri="{FF2B5EF4-FFF2-40B4-BE49-F238E27FC236}">
                <a16:creationId xmlns:a16="http://schemas.microsoft.com/office/drawing/2014/main" id="{93FABAC7-C628-33AC-FD9D-9A1FF5231527}"/>
              </a:ext>
            </a:extLst>
          </p:cNvPr>
          <p:cNvSpPr txBox="1"/>
          <p:nvPr/>
        </p:nvSpPr>
        <p:spPr>
          <a:xfrm>
            <a:off x="516367" y="1151068"/>
            <a:ext cx="11112649" cy="4524315"/>
          </a:xfrm>
          <a:prstGeom prst="rect">
            <a:avLst/>
          </a:prstGeom>
          <a:noFill/>
        </p:spPr>
        <p:txBody>
          <a:bodyPr wrap="square" rtlCol="0">
            <a:spAutoFit/>
          </a:bodyPr>
          <a:lstStyle/>
          <a:p>
            <a:pPr marL="285750" indent="-285750">
              <a:buFont typeface="Wingdings" panose="05000000000000000000" pitchFamily="2" charset="2"/>
              <a:buChar char="q"/>
            </a:pPr>
            <a:r>
              <a:rPr lang="en-US" dirty="0">
                <a:solidFill>
                  <a:srgbClr val="FF0000"/>
                </a:solidFill>
              </a:rPr>
              <a:t>We saw how the context or thought vector from the last time step of the encoder is fed into the decoder as the initial hidden state. </a:t>
            </a:r>
          </a:p>
          <a:p>
            <a:pPr marL="285750" indent="-285750">
              <a:buFont typeface="Wingdings" panose="05000000000000000000" pitchFamily="2" charset="2"/>
              <a:buChar char="q"/>
            </a:pPr>
            <a:r>
              <a:rPr lang="en-US" b="1" dirty="0">
                <a:solidFill>
                  <a:srgbClr val="0070C0"/>
                </a:solidFill>
              </a:rPr>
              <a:t>As the context flows through the time steps on the decoder, the signal gets combined with the decoder output and progressively gets weaker and weaker</a:t>
            </a:r>
            <a:r>
              <a:rPr lang="en-US" dirty="0"/>
              <a:t>. The result is that the context does not have much effect on the later time steps in the decoder. </a:t>
            </a:r>
          </a:p>
          <a:p>
            <a:pPr marL="285750" indent="-285750">
              <a:buFont typeface="Wingdings" panose="05000000000000000000" pitchFamily="2" charset="2"/>
              <a:buChar char="q"/>
            </a:pPr>
            <a:r>
              <a:rPr lang="en-US" dirty="0"/>
              <a:t>The result is that the context does not have much effect on the later time steps in the decoder </a:t>
            </a:r>
          </a:p>
          <a:p>
            <a:pPr marL="285750" indent="-285750">
              <a:buFont typeface="Wingdings" panose="05000000000000000000" pitchFamily="2" charset="2"/>
              <a:buChar char="q"/>
            </a:pPr>
            <a:r>
              <a:rPr lang="en-US" i="1" dirty="0">
                <a:solidFill>
                  <a:srgbClr val="0070C0"/>
                </a:solidFill>
              </a:rPr>
              <a:t>The attention mechanism provides access to all encoder hidden states at every time step on the decoder. The decoder learns which part of the encoder states to pay more attention to </a:t>
            </a:r>
          </a:p>
          <a:p>
            <a:pPr marL="285750" indent="-285750">
              <a:buFont typeface="Wingdings" panose="05000000000000000000" pitchFamily="2" charset="2"/>
              <a:buChar char="q"/>
            </a:pPr>
            <a:r>
              <a:rPr lang="en-US" dirty="0"/>
              <a:t>The use of attention is not limited to seq2seq networks. For example, attention is a key component in the “Embed, Encode, Attend, Predict” formula for creating state-of-the-art deep learning models for NLP </a:t>
            </a:r>
          </a:p>
          <a:p>
            <a:pPr marL="285750" indent="-285750">
              <a:buFont typeface="Wingdings" panose="05000000000000000000" pitchFamily="2" charset="2"/>
              <a:buChar char="q"/>
            </a:pPr>
            <a:r>
              <a:rPr lang="en-US" dirty="0"/>
              <a:t>Consider an encoder-decoder architecture where the input and output time steps are denoted by indices </a:t>
            </a:r>
            <a:r>
              <a:rPr lang="en-US" i="1" dirty="0" err="1"/>
              <a:t>i</a:t>
            </a:r>
            <a:r>
              <a:rPr lang="en-US" i="1" dirty="0"/>
              <a:t> </a:t>
            </a:r>
            <a:r>
              <a:rPr lang="en-US" dirty="0"/>
              <a:t>and </a:t>
            </a:r>
            <a:r>
              <a:rPr lang="en-US" i="1" dirty="0"/>
              <a:t>j </a:t>
            </a:r>
            <a:r>
              <a:rPr lang="en-US" dirty="0"/>
              <a:t>respectively, and the </a:t>
            </a:r>
            <a:r>
              <a:rPr lang="en-US" b="1" dirty="0">
                <a:solidFill>
                  <a:srgbClr val="FF0000"/>
                </a:solidFill>
              </a:rPr>
              <a:t>hidden states on the encoder and decoder at these respective time steps are denoted by </a:t>
            </a:r>
            <a:r>
              <a:rPr lang="en-US" b="1" i="1" dirty="0">
                <a:solidFill>
                  <a:srgbClr val="FF0000"/>
                </a:solidFill>
              </a:rPr>
              <a:t>hi </a:t>
            </a:r>
            <a:r>
              <a:rPr lang="en-US" b="1" dirty="0">
                <a:solidFill>
                  <a:srgbClr val="FF0000"/>
                </a:solidFill>
              </a:rPr>
              <a:t>and </a:t>
            </a:r>
            <a:r>
              <a:rPr lang="en-US" b="1" i="1" dirty="0" err="1">
                <a:solidFill>
                  <a:srgbClr val="FF0000"/>
                </a:solidFill>
              </a:rPr>
              <a:t>sj</a:t>
            </a:r>
            <a:r>
              <a:rPr lang="en-US" dirty="0"/>
              <a:t>. Inputs to the encoder are denoted by </a:t>
            </a:r>
            <a:r>
              <a:rPr lang="en-US" i="1" dirty="0"/>
              <a:t>xi</a:t>
            </a:r>
            <a:r>
              <a:rPr lang="en-US" dirty="0"/>
              <a:t>, and outputs from the decoder are denoted by </a:t>
            </a:r>
            <a:r>
              <a:rPr lang="en-US" i="1" dirty="0" err="1"/>
              <a:t>yj</a:t>
            </a:r>
            <a:r>
              <a:rPr lang="en-US" dirty="0"/>
              <a:t>. </a:t>
            </a:r>
            <a:br>
              <a:rPr lang="en-US" dirty="0"/>
            </a:br>
            <a:br>
              <a:rPr lang="en-US" dirty="0"/>
            </a:br>
            <a:br>
              <a:rPr lang="en-US" dirty="0"/>
            </a:br>
            <a:endParaRPr lang="en-US" dirty="0"/>
          </a:p>
        </p:txBody>
      </p:sp>
      <p:pic>
        <p:nvPicPr>
          <p:cNvPr id="6" name="Picture 5">
            <a:extLst>
              <a:ext uri="{FF2B5EF4-FFF2-40B4-BE49-F238E27FC236}">
                <a16:creationId xmlns:a16="http://schemas.microsoft.com/office/drawing/2014/main" id="{0F1E1695-8B7B-4B76-2BF1-945DE8960429}"/>
              </a:ext>
            </a:extLst>
          </p:cNvPr>
          <p:cNvPicPr>
            <a:picLocks noChangeAspect="1"/>
          </p:cNvPicPr>
          <p:nvPr/>
        </p:nvPicPr>
        <p:blipFill>
          <a:blip r:embed="rId3"/>
          <a:stretch>
            <a:fillRect/>
          </a:stretch>
        </p:blipFill>
        <p:spPr>
          <a:xfrm>
            <a:off x="4868957" y="4985538"/>
            <a:ext cx="2611244" cy="1535183"/>
          </a:xfrm>
          <a:prstGeom prst="rect">
            <a:avLst/>
          </a:prstGeom>
        </p:spPr>
      </p:pic>
    </p:spTree>
    <p:extLst>
      <p:ext uri="{BB962C8B-B14F-4D97-AF65-F5344CB8AC3E}">
        <p14:creationId xmlns:p14="http://schemas.microsoft.com/office/powerpoint/2010/main" val="17855558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227FB-6D9B-B131-B421-FCF263C34A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0076A67-E513-991B-CDFD-5DD4716BE753}"/>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ATTENTION MECHANISM</a:t>
            </a:r>
          </a:p>
        </p:txBody>
      </p:sp>
      <p:sp>
        <p:nvSpPr>
          <p:cNvPr id="2" name="TextBox 1">
            <a:extLst>
              <a:ext uri="{FF2B5EF4-FFF2-40B4-BE49-F238E27FC236}">
                <a16:creationId xmlns:a16="http://schemas.microsoft.com/office/drawing/2014/main" id="{B277593A-9DB2-FEF6-DA19-19FBFA35C817}"/>
              </a:ext>
            </a:extLst>
          </p:cNvPr>
          <p:cNvSpPr txBox="1"/>
          <p:nvPr/>
        </p:nvSpPr>
        <p:spPr>
          <a:xfrm>
            <a:off x="516367" y="1151068"/>
            <a:ext cx="11112649" cy="3970318"/>
          </a:xfrm>
          <a:prstGeom prst="rect">
            <a:avLst/>
          </a:prstGeom>
          <a:noFill/>
        </p:spPr>
        <p:txBody>
          <a:bodyPr wrap="square" rtlCol="0">
            <a:spAutoFit/>
          </a:bodyPr>
          <a:lstStyle/>
          <a:p>
            <a:pPr marL="285750" indent="-285750">
              <a:buFont typeface="Wingdings" panose="05000000000000000000" pitchFamily="2" charset="2"/>
              <a:buChar char="q"/>
            </a:pPr>
            <a:r>
              <a:rPr lang="en-US" dirty="0"/>
              <a:t>Different attention mechanisms have been proposed including:-</a:t>
            </a:r>
          </a:p>
          <a:p>
            <a:pPr marL="285750" indent="-285750">
              <a:buFont typeface="Wingdings" panose="05000000000000000000" pitchFamily="2" charset="2"/>
              <a:buChar char="q"/>
            </a:pPr>
            <a:r>
              <a:rPr lang="en-US" b="1" u="sng" dirty="0"/>
              <a:t>Content Based Attention</a:t>
            </a:r>
          </a:p>
          <a:p>
            <a:pPr marL="285750" indent="-285750">
              <a:buFont typeface="Wingdings" panose="05000000000000000000" pitchFamily="2" charset="2"/>
              <a:buChar char="q"/>
            </a:pPr>
            <a:endParaRPr lang="en-US" b="1" u="sng" dirty="0"/>
          </a:p>
          <a:p>
            <a:pPr marL="285750" indent="-285750">
              <a:buFont typeface="Wingdings" panose="05000000000000000000" pitchFamily="2" charset="2"/>
              <a:buChar char="q"/>
            </a:pPr>
            <a:endParaRPr lang="en-US" b="1" u="sng" dirty="0"/>
          </a:p>
          <a:p>
            <a:pPr marL="285750" indent="-285750">
              <a:buFont typeface="Wingdings" panose="05000000000000000000" pitchFamily="2" charset="2"/>
              <a:buChar char="q"/>
            </a:pPr>
            <a:r>
              <a:rPr lang="en-US" b="1" u="sng" dirty="0"/>
              <a:t>Additive </a:t>
            </a:r>
            <a:r>
              <a:rPr lang="en-US" u="sng" dirty="0"/>
              <a:t>or </a:t>
            </a:r>
            <a:r>
              <a:rPr lang="en-US" b="1" u="sng" dirty="0" err="1"/>
              <a:t>Bahdanau</a:t>
            </a:r>
            <a:r>
              <a:rPr lang="en-US" b="1" u="sng" dirty="0"/>
              <a:t> attention</a:t>
            </a:r>
            <a:r>
              <a:rPr lang="en-US" u="sng" dirty="0"/>
              <a:t> </a:t>
            </a:r>
          </a:p>
          <a:p>
            <a:pPr marL="285750" indent="-285750">
              <a:buFont typeface="Wingdings" panose="05000000000000000000" pitchFamily="2" charset="2"/>
              <a:buChar char="q"/>
            </a:pPr>
            <a:endParaRPr lang="en-US" u="sng" dirty="0"/>
          </a:p>
          <a:p>
            <a:pPr marL="285750" indent="-285750">
              <a:buFont typeface="Wingdings" panose="05000000000000000000" pitchFamily="2" charset="2"/>
              <a:buChar char="q"/>
            </a:pPr>
            <a:endParaRPr lang="en-US" u="sng" dirty="0"/>
          </a:p>
          <a:p>
            <a:pPr marL="285750" indent="-285750">
              <a:buFont typeface="Wingdings" panose="05000000000000000000" pitchFamily="2" charset="2"/>
              <a:buChar char="q"/>
            </a:pPr>
            <a:endParaRPr lang="en-US" u="sng" dirty="0"/>
          </a:p>
          <a:p>
            <a:pPr marL="285750" indent="-285750">
              <a:buFont typeface="Wingdings" panose="05000000000000000000" pitchFamily="2" charset="2"/>
              <a:buChar char="q"/>
            </a:pPr>
            <a:r>
              <a:rPr lang="en-US" b="1" dirty="0"/>
              <a:t>Multiplicative </a:t>
            </a:r>
            <a:r>
              <a:rPr lang="en-US" dirty="0"/>
              <a:t>or </a:t>
            </a:r>
            <a:r>
              <a:rPr lang="en-US" b="1" dirty="0"/>
              <a:t>Luong’s attention</a:t>
            </a:r>
            <a:r>
              <a:rPr lang="en-US" dirty="0"/>
              <a:t> </a:t>
            </a:r>
            <a:br>
              <a:rPr lang="en-US" dirty="0"/>
            </a:br>
            <a:br>
              <a:rPr lang="en-US" dirty="0"/>
            </a:br>
            <a:endParaRPr lang="en-US" b="1" u="sng" dirty="0"/>
          </a:p>
          <a:p>
            <a:pPr marL="285750" indent="-285750">
              <a:buFont typeface="Wingdings" panose="05000000000000000000" pitchFamily="2" charset="2"/>
              <a:buChar char="q"/>
            </a:pPr>
            <a:r>
              <a:rPr lang="en-US" dirty="0"/>
              <a:t> </a:t>
            </a:r>
            <a:r>
              <a:rPr lang="en-US" b="1" dirty="0"/>
              <a:t>Scaled </a:t>
            </a:r>
            <a:r>
              <a:rPr lang="en-US" b="1" dirty="0" err="1"/>
              <a:t>Dotproduct</a:t>
            </a:r>
            <a:r>
              <a:rPr lang="en-US" b="1" dirty="0"/>
              <a:t> Attention</a:t>
            </a:r>
            <a:r>
              <a:rPr lang="en-US" dirty="0"/>
              <a:t> </a:t>
            </a:r>
            <a:br>
              <a:rPr lang="en-US" dirty="0"/>
            </a:br>
            <a:br>
              <a:rPr lang="en-US" dirty="0"/>
            </a:br>
            <a:endParaRPr lang="en-US" dirty="0"/>
          </a:p>
        </p:txBody>
      </p:sp>
      <p:pic>
        <p:nvPicPr>
          <p:cNvPr id="5" name="Picture 4">
            <a:extLst>
              <a:ext uri="{FF2B5EF4-FFF2-40B4-BE49-F238E27FC236}">
                <a16:creationId xmlns:a16="http://schemas.microsoft.com/office/drawing/2014/main" id="{F0C0F339-B222-C05B-5DDC-82755A7090AA}"/>
              </a:ext>
            </a:extLst>
          </p:cNvPr>
          <p:cNvPicPr>
            <a:picLocks noChangeAspect="1"/>
          </p:cNvPicPr>
          <p:nvPr/>
        </p:nvPicPr>
        <p:blipFill>
          <a:blip r:embed="rId3"/>
          <a:stretch>
            <a:fillRect/>
          </a:stretch>
        </p:blipFill>
        <p:spPr>
          <a:xfrm>
            <a:off x="4668734" y="1889732"/>
            <a:ext cx="1950889" cy="403895"/>
          </a:xfrm>
          <a:prstGeom prst="rect">
            <a:avLst/>
          </a:prstGeom>
        </p:spPr>
      </p:pic>
      <p:pic>
        <p:nvPicPr>
          <p:cNvPr id="8" name="Picture 7">
            <a:extLst>
              <a:ext uri="{FF2B5EF4-FFF2-40B4-BE49-F238E27FC236}">
                <a16:creationId xmlns:a16="http://schemas.microsoft.com/office/drawing/2014/main" id="{0D765F8E-099D-6ADD-7A86-0441EB17DE37}"/>
              </a:ext>
            </a:extLst>
          </p:cNvPr>
          <p:cNvPicPr>
            <a:picLocks noChangeAspect="1"/>
          </p:cNvPicPr>
          <p:nvPr/>
        </p:nvPicPr>
        <p:blipFill>
          <a:blip r:embed="rId4"/>
          <a:stretch>
            <a:fillRect/>
          </a:stretch>
        </p:blipFill>
        <p:spPr>
          <a:xfrm>
            <a:off x="4529756" y="2705703"/>
            <a:ext cx="2530059" cy="548688"/>
          </a:xfrm>
          <a:prstGeom prst="rect">
            <a:avLst/>
          </a:prstGeom>
        </p:spPr>
      </p:pic>
      <p:pic>
        <p:nvPicPr>
          <p:cNvPr id="10" name="Picture 9">
            <a:extLst>
              <a:ext uri="{FF2B5EF4-FFF2-40B4-BE49-F238E27FC236}">
                <a16:creationId xmlns:a16="http://schemas.microsoft.com/office/drawing/2014/main" id="{A54272EE-B88D-428D-3AF4-29D02FC310E7}"/>
              </a:ext>
            </a:extLst>
          </p:cNvPr>
          <p:cNvPicPr>
            <a:picLocks noChangeAspect="1"/>
          </p:cNvPicPr>
          <p:nvPr/>
        </p:nvPicPr>
        <p:blipFill>
          <a:blip r:embed="rId5"/>
          <a:stretch>
            <a:fillRect/>
          </a:stretch>
        </p:blipFill>
        <p:spPr>
          <a:xfrm>
            <a:off x="5322056" y="3778540"/>
            <a:ext cx="1501270" cy="571550"/>
          </a:xfrm>
          <a:prstGeom prst="rect">
            <a:avLst/>
          </a:prstGeom>
        </p:spPr>
      </p:pic>
      <p:pic>
        <p:nvPicPr>
          <p:cNvPr id="12" name="Picture 11">
            <a:extLst>
              <a:ext uri="{FF2B5EF4-FFF2-40B4-BE49-F238E27FC236}">
                <a16:creationId xmlns:a16="http://schemas.microsoft.com/office/drawing/2014/main" id="{408EFF22-A175-4DE4-C4C5-3007628D5C9E}"/>
              </a:ext>
            </a:extLst>
          </p:cNvPr>
          <p:cNvPicPr>
            <a:picLocks noChangeAspect="1"/>
          </p:cNvPicPr>
          <p:nvPr/>
        </p:nvPicPr>
        <p:blipFill>
          <a:blip r:embed="rId6"/>
          <a:stretch>
            <a:fillRect/>
          </a:stretch>
        </p:blipFill>
        <p:spPr>
          <a:xfrm>
            <a:off x="5322056" y="4656525"/>
            <a:ext cx="1348857" cy="929721"/>
          </a:xfrm>
          <a:prstGeom prst="rect">
            <a:avLst/>
          </a:prstGeom>
        </p:spPr>
      </p:pic>
    </p:spTree>
    <p:extLst>
      <p:ext uri="{BB962C8B-B14F-4D97-AF65-F5344CB8AC3E}">
        <p14:creationId xmlns:p14="http://schemas.microsoft.com/office/powerpoint/2010/main" val="2386906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B5981-DBBB-F7F5-2381-6DC53A478A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65930B-421D-E2DE-D7F8-2E96A46EF0C6}"/>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ATTENTION MECHANISM</a:t>
            </a:r>
          </a:p>
        </p:txBody>
      </p:sp>
      <p:pic>
        <p:nvPicPr>
          <p:cNvPr id="6" name="Picture 5">
            <a:extLst>
              <a:ext uri="{FF2B5EF4-FFF2-40B4-BE49-F238E27FC236}">
                <a16:creationId xmlns:a16="http://schemas.microsoft.com/office/drawing/2014/main" id="{6FCA14F5-2247-DD88-73B6-12F2A039E403}"/>
              </a:ext>
            </a:extLst>
          </p:cNvPr>
          <p:cNvPicPr>
            <a:picLocks noChangeAspect="1"/>
          </p:cNvPicPr>
          <p:nvPr/>
        </p:nvPicPr>
        <p:blipFill>
          <a:blip r:embed="rId3"/>
          <a:stretch>
            <a:fillRect/>
          </a:stretch>
        </p:blipFill>
        <p:spPr>
          <a:xfrm>
            <a:off x="1649344" y="968065"/>
            <a:ext cx="8893311" cy="2834886"/>
          </a:xfrm>
          <a:prstGeom prst="rect">
            <a:avLst/>
          </a:prstGeom>
        </p:spPr>
      </p:pic>
      <p:pic>
        <p:nvPicPr>
          <p:cNvPr id="9" name="Picture 8">
            <a:extLst>
              <a:ext uri="{FF2B5EF4-FFF2-40B4-BE49-F238E27FC236}">
                <a16:creationId xmlns:a16="http://schemas.microsoft.com/office/drawing/2014/main" id="{93D690D4-7F5D-6F68-BFFE-202D29A99EB2}"/>
              </a:ext>
            </a:extLst>
          </p:cNvPr>
          <p:cNvPicPr>
            <a:picLocks noChangeAspect="1"/>
          </p:cNvPicPr>
          <p:nvPr/>
        </p:nvPicPr>
        <p:blipFill>
          <a:blip r:embed="rId4"/>
          <a:stretch>
            <a:fillRect/>
          </a:stretch>
        </p:blipFill>
        <p:spPr>
          <a:xfrm>
            <a:off x="2129319" y="3802951"/>
            <a:ext cx="8817104" cy="2606266"/>
          </a:xfrm>
          <a:prstGeom prst="rect">
            <a:avLst/>
          </a:prstGeom>
        </p:spPr>
      </p:pic>
    </p:spTree>
    <p:extLst>
      <p:ext uri="{BB962C8B-B14F-4D97-AF65-F5344CB8AC3E}">
        <p14:creationId xmlns:p14="http://schemas.microsoft.com/office/powerpoint/2010/main" val="1892170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29276-CC14-4004-B889-23BCD1038FB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C4712E-E8A4-EC70-ECF9-B16459A99917}"/>
              </a:ext>
            </a:extLst>
          </p:cNvPr>
          <p:cNvSpPr txBox="1"/>
          <p:nvPr/>
        </p:nvSpPr>
        <p:spPr>
          <a:xfrm>
            <a:off x="1911927" y="74521"/>
            <a:ext cx="9034496" cy="461665"/>
          </a:xfrm>
          <a:prstGeom prst="rect">
            <a:avLst/>
          </a:prstGeom>
          <a:noFill/>
        </p:spPr>
        <p:txBody>
          <a:bodyPr wrap="square" rtlCol="0">
            <a:spAutoFit/>
          </a:bodyPr>
          <a:lstStyle/>
          <a:p>
            <a:pPr algn="ctr"/>
            <a:r>
              <a:rPr lang="en-US" sz="2400" b="1" dirty="0">
                <a:solidFill>
                  <a:srgbClr val="FFFF00"/>
                </a:solidFill>
                <a:effectLst>
                  <a:outerShdw blurRad="38100" dist="38100" dir="2700000" algn="tl">
                    <a:srgbClr val="000000">
                      <a:alpha val="43137"/>
                    </a:srgbClr>
                  </a:outerShdw>
                </a:effectLst>
              </a:rPr>
              <a:t>ATTENTION MECHANISM</a:t>
            </a:r>
          </a:p>
        </p:txBody>
      </p:sp>
      <p:pic>
        <p:nvPicPr>
          <p:cNvPr id="3" name="Picture 2">
            <a:extLst>
              <a:ext uri="{FF2B5EF4-FFF2-40B4-BE49-F238E27FC236}">
                <a16:creationId xmlns:a16="http://schemas.microsoft.com/office/drawing/2014/main" id="{AD2D3373-5B7F-65F0-85F1-68CF90096568}"/>
              </a:ext>
            </a:extLst>
          </p:cNvPr>
          <p:cNvPicPr>
            <a:picLocks noChangeAspect="1"/>
          </p:cNvPicPr>
          <p:nvPr/>
        </p:nvPicPr>
        <p:blipFill>
          <a:blip r:embed="rId3"/>
          <a:stretch>
            <a:fillRect/>
          </a:stretch>
        </p:blipFill>
        <p:spPr>
          <a:xfrm>
            <a:off x="607771" y="1156670"/>
            <a:ext cx="5718712" cy="4554727"/>
          </a:xfrm>
          <a:prstGeom prst="rect">
            <a:avLst/>
          </a:prstGeom>
        </p:spPr>
      </p:pic>
      <p:pic>
        <p:nvPicPr>
          <p:cNvPr id="7" name="Picture 6">
            <a:extLst>
              <a:ext uri="{FF2B5EF4-FFF2-40B4-BE49-F238E27FC236}">
                <a16:creationId xmlns:a16="http://schemas.microsoft.com/office/drawing/2014/main" id="{F0D48B44-418E-B2BD-2DD3-2D39BAF63F9A}"/>
              </a:ext>
            </a:extLst>
          </p:cNvPr>
          <p:cNvPicPr>
            <a:picLocks noChangeAspect="1"/>
          </p:cNvPicPr>
          <p:nvPr/>
        </p:nvPicPr>
        <p:blipFill>
          <a:blip r:embed="rId4"/>
          <a:stretch>
            <a:fillRect/>
          </a:stretch>
        </p:blipFill>
        <p:spPr>
          <a:xfrm>
            <a:off x="6549160" y="1156670"/>
            <a:ext cx="5311600" cy="2522439"/>
          </a:xfrm>
          <a:prstGeom prst="rect">
            <a:avLst/>
          </a:prstGeom>
        </p:spPr>
      </p:pic>
      <p:pic>
        <p:nvPicPr>
          <p:cNvPr id="10" name="Picture 9">
            <a:extLst>
              <a:ext uri="{FF2B5EF4-FFF2-40B4-BE49-F238E27FC236}">
                <a16:creationId xmlns:a16="http://schemas.microsoft.com/office/drawing/2014/main" id="{B4031905-837A-72E5-FD51-1B8D66A5FE76}"/>
              </a:ext>
            </a:extLst>
          </p:cNvPr>
          <p:cNvPicPr>
            <a:picLocks noChangeAspect="1"/>
          </p:cNvPicPr>
          <p:nvPr/>
        </p:nvPicPr>
        <p:blipFill>
          <a:blip r:embed="rId5"/>
          <a:stretch>
            <a:fillRect/>
          </a:stretch>
        </p:blipFill>
        <p:spPr>
          <a:xfrm>
            <a:off x="7852753" y="4779965"/>
            <a:ext cx="2446232" cy="396274"/>
          </a:xfrm>
          <a:prstGeom prst="rect">
            <a:avLst/>
          </a:prstGeom>
        </p:spPr>
      </p:pic>
    </p:spTree>
    <p:extLst>
      <p:ext uri="{BB962C8B-B14F-4D97-AF65-F5344CB8AC3E}">
        <p14:creationId xmlns:p14="http://schemas.microsoft.com/office/powerpoint/2010/main" val="13964121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1364</TotalTime>
  <Words>4560</Words>
  <Application>Microsoft Office PowerPoint</Application>
  <PresentationFormat>Widescreen</PresentationFormat>
  <Paragraphs>276</Paragraphs>
  <Slides>43</Slides>
  <Notes>5</Notes>
  <HiddenSlides>1</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43</vt:i4>
      </vt:variant>
    </vt:vector>
  </HeadingPairs>
  <TitlesOfParts>
    <vt:vector size="53" baseType="lpstr">
      <vt:lpstr>Arial</vt:lpstr>
      <vt:lpstr>Calibri</vt:lpstr>
      <vt:lpstr>Calibri Light</vt:lpstr>
      <vt:lpstr>Cambria Math</vt:lpstr>
      <vt:lpstr>MinionPro-It</vt:lpstr>
      <vt:lpstr>MinionPro-Regular</vt:lpstr>
      <vt:lpstr>UbuntuMono-Regular</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Usman Khan</dc:creator>
  <cp:lastModifiedBy>Usman Khan</cp:lastModifiedBy>
  <cp:revision>151</cp:revision>
  <dcterms:created xsi:type="dcterms:W3CDTF">2026-05-10T03:38:28Z</dcterms:created>
  <dcterms:modified xsi:type="dcterms:W3CDTF">2026-05-23T16:59:03Z</dcterms:modified>
</cp:coreProperties>
</file>