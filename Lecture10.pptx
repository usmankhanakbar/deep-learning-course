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3"/>
  </p:notesMasterIdLst>
  <p:sldIdLst>
    <p:sldId id="258" r:id="rId3"/>
    <p:sldId id="461" r:id="rId4"/>
    <p:sldId id="462" r:id="rId5"/>
    <p:sldId id="463" r:id="rId6"/>
    <p:sldId id="464" r:id="rId7"/>
    <p:sldId id="465" r:id="rId8"/>
    <p:sldId id="466" r:id="rId9"/>
    <p:sldId id="467" r:id="rId10"/>
    <p:sldId id="471" r:id="rId11"/>
    <p:sldId id="472" r:id="rId12"/>
    <p:sldId id="468" r:id="rId13"/>
    <p:sldId id="469" r:id="rId14"/>
    <p:sldId id="473" r:id="rId15"/>
    <p:sldId id="447" r:id="rId16"/>
    <p:sldId id="451" r:id="rId17"/>
    <p:sldId id="456" r:id="rId18"/>
    <p:sldId id="457" r:id="rId19"/>
    <p:sldId id="458" r:id="rId20"/>
    <p:sldId id="459" r:id="rId21"/>
    <p:sldId id="485" r:id="rId22"/>
    <p:sldId id="486" r:id="rId23"/>
    <p:sldId id="481" r:id="rId24"/>
    <p:sldId id="482" r:id="rId25"/>
    <p:sldId id="452" r:id="rId26"/>
    <p:sldId id="453" r:id="rId27"/>
    <p:sldId id="454" r:id="rId28"/>
    <p:sldId id="455" r:id="rId29"/>
    <p:sldId id="484" r:id="rId30"/>
    <p:sldId id="460" r:id="rId31"/>
    <p:sldId id="480" r:id="rId32"/>
    <p:sldId id="474" r:id="rId33"/>
    <p:sldId id="478" r:id="rId34"/>
    <p:sldId id="475" r:id="rId35"/>
    <p:sldId id="479" r:id="rId36"/>
    <p:sldId id="477" r:id="rId37"/>
    <p:sldId id="476" r:id="rId38"/>
    <p:sldId id="487" r:id="rId39"/>
    <p:sldId id="488" r:id="rId40"/>
    <p:sldId id="489" r:id="rId41"/>
    <p:sldId id="49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527" autoAdjust="0"/>
    <p:restoredTop sz="94660"/>
  </p:normalViewPr>
  <p:slideViewPr>
    <p:cSldViewPr snapToGrid="0">
      <p:cViewPr varScale="1">
        <p:scale>
          <a:sx n="79" d="100"/>
          <a:sy n="79" d="100"/>
        </p:scale>
        <p:origin x="15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765890-AE54-45E7-9257-D8F87288A240}" type="datetimeFigureOut">
              <a:rPr lang="en-US" smtClean="0"/>
              <a:t>5/29/2026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24084A-59D2-4EF1-BC03-C2AC9566DB14}" type="slidenum">
              <a:rPr lang="en-US" smtClean="0"/>
              <a:t>‹#›</a:t>
            </a:fld>
            <a:endParaRPr lang="en-US"/>
          </a:p>
        </p:txBody>
      </p:sp>
    </p:spTree>
    <p:extLst>
      <p:ext uri="{BB962C8B-B14F-4D97-AF65-F5344CB8AC3E}">
        <p14:creationId xmlns:p14="http://schemas.microsoft.com/office/powerpoint/2010/main" val="3317321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def </a:t>
            </a:r>
            <a:r>
              <a:rPr lang="en-US" sz="1200" b="0" i="0" kern="1200" dirty="0" err="1">
                <a:solidFill>
                  <a:schemeClr val="tx1"/>
                </a:solidFill>
                <a:effectLst/>
                <a:latin typeface="+mn-lt"/>
                <a:ea typeface="+mn-ea"/>
                <a:cs typeface="+mn-cs"/>
              </a:rPr>
              <a:t>download_and_read</a:t>
            </a:r>
            <a:r>
              <a:rPr lang="en-US" sz="1200" b="0" i="0" kern="1200" dirty="0">
                <a:solidFill>
                  <a:schemeClr val="tx1"/>
                </a:solidFill>
                <a:effectLst/>
                <a:latin typeface="+mn-lt"/>
                <a:ea typeface="+mn-ea"/>
                <a:cs typeface="+mn-cs"/>
              </a:rPr>
              <a:t>():</a:t>
            </a:r>
          </a:p>
          <a:p>
            <a:r>
              <a:rPr lang="en-US" sz="1200" b="0" i="0" kern="1200" dirty="0" err="1">
                <a:solidFill>
                  <a:schemeClr val="tx1"/>
                </a:solidFill>
                <a:effectLst/>
                <a:latin typeface="+mn-lt"/>
                <a:ea typeface="+mn-ea"/>
                <a:cs typeface="+mn-cs"/>
              </a:rPr>
              <a:t>en_sents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fr_sents_in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fr_sents_out</a:t>
            </a:r>
            <a:r>
              <a:rPr lang="en-US" sz="1200" b="0" i="0" kern="1200" dirty="0">
                <a:solidFill>
                  <a:schemeClr val="tx1"/>
                </a:solidFill>
                <a:effectLst/>
                <a:latin typeface="+mn-lt"/>
                <a:ea typeface="+mn-ea"/>
                <a:cs typeface="+mn-cs"/>
              </a:rPr>
              <a:t> = [], [], [] </a:t>
            </a:r>
            <a:r>
              <a:rPr lang="en-US" sz="1200" b="0" i="0" kern="1200" dirty="0" err="1">
                <a:solidFill>
                  <a:schemeClr val="tx1"/>
                </a:solidFill>
                <a:effectLst/>
                <a:latin typeface="+mn-lt"/>
                <a:ea typeface="+mn-ea"/>
                <a:cs typeface="+mn-cs"/>
              </a:rPr>
              <a:t>local_file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os.path.join</a:t>
            </a:r>
            <a:r>
              <a:rPr lang="en-US" sz="1200" b="0" i="0" kern="1200" dirty="0">
                <a:solidFill>
                  <a:schemeClr val="tx1"/>
                </a:solidFill>
                <a:effectLst/>
                <a:latin typeface="+mn-lt"/>
                <a:ea typeface="+mn-ea"/>
                <a:cs typeface="+mn-cs"/>
              </a:rPr>
              <a:t>("datasets", "fra.txt")</a:t>
            </a:r>
          </a:p>
          <a:p>
            <a:r>
              <a:rPr lang="en-US" sz="1200" b="0" i="0" kern="1200" dirty="0">
                <a:solidFill>
                  <a:schemeClr val="tx1"/>
                </a:solidFill>
                <a:effectLst/>
                <a:latin typeface="+mn-lt"/>
                <a:ea typeface="+mn-ea"/>
                <a:cs typeface="+mn-cs"/>
              </a:rPr>
              <a:t>with open(</a:t>
            </a:r>
            <a:r>
              <a:rPr lang="en-US" sz="1200" b="0" i="0" kern="1200" dirty="0" err="1">
                <a:solidFill>
                  <a:schemeClr val="tx1"/>
                </a:solidFill>
                <a:effectLst/>
                <a:latin typeface="+mn-lt"/>
                <a:ea typeface="+mn-ea"/>
                <a:cs typeface="+mn-cs"/>
              </a:rPr>
              <a:t>local_file</a:t>
            </a:r>
            <a:r>
              <a:rPr lang="en-US" sz="1200" b="0" i="0" kern="1200" dirty="0">
                <a:solidFill>
                  <a:schemeClr val="tx1"/>
                </a:solidFill>
                <a:effectLst/>
                <a:latin typeface="+mn-lt"/>
                <a:ea typeface="+mn-ea"/>
                <a:cs typeface="+mn-cs"/>
              </a:rPr>
              <a:t>, "r") as fin: for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line in enumerate(fin):</a:t>
            </a:r>
          </a:p>
          <a:p>
            <a:r>
              <a:rPr lang="en-US" sz="1200" b="0" i="0" kern="1200" dirty="0" err="1">
                <a:solidFill>
                  <a:schemeClr val="tx1"/>
                </a:solidFill>
                <a:effectLst/>
                <a:latin typeface="+mn-lt"/>
                <a:ea typeface="+mn-ea"/>
                <a:cs typeface="+mn-cs"/>
              </a:rPr>
              <a:t>en_sent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fr_sent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line.strip</a:t>
            </a:r>
            <a:r>
              <a:rPr lang="en-US" sz="1200" b="0" i="0" kern="1200" dirty="0">
                <a:solidFill>
                  <a:schemeClr val="tx1"/>
                </a:solidFill>
                <a:effectLst/>
                <a:latin typeface="+mn-lt"/>
                <a:ea typeface="+mn-ea"/>
                <a:cs typeface="+mn-cs"/>
              </a:rPr>
              <a:t>().split('\t')</a:t>
            </a:r>
          </a:p>
          <a:p>
            <a:r>
              <a:rPr lang="en-US" sz="1200" b="0" i="0" kern="1200" dirty="0" err="1">
                <a:solidFill>
                  <a:schemeClr val="tx1"/>
                </a:solidFill>
                <a:effectLst/>
                <a:latin typeface="+mn-lt"/>
                <a:ea typeface="+mn-ea"/>
                <a:cs typeface="+mn-cs"/>
              </a:rPr>
              <a:t>en_sent</a:t>
            </a:r>
            <a:r>
              <a:rPr lang="en-US" sz="1200" b="0" i="0" kern="1200" dirty="0">
                <a:solidFill>
                  <a:schemeClr val="tx1"/>
                </a:solidFill>
                <a:effectLst/>
                <a:latin typeface="+mn-lt"/>
                <a:ea typeface="+mn-ea"/>
                <a:cs typeface="+mn-cs"/>
              </a:rPr>
              <a:t> = [w for w in </a:t>
            </a:r>
            <a:r>
              <a:rPr lang="en-US" sz="1200" b="0" i="0" kern="1200" dirty="0" err="1">
                <a:solidFill>
                  <a:schemeClr val="tx1"/>
                </a:solidFill>
                <a:effectLst/>
                <a:latin typeface="+mn-lt"/>
                <a:ea typeface="+mn-ea"/>
                <a:cs typeface="+mn-cs"/>
              </a:rPr>
              <a:t>preprocess_sentence</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en_sent</a:t>
            </a:r>
            <a:r>
              <a:rPr lang="en-US" sz="1200" b="0" i="0" kern="1200" dirty="0">
                <a:solidFill>
                  <a:schemeClr val="tx1"/>
                </a:solidFill>
                <a:effectLst/>
                <a:latin typeface="+mn-lt"/>
                <a:ea typeface="+mn-ea"/>
                <a:cs typeface="+mn-cs"/>
              </a:rPr>
              <a:t>).split()] </a:t>
            </a:r>
            <a:r>
              <a:rPr lang="en-US" sz="1200" b="0" i="0" kern="1200" dirty="0" err="1">
                <a:solidFill>
                  <a:schemeClr val="tx1"/>
                </a:solidFill>
                <a:effectLst/>
                <a:latin typeface="+mn-lt"/>
                <a:ea typeface="+mn-ea"/>
                <a:cs typeface="+mn-cs"/>
              </a:rPr>
              <a:t>fr_sent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preprocess_sentence</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fr_sent</a:t>
            </a:r>
            <a:r>
              <a:rPr lang="en-US" sz="1200" b="0" i="0" kern="1200" dirty="0">
                <a:solidFill>
                  <a:schemeClr val="tx1"/>
                </a:solidFill>
                <a:effectLst/>
                <a:latin typeface="+mn-lt"/>
                <a:ea typeface="+mn-ea"/>
                <a:cs typeface="+mn-cs"/>
              </a:rPr>
              <a:t>)</a:t>
            </a:r>
          </a:p>
          <a:p>
            <a:r>
              <a:rPr lang="en-US" sz="1200" b="0" i="0" kern="1200" dirty="0" err="1">
                <a:solidFill>
                  <a:schemeClr val="tx1"/>
                </a:solidFill>
                <a:effectLst/>
                <a:latin typeface="+mn-lt"/>
                <a:ea typeface="+mn-ea"/>
                <a:cs typeface="+mn-cs"/>
              </a:rPr>
              <a:t>fr_sent_in</a:t>
            </a:r>
            <a:r>
              <a:rPr lang="en-US" sz="1200" b="0" i="0" kern="1200" dirty="0">
                <a:solidFill>
                  <a:schemeClr val="tx1"/>
                </a:solidFill>
                <a:effectLst/>
                <a:latin typeface="+mn-lt"/>
                <a:ea typeface="+mn-ea"/>
                <a:cs typeface="+mn-cs"/>
              </a:rPr>
              <a:t> = [w for w in ("BOS " + </a:t>
            </a:r>
            <a:r>
              <a:rPr lang="en-US" sz="1200" b="0" i="0" kern="1200" dirty="0" err="1">
                <a:solidFill>
                  <a:schemeClr val="tx1"/>
                </a:solidFill>
                <a:effectLst/>
                <a:latin typeface="+mn-lt"/>
                <a:ea typeface="+mn-ea"/>
                <a:cs typeface="+mn-cs"/>
              </a:rPr>
              <a:t>fr_sent</a:t>
            </a:r>
            <a:r>
              <a:rPr lang="en-US" sz="1200" b="0" i="0" kern="1200" dirty="0">
                <a:solidFill>
                  <a:schemeClr val="tx1"/>
                </a:solidFill>
                <a:effectLst/>
                <a:latin typeface="+mn-lt"/>
                <a:ea typeface="+mn-ea"/>
                <a:cs typeface="+mn-cs"/>
              </a:rPr>
              <a:t>).split()] </a:t>
            </a:r>
            <a:r>
              <a:rPr lang="en-US" sz="1200" b="0" i="0" kern="1200" dirty="0" err="1">
                <a:solidFill>
                  <a:schemeClr val="tx1"/>
                </a:solidFill>
                <a:effectLst/>
                <a:latin typeface="+mn-lt"/>
                <a:ea typeface="+mn-ea"/>
                <a:cs typeface="+mn-cs"/>
              </a:rPr>
              <a:t>fr_sent_out</a:t>
            </a:r>
            <a:r>
              <a:rPr lang="en-US" sz="1200" b="0" i="0" kern="1200" dirty="0">
                <a:solidFill>
                  <a:schemeClr val="tx1"/>
                </a:solidFill>
                <a:effectLst/>
                <a:latin typeface="+mn-lt"/>
                <a:ea typeface="+mn-ea"/>
                <a:cs typeface="+mn-cs"/>
              </a:rPr>
              <a:t> = [w for w in (</a:t>
            </a:r>
            <a:r>
              <a:rPr lang="en-US" sz="1200" b="0" i="0" kern="1200" dirty="0" err="1">
                <a:solidFill>
                  <a:schemeClr val="tx1"/>
                </a:solidFill>
                <a:effectLst/>
                <a:latin typeface="+mn-lt"/>
                <a:ea typeface="+mn-ea"/>
                <a:cs typeface="+mn-cs"/>
              </a:rPr>
              <a:t>fr_sent</a:t>
            </a:r>
            <a:r>
              <a:rPr lang="en-US" sz="1200" b="0" i="0" kern="1200" dirty="0">
                <a:solidFill>
                  <a:schemeClr val="tx1"/>
                </a:solidFill>
                <a:effectLst/>
                <a:latin typeface="+mn-lt"/>
                <a:ea typeface="+mn-ea"/>
                <a:cs typeface="+mn-cs"/>
              </a:rPr>
              <a:t> + " EOS").split()] </a:t>
            </a:r>
            <a:r>
              <a:rPr lang="en-US" sz="1200" b="0" i="0" kern="1200" dirty="0" err="1">
                <a:solidFill>
                  <a:schemeClr val="tx1"/>
                </a:solidFill>
                <a:effectLst/>
                <a:latin typeface="+mn-lt"/>
                <a:ea typeface="+mn-ea"/>
                <a:cs typeface="+mn-cs"/>
              </a:rPr>
              <a:t>en_sents.append</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en_sent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fr_sents_in.append</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fr_sent_in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fr_sents_out.append</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fr_sent_out</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if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&gt;= </a:t>
            </a:r>
            <a:r>
              <a:rPr lang="en-US" sz="1200" b="0" i="0" kern="1200" dirty="0" err="1">
                <a:solidFill>
                  <a:schemeClr val="tx1"/>
                </a:solidFill>
                <a:effectLst/>
                <a:latin typeface="+mn-lt"/>
                <a:ea typeface="+mn-ea"/>
                <a:cs typeface="+mn-cs"/>
              </a:rPr>
              <a:t>num_sent_pairs</a:t>
            </a:r>
            <a:r>
              <a:rPr lang="en-US" sz="1200" b="0" i="0" kern="1200" dirty="0">
                <a:solidFill>
                  <a:schemeClr val="tx1"/>
                </a:solidFill>
                <a:effectLst/>
                <a:latin typeface="+mn-lt"/>
                <a:ea typeface="+mn-ea"/>
                <a:cs typeface="+mn-cs"/>
              </a:rPr>
              <a:t> - 1: break</a:t>
            </a:r>
          </a:p>
          <a:p>
            <a:r>
              <a:rPr lang="en-US" sz="1200" b="0" i="0" kern="1200" dirty="0">
                <a:solidFill>
                  <a:schemeClr val="tx1"/>
                </a:solidFill>
                <a:effectLst/>
                <a:latin typeface="+mn-lt"/>
                <a:ea typeface="+mn-ea"/>
                <a:cs typeface="+mn-cs"/>
              </a:rPr>
              <a:t>return </a:t>
            </a:r>
            <a:r>
              <a:rPr lang="en-US" sz="1200" b="0" i="0" kern="1200" dirty="0" err="1">
                <a:solidFill>
                  <a:schemeClr val="tx1"/>
                </a:solidFill>
                <a:effectLst/>
                <a:latin typeface="+mn-lt"/>
                <a:ea typeface="+mn-ea"/>
                <a:cs typeface="+mn-cs"/>
              </a:rPr>
              <a:t>en_sents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fr_sents_in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fr_sents_out</a:t>
            </a:r>
            <a:r>
              <a:rPr lang="en-US" dirty="0"/>
              <a:t> </a:t>
            </a:r>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F27A9-7ABF-4102-B5A3-5F0A8997E8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0942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a:t>
            </a:r>
            <a:r>
              <a:rPr lang="en-US" sz="1200" b="0" i="0" kern="1200" dirty="0" err="1">
                <a:solidFill>
                  <a:schemeClr val="tx1"/>
                </a:solidFill>
                <a:effectLst/>
                <a:latin typeface="+mn-lt"/>
                <a:ea typeface="+mn-ea"/>
                <a:cs typeface="+mn-cs"/>
              </a:rPr>
              <a:t>preprocess_sentence</a:t>
            </a:r>
            <a:r>
              <a:rPr lang="en-US" sz="1200" b="0" i="0" kern="1200" dirty="0">
                <a:solidFill>
                  <a:schemeClr val="tx1"/>
                </a:solidFill>
                <a:effectLst/>
                <a:latin typeface="+mn-lt"/>
                <a:ea typeface="+mn-ea"/>
                <a:cs typeface="+mn-cs"/>
              </a:rPr>
              <a:t> function performs several text cleaning steps:</a:t>
            </a:r>
          </a:p>
          <a:p>
            <a:r>
              <a:rPr lang="en-US" sz="1200" b="1" i="0" kern="1200" dirty="0">
                <a:solidFill>
                  <a:schemeClr val="tx1"/>
                </a:solidFill>
                <a:effectLst/>
                <a:latin typeface="+mn-lt"/>
                <a:ea typeface="+mn-ea"/>
                <a:cs typeface="+mn-cs"/>
              </a:rPr>
              <a:t>Remove diacritics</a:t>
            </a:r>
            <a:r>
              <a:rPr lang="en-US" sz="1200" b="0" i="0" kern="1200" dirty="0">
                <a:solidFill>
                  <a:schemeClr val="tx1"/>
                </a:solidFill>
                <a:effectLst/>
                <a:latin typeface="+mn-lt"/>
                <a:ea typeface="+mn-ea"/>
                <a:cs typeface="+mn-cs"/>
              </a:rPr>
              <a:t> (accents, tildes, etc.)</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unicodedata.normalize</a:t>
            </a:r>
            <a:r>
              <a:rPr lang="en-US" sz="1200" b="0" i="0" kern="1200" dirty="0">
                <a:solidFill>
                  <a:schemeClr val="tx1"/>
                </a:solidFill>
                <a:effectLst/>
                <a:latin typeface="+mn-lt"/>
                <a:ea typeface="+mn-ea"/>
                <a:cs typeface="+mn-cs"/>
              </a:rPr>
              <a:t>("NFD", sent) decomposes characters (e.g., "é" → "e" +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Then </a:t>
            </a:r>
            <a:r>
              <a:rPr lang="en-US" sz="1200" b="0" i="0" kern="1200" dirty="0" err="1">
                <a:solidFill>
                  <a:schemeClr val="tx1"/>
                </a:solidFill>
                <a:effectLst/>
                <a:latin typeface="+mn-lt"/>
                <a:ea typeface="+mn-ea"/>
                <a:cs typeface="+mn-cs"/>
              </a:rPr>
              <a:t>unicodedata.category</a:t>
            </a:r>
            <a:r>
              <a:rPr lang="en-US" sz="1200" b="0" i="0" kern="1200" dirty="0">
                <a:solidFill>
                  <a:schemeClr val="tx1"/>
                </a:solidFill>
                <a:effectLst/>
                <a:latin typeface="+mn-lt"/>
                <a:ea typeface="+mn-ea"/>
                <a:cs typeface="+mn-cs"/>
              </a:rPr>
              <a:t>(c) != "Mn" keeps only characters that are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combining marks (like accents).</a:t>
            </a:r>
          </a:p>
          <a:p>
            <a:r>
              <a:rPr lang="en-US" sz="1200" b="1" i="0" kern="1200" dirty="0">
                <a:solidFill>
                  <a:schemeClr val="tx1"/>
                </a:solidFill>
                <a:effectLst/>
                <a:latin typeface="+mn-lt"/>
                <a:ea typeface="+mn-ea"/>
                <a:cs typeface="+mn-cs"/>
              </a:rPr>
              <a:t>Add spaces around punctuation</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 r" \1", sent) inserts a space before !, ., ? (but keeps the punctuation).</a:t>
            </a:r>
          </a:p>
          <a:p>
            <a:r>
              <a:rPr lang="en-US" sz="1200" b="1" i="0" kern="1200" dirty="0">
                <a:solidFill>
                  <a:schemeClr val="tx1"/>
                </a:solidFill>
                <a:effectLst/>
                <a:latin typeface="+mn-lt"/>
                <a:ea typeface="+mn-ea"/>
                <a:cs typeface="+mn-cs"/>
              </a:rPr>
              <a:t>Keep only letters,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(r"[^a-</a:t>
            </a:r>
            <a:r>
              <a:rPr lang="en-US" sz="1200" b="0" i="0" kern="1200" dirty="0" err="1">
                <a:solidFill>
                  <a:schemeClr val="tx1"/>
                </a:solidFill>
                <a:effectLst/>
                <a:latin typeface="+mn-lt"/>
                <a:ea typeface="+mn-ea"/>
                <a:cs typeface="+mn-cs"/>
              </a:rPr>
              <a:t>zA</a:t>
            </a:r>
            <a:r>
              <a:rPr lang="en-US" sz="1200" b="0" i="0" kern="1200" dirty="0">
                <a:solidFill>
                  <a:schemeClr val="tx1"/>
                </a:solidFill>
                <a:effectLst/>
                <a:latin typeface="+mn-lt"/>
                <a:ea typeface="+mn-ea"/>
                <a:cs typeface="+mn-cs"/>
              </a:rPr>
              <a:t>-Z!.?]+", r" ", sent) replaces any character that is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letter or ! . ? with a space.</a:t>
            </a:r>
          </a:p>
          <a:p>
            <a:r>
              <a:rPr lang="en-US" sz="1200" b="1" i="0" kern="1200" dirty="0">
                <a:solidFill>
                  <a:schemeClr val="tx1"/>
                </a:solidFill>
                <a:effectLst/>
                <a:latin typeface="+mn-lt"/>
                <a:ea typeface="+mn-ea"/>
                <a:cs typeface="+mn-cs"/>
              </a:rPr>
              <a:t>Collapse multiple spaces</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(r"\s+", " ", sent) replaces any whitespace sequence with a single space.</a:t>
            </a:r>
          </a:p>
          <a:p>
            <a:r>
              <a:rPr lang="en-US" sz="1200" b="1" i="0" kern="1200" dirty="0">
                <a:solidFill>
                  <a:schemeClr val="tx1"/>
                </a:solidFill>
                <a:effectLst/>
                <a:latin typeface="+mn-lt"/>
                <a:ea typeface="+mn-ea"/>
                <a:cs typeface="+mn-cs"/>
              </a:rPr>
              <a:t>Lowercase</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sent.lower</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F27A9-7ABF-4102-B5A3-5F0A8997E8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7920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B2FD8-4A13-AB92-4972-BE318FF6B0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49BEC-6D4E-FDBB-1445-78633A74DD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7CCD11-0661-D2A5-9889-7B32F8BD42BA}"/>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a:t>
            </a:r>
            <a:r>
              <a:rPr lang="en-US" sz="1200" b="0" i="0" kern="1200" dirty="0" err="1">
                <a:solidFill>
                  <a:schemeClr val="tx1"/>
                </a:solidFill>
                <a:effectLst/>
                <a:latin typeface="+mn-lt"/>
                <a:ea typeface="+mn-ea"/>
                <a:cs typeface="+mn-cs"/>
              </a:rPr>
              <a:t>preprocess_sentence</a:t>
            </a:r>
            <a:r>
              <a:rPr lang="en-US" sz="1200" b="0" i="0" kern="1200" dirty="0">
                <a:solidFill>
                  <a:schemeClr val="tx1"/>
                </a:solidFill>
                <a:effectLst/>
                <a:latin typeface="+mn-lt"/>
                <a:ea typeface="+mn-ea"/>
                <a:cs typeface="+mn-cs"/>
              </a:rPr>
              <a:t> function performs several text cleaning steps:</a:t>
            </a:r>
          </a:p>
          <a:p>
            <a:r>
              <a:rPr lang="en-US" sz="1200" b="1" i="0" kern="1200" dirty="0">
                <a:solidFill>
                  <a:schemeClr val="tx1"/>
                </a:solidFill>
                <a:effectLst/>
                <a:latin typeface="+mn-lt"/>
                <a:ea typeface="+mn-ea"/>
                <a:cs typeface="+mn-cs"/>
              </a:rPr>
              <a:t>Remove diacritics</a:t>
            </a:r>
            <a:r>
              <a:rPr lang="en-US" sz="1200" b="0" i="0" kern="1200" dirty="0">
                <a:solidFill>
                  <a:schemeClr val="tx1"/>
                </a:solidFill>
                <a:effectLst/>
                <a:latin typeface="+mn-lt"/>
                <a:ea typeface="+mn-ea"/>
                <a:cs typeface="+mn-cs"/>
              </a:rPr>
              <a:t> (accents, tildes, etc.)</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unicodedata.normalize</a:t>
            </a:r>
            <a:r>
              <a:rPr lang="en-US" sz="1200" b="0" i="0" kern="1200" dirty="0">
                <a:solidFill>
                  <a:schemeClr val="tx1"/>
                </a:solidFill>
                <a:effectLst/>
                <a:latin typeface="+mn-lt"/>
                <a:ea typeface="+mn-ea"/>
                <a:cs typeface="+mn-cs"/>
              </a:rPr>
              <a:t>("NFD", sent) decomposes characters (e.g., "é" → "e" +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Then </a:t>
            </a:r>
            <a:r>
              <a:rPr lang="en-US" sz="1200" b="0" i="0" kern="1200" dirty="0" err="1">
                <a:solidFill>
                  <a:schemeClr val="tx1"/>
                </a:solidFill>
                <a:effectLst/>
                <a:latin typeface="+mn-lt"/>
                <a:ea typeface="+mn-ea"/>
                <a:cs typeface="+mn-cs"/>
              </a:rPr>
              <a:t>unicodedata.category</a:t>
            </a:r>
            <a:r>
              <a:rPr lang="en-US" sz="1200" b="0" i="0" kern="1200" dirty="0">
                <a:solidFill>
                  <a:schemeClr val="tx1"/>
                </a:solidFill>
                <a:effectLst/>
                <a:latin typeface="+mn-lt"/>
                <a:ea typeface="+mn-ea"/>
                <a:cs typeface="+mn-cs"/>
              </a:rPr>
              <a:t>(c) != "Mn" keeps only characters that are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combining marks (like accents).</a:t>
            </a:r>
          </a:p>
          <a:p>
            <a:r>
              <a:rPr lang="en-US" sz="1200" b="1" i="0" kern="1200" dirty="0">
                <a:solidFill>
                  <a:schemeClr val="tx1"/>
                </a:solidFill>
                <a:effectLst/>
                <a:latin typeface="+mn-lt"/>
                <a:ea typeface="+mn-ea"/>
                <a:cs typeface="+mn-cs"/>
              </a:rPr>
              <a:t>Add spaces around punctuation</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 r" \1", sent) inserts a space before !, ., ? (but keeps the punctuation).</a:t>
            </a:r>
          </a:p>
          <a:p>
            <a:r>
              <a:rPr lang="en-US" sz="1200" b="1" i="0" kern="1200" dirty="0">
                <a:solidFill>
                  <a:schemeClr val="tx1"/>
                </a:solidFill>
                <a:effectLst/>
                <a:latin typeface="+mn-lt"/>
                <a:ea typeface="+mn-ea"/>
                <a:cs typeface="+mn-cs"/>
              </a:rPr>
              <a:t>Keep only letters,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(r"[^a-</a:t>
            </a:r>
            <a:r>
              <a:rPr lang="en-US" sz="1200" b="0" i="0" kern="1200" dirty="0" err="1">
                <a:solidFill>
                  <a:schemeClr val="tx1"/>
                </a:solidFill>
                <a:effectLst/>
                <a:latin typeface="+mn-lt"/>
                <a:ea typeface="+mn-ea"/>
                <a:cs typeface="+mn-cs"/>
              </a:rPr>
              <a:t>zA</a:t>
            </a:r>
            <a:r>
              <a:rPr lang="en-US" sz="1200" b="0" i="0" kern="1200" dirty="0">
                <a:solidFill>
                  <a:schemeClr val="tx1"/>
                </a:solidFill>
                <a:effectLst/>
                <a:latin typeface="+mn-lt"/>
                <a:ea typeface="+mn-ea"/>
                <a:cs typeface="+mn-cs"/>
              </a:rPr>
              <a:t>-Z!.?]+", r" ", sent) replaces any character that is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letter or ! . ? with a space.</a:t>
            </a:r>
          </a:p>
          <a:p>
            <a:r>
              <a:rPr lang="en-US" sz="1200" b="1" i="0" kern="1200" dirty="0">
                <a:solidFill>
                  <a:schemeClr val="tx1"/>
                </a:solidFill>
                <a:effectLst/>
                <a:latin typeface="+mn-lt"/>
                <a:ea typeface="+mn-ea"/>
                <a:cs typeface="+mn-cs"/>
              </a:rPr>
              <a:t>Collapse multiple spaces</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(r"\s+", " ", sent) replaces any whitespace sequence with a single space.</a:t>
            </a:r>
          </a:p>
          <a:p>
            <a:r>
              <a:rPr lang="en-US" sz="1200" b="1" i="0" kern="1200" dirty="0">
                <a:solidFill>
                  <a:schemeClr val="tx1"/>
                </a:solidFill>
                <a:effectLst/>
                <a:latin typeface="+mn-lt"/>
                <a:ea typeface="+mn-ea"/>
                <a:cs typeface="+mn-cs"/>
              </a:rPr>
              <a:t>Lowercase</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sent.lower</a:t>
            </a:r>
            <a:r>
              <a:rPr lang="en-US" sz="1200" b="0" i="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FF10DFFB-0E2D-8611-DE9C-3BD6405E76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F27A9-7ABF-4102-B5A3-5F0A8997E8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0486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920A8-6A79-954C-A21B-48DEE9314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D02E02-DE44-F357-C697-873EEEE681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EBF63-15EC-50BC-856F-25BECADEF481}"/>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a:t>
            </a:r>
            <a:r>
              <a:rPr lang="en-US" sz="1200" b="0" i="0" kern="1200" dirty="0" err="1">
                <a:solidFill>
                  <a:schemeClr val="tx1"/>
                </a:solidFill>
                <a:effectLst/>
                <a:latin typeface="+mn-lt"/>
                <a:ea typeface="+mn-ea"/>
                <a:cs typeface="+mn-cs"/>
              </a:rPr>
              <a:t>preprocess_sentence</a:t>
            </a:r>
            <a:r>
              <a:rPr lang="en-US" sz="1200" b="0" i="0" kern="1200" dirty="0">
                <a:solidFill>
                  <a:schemeClr val="tx1"/>
                </a:solidFill>
                <a:effectLst/>
                <a:latin typeface="+mn-lt"/>
                <a:ea typeface="+mn-ea"/>
                <a:cs typeface="+mn-cs"/>
              </a:rPr>
              <a:t> function performs several text cleaning steps:</a:t>
            </a:r>
          </a:p>
          <a:p>
            <a:r>
              <a:rPr lang="en-US" sz="1200" b="1" i="0" kern="1200" dirty="0">
                <a:solidFill>
                  <a:schemeClr val="tx1"/>
                </a:solidFill>
                <a:effectLst/>
                <a:latin typeface="+mn-lt"/>
                <a:ea typeface="+mn-ea"/>
                <a:cs typeface="+mn-cs"/>
              </a:rPr>
              <a:t>Remove diacritics</a:t>
            </a:r>
            <a:r>
              <a:rPr lang="en-US" sz="1200" b="0" i="0" kern="1200" dirty="0">
                <a:solidFill>
                  <a:schemeClr val="tx1"/>
                </a:solidFill>
                <a:effectLst/>
                <a:latin typeface="+mn-lt"/>
                <a:ea typeface="+mn-ea"/>
                <a:cs typeface="+mn-cs"/>
              </a:rPr>
              <a:t> (accents, tildes, etc.)</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unicodedata.normalize</a:t>
            </a:r>
            <a:r>
              <a:rPr lang="en-US" sz="1200" b="0" i="0" kern="1200" dirty="0">
                <a:solidFill>
                  <a:schemeClr val="tx1"/>
                </a:solidFill>
                <a:effectLst/>
                <a:latin typeface="+mn-lt"/>
                <a:ea typeface="+mn-ea"/>
                <a:cs typeface="+mn-cs"/>
              </a:rPr>
              <a:t>("NFD", sent) decomposes characters (e.g., "é" → "e" +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Then </a:t>
            </a:r>
            <a:r>
              <a:rPr lang="en-US" sz="1200" b="0" i="0" kern="1200" dirty="0" err="1">
                <a:solidFill>
                  <a:schemeClr val="tx1"/>
                </a:solidFill>
                <a:effectLst/>
                <a:latin typeface="+mn-lt"/>
                <a:ea typeface="+mn-ea"/>
                <a:cs typeface="+mn-cs"/>
              </a:rPr>
              <a:t>unicodedata.category</a:t>
            </a:r>
            <a:r>
              <a:rPr lang="en-US" sz="1200" b="0" i="0" kern="1200" dirty="0">
                <a:solidFill>
                  <a:schemeClr val="tx1"/>
                </a:solidFill>
                <a:effectLst/>
                <a:latin typeface="+mn-lt"/>
                <a:ea typeface="+mn-ea"/>
                <a:cs typeface="+mn-cs"/>
              </a:rPr>
              <a:t>(c) != "Mn" keeps only characters that are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combining marks (like accents).</a:t>
            </a:r>
          </a:p>
          <a:p>
            <a:r>
              <a:rPr lang="en-US" sz="1200" b="1" i="0" kern="1200" dirty="0">
                <a:solidFill>
                  <a:schemeClr val="tx1"/>
                </a:solidFill>
                <a:effectLst/>
                <a:latin typeface="+mn-lt"/>
                <a:ea typeface="+mn-ea"/>
                <a:cs typeface="+mn-cs"/>
              </a:rPr>
              <a:t>Add spaces around punctuation</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 r" \1", sent) inserts a space before !, ., ? (but keeps the punctuation).</a:t>
            </a:r>
          </a:p>
          <a:p>
            <a:r>
              <a:rPr lang="en-US" sz="1200" b="1" i="0" kern="1200" dirty="0">
                <a:solidFill>
                  <a:schemeClr val="tx1"/>
                </a:solidFill>
                <a:effectLst/>
                <a:latin typeface="+mn-lt"/>
                <a:ea typeface="+mn-ea"/>
                <a:cs typeface="+mn-cs"/>
              </a:rPr>
              <a:t>Keep only letters,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(r"[^a-</a:t>
            </a:r>
            <a:r>
              <a:rPr lang="en-US" sz="1200" b="0" i="0" kern="1200" dirty="0" err="1">
                <a:solidFill>
                  <a:schemeClr val="tx1"/>
                </a:solidFill>
                <a:effectLst/>
                <a:latin typeface="+mn-lt"/>
                <a:ea typeface="+mn-ea"/>
                <a:cs typeface="+mn-cs"/>
              </a:rPr>
              <a:t>zA</a:t>
            </a:r>
            <a:r>
              <a:rPr lang="en-US" sz="1200" b="0" i="0" kern="1200" dirty="0">
                <a:solidFill>
                  <a:schemeClr val="tx1"/>
                </a:solidFill>
                <a:effectLst/>
                <a:latin typeface="+mn-lt"/>
                <a:ea typeface="+mn-ea"/>
                <a:cs typeface="+mn-cs"/>
              </a:rPr>
              <a:t>-Z!.?]+", r" ", sent) replaces any character that is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letter or ! . ? with a space.</a:t>
            </a:r>
          </a:p>
          <a:p>
            <a:r>
              <a:rPr lang="en-US" sz="1200" b="1" i="0" kern="1200" dirty="0">
                <a:solidFill>
                  <a:schemeClr val="tx1"/>
                </a:solidFill>
                <a:effectLst/>
                <a:latin typeface="+mn-lt"/>
                <a:ea typeface="+mn-ea"/>
                <a:cs typeface="+mn-cs"/>
              </a:rPr>
              <a:t>Collapse multiple spaces</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(r"\s+", " ", sent) replaces any whitespace sequence with a single space.</a:t>
            </a:r>
          </a:p>
          <a:p>
            <a:r>
              <a:rPr lang="en-US" sz="1200" b="1" i="0" kern="1200" dirty="0">
                <a:solidFill>
                  <a:schemeClr val="tx1"/>
                </a:solidFill>
                <a:effectLst/>
                <a:latin typeface="+mn-lt"/>
                <a:ea typeface="+mn-ea"/>
                <a:cs typeface="+mn-cs"/>
              </a:rPr>
              <a:t>Lowercase</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sent.lower</a:t>
            </a:r>
            <a:r>
              <a:rPr lang="en-US" sz="1200" b="0" i="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6D9509FF-02B1-37C4-1C7A-34AC265CD35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F27A9-7ABF-4102-B5A3-5F0A8997E8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5002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1114-9B52-193A-451D-4921E7E64A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3E8B1-4771-076D-5E1E-F53BDD65F5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80502C-D794-4808-E9FA-9A40F87C60D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a:t>
            </a:r>
            <a:r>
              <a:rPr lang="en-US" sz="1200" b="0" i="0" kern="1200" dirty="0" err="1">
                <a:solidFill>
                  <a:schemeClr val="tx1"/>
                </a:solidFill>
                <a:effectLst/>
                <a:latin typeface="+mn-lt"/>
                <a:ea typeface="+mn-ea"/>
                <a:cs typeface="+mn-cs"/>
              </a:rPr>
              <a:t>preprocess_sentence</a:t>
            </a:r>
            <a:r>
              <a:rPr lang="en-US" sz="1200" b="0" i="0" kern="1200" dirty="0">
                <a:solidFill>
                  <a:schemeClr val="tx1"/>
                </a:solidFill>
                <a:effectLst/>
                <a:latin typeface="+mn-lt"/>
                <a:ea typeface="+mn-ea"/>
                <a:cs typeface="+mn-cs"/>
              </a:rPr>
              <a:t> function performs several text cleaning steps:</a:t>
            </a:r>
          </a:p>
          <a:p>
            <a:r>
              <a:rPr lang="en-US" sz="1200" b="1" i="0" kern="1200" dirty="0">
                <a:solidFill>
                  <a:schemeClr val="tx1"/>
                </a:solidFill>
                <a:effectLst/>
                <a:latin typeface="+mn-lt"/>
                <a:ea typeface="+mn-ea"/>
                <a:cs typeface="+mn-cs"/>
              </a:rPr>
              <a:t>Remove diacritics</a:t>
            </a:r>
            <a:r>
              <a:rPr lang="en-US" sz="1200" b="0" i="0" kern="1200" dirty="0">
                <a:solidFill>
                  <a:schemeClr val="tx1"/>
                </a:solidFill>
                <a:effectLst/>
                <a:latin typeface="+mn-lt"/>
                <a:ea typeface="+mn-ea"/>
                <a:cs typeface="+mn-cs"/>
              </a:rPr>
              <a:t> (accents, tildes, etc.)</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unicodedata.normalize</a:t>
            </a:r>
            <a:r>
              <a:rPr lang="en-US" sz="1200" b="0" i="0" kern="1200" dirty="0">
                <a:solidFill>
                  <a:schemeClr val="tx1"/>
                </a:solidFill>
                <a:effectLst/>
                <a:latin typeface="+mn-lt"/>
                <a:ea typeface="+mn-ea"/>
                <a:cs typeface="+mn-cs"/>
              </a:rPr>
              <a:t>("NFD", sent) decomposes characters (e.g., "é" → "e" +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Then </a:t>
            </a:r>
            <a:r>
              <a:rPr lang="en-US" sz="1200" b="0" i="0" kern="1200" dirty="0" err="1">
                <a:solidFill>
                  <a:schemeClr val="tx1"/>
                </a:solidFill>
                <a:effectLst/>
                <a:latin typeface="+mn-lt"/>
                <a:ea typeface="+mn-ea"/>
                <a:cs typeface="+mn-cs"/>
              </a:rPr>
              <a:t>unicodedata.category</a:t>
            </a:r>
            <a:r>
              <a:rPr lang="en-US" sz="1200" b="0" i="0" kern="1200" dirty="0">
                <a:solidFill>
                  <a:schemeClr val="tx1"/>
                </a:solidFill>
                <a:effectLst/>
                <a:latin typeface="+mn-lt"/>
                <a:ea typeface="+mn-ea"/>
                <a:cs typeface="+mn-cs"/>
              </a:rPr>
              <a:t>(c) != "Mn" keeps only characters that are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combining marks (like accents).</a:t>
            </a:r>
          </a:p>
          <a:p>
            <a:r>
              <a:rPr lang="en-US" sz="1200" b="1" i="0" kern="1200" dirty="0">
                <a:solidFill>
                  <a:schemeClr val="tx1"/>
                </a:solidFill>
                <a:effectLst/>
                <a:latin typeface="+mn-lt"/>
                <a:ea typeface="+mn-ea"/>
                <a:cs typeface="+mn-cs"/>
              </a:rPr>
              <a:t>Add spaces around punctuation</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 r" \1", sent) inserts a space before !, ., ? (but keeps the punctuation).</a:t>
            </a:r>
          </a:p>
          <a:p>
            <a:r>
              <a:rPr lang="en-US" sz="1200" b="1" i="0" kern="1200" dirty="0">
                <a:solidFill>
                  <a:schemeClr val="tx1"/>
                </a:solidFill>
                <a:effectLst/>
                <a:latin typeface="+mn-lt"/>
                <a:ea typeface="+mn-ea"/>
                <a:cs typeface="+mn-cs"/>
              </a:rPr>
              <a:t>Keep only letters,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(r"[^a-</a:t>
            </a:r>
            <a:r>
              <a:rPr lang="en-US" sz="1200" b="0" i="0" kern="1200" dirty="0" err="1">
                <a:solidFill>
                  <a:schemeClr val="tx1"/>
                </a:solidFill>
                <a:effectLst/>
                <a:latin typeface="+mn-lt"/>
                <a:ea typeface="+mn-ea"/>
                <a:cs typeface="+mn-cs"/>
              </a:rPr>
              <a:t>zA</a:t>
            </a:r>
            <a:r>
              <a:rPr lang="en-US" sz="1200" b="0" i="0" kern="1200" dirty="0">
                <a:solidFill>
                  <a:schemeClr val="tx1"/>
                </a:solidFill>
                <a:effectLst/>
                <a:latin typeface="+mn-lt"/>
                <a:ea typeface="+mn-ea"/>
                <a:cs typeface="+mn-cs"/>
              </a:rPr>
              <a:t>-Z!.?]+", r" ", sent) replaces any character that is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letter or ! . ? with a space.</a:t>
            </a:r>
          </a:p>
          <a:p>
            <a:r>
              <a:rPr lang="en-US" sz="1200" b="1" i="0" kern="1200" dirty="0">
                <a:solidFill>
                  <a:schemeClr val="tx1"/>
                </a:solidFill>
                <a:effectLst/>
                <a:latin typeface="+mn-lt"/>
                <a:ea typeface="+mn-ea"/>
                <a:cs typeface="+mn-cs"/>
              </a:rPr>
              <a:t>Collapse multiple spaces</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(r"\s+", " ", sent) replaces any whitespace sequence with a single space.</a:t>
            </a:r>
          </a:p>
          <a:p>
            <a:r>
              <a:rPr lang="en-US" sz="1200" b="1" i="0" kern="1200" dirty="0">
                <a:solidFill>
                  <a:schemeClr val="tx1"/>
                </a:solidFill>
                <a:effectLst/>
                <a:latin typeface="+mn-lt"/>
                <a:ea typeface="+mn-ea"/>
                <a:cs typeface="+mn-cs"/>
              </a:rPr>
              <a:t>Lowercase</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sent.lower</a:t>
            </a:r>
            <a:r>
              <a:rPr lang="en-US" sz="1200" b="0" i="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72EF1F70-CDEB-4EC1-1D43-51A0BB6E1D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F27A9-7ABF-4102-B5A3-5F0A8997E8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0757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EE7A2-340F-DF30-B7EE-BBA1D5811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82B50B-4CD3-7A68-779B-A109E0899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186130-1DF7-71EA-A523-5676832C027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a:t>
            </a:r>
            <a:r>
              <a:rPr lang="en-US" sz="1200" b="0" i="0" kern="1200" dirty="0" err="1">
                <a:solidFill>
                  <a:schemeClr val="tx1"/>
                </a:solidFill>
                <a:effectLst/>
                <a:latin typeface="+mn-lt"/>
                <a:ea typeface="+mn-ea"/>
                <a:cs typeface="+mn-cs"/>
              </a:rPr>
              <a:t>preprocess_sentence</a:t>
            </a:r>
            <a:r>
              <a:rPr lang="en-US" sz="1200" b="0" i="0" kern="1200" dirty="0">
                <a:solidFill>
                  <a:schemeClr val="tx1"/>
                </a:solidFill>
                <a:effectLst/>
                <a:latin typeface="+mn-lt"/>
                <a:ea typeface="+mn-ea"/>
                <a:cs typeface="+mn-cs"/>
              </a:rPr>
              <a:t> function performs several text cleaning steps:</a:t>
            </a:r>
          </a:p>
          <a:p>
            <a:r>
              <a:rPr lang="en-US" sz="1200" b="1" i="0" kern="1200" dirty="0">
                <a:solidFill>
                  <a:schemeClr val="tx1"/>
                </a:solidFill>
                <a:effectLst/>
                <a:latin typeface="+mn-lt"/>
                <a:ea typeface="+mn-ea"/>
                <a:cs typeface="+mn-cs"/>
              </a:rPr>
              <a:t>Remove diacritics</a:t>
            </a:r>
            <a:r>
              <a:rPr lang="en-US" sz="1200" b="0" i="0" kern="1200" dirty="0">
                <a:solidFill>
                  <a:schemeClr val="tx1"/>
                </a:solidFill>
                <a:effectLst/>
                <a:latin typeface="+mn-lt"/>
                <a:ea typeface="+mn-ea"/>
                <a:cs typeface="+mn-cs"/>
              </a:rPr>
              <a:t> (accents, tildes, etc.)</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unicodedata.normalize</a:t>
            </a:r>
            <a:r>
              <a:rPr lang="en-US" sz="1200" b="0" i="0" kern="1200" dirty="0">
                <a:solidFill>
                  <a:schemeClr val="tx1"/>
                </a:solidFill>
                <a:effectLst/>
                <a:latin typeface="+mn-lt"/>
                <a:ea typeface="+mn-ea"/>
                <a:cs typeface="+mn-cs"/>
              </a:rPr>
              <a:t>("NFD", sent) decomposes characters (e.g., "é" → "e" +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Then </a:t>
            </a:r>
            <a:r>
              <a:rPr lang="en-US" sz="1200" b="0" i="0" kern="1200" dirty="0" err="1">
                <a:solidFill>
                  <a:schemeClr val="tx1"/>
                </a:solidFill>
                <a:effectLst/>
                <a:latin typeface="+mn-lt"/>
                <a:ea typeface="+mn-ea"/>
                <a:cs typeface="+mn-cs"/>
              </a:rPr>
              <a:t>unicodedata.category</a:t>
            </a:r>
            <a:r>
              <a:rPr lang="en-US" sz="1200" b="0" i="0" kern="1200" dirty="0">
                <a:solidFill>
                  <a:schemeClr val="tx1"/>
                </a:solidFill>
                <a:effectLst/>
                <a:latin typeface="+mn-lt"/>
                <a:ea typeface="+mn-ea"/>
                <a:cs typeface="+mn-cs"/>
              </a:rPr>
              <a:t>(c) != "Mn" keeps only characters that are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combining marks (like accents).</a:t>
            </a:r>
          </a:p>
          <a:p>
            <a:r>
              <a:rPr lang="en-US" sz="1200" b="1" i="0" kern="1200" dirty="0">
                <a:solidFill>
                  <a:schemeClr val="tx1"/>
                </a:solidFill>
                <a:effectLst/>
                <a:latin typeface="+mn-lt"/>
                <a:ea typeface="+mn-ea"/>
                <a:cs typeface="+mn-cs"/>
              </a:rPr>
              <a:t>Add spaces around punctuation</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 r" \1", sent) inserts a space before !, ., ? (but keeps the punctuation).</a:t>
            </a:r>
          </a:p>
          <a:p>
            <a:r>
              <a:rPr lang="en-US" sz="1200" b="1" i="0" kern="1200" dirty="0">
                <a:solidFill>
                  <a:schemeClr val="tx1"/>
                </a:solidFill>
                <a:effectLst/>
                <a:latin typeface="+mn-lt"/>
                <a:ea typeface="+mn-ea"/>
                <a:cs typeface="+mn-cs"/>
              </a:rPr>
              <a:t>Keep only letters,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(r"[^a-</a:t>
            </a:r>
            <a:r>
              <a:rPr lang="en-US" sz="1200" b="0" i="0" kern="1200" dirty="0" err="1">
                <a:solidFill>
                  <a:schemeClr val="tx1"/>
                </a:solidFill>
                <a:effectLst/>
                <a:latin typeface="+mn-lt"/>
                <a:ea typeface="+mn-ea"/>
                <a:cs typeface="+mn-cs"/>
              </a:rPr>
              <a:t>zA</a:t>
            </a:r>
            <a:r>
              <a:rPr lang="en-US" sz="1200" b="0" i="0" kern="1200" dirty="0">
                <a:solidFill>
                  <a:schemeClr val="tx1"/>
                </a:solidFill>
                <a:effectLst/>
                <a:latin typeface="+mn-lt"/>
                <a:ea typeface="+mn-ea"/>
                <a:cs typeface="+mn-cs"/>
              </a:rPr>
              <a:t>-Z!.?]+", r" ", sent) replaces any character that is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letter or ! . ? with a space.</a:t>
            </a:r>
          </a:p>
          <a:p>
            <a:r>
              <a:rPr lang="en-US" sz="1200" b="1" i="0" kern="1200" dirty="0">
                <a:solidFill>
                  <a:schemeClr val="tx1"/>
                </a:solidFill>
                <a:effectLst/>
                <a:latin typeface="+mn-lt"/>
                <a:ea typeface="+mn-ea"/>
                <a:cs typeface="+mn-cs"/>
              </a:rPr>
              <a:t>Collapse multiple spaces</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(r"\s+", " ", sent) replaces any whitespace sequence with a single space.</a:t>
            </a:r>
          </a:p>
          <a:p>
            <a:r>
              <a:rPr lang="en-US" sz="1200" b="1" i="0" kern="1200" dirty="0">
                <a:solidFill>
                  <a:schemeClr val="tx1"/>
                </a:solidFill>
                <a:effectLst/>
                <a:latin typeface="+mn-lt"/>
                <a:ea typeface="+mn-ea"/>
                <a:cs typeface="+mn-cs"/>
              </a:rPr>
              <a:t>Lowercase</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sent.lower</a:t>
            </a:r>
            <a:r>
              <a:rPr lang="en-US" sz="1200" b="0" i="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07BFC6E1-0834-74C7-FC98-4130E2E525C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F27A9-7ABF-4102-B5A3-5F0A8997E8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711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3B53B-4B97-E79E-93AB-E6A549475F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916B3-CE5A-9EB1-5408-8A75D98769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16C5A-E3F9-CCD5-58C9-EEEBF2568AED}"/>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a:t>
            </a:r>
            <a:r>
              <a:rPr lang="en-US" sz="1200" b="0" i="0" kern="1200" dirty="0" err="1">
                <a:solidFill>
                  <a:schemeClr val="tx1"/>
                </a:solidFill>
                <a:effectLst/>
                <a:latin typeface="+mn-lt"/>
                <a:ea typeface="+mn-ea"/>
                <a:cs typeface="+mn-cs"/>
              </a:rPr>
              <a:t>preprocess_sentence</a:t>
            </a:r>
            <a:r>
              <a:rPr lang="en-US" sz="1200" b="0" i="0" kern="1200" dirty="0">
                <a:solidFill>
                  <a:schemeClr val="tx1"/>
                </a:solidFill>
                <a:effectLst/>
                <a:latin typeface="+mn-lt"/>
                <a:ea typeface="+mn-ea"/>
                <a:cs typeface="+mn-cs"/>
              </a:rPr>
              <a:t> function performs several text cleaning steps:</a:t>
            </a:r>
          </a:p>
          <a:p>
            <a:r>
              <a:rPr lang="en-US" sz="1200" b="1" i="0" kern="1200" dirty="0">
                <a:solidFill>
                  <a:schemeClr val="tx1"/>
                </a:solidFill>
                <a:effectLst/>
                <a:latin typeface="+mn-lt"/>
                <a:ea typeface="+mn-ea"/>
                <a:cs typeface="+mn-cs"/>
              </a:rPr>
              <a:t>Remove diacritics</a:t>
            </a:r>
            <a:r>
              <a:rPr lang="en-US" sz="1200" b="0" i="0" kern="1200" dirty="0">
                <a:solidFill>
                  <a:schemeClr val="tx1"/>
                </a:solidFill>
                <a:effectLst/>
                <a:latin typeface="+mn-lt"/>
                <a:ea typeface="+mn-ea"/>
                <a:cs typeface="+mn-cs"/>
              </a:rPr>
              <a:t> (accents, tildes, etc.)</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unicodedata.normalize</a:t>
            </a:r>
            <a:r>
              <a:rPr lang="en-US" sz="1200" b="0" i="0" kern="1200" dirty="0">
                <a:solidFill>
                  <a:schemeClr val="tx1"/>
                </a:solidFill>
                <a:effectLst/>
                <a:latin typeface="+mn-lt"/>
                <a:ea typeface="+mn-ea"/>
                <a:cs typeface="+mn-cs"/>
              </a:rPr>
              <a:t>("NFD", sent) decomposes characters (e.g., "é" → "e" +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Then </a:t>
            </a:r>
            <a:r>
              <a:rPr lang="en-US" sz="1200" b="0" i="0" kern="1200" dirty="0" err="1">
                <a:solidFill>
                  <a:schemeClr val="tx1"/>
                </a:solidFill>
                <a:effectLst/>
                <a:latin typeface="+mn-lt"/>
                <a:ea typeface="+mn-ea"/>
                <a:cs typeface="+mn-cs"/>
              </a:rPr>
              <a:t>unicodedata.category</a:t>
            </a:r>
            <a:r>
              <a:rPr lang="en-US" sz="1200" b="0" i="0" kern="1200" dirty="0">
                <a:solidFill>
                  <a:schemeClr val="tx1"/>
                </a:solidFill>
                <a:effectLst/>
                <a:latin typeface="+mn-lt"/>
                <a:ea typeface="+mn-ea"/>
                <a:cs typeface="+mn-cs"/>
              </a:rPr>
              <a:t>(c) != "Mn" keeps only characters that are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combining marks (like accents).</a:t>
            </a:r>
          </a:p>
          <a:p>
            <a:r>
              <a:rPr lang="en-US" sz="1200" b="1" i="0" kern="1200" dirty="0">
                <a:solidFill>
                  <a:schemeClr val="tx1"/>
                </a:solidFill>
                <a:effectLst/>
                <a:latin typeface="+mn-lt"/>
                <a:ea typeface="+mn-ea"/>
                <a:cs typeface="+mn-cs"/>
              </a:rPr>
              <a:t>Add spaces around punctuation</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 r" \1", sent) inserts a space before !, ., ? (but keeps the punctuation).</a:t>
            </a:r>
          </a:p>
          <a:p>
            <a:r>
              <a:rPr lang="en-US" sz="1200" b="1" i="0" kern="1200" dirty="0">
                <a:solidFill>
                  <a:schemeClr val="tx1"/>
                </a:solidFill>
                <a:effectLst/>
                <a:latin typeface="+mn-lt"/>
                <a:ea typeface="+mn-ea"/>
                <a:cs typeface="+mn-cs"/>
              </a:rPr>
              <a:t>Keep only letters,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(r"[^a-</a:t>
            </a:r>
            <a:r>
              <a:rPr lang="en-US" sz="1200" b="0" i="0" kern="1200" dirty="0" err="1">
                <a:solidFill>
                  <a:schemeClr val="tx1"/>
                </a:solidFill>
                <a:effectLst/>
                <a:latin typeface="+mn-lt"/>
                <a:ea typeface="+mn-ea"/>
                <a:cs typeface="+mn-cs"/>
              </a:rPr>
              <a:t>zA</a:t>
            </a:r>
            <a:r>
              <a:rPr lang="en-US" sz="1200" b="0" i="0" kern="1200" dirty="0">
                <a:solidFill>
                  <a:schemeClr val="tx1"/>
                </a:solidFill>
                <a:effectLst/>
                <a:latin typeface="+mn-lt"/>
                <a:ea typeface="+mn-ea"/>
                <a:cs typeface="+mn-cs"/>
              </a:rPr>
              <a:t>-Z!.?]+", r" ", sent) replaces any character that is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letter or ! . ? with a space.</a:t>
            </a:r>
          </a:p>
          <a:p>
            <a:r>
              <a:rPr lang="en-US" sz="1200" b="1" i="0" kern="1200" dirty="0">
                <a:solidFill>
                  <a:schemeClr val="tx1"/>
                </a:solidFill>
                <a:effectLst/>
                <a:latin typeface="+mn-lt"/>
                <a:ea typeface="+mn-ea"/>
                <a:cs typeface="+mn-cs"/>
              </a:rPr>
              <a:t>Collapse multiple spaces</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(r"\s+", " ", sent) replaces any whitespace sequence with a single space.</a:t>
            </a:r>
          </a:p>
          <a:p>
            <a:r>
              <a:rPr lang="en-US" sz="1200" b="1" i="0" kern="1200" dirty="0">
                <a:solidFill>
                  <a:schemeClr val="tx1"/>
                </a:solidFill>
                <a:effectLst/>
                <a:latin typeface="+mn-lt"/>
                <a:ea typeface="+mn-ea"/>
                <a:cs typeface="+mn-cs"/>
              </a:rPr>
              <a:t>Lowercase</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sent.lower</a:t>
            </a:r>
            <a:r>
              <a:rPr lang="en-US" sz="1200" b="0" i="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305296B-1A45-3C34-23C5-18B8CB0700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F27A9-7ABF-4102-B5A3-5F0A8997E8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05204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C6A2C-70AD-13F7-B385-895B22B66F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047B5C-D3D9-6FEC-D4EB-1604A39927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2CD557-0D59-C093-33D2-FFB45315EA8D}"/>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a:t>
            </a:r>
            <a:r>
              <a:rPr lang="en-US" sz="1200" b="0" i="0" kern="1200" dirty="0" err="1">
                <a:solidFill>
                  <a:schemeClr val="tx1"/>
                </a:solidFill>
                <a:effectLst/>
                <a:latin typeface="+mn-lt"/>
                <a:ea typeface="+mn-ea"/>
                <a:cs typeface="+mn-cs"/>
              </a:rPr>
              <a:t>preprocess_sentence</a:t>
            </a:r>
            <a:r>
              <a:rPr lang="en-US" sz="1200" b="0" i="0" kern="1200" dirty="0">
                <a:solidFill>
                  <a:schemeClr val="tx1"/>
                </a:solidFill>
                <a:effectLst/>
                <a:latin typeface="+mn-lt"/>
                <a:ea typeface="+mn-ea"/>
                <a:cs typeface="+mn-cs"/>
              </a:rPr>
              <a:t> function performs several text cleaning steps:</a:t>
            </a:r>
          </a:p>
          <a:p>
            <a:r>
              <a:rPr lang="en-US" sz="1200" b="1" i="0" kern="1200" dirty="0">
                <a:solidFill>
                  <a:schemeClr val="tx1"/>
                </a:solidFill>
                <a:effectLst/>
                <a:latin typeface="+mn-lt"/>
                <a:ea typeface="+mn-ea"/>
                <a:cs typeface="+mn-cs"/>
              </a:rPr>
              <a:t>Remove diacritics</a:t>
            </a:r>
            <a:r>
              <a:rPr lang="en-US" sz="1200" b="0" i="0" kern="1200" dirty="0">
                <a:solidFill>
                  <a:schemeClr val="tx1"/>
                </a:solidFill>
                <a:effectLst/>
                <a:latin typeface="+mn-lt"/>
                <a:ea typeface="+mn-ea"/>
                <a:cs typeface="+mn-cs"/>
              </a:rPr>
              <a:t> (accents, tildes, etc.)</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unicodedata.normalize</a:t>
            </a:r>
            <a:r>
              <a:rPr lang="en-US" sz="1200" b="0" i="0" kern="1200" dirty="0">
                <a:solidFill>
                  <a:schemeClr val="tx1"/>
                </a:solidFill>
                <a:effectLst/>
                <a:latin typeface="+mn-lt"/>
                <a:ea typeface="+mn-ea"/>
                <a:cs typeface="+mn-cs"/>
              </a:rPr>
              <a:t>("NFD", sent) decomposes characters (e.g., "é" → "e" +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Then </a:t>
            </a:r>
            <a:r>
              <a:rPr lang="en-US" sz="1200" b="0" i="0" kern="1200" dirty="0" err="1">
                <a:solidFill>
                  <a:schemeClr val="tx1"/>
                </a:solidFill>
                <a:effectLst/>
                <a:latin typeface="+mn-lt"/>
                <a:ea typeface="+mn-ea"/>
                <a:cs typeface="+mn-cs"/>
              </a:rPr>
              <a:t>unicodedata.category</a:t>
            </a:r>
            <a:r>
              <a:rPr lang="en-US" sz="1200" b="0" i="0" kern="1200" dirty="0">
                <a:solidFill>
                  <a:schemeClr val="tx1"/>
                </a:solidFill>
                <a:effectLst/>
                <a:latin typeface="+mn-lt"/>
                <a:ea typeface="+mn-ea"/>
                <a:cs typeface="+mn-cs"/>
              </a:rPr>
              <a:t>(c) != "Mn" keeps only characters that are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combining marks (like accents).</a:t>
            </a:r>
          </a:p>
          <a:p>
            <a:r>
              <a:rPr lang="en-US" sz="1200" b="1" i="0" kern="1200" dirty="0">
                <a:solidFill>
                  <a:schemeClr val="tx1"/>
                </a:solidFill>
                <a:effectLst/>
                <a:latin typeface="+mn-lt"/>
                <a:ea typeface="+mn-ea"/>
                <a:cs typeface="+mn-cs"/>
              </a:rPr>
              <a:t>Add spaces around punctuation</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 r" \1", sent) inserts a space before !, ., ? (but keeps the punctuation).</a:t>
            </a:r>
          </a:p>
          <a:p>
            <a:r>
              <a:rPr lang="en-US" sz="1200" b="1" i="0" kern="1200" dirty="0">
                <a:solidFill>
                  <a:schemeClr val="tx1"/>
                </a:solidFill>
                <a:effectLst/>
                <a:latin typeface="+mn-lt"/>
                <a:ea typeface="+mn-ea"/>
                <a:cs typeface="+mn-cs"/>
              </a:rPr>
              <a:t>Keep only letters,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(r"[^a-</a:t>
            </a:r>
            <a:r>
              <a:rPr lang="en-US" sz="1200" b="0" i="0" kern="1200" dirty="0" err="1">
                <a:solidFill>
                  <a:schemeClr val="tx1"/>
                </a:solidFill>
                <a:effectLst/>
                <a:latin typeface="+mn-lt"/>
                <a:ea typeface="+mn-ea"/>
                <a:cs typeface="+mn-cs"/>
              </a:rPr>
              <a:t>zA</a:t>
            </a:r>
            <a:r>
              <a:rPr lang="en-US" sz="1200" b="0" i="0" kern="1200" dirty="0">
                <a:solidFill>
                  <a:schemeClr val="tx1"/>
                </a:solidFill>
                <a:effectLst/>
                <a:latin typeface="+mn-lt"/>
                <a:ea typeface="+mn-ea"/>
                <a:cs typeface="+mn-cs"/>
              </a:rPr>
              <a:t>-Z!.?]+", r" ", sent) replaces any character that is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letter or ! . ? with a space.</a:t>
            </a:r>
          </a:p>
          <a:p>
            <a:r>
              <a:rPr lang="en-US" sz="1200" b="1" i="0" kern="1200" dirty="0">
                <a:solidFill>
                  <a:schemeClr val="tx1"/>
                </a:solidFill>
                <a:effectLst/>
                <a:latin typeface="+mn-lt"/>
                <a:ea typeface="+mn-ea"/>
                <a:cs typeface="+mn-cs"/>
              </a:rPr>
              <a:t>Collapse multiple spaces</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(r"\s+", " ", sent) replaces any whitespace sequence with a single space.</a:t>
            </a:r>
          </a:p>
          <a:p>
            <a:r>
              <a:rPr lang="en-US" sz="1200" b="1" i="0" kern="1200" dirty="0">
                <a:solidFill>
                  <a:schemeClr val="tx1"/>
                </a:solidFill>
                <a:effectLst/>
                <a:latin typeface="+mn-lt"/>
                <a:ea typeface="+mn-ea"/>
                <a:cs typeface="+mn-cs"/>
              </a:rPr>
              <a:t>Lowercase</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sent.lower</a:t>
            </a:r>
            <a:r>
              <a:rPr lang="en-US" sz="1200" b="0" i="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C4153EF9-8FC7-0A02-7706-E0E27C851E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FF27A9-7ABF-4102-B5A3-5F0A8997E8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2408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15A9A-F284-77AE-EE70-6D94C54436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9D7DD8D-B988-F579-5999-E60595F5E0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870C5F-F66F-EA6B-64F2-8E9EAA491642}"/>
              </a:ext>
            </a:extLst>
          </p:cNvPr>
          <p:cNvSpPr>
            <a:spLocks noGrp="1"/>
          </p:cNvSpPr>
          <p:nvPr>
            <p:ph type="dt" sz="half" idx="10"/>
          </p:nvPr>
        </p:nvSpPr>
        <p:spPr/>
        <p:txBody>
          <a:bodyPr/>
          <a:lstStyle/>
          <a:p>
            <a:fld id="{39D2C406-2A2E-4628-97A8-DD75A4DD4854}" type="datetimeFigureOut">
              <a:rPr lang="en-US" smtClean="0"/>
              <a:t>5/29/2026</a:t>
            </a:fld>
            <a:endParaRPr lang="en-US"/>
          </a:p>
        </p:txBody>
      </p:sp>
      <p:sp>
        <p:nvSpPr>
          <p:cNvPr id="5" name="Footer Placeholder 4">
            <a:extLst>
              <a:ext uri="{FF2B5EF4-FFF2-40B4-BE49-F238E27FC236}">
                <a16:creationId xmlns:a16="http://schemas.microsoft.com/office/drawing/2014/main" id="{B4BF3F27-A565-7C90-266F-6ECE2E8B28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B7A666-C53F-A6C5-9A4B-C310AC5BFAA9}"/>
              </a:ext>
            </a:extLst>
          </p:cNvPr>
          <p:cNvSpPr>
            <a:spLocks noGrp="1"/>
          </p:cNvSpPr>
          <p:nvPr>
            <p:ph type="sldNum" sz="quarter" idx="12"/>
          </p:nvPr>
        </p:nvSpPr>
        <p:spPr/>
        <p:txBody>
          <a:bodyPr/>
          <a:lstStyle/>
          <a:p>
            <a:fld id="{D011E425-1330-4E2D-A8A2-BF780BCFB4A9}" type="slidenum">
              <a:rPr lang="en-US" smtClean="0"/>
              <a:t>‹#›</a:t>
            </a:fld>
            <a:endParaRPr lang="en-US"/>
          </a:p>
        </p:txBody>
      </p:sp>
      <p:sp>
        <p:nvSpPr>
          <p:cNvPr id="7" name="Title 1">
            <a:extLst>
              <a:ext uri="{FF2B5EF4-FFF2-40B4-BE49-F238E27FC236}">
                <a16:creationId xmlns:a16="http://schemas.microsoft.com/office/drawing/2014/main" id="{4F65D535-5002-0F81-8C1F-42D9DD5CCB27}"/>
              </a:ext>
            </a:extLst>
          </p:cNvPr>
          <p:cNvSpPr txBox="1">
            <a:spLocks/>
          </p:cNvSpPr>
          <p:nvPr userDrawn="1"/>
        </p:nvSpPr>
        <p:spPr>
          <a:xfrm>
            <a:off x="0" y="1"/>
            <a:ext cx="12192000" cy="538480"/>
          </a:xfrm>
          <a:prstGeom prst="rect">
            <a:avLst/>
          </a:prstGeom>
          <a:solidFill>
            <a:srgbClr val="002060"/>
          </a:solidFill>
          <a:ln>
            <a:solidFill>
              <a:srgbClr val="FFFF00"/>
            </a:solidFill>
          </a:ln>
          <a:effectLst>
            <a:glow rad="63500">
              <a:schemeClr val="accent4">
                <a:satMod val="175000"/>
                <a:alpha val="40000"/>
              </a:schemeClr>
            </a:glow>
          </a:effectLst>
        </p:spPr>
        <p:txBody>
          <a:bodyPr vert="horz" lIns="91440" tIns="45720" rIns="91440" bIns="45720" rtlCol="0" anchor="ctr">
            <a:normAutofit fontScale="850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Click to edit Master title style</a:t>
            </a:r>
          </a:p>
        </p:txBody>
      </p:sp>
    </p:spTree>
    <p:extLst>
      <p:ext uri="{BB962C8B-B14F-4D97-AF65-F5344CB8AC3E}">
        <p14:creationId xmlns:p14="http://schemas.microsoft.com/office/powerpoint/2010/main" val="1424236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F0B16-CFE6-CDA9-89C2-DE86578EFB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DAFE6D-3B39-EA7C-D840-668A7AED95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1C76A5-48B6-D37A-FE68-FBECABE3E728}"/>
              </a:ext>
            </a:extLst>
          </p:cNvPr>
          <p:cNvSpPr>
            <a:spLocks noGrp="1"/>
          </p:cNvSpPr>
          <p:nvPr>
            <p:ph type="dt" sz="half" idx="10"/>
          </p:nvPr>
        </p:nvSpPr>
        <p:spPr/>
        <p:txBody>
          <a:bodyPr/>
          <a:lstStyle/>
          <a:p>
            <a:fld id="{39D2C406-2A2E-4628-97A8-DD75A4DD4854}" type="datetimeFigureOut">
              <a:rPr lang="en-US" smtClean="0"/>
              <a:t>5/29/2026</a:t>
            </a:fld>
            <a:endParaRPr lang="en-US"/>
          </a:p>
        </p:txBody>
      </p:sp>
      <p:sp>
        <p:nvSpPr>
          <p:cNvPr id="5" name="Footer Placeholder 4">
            <a:extLst>
              <a:ext uri="{FF2B5EF4-FFF2-40B4-BE49-F238E27FC236}">
                <a16:creationId xmlns:a16="http://schemas.microsoft.com/office/drawing/2014/main" id="{7F2F91D9-EA3D-6400-F2A5-97B0BA2977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20C15-549D-2505-B273-6C6EE639F8C0}"/>
              </a:ext>
            </a:extLst>
          </p:cNvPr>
          <p:cNvSpPr>
            <a:spLocks noGrp="1"/>
          </p:cNvSpPr>
          <p:nvPr>
            <p:ph type="sldNum" sz="quarter" idx="12"/>
          </p:nvPr>
        </p:nvSpPr>
        <p:spPr/>
        <p:txBody>
          <a:bodyPr/>
          <a:lstStyle/>
          <a:p>
            <a:fld id="{D011E425-1330-4E2D-A8A2-BF780BCFB4A9}" type="slidenum">
              <a:rPr lang="en-US" smtClean="0"/>
              <a:t>‹#›</a:t>
            </a:fld>
            <a:endParaRPr lang="en-US"/>
          </a:p>
        </p:txBody>
      </p:sp>
    </p:spTree>
    <p:extLst>
      <p:ext uri="{BB962C8B-B14F-4D97-AF65-F5344CB8AC3E}">
        <p14:creationId xmlns:p14="http://schemas.microsoft.com/office/powerpoint/2010/main" val="3348465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2D9A5-CEB4-1451-79AC-5FBAF4DF5A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5CCA3E-2407-4961-1D6B-DBE1478AF1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6F5864-5298-F6F7-418E-B342ADB12425}"/>
              </a:ext>
            </a:extLst>
          </p:cNvPr>
          <p:cNvSpPr>
            <a:spLocks noGrp="1"/>
          </p:cNvSpPr>
          <p:nvPr>
            <p:ph type="dt" sz="half" idx="10"/>
          </p:nvPr>
        </p:nvSpPr>
        <p:spPr/>
        <p:txBody>
          <a:bodyPr/>
          <a:lstStyle/>
          <a:p>
            <a:fld id="{39D2C406-2A2E-4628-97A8-DD75A4DD4854}" type="datetimeFigureOut">
              <a:rPr lang="en-US" smtClean="0"/>
              <a:t>5/29/2026</a:t>
            </a:fld>
            <a:endParaRPr lang="en-US"/>
          </a:p>
        </p:txBody>
      </p:sp>
      <p:sp>
        <p:nvSpPr>
          <p:cNvPr id="5" name="Footer Placeholder 4">
            <a:extLst>
              <a:ext uri="{FF2B5EF4-FFF2-40B4-BE49-F238E27FC236}">
                <a16:creationId xmlns:a16="http://schemas.microsoft.com/office/drawing/2014/main" id="{999D61C7-691E-C932-2A96-F08123921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5F3AB0-9C96-AC87-7F63-6D7AC77E6019}"/>
              </a:ext>
            </a:extLst>
          </p:cNvPr>
          <p:cNvSpPr>
            <a:spLocks noGrp="1"/>
          </p:cNvSpPr>
          <p:nvPr>
            <p:ph type="sldNum" sz="quarter" idx="12"/>
          </p:nvPr>
        </p:nvSpPr>
        <p:spPr/>
        <p:txBody>
          <a:bodyPr/>
          <a:lstStyle/>
          <a:p>
            <a:fld id="{D011E425-1330-4E2D-A8A2-BF780BCFB4A9}" type="slidenum">
              <a:rPr lang="en-US" smtClean="0"/>
              <a:t>‹#›</a:t>
            </a:fld>
            <a:endParaRPr lang="en-US"/>
          </a:p>
        </p:txBody>
      </p:sp>
    </p:spTree>
    <p:extLst>
      <p:ext uri="{BB962C8B-B14F-4D97-AF65-F5344CB8AC3E}">
        <p14:creationId xmlns:p14="http://schemas.microsoft.com/office/powerpoint/2010/main" val="359174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2E528-0626-A607-509F-F4295337BF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F8B24F-6831-3AB0-466E-42CC9B2DE6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DD8FD7-2602-B4E5-3C3C-CB87AD700D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C33EE9-C0BF-FD36-A405-CB609BDBD8EA}"/>
              </a:ext>
            </a:extLst>
          </p:cNvPr>
          <p:cNvSpPr>
            <a:spLocks noGrp="1"/>
          </p:cNvSpPr>
          <p:nvPr>
            <p:ph type="dt" sz="half" idx="10"/>
          </p:nvPr>
        </p:nvSpPr>
        <p:spPr/>
        <p:txBody>
          <a:bodyPr/>
          <a:lstStyle/>
          <a:p>
            <a:fld id="{39D2C406-2A2E-4628-97A8-DD75A4DD4854}" type="datetimeFigureOut">
              <a:rPr lang="en-US" smtClean="0"/>
              <a:t>5/29/2026</a:t>
            </a:fld>
            <a:endParaRPr lang="en-US"/>
          </a:p>
        </p:txBody>
      </p:sp>
      <p:sp>
        <p:nvSpPr>
          <p:cNvPr id="6" name="Footer Placeholder 5">
            <a:extLst>
              <a:ext uri="{FF2B5EF4-FFF2-40B4-BE49-F238E27FC236}">
                <a16:creationId xmlns:a16="http://schemas.microsoft.com/office/drawing/2014/main" id="{F51B8C21-E8D2-B0E6-F216-D0C64A5ADC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0ADD90-5479-C9B4-A60D-A573AD710310}"/>
              </a:ext>
            </a:extLst>
          </p:cNvPr>
          <p:cNvSpPr>
            <a:spLocks noGrp="1"/>
          </p:cNvSpPr>
          <p:nvPr>
            <p:ph type="sldNum" sz="quarter" idx="12"/>
          </p:nvPr>
        </p:nvSpPr>
        <p:spPr/>
        <p:txBody>
          <a:bodyPr/>
          <a:lstStyle/>
          <a:p>
            <a:fld id="{D011E425-1330-4E2D-A8A2-BF780BCFB4A9}" type="slidenum">
              <a:rPr lang="en-US" smtClean="0"/>
              <a:t>‹#›</a:t>
            </a:fld>
            <a:endParaRPr lang="en-US"/>
          </a:p>
        </p:txBody>
      </p:sp>
    </p:spTree>
    <p:extLst>
      <p:ext uri="{BB962C8B-B14F-4D97-AF65-F5344CB8AC3E}">
        <p14:creationId xmlns:p14="http://schemas.microsoft.com/office/powerpoint/2010/main" val="133763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0A6F5-01FD-A09F-9004-731C216036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C937DD-0974-F573-6C87-BBF4CEC2F8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8421D7-BBA9-EC64-F966-3871D873F5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65ED5F-CC95-C3D3-DB3E-662ACF4391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8E7F97-C8A6-EB75-B70C-69DDBEC3CB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E4117F-24C3-1AE2-94AF-7A252A80CD24}"/>
              </a:ext>
            </a:extLst>
          </p:cNvPr>
          <p:cNvSpPr>
            <a:spLocks noGrp="1"/>
          </p:cNvSpPr>
          <p:nvPr>
            <p:ph type="dt" sz="half" idx="10"/>
          </p:nvPr>
        </p:nvSpPr>
        <p:spPr/>
        <p:txBody>
          <a:bodyPr/>
          <a:lstStyle/>
          <a:p>
            <a:fld id="{39D2C406-2A2E-4628-97A8-DD75A4DD4854}" type="datetimeFigureOut">
              <a:rPr lang="en-US" smtClean="0"/>
              <a:t>5/29/2026</a:t>
            </a:fld>
            <a:endParaRPr lang="en-US"/>
          </a:p>
        </p:txBody>
      </p:sp>
      <p:sp>
        <p:nvSpPr>
          <p:cNvPr id="8" name="Footer Placeholder 7">
            <a:extLst>
              <a:ext uri="{FF2B5EF4-FFF2-40B4-BE49-F238E27FC236}">
                <a16:creationId xmlns:a16="http://schemas.microsoft.com/office/drawing/2014/main" id="{7D10F16E-74B8-8E27-DCE1-A1E538D418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B51A11-CC96-2CFE-4C74-D4AF8239B7B9}"/>
              </a:ext>
            </a:extLst>
          </p:cNvPr>
          <p:cNvSpPr>
            <a:spLocks noGrp="1"/>
          </p:cNvSpPr>
          <p:nvPr>
            <p:ph type="sldNum" sz="quarter" idx="12"/>
          </p:nvPr>
        </p:nvSpPr>
        <p:spPr/>
        <p:txBody>
          <a:bodyPr/>
          <a:lstStyle/>
          <a:p>
            <a:fld id="{D011E425-1330-4E2D-A8A2-BF780BCFB4A9}" type="slidenum">
              <a:rPr lang="en-US" smtClean="0"/>
              <a:t>‹#›</a:t>
            </a:fld>
            <a:endParaRPr lang="en-US"/>
          </a:p>
        </p:txBody>
      </p:sp>
    </p:spTree>
    <p:extLst>
      <p:ext uri="{BB962C8B-B14F-4D97-AF65-F5344CB8AC3E}">
        <p14:creationId xmlns:p14="http://schemas.microsoft.com/office/powerpoint/2010/main" val="1285030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B7371-400B-EFF9-FB52-DAD7E437A1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FC765A-019F-2189-7069-2C52D8209AFF}"/>
              </a:ext>
            </a:extLst>
          </p:cNvPr>
          <p:cNvSpPr>
            <a:spLocks noGrp="1"/>
          </p:cNvSpPr>
          <p:nvPr>
            <p:ph type="dt" sz="half" idx="10"/>
          </p:nvPr>
        </p:nvSpPr>
        <p:spPr/>
        <p:txBody>
          <a:bodyPr/>
          <a:lstStyle/>
          <a:p>
            <a:fld id="{39D2C406-2A2E-4628-97A8-DD75A4DD4854}" type="datetimeFigureOut">
              <a:rPr lang="en-US" smtClean="0"/>
              <a:t>5/29/2026</a:t>
            </a:fld>
            <a:endParaRPr lang="en-US"/>
          </a:p>
        </p:txBody>
      </p:sp>
      <p:sp>
        <p:nvSpPr>
          <p:cNvPr id="4" name="Footer Placeholder 3">
            <a:extLst>
              <a:ext uri="{FF2B5EF4-FFF2-40B4-BE49-F238E27FC236}">
                <a16:creationId xmlns:a16="http://schemas.microsoft.com/office/drawing/2014/main" id="{98A3DCB6-F342-6CBA-3916-2051589EFC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D18956-8616-D7B2-854B-A9E17A4728CC}"/>
              </a:ext>
            </a:extLst>
          </p:cNvPr>
          <p:cNvSpPr>
            <a:spLocks noGrp="1"/>
          </p:cNvSpPr>
          <p:nvPr>
            <p:ph type="sldNum" sz="quarter" idx="12"/>
          </p:nvPr>
        </p:nvSpPr>
        <p:spPr/>
        <p:txBody>
          <a:bodyPr/>
          <a:lstStyle/>
          <a:p>
            <a:fld id="{D011E425-1330-4E2D-A8A2-BF780BCFB4A9}" type="slidenum">
              <a:rPr lang="en-US" smtClean="0"/>
              <a:t>‹#›</a:t>
            </a:fld>
            <a:endParaRPr lang="en-US"/>
          </a:p>
        </p:txBody>
      </p:sp>
    </p:spTree>
    <p:extLst>
      <p:ext uri="{BB962C8B-B14F-4D97-AF65-F5344CB8AC3E}">
        <p14:creationId xmlns:p14="http://schemas.microsoft.com/office/powerpoint/2010/main" val="4202212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44F51D-0693-EA97-755C-A81CA1DBDB08}"/>
              </a:ext>
            </a:extLst>
          </p:cNvPr>
          <p:cNvSpPr>
            <a:spLocks noGrp="1"/>
          </p:cNvSpPr>
          <p:nvPr>
            <p:ph type="dt" sz="half" idx="10"/>
          </p:nvPr>
        </p:nvSpPr>
        <p:spPr/>
        <p:txBody>
          <a:bodyPr/>
          <a:lstStyle/>
          <a:p>
            <a:fld id="{39D2C406-2A2E-4628-97A8-DD75A4DD4854}" type="datetimeFigureOut">
              <a:rPr lang="en-US" smtClean="0"/>
              <a:t>5/29/2026</a:t>
            </a:fld>
            <a:endParaRPr lang="en-US"/>
          </a:p>
        </p:txBody>
      </p:sp>
      <p:sp>
        <p:nvSpPr>
          <p:cNvPr id="3" name="Footer Placeholder 2">
            <a:extLst>
              <a:ext uri="{FF2B5EF4-FFF2-40B4-BE49-F238E27FC236}">
                <a16:creationId xmlns:a16="http://schemas.microsoft.com/office/drawing/2014/main" id="{777B6D32-DE0B-9DD1-B474-6AEAC2E8F1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34955B-AC19-52A4-5856-25E520CA0F2C}"/>
              </a:ext>
            </a:extLst>
          </p:cNvPr>
          <p:cNvSpPr>
            <a:spLocks noGrp="1"/>
          </p:cNvSpPr>
          <p:nvPr>
            <p:ph type="sldNum" sz="quarter" idx="12"/>
          </p:nvPr>
        </p:nvSpPr>
        <p:spPr/>
        <p:txBody>
          <a:bodyPr/>
          <a:lstStyle/>
          <a:p>
            <a:fld id="{D011E425-1330-4E2D-A8A2-BF780BCFB4A9}" type="slidenum">
              <a:rPr lang="en-US" smtClean="0"/>
              <a:t>‹#›</a:t>
            </a:fld>
            <a:endParaRPr lang="en-US"/>
          </a:p>
        </p:txBody>
      </p:sp>
    </p:spTree>
    <p:extLst>
      <p:ext uri="{BB962C8B-B14F-4D97-AF65-F5344CB8AC3E}">
        <p14:creationId xmlns:p14="http://schemas.microsoft.com/office/powerpoint/2010/main" val="3922943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2F5BA-8D3B-F79D-214A-6CC17818C7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C38862-478E-5D1A-CFF3-9A93CE5816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01388F-9C65-141D-9B8B-9EEC701208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1438FA-F61D-536D-9E64-24DD785B9044}"/>
              </a:ext>
            </a:extLst>
          </p:cNvPr>
          <p:cNvSpPr>
            <a:spLocks noGrp="1"/>
          </p:cNvSpPr>
          <p:nvPr>
            <p:ph type="dt" sz="half" idx="10"/>
          </p:nvPr>
        </p:nvSpPr>
        <p:spPr/>
        <p:txBody>
          <a:bodyPr/>
          <a:lstStyle/>
          <a:p>
            <a:fld id="{39D2C406-2A2E-4628-97A8-DD75A4DD4854}" type="datetimeFigureOut">
              <a:rPr lang="en-US" smtClean="0"/>
              <a:t>5/29/2026</a:t>
            </a:fld>
            <a:endParaRPr lang="en-US"/>
          </a:p>
        </p:txBody>
      </p:sp>
      <p:sp>
        <p:nvSpPr>
          <p:cNvPr id="6" name="Footer Placeholder 5">
            <a:extLst>
              <a:ext uri="{FF2B5EF4-FFF2-40B4-BE49-F238E27FC236}">
                <a16:creationId xmlns:a16="http://schemas.microsoft.com/office/drawing/2014/main" id="{8C6898F7-63C1-C763-124D-2EE2AF7014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41A2EA-27B0-B523-EC69-FBB2FD1146AD}"/>
              </a:ext>
            </a:extLst>
          </p:cNvPr>
          <p:cNvSpPr>
            <a:spLocks noGrp="1"/>
          </p:cNvSpPr>
          <p:nvPr>
            <p:ph type="sldNum" sz="quarter" idx="12"/>
          </p:nvPr>
        </p:nvSpPr>
        <p:spPr/>
        <p:txBody>
          <a:bodyPr/>
          <a:lstStyle/>
          <a:p>
            <a:fld id="{D011E425-1330-4E2D-A8A2-BF780BCFB4A9}" type="slidenum">
              <a:rPr lang="en-US" smtClean="0"/>
              <a:t>‹#›</a:t>
            </a:fld>
            <a:endParaRPr lang="en-US"/>
          </a:p>
        </p:txBody>
      </p:sp>
    </p:spTree>
    <p:extLst>
      <p:ext uri="{BB962C8B-B14F-4D97-AF65-F5344CB8AC3E}">
        <p14:creationId xmlns:p14="http://schemas.microsoft.com/office/powerpoint/2010/main" val="1604448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5A34A-D49F-34F2-2490-7CA9CC3942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32EFF4-98FE-C6DA-5B12-5A9ADD2B2B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900DF0-3FDD-1957-E458-95E1140A7D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FC0D40-6B7C-1572-0C9F-CAC50891E09C}"/>
              </a:ext>
            </a:extLst>
          </p:cNvPr>
          <p:cNvSpPr>
            <a:spLocks noGrp="1"/>
          </p:cNvSpPr>
          <p:nvPr>
            <p:ph type="dt" sz="half" idx="10"/>
          </p:nvPr>
        </p:nvSpPr>
        <p:spPr/>
        <p:txBody>
          <a:bodyPr/>
          <a:lstStyle/>
          <a:p>
            <a:fld id="{39D2C406-2A2E-4628-97A8-DD75A4DD4854}" type="datetimeFigureOut">
              <a:rPr lang="en-US" smtClean="0"/>
              <a:t>5/29/2026</a:t>
            </a:fld>
            <a:endParaRPr lang="en-US"/>
          </a:p>
        </p:txBody>
      </p:sp>
      <p:sp>
        <p:nvSpPr>
          <p:cNvPr id="6" name="Footer Placeholder 5">
            <a:extLst>
              <a:ext uri="{FF2B5EF4-FFF2-40B4-BE49-F238E27FC236}">
                <a16:creationId xmlns:a16="http://schemas.microsoft.com/office/drawing/2014/main" id="{413AEF78-061F-1EBB-48B5-70C6D82175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4FCB66-2802-2067-6503-15C74D3F8EAD}"/>
              </a:ext>
            </a:extLst>
          </p:cNvPr>
          <p:cNvSpPr>
            <a:spLocks noGrp="1"/>
          </p:cNvSpPr>
          <p:nvPr>
            <p:ph type="sldNum" sz="quarter" idx="12"/>
          </p:nvPr>
        </p:nvSpPr>
        <p:spPr/>
        <p:txBody>
          <a:bodyPr/>
          <a:lstStyle/>
          <a:p>
            <a:fld id="{D011E425-1330-4E2D-A8A2-BF780BCFB4A9}" type="slidenum">
              <a:rPr lang="en-US" smtClean="0"/>
              <a:t>‹#›</a:t>
            </a:fld>
            <a:endParaRPr lang="en-US"/>
          </a:p>
        </p:txBody>
      </p:sp>
    </p:spTree>
    <p:extLst>
      <p:ext uri="{BB962C8B-B14F-4D97-AF65-F5344CB8AC3E}">
        <p14:creationId xmlns:p14="http://schemas.microsoft.com/office/powerpoint/2010/main" val="2973480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9964C-928C-E377-B021-1A0357A857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DD1BD9-1007-10F2-26EB-9D65AE194A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4991BB-EF86-CFB2-6DE5-1435EAD4EB33}"/>
              </a:ext>
            </a:extLst>
          </p:cNvPr>
          <p:cNvSpPr>
            <a:spLocks noGrp="1"/>
          </p:cNvSpPr>
          <p:nvPr>
            <p:ph type="dt" sz="half" idx="10"/>
          </p:nvPr>
        </p:nvSpPr>
        <p:spPr/>
        <p:txBody>
          <a:bodyPr/>
          <a:lstStyle/>
          <a:p>
            <a:fld id="{39D2C406-2A2E-4628-97A8-DD75A4DD4854}" type="datetimeFigureOut">
              <a:rPr lang="en-US" smtClean="0"/>
              <a:t>5/29/2026</a:t>
            </a:fld>
            <a:endParaRPr lang="en-US"/>
          </a:p>
        </p:txBody>
      </p:sp>
      <p:sp>
        <p:nvSpPr>
          <p:cNvPr id="5" name="Footer Placeholder 4">
            <a:extLst>
              <a:ext uri="{FF2B5EF4-FFF2-40B4-BE49-F238E27FC236}">
                <a16:creationId xmlns:a16="http://schemas.microsoft.com/office/drawing/2014/main" id="{F1DFACD2-A82D-A65B-03E2-E38AFC9E1E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13FCAC-8721-9209-4A7D-1779318DCA08}"/>
              </a:ext>
            </a:extLst>
          </p:cNvPr>
          <p:cNvSpPr>
            <a:spLocks noGrp="1"/>
          </p:cNvSpPr>
          <p:nvPr>
            <p:ph type="sldNum" sz="quarter" idx="12"/>
          </p:nvPr>
        </p:nvSpPr>
        <p:spPr/>
        <p:txBody>
          <a:bodyPr/>
          <a:lstStyle/>
          <a:p>
            <a:fld id="{D011E425-1330-4E2D-A8A2-BF780BCFB4A9}" type="slidenum">
              <a:rPr lang="en-US" smtClean="0"/>
              <a:t>‹#›</a:t>
            </a:fld>
            <a:endParaRPr lang="en-US"/>
          </a:p>
        </p:txBody>
      </p:sp>
    </p:spTree>
    <p:extLst>
      <p:ext uri="{BB962C8B-B14F-4D97-AF65-F5344CB8AC3E}">
        <p14:creationId xmlns:p14="http://schemas.microsoft.com/office/powerpoint/2010/main" val="3534820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747E73-3C71-1E9D-86CF-14CB9A5F8C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D97E42-C61B-9F6B-00A0-51C9A8858C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ECEDF-2C6C-E350-047F-7E65FE7926D2}"/>
              </a:ext>
            </a:extLst>
          </p:cNvPr>
          <p:cNvSpPr>
            <a:spLocks noGrp="1"/>
          </p:cNvSpPr>
          <p:nvPr>
            <p:ph type="dt" sz="half" idx="10"/>
          </p:nvPr>
        </p:nvSpPr>
        <p:spPr/>
        <p:txBody>
          <a:bodyPr/>
          <a:lstStyle/>
          <a:p>
            <a:fld id="{39D2C406-2A2E-4628-97A8-DD75A4DD4854}" type="datetimeFigureOut">
              <a:rPr lang="en-US" smtClean="0"/>
              <a:t>5/29/2026</a:t>
            </a:fld>
            <a:endParaRPr lang="en-US"/>
          </a:p>
        </p:txBody>
      </p:sp>
      <p:sp>
        <p:nvSpPr>
          <p:cNvPr id="5" name="Footer Placeholder 4">
            <a:extLst>
              <a:ext uri="{FF2B5EF4-FFF2-40B4-BE49-F238E27FC236}">
                <a16:creationId xmlns:a16="http://schemas.microsoft.com/office/drawing/2014/main" id="{81E5B7CD-66F7-ED23-66CD-D16EE3216B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F30E1E-CA3B-B1A4-B8A9-5D641D2AC99A}"/>
              </a:ext>
            </a:extLst>
          </p:cNvPr>
          <p:cNvSpPr>
            <a:spLocks noGrp="1"/>
          </p:cNvSpPr>
          <p:nvPr>
            <p:ph type="sldNum" sz="quarter" idx="12"/>
          </p:nvPr>
        </p:nvSpPr>
        <p:spPr/>
        <p:txBody>
          <a:bodyPr/>
          <a:lstStyle/>
          <a:p>
            <a:fld id="{D011E425-1330-4E2D-A8A2-BF780BCFB4A9}" type="slidenum">
              <a:rPr lang="en-US" smtClean="0"/>
              <a:t>‹#›</a:t>
            </a:fld>
            <a:endParaRPr lang="en-US"/>
          </a:p>
        </p:txBody>
      </p:sp>
    </p:spTree>
    <p:extLst>
      <p:ext uri="{BB962C8B-B14F-4D97-AF65-F5344CB8AC3E}">
        <p14:creationId xmlns:p14="http://schemas.microsoft.com/office/powerpoint/2010/main" val="3492511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7997E41-8A74-440F-8728-FC7F2D05942E}"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33790265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997E41-8A74-440F-8728-FC7F2D05942E}"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2750426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7997E41-8A74-440F-8728-FC7F2D05942E}"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42746893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7997E41-8A74-440F-8728-FC7F2D05942E}"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39654895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7997E41-8A74-440F-8728-FC7F2D05942E}"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38528253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7997E41-8A74-440F-8728-FC7F2D05942E}"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37958896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997E41-8A74-440F-8728-FC7F2D05942E}"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15985992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997E41-8A74-440F-8728-FC7F2D05942E}"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17524878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997E41-8A74-440F-8728-FC7F2D05942E}"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17939055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997E41-8A74-440F-8728-FC7F2D05942E}"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17942247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997E41-8A74-440F-8728-FC7F2D05942E}"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1609413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94CD8A-0DF4-E372-288D-3EBE75706AB3}"/>
              </a:ext>
            </a:extLst>
          </p:cNvPr>
          <p:cNvSpPr>
            <a:spLocks noGrp="1"/>
          </p:cNvSpPr>
          <p:nvPr>
            <p:ph type="title"/>
          </p:nvPr>
        </p:nvSpPr>
        <p:spPr>
          <a:xfrm>
            <a:off x="0" y="1"/>
            <a:ext cx="12192000" cy="538480"/>
          </a:xfrm>
          <a:prstGeom prst="rect">
            <a:avLst/>
          </a:prstGeom>
          <a:solidFill>
            <a:srgbClr val="002060"/>
          </a:solidFill>
          <a:ln>
            <a:solidFill>
              <a:srgbClr val="FFFF00"/>
            </a:solidFill>
          </a:ln>
          <a:effectLst>
            <a:glow rad="63500">
              <a:schemeClr val="accent4">
                <a:satMod val="175000"/>
                <a:alpha val="40000"/>
              </a:schemeClr>
            </a:glow>
          </a:effectLst>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A235F2C3-FC82-EB64-C039-8A8BDDC3C2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F60391-FE1D-9DE0-97F9-7BD93B23FA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D2C406-2A2E-4628-97A8-DD75A4DD4854}" type="datetimeFigureOut">
              <a:rPr lang="en-US" smtClean="0"/>
              <a:t>5/29/2026</a:t>
            </a:fld>
            <a:endParaRPr lang="en-US"/>
          </a:p>
        </p:txBody>
      </p:sp>
      <p:sp>
        <p:nvSpPr>
          <p:cNvPr id="5" name="Footer Placeholder 4">
            <a:extLst>
              <a:ext uri="{FF2B5EF4-FFF2-40B4-BE49-F238E27FC236}">
                <a16:creationId xmlns:a16="http://schemas.microsoft.com/office/drawing/2014/main" id="{275A8828-2CAD-1FBF-52A8-F5AFD61D36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2D67BF6-0978-387F-4EAB-4CFA433604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11E425-1330-4E2D-A8A2-BF780BCFB4A9}" type="slidenum">
              <a:rPr lang="en-US" smtClean="0"/>
              <a:t>‹#›</a:t>
            </a:fld>
            <a:endParaRPr lang="en-US"/>
          </a:p>
        </p:txBody>
      </p:sp>
    </p:spTree>
    <p:extLst>
      <p:ext uri="{BB962C8B-B14F-4D97-AF65-F5344CB8AC3E}">
        <p14:creationId xmlns:p14="http://schemas.microsoft.com/office/powerpoint/2010/main" val="1329361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997E41-8A74-440F-8728-FC7F2D05942E}" type="datetimeFigureOut">
              <a:rPr lang="en-US" smtClean="0"/>
              <a:t>5/29/2026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B7610C-C9A5-481B-9FB9-351E71BF674B}" type="slidenum">
              <a:rPr lang="en-US" smtClean="0"/>
              <a:t>‹#›</a:t>
            </a:fld>
            <a:endParaRPr lang="en-US"/>
          </a:p>
        </p:txBody>
      </p:sp>
      <p:sp>
        <p:nvSpPr>
          <p:cNvPr id="7" name="Rectangle 6"/>
          <p:cNvSpPr/>
          <p:nvPr userDrawn="1"/>
        </p:nvSpPr>
        <p:spPr>
          <a:xfrm>
            <a:off x="0" y="0"/>
            <a:ext cx="12192000" cy="573741"/>
          </a:xfrm>
          <a:prstGeom prst="rect">
            <a:avLst/>
          </a:prstGeom>
          <a:solidFill>
            <a:srgbClr val="00206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9952552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99899" y="2693745"/>
            <a:ext cx="6192202" cy="1272389"/>
          </a:xfrm>
          <a:prstGeom prst="rect">
            <a:avLst/>
          </a:prstGeom>
          <a:solidFill>
            <a:srgbClr val="00206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DEEP LEARNING COURSE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FALL 2024</a:t>
            </a:r>
          </a:p>
        </p:txBody>
      </p:sp>
      <p:sp>
        <p:nvSpPr>
          <p:cNvPr id="4" name="Rectangle 3"/>
          <p:cNvSpPr/>
          <p:nvPr/>
        </p:nvSpPr>
        <p:spPr>
          <a:xfrm>
            <a:off x="0" y="0"/>
            <a:ext cx="12192000" cy="1362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8107680" y="6263640"/>
            <a:ext cx="35204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Usman Khan, PhD</a:t>
            </a:r>
          </a:p>
        </p:txBody>
      </p:sp>
    </p:spTree>
    <p:extLst>
      <p:ext uri="{BB962C8B-B14F-4D97-AF65-F5344CB8AC3E}">
        <p14:creationId xmlns:p14="http://schemas.microsoft.com/office/powerpoint/2010/main" val="1188647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0BFD0-469B-46C3-D4D7-25416BB7388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8DD5963-1DE8-B1F5-68D6-7FC6AD11CB9D}"/>
              </a:ext>
            </a:extLst>
          </p:cNvPr>
          <p:cNvSpPr txBox="1"/>
          <p:nvPr/>
        </p:nvSpPr>
        <p:spPr>
          <a:xfrm>
            <a:off x="1911927" y="74521"/>
            <a:ext cx="9034496"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SEQ TO SEQ MODEL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17553566-969B-2538-7EC3-05D89E7C2BF9}"/>
              </a:ext>
            </a:extLst>
          </p:cNvPr>
          <p:cNvPicPr>
            <a:picLocks noChangeAspect="1"/>
          </p:cNvPicPr>
          <p:nvPr/>
        </p:nvPicPr>
        <p:blipFill>
          <a:blip r:embed="rId2"/>
          <a:stretch>
            <a:fillRect/>
          </a:stretch>
        </p:blipFill>
        <p:spPr>
          <a:xfrm>
            <a:off x="1382621" y="701039"/>
            <a:ext cx="9426757" cy="3132091"/>
          </a:xfrm>
          <a:prstGeom prst="rect">
            <a:avLst/>
          </a:prstGeom>
        </p:spPr>
      </p:pic>
      <p:sp>
        <p:nvSpPr>
          <p:cNvPr id="8" name="TextBox 7">
            <a:extLst>
              <a:ext uri="{FF2B5EF4-FFF2-40B4-BE49-F238E27FC236}">
                <a16:creationId xmlns:a16="http://schemas.microsoft.com/office/drawing/2014/main" id="{C8B61F97-D324-4778-44FD-CC944C4BFD5B}"/>
              </a:ext>
            </a:extLst>
          </p:cNvPr>
          <p:cNvSpPr txBox="1"/>
          <p:nvPr/>
        </p:nvSpPr>
        <p:spPr>
          <a:xfrm>
            <a:off x="0" y="4280170"/>
            <a:ext cx="5770880" cy="1754326"/>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800" b="1" i="0" u="sng" strike="noStrike" kern="1200" cap="none" spc="0" normalizeH="0" baseline="0" noProof="0" dirty="0">
                <a:ln>
                  <a:noFill/>
                </a:ln>
                <a:solidFill>
                  <a:prstClr val="black"/>
                </a:solidFill>
                <a:effectLst/>
                <a:uLnTx/>
                <a:uFillTx/>
                <a:latin typeface="Calibri" panose="020F0502020204030204"/>
                <a:ea typeface="+mn-ea"/>
                <a:cs typeface="+mn-cs"/>
              </a:rPr>
              <a:t>Step 1</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Input Shape : (Batch Size, Number of Encoder Time Steps)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800" b="1" i="0" u="sng" strike="noStrike" kern="1200" cap="none" spc="0" normalizeH="0" baseline="0" noProof="0" dirty="0">
                <a:ln>
                  <a:noFill/>
                </a:ln>
                <a:solidFill>
                  <a:prstClr val="black"/>
                </a:solidFill>
                <a:effectLst/>
                <a:uLnTx/>
                <a:uFillTx/>
                <a:latin typeface="Calibri" panose="020F0502020204030204"/>
                <a:ea typeface="+mn-ea"/>
                <a:cs typeface="+mn-cs"/>
              </a:rPr>
              <a:t>Step 2</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Embedding Layer : (Batch Size, Number of Encoder Time Steps, Embedding Dimension)</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800" b="1" i="0" u="sng" strike="noStrike" kern="1200" cap="none" spc="0" normalizeH="0" baseline="0" noProof="0" dirty="0">
                <a:ln>
                  <a:noFill/>
                </a:ln>
                <a:solidFill>
                  <a:prstClr val="black"/>
                </a:solidFill>
                <a:effectLst/>
                <a:uLnTx/>
                <a:uFillTx/>
                <a:latin typeface="Calibri" panose="020F0502020204030204"/>
                <a:ea typeface="+mn-ea"/>
                <a:cs typeface="+mn-cs"/>
              </a:rPr>
              <a:t>Step 3</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Passed through the Encoder RNN block to generate (Batch Size, Encoder RNN Dimension)</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27D5EFD-CF5F-326F-4FB1-B26DEED6CC0E}"/>
                  </a:ext>
                </a:extLst>
              </p:cNvPr>
              <p:cNvSpPr txBox="1"/>
              <p:nvPr/>
            </p:nvSpPr>
            <p:spPr>
              <a:xfrm>
                <a:off x="5974080" y="4127770"/>
                <a:ext cx="5892800" cy="2585323"/>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800" b="1" i="0" u="sng" strike="noStrike" kern="1200" cap="none" spc="0" normalizeH="0" baseline="0" noProof="0" dirty="0">
                    <a:ln>
                      <a:noFill/>
                    </a:ln>
                    <a:solidFill>
                      <a:prstClr val="black"/>
                    </a:solidFill>
                    <a:effectLst/>
                    <a:uLnTx/>
                    <a:uFillTx/>
                    <a:latin typeface="Calibri" panose="020F0502020204030204"/>
                    <a:ea typeface="+mn-ea"/>
                    <a:cs typeface="+mn-cs"/>
                  </a:rPr>
                  <a:t>Step 1</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Input Shape : h: (Batch Size, Encoder RNN Dimension) &amp; </a:t>
                </a:r>
                <a14:m>
                  <m:oMath xmlns:m="http://schemas.openxmlformats.org/officeDocument/2006/math">
                    <m:sSub>
                      <m:sSubPr>
                        <m:ctrlP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𝑋</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𝑛</m:t>
                        </m:r>
                      </m:sub>
                    </m:sSub>
                  </m:oMath>
                </a14:m>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(Batch Size, No of Decoder Time Steps)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800" b="1" i="0" u="sng" strike="noStrike" kern="1200" cap="none" spc="0" normalizeH="0" baseline="0" noProof="0" dirty="0">
                    <a:ln>
                      <a:noFill/>
                    </a:ln>
                    <a:solidFill>
                      <a:prstClr val="black"/>
                    </a:solidFill>
                    <a:effectLst/>
                    <a:uLnTx/>
                    <a:uFillTx/>
                    <a:latin typeface="Calibri" panose="020F0502020204030204"/>
                    <a:ea typeface="+mn-ea"/>
                    <a:cs typeface="+mn-cs"/>
                  </a:rPr>
                  <a:t>Step 2</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Embedding Layer : (Batch Size, Number of Decoder Time Steps, Embedding Dimension)</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800" b="1" i="0" u="sng" strike="noStrike" kern="1200" cap="none" spc="0" normalizeH="0" baseline="0" noProof="0" dirty="0">
                    <a:ln>
                      <a:noFill/>
                    </a:ln>
                    <a:solidFill>
                      <a:prstClr val="black"/>
                    </a:solidFill>
                    <a:effectLst/>
                    <a:uLnTx/>
                    <a:uFillTx/>
                    <a:latin typeface="Calibri" panose="020F0502020204030204"/>
                    <a:ea typeface="+mn-ea"/>
                    <a:cs typeface="+mn-cs"/>
                  </a:rPr>
                  <a:t>Step 3</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Passed through the Encoder RNN block to generate (Batch Size, Number of Decoder Time Steps,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output_vocab_size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800" b="1" i="0" u="sng" strike="noStrike" kern="1200" cap="none" spc="0" normalizeH="0" baseline="0" noProof="0" dirty="0">
                    <a:ln>
                      <a:noFill/>
                    </a:ln>
                    <a:solidFill>
                      <a:prstClr val="black"/>
                    </a:solidFill>
                    <a:effectLst/>
                    <a:uLnTx/>
                    <a:uFillTx/>
                    <a:latin typeface="Calibri" panose="020F0502020204030204"/>
                    <a:ea typeface="+mn-ea"/>
                    <a:cs typeface="+mn-cs"/>
                  </a:rPr>
                  <a:t>Step_4</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Argmax taken over the last dimension to predict the exact vocab word next</a:t>
                </a:r>
              </a:p>
            </p:txBody>
          </p:sp>
        </mc:Choice>
        <mc:Fallback xmlns="">
          <p:sp>
            <p:nvSpPr>
              <p:cNvPr id="10" name="TextBox 9">
                <a:extLst>
                  <a:ext uri="{FF2B5EF4-FFF2-40B4-BE49-F238E27FC236}">
                    <a16:creationId xmlns:a16="http://schemas.microsoft.com/office/drawing/2014/main" id="{727D5EFD-CF5F-326F-4FB1-B26DEED6CC0E}"/>
                  </a:ext>
                </a:extLst>
              </p:cNvPr>
              <p:cNvSpPr txBox="1">
                <a:spLocks noRot="1" noChangeAspect="1" noMove="1" noResize="1" noEditPoints="1" noAdjustHandles="1" noChangeArrowheads="1" noChangeShapeType="1" noTextEdit="1"/>
              </p:cNvSpPr>
              <p:nvPr/>
            </p:nvSpPr>
            <p:spPr>
              <a:xfrm>
                <a:off x="5974080" y="4127770"/>
                <a:ext cx="5892800" cy="2585323"/>
              </a:xfrm>
              <a:prstGeom prst="rect">
                <a:avLst/>
              </a:prstGeom>
              <a:blipFill>
                <a:blip r:embed="rId3"/>
                <a:stretch>
                  <a:fillRect l="-620" t="-1179" r="-724" b="-2830"/>
                </a:stretch>
              </a:blipFill>
            </p:spPr>
            <p:txBody>
              <a:bodyPr/>
              <a:lstStyle/>
              <a:p>
                <a:r>
                  <a:rPr lang="en-US">
                    <a:noFill/>
                  </a:rPr>
                  <a:t> </a:t>
                </a:r>
              </a:p>
            </p:txBody>
          </p:sp>
        </mc:Fallback>
      </mc:AlternateContent>
    </p:spTree>
    <p:extLst>
      <p:ext uri="{BB962C8B-B14F-4D97-AF65-F5344CB8AC3E}">
        <p14:creationId xmlns:p14="http://schemas.microsoft.com/office/powerpoint/2010/main" val="588922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BC22B-9DCE-86BC-9598-1F3E96CA6A4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EFA4C0C-8CD2-FFBD-44EB-053429B27374}"/>
              </a:ext>
            </a:extLst>
          </p:cNvPr>
          <p:cNvSpPr txBox="1"/>
          <p:nvPr/>
        </p:nvSpPr>
        <p:spPr>
          <a:xfrm>
            <a:off x="1911927" y="74521"/>
            <a:ext cx="9034496"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SEQ TO SEQ MODEL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04824107-2614-B334-9A3E-0521B3775F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9242" y="831810"/>
            <a:ext cx="3967779" cy="5951669"/>
          </a:xfrm>
          <a:prstGeom prst="rect">
            <a:avLst/>
          </a:prstGeom>
        </p:spPr>
      </p:pic>
    </p:spTree>
    <p:extLst>
      <p:ext uri="{BB962C8B-B14F-4D97-AF65-F5344CB8AC3E}">
        <p14:creationId xmlns:p14="http://schemas.microsoft.com/office/powerpoint/2010/main" val="1238483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E523B-8370-A44E-7473-1ED93FFF664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2B68F0-354A-D83A-C5BC-387DF16DF00A}"/>
              </a:ext>
            </a:extLst>
          </p:cNvPr>
          <p:cNvSpPr txBox="1"/>
          <p:nvPr/>
        </p:nvSpPr>
        <p:spPr>
          <a:xfrm>
            <a:off x="1911927" y="74521"/>
            <a:ext cx="9034496"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SEQ TO SEQ MODEL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42D2BAA6-FE2B-EF77-923A-69A337E894F5}"/>
              </a:ext>
            </a:extLst>
          </p:cNvPr>
          <p:cNvPicPr>
            <a:picLocks noChangeAspect="1"/>
          </p:cNvPicPr>
          <p:nvPr/>
        </p:nvPicPr>
        <p:blipFill>
          <a:blip r:embed="rId3"/>
          <a:stretch>
            <a:fillRect/>
          </a:stretch>
        </p:blipFill>
        <p:spPr>
          <a:xfrm>
            <a:off x="1264530" y="2773589"/>
            <a:ext cx="8992379" cy="2103302"/>
          </a:xfrm>
          <a:prstGeom prst="rect">
            <a:avLst/>
          </a:prstGeom>
        </p:spPr>
      </p:pic>
      <p:sp>
        <p:nvSpPr>
          <p:cNvPr id="6" name="TextBox 5">
            <a:extLst>
              <a:ext uri="{FF2B5EF4-FFF2-40B4-BE49-F238E27FC236}">
                <a16:creationId xmlns:a16="http://schemas.microsoft.com/office/drawing/2014/main" id="{8B85C448-0ACD-E9D1-4DC7-9ABBFC59F4FC}"/>
              </a:ext>
            </a:extLst>
          </p:cNvPr>
          <p:cNvSpPr txBox="1"/>
          <p:nvPr/>
        </p:nvSpPr>
        <p:spPr>
          <a:xfrm>
            <a:off x="995680" y="1625600"/>
            <a:ext cx="115824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FF0000"/>
                </a:solidFill>
                <a:effectLst/>
                <a:uLnTx/>
                <a:uFillTx/>
                <a:latin typeface="Calibri" panose="020F0502020204030204"/>
                <a:ea typeface="+mn-ea"/>
                <a:cs typeface="+mn-cs"/>
              </a:rPr>
              <a:t>data_en</a:t>
            </a:r>
            <a:endPar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81FA247B-A897-451D-1E18-E206C36C5419}"/>
              </a:ext>
            </a:extLst>
          </p:cNvPr>
          <p:cNvSpPr txBox="1"/>
          <p:nvPr/>
        </p:nvSpPr>
        <p:spPr>
          <a:xfrm>
            <a:off x="2326640" y="1625600"/>
            <a:ext cx="130048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FF0000"/>
                </a:solidFill>
                <a:effectLst/>
                <a:uLnTx/>
                <a:uFillTx/>
                <a:latin typeface="Calibri" panose="020F0502020204030204"/>
                <a:ea typeface="+mn-ea"/>
                <a:cs typeface="+mn-cs"/>
              </a:rPr>
              <a:t>data_fr_in</a:t>
            </a:r>
            <a:endPar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42014BEF-BF18-1C78-E077-CE31952182EA}"/>
              </a:ext>
            </a:extLst>
          </p:cNvPr>
          <p:cNvSpPr txBox="1"/>
          <p:nvPr/>
        </p:nvSpPr>
        <p:spPr>
          <a:xfrm>
            <a:off x="3799840" y="1625600"/>
            <a:ext cx="15240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FF0000"/>
                </a:solidFill>
                <a:effectLst/>
                <a:uLnTx/>
                <a:uFillTx/>
                <a:latin typeface="Calibri" panose="020F0502020204030204"/>
                <a:ea typeface="+mn-ea"/>
                <a:cs typeface="+mn-cs"/>
              </a:rPr>
              <a:t>data_fr_out</a:t>
            </a:r>
            <a:endPar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8A70943A-8AF5-A675-D7A7-AD1B73AC35BD}"/>
              </a:ext>
            </a:extLst>
          </p:cNvPr>
          <p:cNvCxnSpPr>
            <a:stCxn id="6" idx="2"/>
          </p:cNvCxnSpPr>
          <p:nvPr/>
        </p:nvCxnSpPr>
        <p:spPr>
          <a:xfrm>
            <a:off x="1574800" y="1994932"/>
            <a:ext cx="477520" cy="77865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CE313A5-3D76-30FB-7FB3-1E15DCFED500}"/>
              </a:ext>
            </a:extLst>
          </p:cNvPr>
          <p:cNvCxnSpPr/>
          <p:nvPr/>
        </p:nvCxnSpPr>
        <p:spPr>
          <a:xfrm>
            <a:off x="3149600" y="1994931"/>
            <a:ext cx="477520" cy="77865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BB46430-878E-BB50-3CCD-2A5B01D03401}"/>
              </a:ext>
            </a:extLst>
          </p:cNvPr>
          <p:cNvCxnSpPr/>
          <p:nvPr/>
        </p:nvCxnSpPr>
        <p:spPr>
          <a:xfrm>
            <a:off x="4622800" y="1936357"/>
            <a:ext cx="477520" cy="77865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4111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0AF8E-ACEA-B8C5-9942-2A00116F2A6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EE9A671-C441-8248-DEB4-EF55AB5D4B23}"/>
              </a:ext>
            </a:extLst>
          </p:cNvPr>
          <p:cNvSpPr txBox="1"/>
          <p:nvPr/>
        </p:nvSpPr>
        <p:spPr>
          <a:xfrm>
            <a:off x="1911927" y="74521"/>
            <a:ext cx="9034496"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SEQ TO SEQ MODEL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D018B342-9652-8AEE-3AC0-F6A440494534}"/>
              </a:ext>
            </a:extLst>
          </p:cNvPr>
          <p:cNvPicPr>
            <a:picLocks noChangeAspect="1"/>
          </p:cNvPicPr>
          <p:nvPr/>
        </p:nvPicPr>
        <p:blipFill>
          <a:blip r:embed="rId2"/>
          <a:stretch>
            <a:fillRect/>
          </a:stretch>
        </p:blipFill>
        <p:spPr>
          <a:xfrm>
            <a:off x="1394073" y="920758"/>
            <a:ext cx="8916173" cy="5265876"/>
          </a:xfrm>
          <a:prstGeom prst="rect">
            <a:avLst/>
          </a:prstGeom>
        </p:spPr>
      </p:pic>
    </p:spTree>
    <p:extLst>
      <p:ext uri="{BB962C8B-B14F-4D97-AF65-F5344CB8AC3E}">
        <p14:creationId xmlns:p14="http://schemas.microsoft.com/office/powerpoint/2010/main" val="1375408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16445-8D8B-61EF-41A9-A7D6413CCC8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A99A1C-2A9F-5BB8-D107-AB3D4FA455E0}"/>
              </a:ext>
            </a:extLst>
          </p:cNvPr>
          <p:cNvSpPr txBox="1"/>
          <p:nvPr/>
        </p:nvSpPr>
        <p:spPr>
          <a:xfrm>
            <a:off x="1911927" y="74521"/>
            <a:ext cx="9034496"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SEQ TO SEQ MODEL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F18430F4-9325-DBC1-85A2-022B7314E193}"/>
              </a:ext>
            </a:extLst>
          </p:cNvPr>
          <p:cNvPicPr>
            <a:picLocks noChangeAspect="1"/>
          </p:cNvPicPr>
          <p:nvPr/>
        </p:nvPicPr>
        <p:blipFill>
          <a:blip r:embed="rId2"/>
          <a:srcRect r="8386"/>
          <a:stretch>
            <a:fillRect/>
          </a:stretch>
        </p:blipFill>
        <p:spPr>
          <a:xfrm>
            <a:off x="1325466" y="905518"/>
            <a:ext cx="8740897" cy="1737511"/>
          </a:xfrm>
          <a:prstGeom prst="rect">
            <a:avLst/>
          </a:prstGeom>
        </p:spPr>
      </p:pic>
      <p:pic>
        <p:nvPicPr>
          <p:cNvPr id="7" name="Picture 6">
            <a:extLst>
              <a:ext uri="{FF2B5EF4-FFF2-40B4-BE49-F238E27FC236}">
                <a16:creationId xmlns:a16="http://schemas.microsoft.com/office/drawing/2014/main" id="{AC2A1CF7-F7EC-BBE9-5A1E-1FFB0601564C}"/>
              </a:ext>
            </a:extLst>
          </p:cNvPr>
          <p:cNvPicPr>
            <a:picLocks noChangeAspect="1"/>
          </p:cNvPicPr>
          <p:nvPr/>
        </p:nvPicPr>
        <p:blipFill>
          <a:blip r:embed="rId3"/>
          <a:stretch>
            <a:fillRect/>
          </a:stretch>
        </p:blipFill>
        <p:spPr>
          <a:xfrm>
            <a:off x="1325466" y="2643029"/>
            <a:ext cx="8740897" cy="3528366"/>
          </a:xfrm>
          <a:prstGeom prst="rect">
            <a:avLst/>
          </a:prstGeom>
        </p:spPr>
      </p:pic>
    </p:spTree>
    <p:extLst>
      <p:ext uri="{BB962C8B-B14F-4D97-AF65-F5344CB8AC3E}">
        <p14:creationId xmlns:p14="http://schemas.microsoft.com/office/powerpoint/2010/main" val="146363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8AA21-47B7-02DF-2B23-5F167A6C940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F484D75-C0B3-EC19-EF35-4545F865446B}"/>
              </a:ext>
            </a:extLst>
          </p:cNvPr>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ATTENTION MECHANISM</a:t>
            </a:r>
          </a:p>
        </p:txBody>
      </p:sp>
      <p:sp>
        <p:nvSpPr>
          <p:cNvPr id="2" name="TextBox 1">
            <a:extLst>
              <a:ext uri="{FF2B5EF4-FFF2-40B4-BE49-F238E27FC236}">
                <a16:creationId xmlns:a16="http://schemas.microsoft.com/office/drawing/2014/main" id="{93FABAC7-C628-33AC-FD9D-9A1FF5231527}"/>
              </a:ext>
            </a:extLst>
          </p:cNvPr>
          <p:cNvSpPr txBox="1"/>
          <p:nvPr/>
        </p:nvSpPr>
        <p:spPr>
          <a:xfrm>
            <a:off x="516367" y="1151068"/>
            <a:ext cx="11112649" cy="452431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We saw how the context or thought vector from the last time step of the encoder is fed into the decoder as the initial hidden state.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srgbClr val="0070C0"/>
                </a:solidFill>
                <a:effectLst/>
                <a:uLnTx/>
                <a:uFillTx/>
                <a:latin typeface="Calibri" panose="020F0502020204030204"/>
                <a:ea typeface="+mn-ea"/>
                <a:cs typeface="+mn-cs"/>
              </a:rPr>
              <a:t>As the context flows through the time steps on the decoder, the signal gets combined with the decoder output and progressively gets weaker and weaker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result is that the context does not have much effect on the later time steps in the decoder.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result is that the context does not have much effect on the later time steps in the decoder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1" u="none" strike="noStrike" kern="1200" cap="none" spc="0" normalizeH="0" baseline="0" noProof="0" dirty="0">
                <a:ln>
                  <a:noFill/>
                </a:ln>
                <a:solidFill>
                  <a:srgbClr val="0070C0"/>
                </a:solidFill>
                <a:effectLst/>
                <a:uLnTx/>
                <a:uFillTx/>
                <a:latin typeface="Calibri" panose="020F0502020204030204"/>
                <a:ea typeface="+mn-ea"/>
                <a:cs typeface="+mn-cs"/>
              </a:rPr>
              <a:t>The attention mechanism provides access to all encoder hidden states at every time step on the decoder. The decoder learns which part of the encoder states to pay more attention to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use of attention is not limited to seq2seq networks. For example, attention is a key component in the “Embed, Encode, Attend, Predict” formula for creating state-of-the-art deep learning models for NLP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Consider an encoder-decoder architecture where the input and output time steps are denoted by indices </a:t>
            </a:r>
            <a:r>
              <a:rPr kumimoji="0" lang="en-US" sz="1800" b="0" i="1" u="none" strike="noStrike" kern="1200" cap="none" spc="0" normalizeH="0" baseline="0" noProof="0" dirty="0" err="1">
                <a:ln>
                  <a:noFill/>
                </a:ln>
                <a:solidFill>
                  <a:prstClr val="black"/>
                </a:solidFill>
                <a:effectLst/>
                <a:uLnTx/>
                <a:uFillTx/>
                <a:latin typeface="Calibri" panose="020F0502020204030204"/>
                <a:ea typeface="+mn-ea"/>
                <a:cs typeface="+mn-cs"/>
              </a:rPr>
              <a:t>i</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j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respectively, and the </a:t>
            </a: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hidden states on the encoder and decoder at these respective time steps are denoted by </a:t>
            </a:r>
            <a:r>
              <a:rPr kumimoji="0" lang="en-US" sz="1800" b="1" i="1" u="none" strike="noStrike" kern="1200" cap="none" spc="0" normalizeH="0" baseline="0" noProof="0" dirty="0">
                <a:ln>
                  <a:noFill/>
                </a:ln>
                <a:solidFill>
                  <a:srgbClr val="FF0000"/>
                </a:solidFill>
                <a:effectLst/>
                <a:uLnTx/>
                <a:uFillTx/>
                <a:latin typeface="Calibri" panose="020F0502020204030204"/>
                <a:ea typeface="+mn-ea"/>
                <a:cs typeface="+mn-cs"/>
              </a:rPr>
              <a:t>hi </a:t>
            </a: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and </a:t>
            </a:r>
            <a:r>
              <a:rPr kumimoji="0" lang="en-US" sz="1800" b="1" i="1" u="none" strike="noStrike" kern="1200" cap="none" spc="0" normalizeH="0" baseline="0" noProof="0" dirty="0" err="1">
                <a:ln>
                  <a:noFill/>
                </a:ln>
                <a:solidFill>
                  <a:srgbClr val="FF0000"/>
                </a:solidFill>
                <a:effectLst/>
                <a:uLnTx/>
                <a:uFillTx/>
                <a:latin typeface="Calibri" panose="020F0502020204030204"/>
                <a:ea typeface="+mn-ea"/>
                <a:cs typeface="+mn-cs"/>
              </a:rPr>
              <a:t>sj</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Inputs to the encoder are denoted by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xi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outputs from the decoder are denoted by </a:t>
            </a:r>
            <a:r>
              <a:rPr kumimoji="0" lang="en-US" sz="1800" b="0" i="1" u="none" strike="noStrike" kern="1200" cap="none" spc="0" normalizeH="0" baseline="0" noProof="0" dirty="0" err="1">
                <a:ln>
                  <a:noFill/>
                </a:ln>
                <a:solidFill>
                  <a:prstClr val="black"/>
                </a:solidFill>
                <a:effectLst/>
                <a:uLnTx/>
                <a:uFillTx/>
                <a:latin typeface="Calibri" panose="020F0502020204030204"/>
                <a:ea typeface="+mn-ea"/>
                <a:cs typeface="+mn-cs"/>
              </a:rPr>
              <a:t>yj</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0F1E1695-8B7B-4B76-2BF1-945DE8960429}"/>
              </a:ext>
            </a:extLst>
          </p:cNvPr>
          <p:cNvPicPr>
            <a:picLocks noChangeAspect="1"/>
          </p:cNvPicPr>
          <p:nvPr/>
        </p:nvPicPr>
        <p:blipFill>
          <a:blip r:embed="rId3"/>
          <a:stretch>
            <a:fillRect/>
          </a:stretch>
        </p:blipFill>
        <p:spPr>
          <a:xfrm>
            <a:off x="4868957" y="4985538"/>
            <a:ext cx="2611244" cy="1535183"/>
          </a:xfrm>
          <a:prstGeom prst="rect">
            <a:avLst/>
          </a:prstGeom>
        </p:spPr>
      </p:pic>
    </p:spTree>
    <p:extLst>
      <p:ext uri="{BB962C8B-B14F-4D97-AF65-F5344CB8AC3E}">
        <p14:creationId xmlns:p14="http://schemas.microsoft.com/office/powerpoint/2010/main" val="1785555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227FB-6D9B-B131-B421-FCF263C34A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0076A67-E513-991B-CDFD-5DD4716BE753}"/>
              </a:ext>
            </a:extLst>
          </p:cNvPr>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ATTENTION MECHANISM</a:t>
            </a:r>
          </a:p>
        </p:txBody>
      </p:sp>
      <p:sp>
        <p:nvSpPr>
          <p:cNvPr id="3" name="TextBox 2">
            <a:extLst>
              <a:ext uri="{FF2B5EF4-FFF2-40B4-BE49-F238E27FC236}">
                <a16:creationId xmlns:a16="http://schemas.microsoft.com/office/drawing/2014/main" id="{73EC420D-F820-CB79-C2FD-AC2A2041E405}"/>
              </a:ext>
            </a:extLst>
          </p:cNvPr>
          <p:cNvSpPr txBox="1"/>
          <p:nvPr/>
        </p:nvSpPr>
        <p:spPr>
          <a:xfrm>
            <a:off x="330740" y="972766"/>
            <a:ext cx="11624554" cy="6662721"/>
          </a:xfrm>
          <a:prstGeom prst="rect">
            <a:avLst/>
          </a:prstGeom>
          <a:noFill/>
        </p:spPr>
        <p:txBody>
          <a:bodyPr wrap="square" rtlCol="0">
            <a:spAutoFit/>
          </a:bodyPr>
          <a:lstStyle/>
          <a:p>
            <a:pPr marL="285750" indent="-285750">
              <a:lnSpc>
                <a:spcPct val="200000"/>
              </a:lnSpc>
              <a:buFont typeface="Wingdings" panose="05000000000000000000" pitchFamily="2" charset="2"/>
              <a:buChar char="q"/>
            </a:pPr>
            <a:r>
              <a:rPr lang="en-US" dirty="0"/>
              <a:t>Essentially, </a:t>
            </a:r>
            <a:r>
              <a:rPr lang="en-US" b="1" dirty="0">
                <a:solidFill>
                  <a:srgbClr val="FF0000"/>
                </a:solidFill>
              </a:rPr>
              <a:t>the attention mechanism provides a way to score tokens in the target against all tokens in the source and modify the input signal to the decoder accordingly</a:t>
            </a:r>
            <a:r>
              <a:rPr lang="en-US" dirty="0"/>
              <a:t>. Consider an encoder-decoder architecture where the input and output time steps are denoted by indices </a:t>
            </a:r>
            <a:r>
              <a:rPr lang="en-US" i="1" dirty="0" err="1"/>
              <a:t>i</a:t>
            </a:r>
            <a:r>
              <a:rPr lang="en-US" i="1" dirty="0"/>
              <a:t> </a:t>
            </a:r>
            <a:r>
              <a:rPr lang="en-US" dirty="0"/>
              <a:t>and </a:t>
            </a:r>
            <a:r>
              <a:rPr lang="en-US" i="1" dirty="0"/>
              <a:t>j </a:t>
            </a:r>
            <a:r>
              <a:rPr lang="en-US" dirty="0"/>
              <a:t>respectively, and the </a:t>
            </a:r>
            <a:r>
              <a:rPr lang="en-US" dirty="0">
                <a:solidFill>
                  <a:srgbClr val="0070C0"/>
                </a:solidFill>
              </a:rPr>
              <a:t>hidden states on the encoder and decoder at these respective time steps are denoted by </a:t>
            </a:r>
            <a:r>
              <a:rPr lang="en-US" i="1" dirty="0" err="1">
                <a:solidFill>
                  <a:srgbClr val="0070C0"/>
                </a:solidFill>
              </a:rPr>
              <a:t>h_i</a:t>
            </a:r>
            <a:r>
              <a:rPr lang="en-US" i="1" dirty="0">
                <a:solidFill>
                  <a:srgbClr val="0070C0"/>
                </a:solidFill>
              </a:rPr>
              <a:t> </a:t>
            </a:r>
            <a:r>
              <a:rPr lang="en-US" dirty="0">
                <a:solidFill>
                  <a:srgbClr val="0070C0"/>
                </a:solidFill>
              </a:rPr>
              <a:t>and </a:t>
            </a:r>
            <a:r>
              <a:rPr lang="en-US" i="1" dirty="0" err="1">
                <a:solidFill>
                  <a:srgbClr val="0070C0"/>
                </a:solidFill>
              </a:rPr>
              <a:t>s_j</a:t>
            </a:r>
            <a:r>
              <a:rPr lang="en-US" dirty="0">
                <a:solidFill>
                  <a:srgbClr val="0070C0"/>
                </a:solidFill>
              </a:rPr>
              <a:t>.</a:t>
            </a:r>
            <a:r>
              <a:rPr lang="en-US" dirty="0"/>
              <a:t> Inputs to the encoder are denoted by </a:t>
            </a:r>
            <a:r>
              <a:rPr lang="en-US" i="1" dirty="0"/>
              <a:t>xi</a:t>
            </a:r>
            <a:r>
              <a:rPr lang="en-US" dirty="0"/>
              <a:t>, and outputs from the decoder are denoted by </a:t>
            </a:r>
            <a:r>
              <a:rPr lang="en-US" i="1" dirty="0" err="1"/>
              <a:t>y_j</a:t>
            </a:r>
            <a:r>
              <a:rPr lang="en-US" dirty="0"/>
              <a:t>. </a:t>
            </a:r>
          </a:p>
          <a:p>
            <a:pPr marL="285750" indent="-285750">
              <a:lnSpc>
                <a:spcPct val="200000"/>
              </a:lnSpc>
              <a:buFont typeface="Wingdings" panose="05000000000000000000" pitchFamily="2" charset="2"/>
              <a:buChar char="q"/>
            </a:pPr>
            <a:r>
              <a:rPr lang="en-US" dirty="0">
                <a:solidFill>
                  <a:srgbClr val="0070C0"/>
                </a:solidFill>
              </a:rPr>
              <a:t>In an encoder-decoder network without attention, the value of decoder state </a:t>
            </a:r>
            <a:r>
              <a:rPr lang="en-US" i="1" dirty="0" err="1">
                <a:solidFill>
                  <a:srgbClr val="0070C0"/>
                </a:solidFill>
              </a:rPr>
              <a:t>s_j</a:t>
            </a:r>
            <a:r>
              <a:rPr lang="en-US" i="1" dirty="0">
                <a:solidFill>
                  <a:srgbClr val="0070C0"/>
                </a:solidFill>
              </a:rPr>
              <a:t> </a:t>
            </a:r>
            <a:r>
              <a:rPr lang="en-US" dirty="0">
                <a:solidFill>
                  <a:srgbClr val="0070C0"/>
                </a:solidFill>
              </a:rPr>
              <a:t>is given by the hidden state </a:t>
            </a:r>
            <a:r>
              <a:rPr lang="en-US" i="1" dirty="0">
                <a:solidFill>
                  <a:srgbClr val="0070C0"/>
                </a:solidFill>
              </a:rPr>
              <a:t>s_j</a:t>
            </a:r>
            <a:r>
              <a:rPr lang="en-US" dirty="0">
                <a:solidFill>
                  <a:srgbClr val="0070C0"/>
                </a:solidFill>
              </a:rPr>
              <a:t>-1 and output </a:t>
            </a:r>
            <a:r>
              <a:rPr lang="en-US" i="1" dirty="0">
                <a:solidFill>
                  <a:srgbClr val="0070C0"/>
                </a:solidFill>
              </a:rPr>
              <a:t>y_j</a:t>
            </a:r>
            <a:r>
              <a:rPr lang="en-US" dirty="0">
                <a:solidFill>
                  <a:srgbClr val="0070C0"/>
                </a:solidFill>
              </a:rPr>
              <a:t>-1 at the previous time step</a:t>
            </a:r>
            <a:r>
              <a:rPr lang="en-US" dirty="0"/>
              <a:t>. The </a:t>
            </a:r>
            <a:r>
              <a:rPr lang="en-US" b="1" dirty="0">
                <a:solidFill>
                  <a:srgbClr val="00B050"/>
                </a:solidFill>
              </a:rPr>
              <a:t>attention mechanism adds a third signal </a:t>
            </a:r>
            <a:r>
              <a:rPr lang="en-US" b="1" i="1" dirty="0" err="1">
                <a:solidFill>
                  <a:srgbClr val="00B050"/>
                </a:solidFill>
              </a:rPr>
              <a:t>c_j</a:t>
            </a:r>
            <a:r>
              <a:rPr lang="en-US" b="1" dirty="0">
                <a:solidFill>
                  <a:srgbClr val="00B050"/>
                </a:solidFill>
              </a:rPr>
              <a:t>, known as the attention context</a:t>
            </a:r>
            <a:r>
              <a:rPr lang="en-US" dirty="0"/>
              <a:t>. With attention, therefore, the decoder’s hidden state </a:t>
            </a:r>
            <a:r>
              <a:rPr lang="en-US" i="1" dirty="0" err="1"/>
              <a:t>sj</a:t>
            </a:r>
            <a:r>
              <a:rPr lang="en-US" i="1" dirty="0"/>
              <a:t> </a:t>
            </a:r>
            <a:r>
              <a:rPr lang="en-US" dirty="0"/>
              <a:t>is a function of </a:t>
            </a:r>
            <a:r>
              <a:rPr lang="en-US" i="1" dirty="0"/>
              <a:t>y_j</a:t>
            </a:r>
            <a:r>
              <a:rPr lang="en-US" dirty="0"/>
              <a:t>-1, </a:t>
            </a:r>
            <a:r>
              <a:rPr lang="en-US" i="1" dirty="0"/>
              <a:t>s_j</a:t>
            </a:r>
            <a:r>
              <a:rPr lang="en-US" dirty="0"/>
              <a:t>-1, and </a:t>
            </a:r>
            <a:r>
              <a:rPr lang="en-US" i="1" dirty="0" err="1"/>
              <a:t>c_j</a:t>
            </a:r>
            <a:r>
              <a:rPr lang="en-US" dirty="0"/>
              <a:t>, which is shown as follows: </a:t>
            </a:r>
          </a:p>
          <a:p>
            <a:pPr>
              <a:lnSpc>
                <a:spcPct val="200000"/>
              </a:lnSpc>
            </a:pPr>
            <a:br>
              <a:rPr lang="en-US" dirty="0"/>
            </a:br>
            <a:br>
              <a:rPr lang="en-US" dirty="0"/>
            </a:br>
            <a:endParaRPr lang="en-US" dirty="0"/>
          </a:p>
        </p:txBody>
      </p:sp>
      <p:pic>
        <p:nvPicPr>
          <p:cNvPr id="7" name="Picture 6">
            <a:extLst>
              <a:ext uri="{FF2B5EF4-FFF2-40B4-BE49-F238E27FC236}">
                <a16:creationId xmlns:a16="http://schemas.microsoft.com/office/drawing/2014/main" id="{1378437A-31AA-62CB-60C4-20D0EEE96250}"/>
              </a:ext>
            </a:extLst>
          </p:cNvPr>
          <p:cNvPicPr>
            <a:picLocks noChangeAspect="1"/>
          </p:cNvPicPr>
          <p:nvPr/>
        </p:nvPicPr>
        <p:blipFill>
          <a:blip r:embed="rId3"/>
          <a:stretch>
            <a:fillRect/>
          </a:stretch>
        </p:blipFill>
        <p:spPr>
          <a:xfrm>
            <a:off x="4086646" y="5540102"/>
            <a:ext cx="4307757" cy="948248"/>
          </a:xfrm>
          <a:prstGeom prst="rect">
            <a:avLst/>
          </a:prstGeom>
        </p:spPr>
      </p:pic>
    </p:spTree>
    <p:extLst>
      <p:ext uri="{BB962C8B-B14F-4D97-AF65-F5344CB8AC3E}">
        <p14:creationId xmlns:p14="http://schemas.microsoft.com/office/powerpoint/2010/main" val="238690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F1228-3787-6B14-C244-9427A9E4578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BFB49C0-ABC8-7AA3-05CA-AABD4A5E176E}"/>
              </a:ext>
            </a:extLst>
          </p:cNvPr>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ATTENTION MECHANISM</a:t>
            </a:r>
          </a:p>
        </p:txBody>
      </p:sp>
      <p:sp>
        <p:nvSpPr>
          <p:cNvPr id="3" name="TextBox 2">
            <a:extLst>
              <a:ext uri="{FF2B5EF4-FFF2-40B4-BE49-F238E27FC236}">
                <a16:creationId xmlns:a16="http://schemas.microsoft.com/office/drawing/2014/main" id="{D52D6C4E-08C8-3FF4-771B-C219BBA38D41}"/>
              </a:ext>
            </a:extLst>
          </p:cNvPr>
          <p:cNvSpPr txBox="1"/>
          <p:nvPr/>
        </p:nvSpPr>
        <p:spPr>
          <a:xfrm>
            <a:off x="330740" y="972766"/>
            <a:ext cx="11624554" cy="3892732"/>
          </a:xfrm>
          <a:prstGeom prst="rect">
            <a:avLst/>
          </a:prstGeom>
          <a:noFill/>
        </p:spPr>
        <p:txBody>
          <a:bodyPr wrap="square" rtlCol="0">
            <a:spAutoFit/>
          </a:bodyPr>
          <a:lstStyle/>
          <a:p>
            <a:pPr marL="285750" indent="-285750">
              <a:lnSpc>
                <a:spcPct val="200000"/>
              </a:lnSpc>
              <a:buFont typeface="Wingdings" panose="05000000000000000000" pitchFamily="2" charset="2"/>
              <a:buChar char="q"/>
            </a:pPr>
            <a:r>
              <a:rPr lang="en-US" dirty="0"/>
              <a:t>The attention context signal </a:t>
            </a:r>
            <a:r>
              <a:rPr lang="en-US" i="1" dirty="0" err="1"/>
              <a:t>c_j</a:t>
            </a:r>
            <a:r>
              <a:rPr lang="en-US" i="1" dirty="0"/>
              <a:t> </a:t>
            </a:r>
            <a:r>
              <a:rPr lang="en-US" dirty="0"/>
              <a:t>is computed as follows. </a:t>
            </a:r>
            <a:r>
              <a:rPr lang="en-US" b="1" dirty="0">
                <a:solidFill>
                  <a:srgbClr val="FF0000"/>
                </a:solidFill>
                <a:effectLst>
                  <a:outerShdw blurRad="38100" dist="38100" dir="2700000" algn="tl">
                    <a:srgbClr val="000000">
                      <a:alpha val="43137"/>
                    </a:srgbClr>
                  </a:outerShdw>
                </a:effectLst>
              </a:rPr>
              <a:t>For every decoder step </a:t>
            </a:r>
            <a:r>
              <a:rPr lang="en-US" b="1" i="1" dirty="0">
                <a:solidFill>
                  <a:srgbClr val="FF0000"/>
                </a:solidFill>
                <a:effectLst>
                  <a:outerShdw blurRad="38100" dist="38100" dir="2700000" algn="tl">
                    <a:srgbClr val="000000">
                      <a:alpha val="43137"/>
                    </a:srgbClr>
                  </a:outerShdw>
                </a:effectLst>
              </a:rPr>
              <a:t>j</a:t>
            </a:r>
            <a:r>
              <a:rPr lang="en-US" b="1" dirty="0">
                <a:solidFill>
                  <a:srgbClr val="FF0000"/>
                </a:solidFill>
                <a:effectLst>
                  <a:outerShdw blurRad="38100" dist="38100" dir="2700000" algn="tl">
                    <a:srgbClr val="000000">
                      <a:alpha val="43137"/>
                    </a:srgbClr>
                  </a:outerShdw>
                </a:effectLst>
              </a:rPr>
              <a:t>, we compute the alignment between the decoder state </a:t>
            </a:r>
            <a:r>
              <a:rPr lang="en-US" b="1" i="1" dirty="0">
                <a:solidFill>
                  <a:srgbClr val="FF0000"/>
                </a:solidFill>
                <a:effectLst>
                  <a:outerShdw blurRad="38100" dist="38100" dir="2700000" algn="tl">
                    <a:srgbClr val="000000">
                      <a:alpha val="43137"/>
                    </a:srgbClr>
                  </a:outerShdw>
                </a:effectLst>
              </a:rPr>
              <a:t>s_j</a:t>
            </a:r>
            <a:r>
              <a:rPr lang="en-US" b="1" dirty="0">
                <a:solidFill>
                  <a:srgbClr val="FF0000"/>
                </a:solidFill>
                <a:effectLst>
                  <a:outerShdw blurRad="38100" dist="38100" dir="2700000" algn="tl">
                    <a:srgbClr val="000000">
                      <a:alpha val="43137"/>
                    </a:srgbClr>
                  </a:outerShdw>
                </a:effectLst>
              </a:rPr>
              <a:t>-1 and every encoder state </a:t>
            </a:r>
            <a:r>
              <a:rPr lang="en-US" b="1" i="1" dirty="0" err="1">
                <a:solidFill>
                  <a:srgbClr val="FF0000"/>
                </a:solidFill>
                <a:effectLst>
                  <a:outerShdw blurRad="38100" dist="38100" dir="2700000" algn="tl">
                    <a:srgbClr val="000000">
                      <a:alpha val="43137"/>
                    </a:srgbClr>
                  </a:outerShdw>
                </a:effectLst>
              </a:rPr>
              <a:t>h_i</a:t>
            </a:r>
            <a:r>
              <a:rPr lang="en-US" b="1" dirty="0">
                <a:solidFill>
                  <a:srgbClr val="FF0000"/>
                </a:solidFill>
                <a:effectLst>
                  <a:outerShdw blurRad="38100" dist="38100" dir="2700000" algn="tl">
                    <a:srgbClr val="000000">
                      <a:alpha val="43137"/>
                    </a:srgbClr>
                  </a:outerShdw>
                </a:effectLst>
              </a:rPr>
              <a:t>. </a:t>
            </a:r>
            <a:r>
              <a:rPr lang="en-US" dirty="0">
                <a:solidFill>
                  <a:srgbClr val="0070C0"/>
                </a:solidFill>
              </a:rPr>
              <a:t>This gives us a set of </a:t>
            </a:r>
            <a:r>
              <a:rPr lang="en-US" i="1" dirty="0">
                <a:solidFill>
                  <a:srgbClr val="0070C0"/>
                </a:solidFill>
              </a:rPr>
              <a:t>N </a:t>
            </a:r>
            <a:r>
              <a:rPr lang="en-US" dirty="0">
                <a:solidFill>
                  <a:srgbClr val="0070C0"/>
                </a:solidFill>
              </a:rPr>
              <a:t>similarity values </a:t>
            </a:r>
            <a:r>
              <a:rPr lang="en-US" i="1" dirty="0" err="1">
                <a:solidFill>
                  <a:srgbClr val="0070C0"/>
                </a:solidFill>
              </a:rPr>
              <a:t>e_ij</a:t>
            </a:r>
            <a:r>
              <a:rPr lang="en-US" i="1" dirty="0">
                <a:solidFill>
                  <a:srgbClr val="0070C0"/>
                </a:solidFill>
              </a:rPr>
              <a:t> </a:t>
            </a:r>
            <a:r>
              <a:rPr lang="en-US" dirty="0">
                <a:solidFill>
                  <a:srgbClr val="0070C0"/>
                </a:solidFill>
              </a:rPr>
              <a:t>for each decoder state </a:t>
            </a:r>
            <a:r>
              <a:rPr lang="en-US" i="1" dirty="0">
                <a:solidFill>
                  <a:srgbClr val="0070C0"/>
                </a:solidFill>
              </a:rPr>
              <a:t>j</a:t>
            </a:r>
            <a:r>
              <a:rPr lang="en-US" dirty="0"/>
              <a:t>, </a:t>
            </a:r>
            <a:r>
              <a:rPr lang="en-US" dirty="0">
                <a:solidFill>
                  <a:srgbClr val="00B050"/>
                </a:solidFill>
              </a:rPr>
              <a:t>which we then convert into a </a:t>
            </a:r>
            <a:r>
              <a:rPr lang="en-US" b="1" dirty="0">
                <a:solidFill>
                  <a:srgbClr val="00B050"/>
                </a:solidFill>
                <a:effectLst>
                  <a:outerShdw blurRad="38100" dist="38100" dir="2700000" algn="tl">
                    <a:srgbClr val="000000">
                      <a:alpha val="43137"/>
                    </a:srgbClr>
                  </a:outerShdw>
                </a:effectLst>
              </a:rPr>
              <a:t>probability distribution by computing their corresponding </a:t>
            </a:r>
            <a:r>
              <a:rPr lang="en-US" b="1" dirty="0" err="1">
                <a:solidFill>
                  <a:srgbClr val="00B050"/>
                </a:solidFill>
                <a:effectLst>
                  <a:outerShdw blurRad="38100" dist="38100" dir="2700000" algn="tl">
                    <a:srgbClr val="000000">
                      <a:alpha val="43137"/>
                    </a:srgbClr>
                  </a:outerShdw>
                </a:effectLst>
              </a:rPr>
              <a:t>softmax</a:t>
            </a:r>
            <a:r>
              <a:rPr lang="en-US" b="1" dirty="0">
                <a:solidFill>
                  <a:srgbClr val="00B050"/>
                </a:solidFill>
                <a:effectLst>
                  <a:outerShdw blurRad="38100" dist="38100" dir="2700000" algn="tl">
                    <a:srgbClr val="000000">
                      <a:alpha val="43137"/>
                    </a:srgbClr>
                  </a:outerShdw>
                </a:effectLst>
              </a:rPr>
              <a:t> values </a:t>
            </a:r>
            <a:r>
              <a:rPr lang="en-US" b="1" i="1" dirty="0" err="1">
                <a:solidFill>
                  <a:srgbClr val="00B050"/>
                </a:solidFill>
                <a:effectLst>
                  <a:outerShdw blurRad="38100" dist="38100" dir="2700000" algn="tl">
                    <a:srgbClr val="000000">
                      <a:alpha val="43137"/>
                    </a:srgbClr>
                  </a:outerShdw>
                </a:effectLst>
              </a:rPr>
              <a:t>bij</a:t>
            </a:r>
            <a:r>
              <a:rPr lang="en-US" dirty="0"/>
              <a:t>. </a:t>
            </a:r>
          </a:p>
          <a:p>
            <a:pPr marL="285750" indent="-285750">
              <a:lnSpc>
                <a:spcPct val="200000"/>
              </a:lnSpc>
              <a:buFont typeface="Wingdings" panose="05000000000000000000" pitchFamily="2" charset="2"/>
              <a:buChar char="q"/>
            </a:pPr>
            <a:r>
              <a:rPr lang="en-US" i="1" dirty="0">
                <a:solidFill>
                  <a:srgbClr val="0070C0"/>
                </a:solidFill>
                <a:effectLst>
                  <a:outerShdw blurRad="38100" dist="38100" dir="2700000" algn="tl">
                    <a:srgbClr val="000000">
                      <a:alpha val="43137"/>
                    </a:srgbClr>
                  </a:outerShdw>
                </a:effectLst>
              </a:rPr>
              <a:t>Finally, the attention context </a:t>
            </a:r>
            <a:r>
              <a:rPr lang="en-US" i="1" dirty="0" err="1">
                <a:solidFill>
                  <a:srgbClr val="0070C0"/>
                </a:solidFill>
                <a:effectLst>
                  <a:outerShdw blurRad="38100" dist="38100" dir="2700000" algn="tl">
                    <a:srgbClr val="000000">
                      <a:alpha val="43137"/>
                    </a:srgbClr>
                  </a:outerShdw>
                </a:effectLst>
              </a:rPr>
              <a:t>c_j</a:t>
            </a:r>
            <a:r>
              <a:rPr lang="en-US" i="1" dirty="0">
                <a:solidFill>
                  <a:srgbClr val="0070C0"/>
                </a:solidFill>
                <a:effectLst>
                  <a:outerShdw blurRad="38100" dist="38100" dir="2700000" algn="tl">
                    <a:srgbClr val="000000">
                      <a:alpha val="43137"/>
                    </a:srgbClr>
                  </a:outerShdw>
                </a:effectLst>
              </a:rPr>
              <a:t> is computed as the weighted sum of the encoder states </a:t>
            </a:r>
            <a:r>
              <a:rPr lang="en-US" i="1" dirty="0" err="1">
                <a:solidFill>
                  <a:srgbClr val="0070C0"/>
                </a:solidFill>
                <a:effectLst>
                  <a:outerShdw blurRad="38100" dist="38100" dir="2700000" algn="tl">
                    <a:srgbClr val="000000">
                      <a:alpha val="43137"/>
                    </a:srgbClr>
                  </a:outerShdw>
                </a:effectLst>
              </a:rPr>
              <a:t>h_i</a:t>
            </a:r>
            <a:r>
              <a:rPr lang="en-US" i="1" dirty="0">
                <a:solidFill>
                  <a:srgbClr val="0070C0"/>
                </a:solidFill>
                <a:effectLst>
                  <a:outerShdw blurRad="38100" dist="38100" dir="2700000" algn="tl">
                    <a:srgbClr val="000000">
                      <a:alpha val="43137"/>
                    </a:srgbClr>
                  </a:outerShdw>
                </a:effectLst>
              </a:rPr>
              <a:t> and their corresponding </a:t>
            </a:r>
            <a:r>
              <a:rPr lang="en-US" i="1" dirty="0" err="1">
                <a:solidFill>
                  <a:srgbClr val="0070C0"/>
                </a:solidFill>
                <a:effectLst>
                  <a:outerShdw blurRad="38100" dist="38100" dir="2700000" algn="tl">
                    <a:srgbClr val="000000">
                      <a:alpha val="43137"/>
                    </a:srgbClr>
                  </a:outerShdw>
                </a:effectLst>
              </a:rPr>
              <a:t>softmax</a:t>
            </a:r>
            <a:r>
              <a:rPr lang="en-US" i="1" dirty="0">
                <a:solidFill>
                  <a:srgbClr val="0070C0"/>
                </a:solidFill>
                <a:effectLst>
                  <a:outerShdw blurRad="38100" dist="38100" dir="2700000" algn="tl">
                    <a:srgbClr val="000000">
                      <a:alpha val="43137"/>
                    </a:srgbClr>
                  </a:outerShdw>
                </a:effectLst>
              </a:rPr>
              <a:t> weights </a:t>
            </a:r>
            <a:r>
              <a:rPr lang="en-US" i="1" dirty="0" err="1">
                <a:solidFill>
                  <a:srgbClr val="0070C0"/>
                </a:solidFill>
                <a:effectLst>
                  <a:outerShdw blurRad="38100" dist="38100" dir="2700000" algn="tl">
                    <a:srgbClr val="000000">
                      <a:alpha val="43137"/>
                    </a:srgbClr>
                  </a:outerShdw>
                </a:effectLst>
              </a:rPr>
              <a:t>b_ij</a:t>
            </a:r>
            <a:r>
              <a:rPr lang="en-US" i="1" dirty="0">
                <a:solidFill>
                  <a:srgbClr val="0070C0"/>
                </a:solidFill>
                <a:effectLst>
                  <a:outerShdw blurRad="38100" dist="38100" dir="2700000" algn="tl">
                    <a:srgbClr val="000000">
                      <a:alpha val="43137"/>
                    </a:srgbClr>
                  </a:outerShdw>
                </a:effectLst>
              </a:rPr>
              <a:t> over all N encoder time steps</a:t>
            </a:r>
            <a:r>
              <a:rPr lang="en-US" dirty="0"/>
              <a:t>. The set of equations shown encapsulates this transformation for each decoder step </a:t>
            </a:r>
            <a:r>
              <a:rPr lang="en-US" i="1" dirty="0"/>
              <a:t>j</a:t>
            </a:r>
            <a:r>
              <a:rPr lang="en-US" dirty="0"/>
              <a:t>: </a:t>
            </a:r>
            <a:br>
              <a:rPr lang="en-US" dirty="0"/>
            </a:br>
            <a:endParaRPr lang="en-US" dirty="0"/>
          </a:p>
        </p:txBody>
      </p:sp>
      <p:pic>
        <p:nvPicPr>
          <p:cNvPr id="5" name="Picture 4">
            <a:extLst>
              <a:ext uri="{FF2B5EF4-FFF2-40B4-BE49-F238E27FC236}">
                <a16:creationId xmlns:a16="http://schemas.microsoft.com/office/drawing/2014/main" id="{77D5430A-B608-A115-239D-24DD883484E8}"/>
              </a:ext>
            </a:extLst>
          </p:cNvPr>
          <p:cNvPicPr>
            <a:picLocks noChangeAspect="1"/>
          </p:cNvPicPr>
          <p:nvPr/>
        </p:nvPicPr>
        <p:blipFill>
          <a:blip r:embed="rId3"/>
          <a:stretch>
            <a:fillRect/>
          </a:stretch>
        </p:blipFill>
        <p:spPr>
          <a:xfrm>
            <a:off x="4758435" y="4388012"/>
            <a:ext cx="3419252" cy="2061426"/>
          </a:xfrm>
          <a:prstGeom prst="rect">
            <a:avLst/>
          </a:prstGeom>
        </p:spPr>
      </p:pic>
    </p:spTree>
    <p:extLst>
      <p:ext uri="{BB962C8B-B14F-4D97-AF65-F5344CB8AC3E}">
        <p14:creationId xmlns:p14="http://schemas.microsoft.com/office/powerpoint/2010/main" val="721869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FAB31-E092-F7F0-AD38-3EDC87C2BBB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8661F28-A706-9BE4-3895-7402685FFB6E}"/>
              </a:ext>
            </a:extLst>
          </p:cNvPr>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ATTENTION MECHANISM</a:t>
            </a:r>
          </a:p>
        </p:txBody>
      </p:sp>
      <p:sp>
        <p:nvSpPr>
          <p:cNvPr id="3" name="TextBox 2">
            <a:extLst>
              <a:ext uri="{FF2B5EF4-FFF2-40B4-BE49-F238E27FC236}">
                <a16:creationId xmlns:a16="http://schemas.microsoft.com/office/drawing/2014/main" id="{692C77B5-73ED-FB92-18A7-E19B5AEAAE9E}"/>
              </a:ext>
            </a:extLst>
          </p:cNvPr>
          <p:cNvSpPr txBox="1"/>
          <p:nvPr/>
        </p:nvSpPr>
        <p:spPr>
          <a:xfrm>
            <a:off x="330740" y="972766"/>
            <a:ext cx="11624554" cy="2230739"/>
          </a:xfrm>
          <a:prstGeom prst="rect">
            <a:avLst/>
          </a:prstGeom>
          <a:noFill/>
        </p:spPr>
        <p:txBody>
          <a:bodyPr wrap="square" rtlCol="0">
            <a:spAutoFit/>
          </a:bodyPr>
          <a:lstStyle/>
          <a:p>
            <a:pPr marL="285750" indent="-285750">
              <a:lnSpc>
                <a:spcPct val="200000"/>
              </a:lnSpc>
              <a:buFont typeface="Wingdings" panose="05000000000000000000" pitchFamily="2" charset="2"/>
              <a:buChar char="q"/>
            </a:pPr>
            <a:r>
              <a:rPr lang="en-US" dirty="0"/>
              <a:t>Multiple attention mechanisms have been proposed based on how the alignment is done. We will describe a few next. For notational convenience, we will indicate the state vector </a:t>
            </a:r>
            <a:r>
              <a:rPr lang="en-US" i="1" dirty="0"/>
              <a:t>h</a:t>
            </a:r>
            <a:r>
              <a:rPr lang="en-US" dirty="0"/>
              <a:t>i on the encoder side with </a:t>
            </a:r>
            <a:r>
              <a:rPr lang="en-US" i="1" dirty="0"/>
              <a:t>h</a:t>
            </a:r>
            <a:r>
              <a:rPr lang="en-US" dirty="0"/>
              <a:t>, and the state vector </a:t>
            </a:r>
            <a:r>
              <a:rPr lang="en-US" i="1" dirty="0"/>
              <a:t>sj</a:t>
            </a:r>
            <a:r>
              <a:rPr lang="en-US" dirty="0"/>
              <a:t>-1 on the decoder side with </a:t>
            </a:r>
            <a:r>
              <a:rPr lang="en-US" i="1" dirty="0"/>
              <a:t>s</a:t>
            </a:r>
            <a:r>
              <a:rPr lang="en-US" dirty="0"/>
              <a:t>: </a:t>
            </a:r>
            <a:br>
              <a:rPr lang="en-US" dirty="0"/>
            </a:br>
            <a:endParaRPr lang="en-US" dirty="0"/>
          </a:p>
        </p:txBody>
      </p:sp>
      <p:sp>
        <p:nvSpPr>
          <p:cNvPr id="2" name="TextBox 1">
            <a:extLst>
              <a:ext uri="{FF2B5EF4-FFF2-40B4-BE49-F238E27FC236}">
                <a16:creationId xmlns:a16="http://schemas.microsoft.com/office/drawing/2014/main" id="{720DE0F3-4520-46CA-9890-2087940D89C1}"/>
              </a:ext>
            </a:extLst>
          </p:cNvPr>
          <p:cNvSpPr txBox="1"/>
          <p:nvPr/>
        </p:nvSpPr>
        <p:spPr>
          <a:xfrm>
            <a:off x="954111" y="2811929"/>
            <a:ext cx="11112649" cy="369331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1" i="0" u="sng" strike="noStrike" kern="1200" cap="none" spc="0" normalizeH="0" baseline="0" noProof="0" dirty="0">
                <a:ln>
                  <a:noFill/>
                </a:ln>
                <a:solidFill>
                  <a:prstClr val="black"/>
                </a:solidFill>
                <a:effectLst/>
                <a:uLnTx/>
                <a:uFillTx/>
                <a:latin typeface="Calibri" panose="020F0502020204030204"/>
                <a:ea typeface="+mn-ea"/>
                <a:cs typeface="+mn-cs"/>
              </a:rPr>
              <a:t>Content Based Attention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1" i="0" u="sng"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1" i="0" u="sng"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1" i="0" u="sng" strike="noStrike" kern="1200" cap="none" spc="0" normalizeH="0" baseline="0" noProof="0" dirty="0">
                <a:ln>
                  <a:noFill/>
                </a:ln>
                <a:solidFill>
                  <a:prstClr val="black"/>
                </a:solidFill>
                <a:effectLst/>
                <a:uLnTx/>
                <a:uFillTx/>
                <a:latin typeface="Calibri" panose="020F0502020204030204"/>
                <a:ea typeface="+mn-ea"/>
                <a:cs typeface="+mn-cs"/>
              </a:rPr>
              <a:t>Additive </a:t>
            </a:r>
            <a:r>
              <a:rPr kumimoji="0" lang="en-US" sz="1800" b="0" i="0" u="sng" strike="noStrike" kern="1200" cap="none" spc="0" normalizeH="0" baseline="0" noProof="0" dirty="0">
                <a:ln>
                  <a:noFill/>
                </a:ln>
                <a:solidFill>
                  <a:prstClr val="black"/>
                </a:solidFill>
                <a:effectLst/>
                <a:uLnTx/>
                <a:uFillTx/>
                <a:latin typeface="Calibri" panose="020F0502020204030204"/>
                <a:ea typeface="+mn-ea"/>
                <a:cs typeface="+mn-cs"/>
              </a:rPr>
              <a:t>or </a:t>
            </a:r>
            <a:r>
              <a:rPr kumimoji="0" lang="en-US" sz="1800" b="1" i="0" u="sng" strike="noStrike" kern="1200" cap="none" spc="0" normalizeH="0" baseline="0" noProof="0" dirty="0" err="1">
                <a:ln>
                  <a:noFill/>
                </a:ln>
                <a:solidFill>
                  <a:prstClr val="black"/>
                </a:solidFill>
                <a:effectLst/>
                <a:uLnTx/>
                <a:uFillTx/>
                <a:latin typeface="Calibri" panose="020F0502020204030204"/>
                <a:ea typeface="+mn-ea"/>
                <a:cs typeface="+mn-cs"/>
              </a:rPr>
              <a:t>Bahdanau</a:t>
            </a:r>
            <a:r>
              <a:rPr kumimoji="0" lang="en-US" sz="1800" b="1" i="0" u="sng" strike="noStrike" kern="1200" cap="none" spc="0" normalizeH="0" baseline="0" noProof="0" dirty="0">
                <a:ln>
                  <a:noFill/>
                </a:ln>
                <a:solidFill>
                  <a:prstClr val="black"/>
                </a:solidFill>
                <a:effectLst/>
                <a:uLnTx/>
                <a:uFillTx/>
                <a:latin typeface="Calibri" panose="020F0502020204030204"/>
                <a:ea typeface="+mn-ea"/>
                <a:cs typeface="+mn-cs"/>
              </a:rPr>
              <a:t> attention</a:t>
            </a:r>
            <a:r>
              <a:rPr kumimoji="0" lang="en-US" sz="1800" b="0" i="0" u="sng"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sng"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sng"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sng"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Multiplicative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Luong’s attention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1" i="0" u="sng"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Scaled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Dotproduct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Attention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ED245A00-D5F6-68E1-A137-2CE31E5E112C}"/>
              </a:ext>
            </a:extLst>
          </p:cNvPr>
          <p:cNvPicPr>
            <a:picLocks noChangeAspect="1"/>
          </p:cNvPicPr>
          <p:nvPr/>
        </p:nvPicPr>
        <p:blipFill>
          <a:blip r:embed="rId3"/>
          <a:stretch>
            <a:fillRect/>
          </a:stretch>
        </p:blipFill>
        <p:spPr>
          <a:xfrm>
            <a:off x="5135661" y="3161486"/>
            <a:ext cx="1950889" cy="403895"/>
          </a:xfrm>
          <a:prstGeom prst="rect">
            <a:avLst/>
          </a:prstGeom>
        </p:spPr>
      </p:pic>
      <p:pic>
        <p:nvPicPr>
          <p:cNvPr id="7" name="Picture 6">
            <a:extLst>
              <a:ext uri="{FF2B5EF4-FFF2-40B4-BE49-F238E27FC236}">
                <a16:creationId xmlns:a16="http://schemas.microsoft.com/office/drawing/2014/main" id="{36EAB57A-5CB6-3688-11F0-64F7E05F504B}"/>
              </a:ext>
            </a:extLst>
          </p:cNvPr>
          <p:cNvPicPr>
            <a:picLocks noChangeAspect="1"/>
          </p:cNvPicPr>
          <p:nvPr/>
        </p:nvPicPr>
        <p:blipFill>
          <a:blip r:embed="rId4"/>
          <a:stretch>
            <a:fillRect/>
          </a:stretch>
        </p:blipFill>
        <p:spPr>
          <a:xfrm>
            <a:off x="4996683" y="3977457"/>
            <a:ext cx="2530059" cy="548688"/>
          </a:xfrm>
          <a:prstGeom prst="rect">
            <a:avLst/>
          </a:prstGeom>
        </p:spPr>
      </p:pic>
      <p:pic>
        <p:nvPicPr>
          <p:cNvPr id="8" name="Picture 7">
            <a:extLst>
              <a:ext uri="{FF2B5EF4-FFF2-40B4-BE49-F238E27FC236}">
                <a16:creationId xmlns:a16="http://schemas.microsoft.com/office/drawing/2014/main" id="{58898BD6-8B96-A0DC-43E8-8CA721AC5684}"/>
              </a:ext>
            </a:extLst>
          </p:cNvPr>
          <p:cNvPicPr>
            <a:picLocks noChangeAspect="1"/>
          </p:cNvPicPr>
          <p:nvPr/>
        </p:nvPicPr>
        <p:blipFill>
          <a:blip r:embed="rId5"/>
          <a:stretch>
            <a:fillRect/>
          </a:stretch>
        </p:blipFill>
        <p:spPr>
          <a:xfrm>
            <a:off x="5788983" y="5050294"/>
            <a:ext cx="1501270" cy="571550"/>
          </a:xfrm>
          <a:prstGeom prst="rect">
            <a:avLst/>
          </a:prstGeom>
        </p:spPr>
      </p:pic>
      <p:pic>
        <p:nvPicPr>
          <p:cNvPr id="9" name="Picture 8">
            <a:extLst>
              <a:ext uri="{FF2B5EF4-FFF2-40B4-BE49-F238E27FC236}">
                <a16:creationId xmlns:a16="http://schemas.microsoft.com/office/drawing/2014/main" id="{EAEFF06D-0CDF-9F46-D65B-EBCE856C9652}"/>
              </a:ext>
            </a:extLst>
          </p:cNvPr>
          <p:cNvPicPr>
            <a:picLocks noChangeAspect="1"/>
          </p:cNvPicPr>
          <p:nvPr/>
        </p:nvPicPr>
        <p:blipFill>
          <a:blip r:embed="rId6"/>
          <a:stretch>
            <a:fillRect/>
          </a:stretch>
        </p:blipFill>
        <p:spPr>
          <a:xfrm>
            <a:off x="5788983" y="5928279"/>
            <a:ext cx="1348857" cy="929721"/>
          </a:xfrm>
          <a:prstGeom prst="rect">
            <a:avLst/>
          </a:prstGeom>
        </p:spPr>
      </p:pic>
    </p:spTree>
    <p:extLst>
      <p:ext uri="{BB962C8B-B14F-4D97-AF65-F5344CB8AC3E}">
        <p14:creationId xmlns:p14="http://schemas.microsoft.com/office/powerpoint/2010/main" val="1039935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B5981-DBBB-F7F5-2381-6DC53A478A9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365930B-421D-E2DE-D7F8-2E96A46EF0C6}"/>
              </a:ext>
            </a:extLst>
          </p:cNvPr>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ATTENTION MECHANISM</a:t>
            </a:r>
          </a:p>
        </p:txBody>
      </p:sp>
      <p:pic>
        <p:nvPicPr>
          <p:cNvPr id="6" name="Picture 5">
            <a:extLst>
              <a:ext uri="{FF2B5EF4-FFF2-40B4-BE49-F238E27FC236}">
                <a16:creationId xmlns:a16="http://schemas.microsoft.com/office/drawing/2014/main" id="{6FCA14F5-2247-DD88-73B6-12F2A039E403}"/>
              </a:ext>
            </a:extLst>
          </p:cNvPr>
          <p:cNvPicPr>
            <a:picLocks noChangeAspect="1"/>
          </p:cNvPicPr>
          <p:nvPr/>
        </p:nvPicPr>
        <p:blipFill>
          <a:blip r:embed="rId3"/>
          <a:stretch>
            <a:fillRect/>
          </a:stretch>
        </p:blipFill>
        <p:spPr>
          <a:xfrm>
            <a:off x="1649344" y="968065"/>
            <a:ext cx="8893311" cy="2834886"/>
          </a:xfrm>
          <a:prstGeom prst="rect">
            <a:avLst/>
          </a:prstGeom>
        </p:spPr>
      </p:pic>
      <p:pic>
        <p:nvPicPr>
          <p:cNvPr id="9" name="Picture 8">
            <a:extLst>
              <a:ext uri="{FF2B5EF4-FFF2-40B4-BE49-F238E27FC236}">
                <a16:creationId xmlns:a16="http://schemas.microsoft.com/office/drawing/2014/main" id="{93D690D4-7F5D-6F68-BFFE-202D29A99EB2}"/>
              </a:ext>
            </a:extLst>
          </p:cNvPr>
          <p:cNvPicPr>
            <a:picLocks noChangeAspect="1"/>
          </p:cNvPicPr>
          <p:nvPr/>
        </p:nvPicPr>
        <p:blipFill>
          <a:blip r:embed="rId4"/>
          <a:stretch>
            <a:fillRect/>
          </a:stretch>
        </p:blipFill>
        <p:spPr>
          <a:xfrm>
            <a:off x="2129319" y="3802951"/>
            <a:ext cx="8817104" cy="2606266"/>
          </a:xfrm>
          <a:prstGeom prst="rect">
            <a:avLst/>
          </a:prstGeom>
        </p:spPr>
      </p:pic>
      <p:sp>
        <p:nvSpPr>
          <p:cNvPr id="2" name="Rectangle 1">
            <a:extLst>
              <a:ext uri="{FF2B5EF4-FFF2-40B4-BE49-F238E27FC236}">
                <a16:creationId xmlns:a16="http://schemas.microsoft.com/office/drawing/2014/main" id="{76A5772A-AD39-1C20-8F05-4D09F2DB389B}"/>
              </a:ext>
            </a:extLst>
          </p:cNvPr>
          <p:cNvSpPr/>
          <p:nvPr/>
        </p:nvSpPr>
        <p:spPr>
          <a:xfrm>
            <a:off x="5000017" y="3802951"/>
            <a:ext cx="2762655" cy="43187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2170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29276-CC14-4004-B889-23BCD1038FB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5C4712E-E8A4-EC70-ECF9-B16459A99917}"/>
              </a:ext>
            </a:extLst>
          </p:cNvPr>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ATTENTION MECHANISM</a:t>
            </a:r>
          </a:p>
        </p:txBody>
      </p:sp>
      <p:pic>
        <p:nvPicPr>
          <p:cNvPr id="3" name="Picture 2">
            <a:extLst>
              <a:ext uri="{FF2B5EF4-FFF2-40B4-BE49-F238E27FC236}">
                <a16:creationId xmlns:a16="http://schemas.microsoft.com/office/drawing/2014/main" id="{AD2D3373-5B7F-65F0-85F1-68CF90096568}"/>
              </a:ext>
            </a:extLst>
          </p:cNvPr>
          <p:cNvPicPr>
            <a:picLocks noChangeAspect="1"/>
          </p:cNvPicPr>
          <p:nvPr/>
        </p:nvPicPr>
        <p:blipFill>
          <a:blip r:embed="rId3"/>
          <a:stretch>
            <a:fillRect/>
          </a:stretch>
        </p:blipFill>
        <p:spPr>
          <a:xfrm>
            <a:off x="607771" y="1156670"/>
            <a:ext cx="5718712" cy="4554727"/>
          </a:xfrm>
          <a:prstGeom prst="rect">
            <a:avLst/>
          </a:prstGeom>
        </p:spPr>
      </p:pic>
      <p:pic>
        <p:nvPicPr>
          <p:cNvPr id="7" name="Picture 6">
            <a:extLst>
              <a:ext uri="{FF2B5EF4-FFF2-40B4-BE49-F238E27FC236}">
                <a16:creationId xmlns:a16="http://schemas.microsoft.com/office/drawing/2014/main" id="{F0D48B44-418E-B2BD-2DD3-2D39BAF63F9A}"/>
              </a:ext>
            </a:extLst>
          </p:cNvPr>
          <p:cNvPicPr>
            <a:picLocks noChangeAspect="1"/>
          </p:cNvPicPr>
          <p:nvPr/>
        </p:nvPicPr>
        <p:blipFill>
          <a:blip r:embed="rId4"/>
          <a:stretch>
            <a:fillRect/>
          </a:stretch>
        </p:blipFill>
        <p:spPr>
          <a:xfrm>
            <a:off x="6549160" y="1156670"/>
            <a:ext cx="5311600" cy="2522439"/>
          </a:xfrm>
          <a:prstGeom prst="rect">
            <a:avLst/>
          </a:prstGeom>
        </p:spPr>
      </p:pic>
      <p:pic>
        <p:nvPicPr>
          <p:cNvPr id="10" name="Picture 9">
            <a:extLst>
              <a:ext uri="{FF2B5EF4-FFF2-40B4-BE49-F238E27FC236}">
                <a16:creationId xmlns:a16="http://schemas.microsoft.com/office/drawing/2014/main" id="{B4031905-837A-72E5-FD51-1B8D66A5FE76}"/>
              </a:ext>
            </a:extLst>
          </p:cNvPr>
          <p:cNvPicPr>
            <a:picLocks noChangeAspect="1"/>
          </p:cNvPicPr>
          <p:nvPr/>
        </p:nvPicPr>
        <p:blipFill>
          <a:blip r:embed="rId5"/>
          <a:stretch>
            <a:fillRect/>
          </a:stretch>
        </p:blipFill>
        <p:spPr>
          <a:xfrm>
            <a:off x="7852753" y="4779965"/>
            <a:ext cx="2446232" cy="396274"/>
          </a:xfrm>
          <a:prstGeom prst="rect">
            <a:avLst/>
          </a:prstGeom>
        </p:spPr>
      </p:pic>
      <p:sp>
        <p:nvSpPr>
          <p:cNvPr id="2" name="TextBox 1">
            <a:extLst>
              <a:ext uri="{FF2B5EF4-FFF2-40B4-BE49-F238E27FC236}">
                <a16:creationId xmlns:a16="http://schemas.microsoft.com/office/drawing/2014/main" id="{F79482D7-221D-1835-A59B-8C63CDC574F4}"/>
              </a:ext>
            </a:extLst>
          </p:cNvPr>
          <p:cNvSpPr txBox="1"/>
          <p:nvPr/>
        </p:nvSpPr>
        <p:spPr>
          <a:xfrm>
            <a:off x="972766" y="5826868"/>
            <a:ext cx="10379413" cy="646331"/>
          </a:xfrm>
          <a:prstGeom prst="rect">
            <a:avLst/>
          </a:prstGeom>
          <a:noFill/>
        </p:spPr>
        <p:txBody>
          <a:bodyPr wrap="square" rtlCol="0">
            <a:spAutoFit/>
          </a:bodyPr>
          <a:lstStyle/>
          <a:p>
            <a:pPr marL="285750" indent="-285750">
              <a:buFont typeface="Wingdings" panose="05000000000000000000" pitchFamily="2" charset="2"/>
              <a:buChar char="q"/>
            </a:pPr>
            <a:r>
              <a:rPr lang="en-US" u="sng" dirty="0">
                <a:solidFill>
                  <a:srgbClr val="FF0000"/>
                </a:solidFill>
              </a:rPr>
              <a:t>Note</a:t>
            </a:r>
            <a:r>
              <a:rPr lang="en-US" dirty="0"/>
              <a:t>: Here the </a:t>
            </a:r>
            <a:r>
              <a:rPr lang="en-US" dirty="0">
                <a:solidFill>
                  <a:srgbClr val="FF0000"/>
                </a:solidFill>
                <a:effectLst>
                  <a:outerShdw blurRad="38100" dist="38100" dir="2700000" algn="tl">
                    <a:srgbClr val="000000">
                      <a:alpha val="43137"/>
                    </a:srgbClr>
                  </a:outerShdw>
                </a:effectLst>
              </a:rPr>
              <a:t>Query is the hidden state information from the Encoder</a:t>
            </a:r>
            <a:r>
              <a:rPr lang="en-US" dirty="0"/>
              <a:t>, &amp; </a:t>
            </a:r>
            <a:r>
              <a:rPr lang="en-US" dirty="0">
                <a:solidFill>
                  <a:srgbClr val="0070C0"/>
                </a:solidFill>
                <a:effectLst>
                  <a:outerShdw blurRad="38100" dist="38100" dir="2700000" algn="tl">
                    <a:srgbClr val="000000">
                      <a:alpha val="43137"/>
                    </a:srgbClr>
                  </a:outerShdw>
                </a:effectLst>
              </a:rPr>
              <a:t>Values is the Decoder Input which is French sentence beginning with BOS tag</a:t>
            </a:r>
            <a:r>
              <a:rPr lang="en-US" dirty="0"/>
              <a:t> and finishing just one token behind the current token</a:t>
            </a:r>
          </a:p>
        </p:txBody>
      </p:sp>
    </p:spTree>
    <p:extLst>
      <p:ext uri="{BB962C8B-B14F-4D97-AF65-F5344CB8AC3E}">
        <p14:creationId xmlns:p14="http://schemas.microsoft.com/office/powerpoint/2010/main" val="1396412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7A7A8-BCEB-2F62-C4D8-765A90CB05A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F4995FE-7833-4974-B1D9-18B8D6402933}"/>
              </a:ext>
            </a:extLst>
          </p:cNvPr>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ATTENTION MECHANISM</a:t>
            </a:r>
          </a:p>
        </p:txBody>
      </p:sp>
      <p:sp>
        <p:nvSpPr>
          <p:cNvPr id="2" name="TextBox 1">
            <a:extLst>
              <a:ext uri="{FF2B5EF4-FFF2-40B4-BE49-F238E27FC236}">
                <a16:creationId xmlns:a16="http://schemas.microsoft.com/office/drawing/2014/main" id="{EA2C6B30-995F-E843-7D04-D174DEB008CD}"/>
              </a:ext>
            </a:extLst>
          </p:cNvPr>
          <p:cNvSpPr txBox="1"/>
          <p:nvPr/>
        </p:nvSpPr>
        <p:spPr>
          <a:xfrm>
            <a:off x="972766" y="5826868"/>
            <a:ext cx="10379413" cy="646331"/>
          </a:xfrm>
          <a:prstGeom prst="rect">
            <a:avLst/>
          </a:prstGeom>
          <a:noFill/>
        </p:spPr>
        <p:txBody>
          <a:bodyPr wrap="square" rtlCol="0">
            <a:spAutoFit/>
          </a:bodyPr>
          <a:lstStyle/>
          <a:p>
            <a:pPr marL="285750" indent="-285750">
              <a:buFont typeface="Wingdings" panose="05000000000000000000" pitchFamily="2" charset="2"/>
              <a:buChar char="q"/>
            </a:pPr>
            <a:r>
              <a:rPr lang="en-US" u="sng" dirty="0">
                <a:solidFill>
                  <a:srgbClr val="FF0000"/>
                </a:solidFill>
              </a:rPr>
              <a:t>Note</a:t>
            </a:r>
            <a:r>
              <a:rPr lang="en-US" dirty="0"/>
              <a:t>: Here the </a:t>
            </a:r>
            <a:r>
              <a:rPr lang="en-US" dirty="0">
                <a:solidFill>
                  <a:srgbClr val="FF0000"/>
                </a:solidFill>
                <a:effectLst>
                  <a:outerShdw blurRad="38100" dist="38100" dir="2700000" algn="tl">
                    <a:srgbClr val="000000">
                      <a:alpha val="43137"/>
                    </a:srgbClr>
                  </a:outerShdw>
                </a:effectLst>
              </a:rPr>
              <a:t>Query is the hidden state information from the Encoder</a:t>
            </a:r>
            <a:r>
              <a:rPr lang="en-US" dirty="0"/>
              <a:t>, &amp; </a:t>
            </a:r>
            <a:r>
              <a:rPr lang="en-US" dirty="0">
                <a:solidFill>
                  <a:srgbClr val="0070C0"/>
                </a:solidFill>
                <a:effectLst>
                  <a:outerShdw blurRad="38100" dist="38100" dir="2700000" algn="tl">
                    <a:srgbClr val="000000">
                      <a:alpha val="43137"/>
                    </a:srgbClr>
                  </a:outerShdw>
                </a:effectLst>
              </a:rPr>
              <a:t>Values is the Decoder Input which is French sentence beginning with BOS tag</a:t>
            </a:r>
            <a:r>
              <a:rPr lang="en-US" dirty="0"/>
              <a:t> and finishing just one token behind the current token</a:t>
            </a:r>
          </a:p>
        </p:txBody>
      </p:sp>
      <p:pic>
        <p:nvPicPr>
          <p:cNvPr id="6" name="Picture 5">
            <a:extLst>
              <a:ext uri="{FF2B5EF4-FFF2-40B4-BE49-F238E27FC236}">
                <a16:creationId xmlns:a16="http://schemas.microsoft.com/office/drawing/2014/main" id="{9B99DBFB-A0DC-CA62-46B6-9E72B69F975E}"/>
              </a:ext>
            </a:extLst>
          </p:cNvPr>
          <p:cNvPicPr>
            <a:picLocks noChangeAspect="1"/>
          </p:cNvPicPr>
          <p:nvPr/>
        </p:nvPicPr>
        <p:blipFill>
          <a:blip r:embed="rId3"/>
          <a:stretch>
            <a:fillRect/>
          </a:stretch>
        </p:blipFill>
        <p:spPr>
          <a:xfrm>
            <a:off x="2468565" y="984422"/>
            <a:ext cx="7254869" cy="4130398"/>
          </a:xfrm>
          <a:prstGeom prst="rect">
            <a:avLst/>
          </a:prstGeom>
        </p:spPr>
      </p:pic>
      <p:pic>
        <p:nvPicPr>
          <p:cNvPr id="8" name="Picture 7">
            <a:extLst>
              <a:ext uri="{FF2B5EF4-FFF2-40B4-BE49-F238E27FC236}">
                <a16:creationId xmlns:a16="http://schemas.microsoft.com/office/drawing/2014/main" id="{03491BB5-6CE5-EFE8-8FFA-2F0C70A9BA2A}"/>
              </a:ext>
            </a:extLst>
          </p:cNvPr>
          <p:cNvPicPr>
            <a:picLocks noChangeAspect="1"/>
          </p:cNvPicPr>
          <p:nvPr/>
        </p:nvPicPr>
        <p:blipFill>
          <a:blip r:embed="rId4"/>
          <a:stretch>
            <a:fillRect/>
          </a:stretch>
        </p:blipFill>
        <p:spPr>
          <a:xfrm>
            <a:off x="5345364" y="5185069"/>
            <a:ext cx="1501270" cy="571550"/>
          </a:xfrm>
          <a:prstGeom prst="rect">
            <a:avLst/>
          </a:prstGeom>
        </p:spPr>
      </p:pic>
    </p:spTree>
    <p:extLst>
      <p:ext uri="{BB962C8B-B14F-4D97-AF65-F5344CB8AC3E}">
        <p14:creationId xmlns:p14="http://schemas.microsoft.com/office/powerpoint/2010/main" val="86808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32958-A132-DBE9-D3CE-C8222FB2257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BE4EA96-CD2D-9CD2-89D8-A59DFA6F3A31}"/>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TRANSFORMERS</a:t>
            </a:r>
          </a:p>
        </p:txBody>
      </p:sp>
      <p:sp>
        <p:nvSpPr>
          <p:cNvPr id="2" name="TextBox 1">
            <a:extLst>
              <a:ext uri="{FF2B5EF4-FFF2-40B4-BE49-F238E27FC236}">
                <a16:creationId xmlns:a16="http://schemas.microsoft.com/office/drawing/2014/main" id="{F11AD696-2A31-C844-B049-80C24FAAA371}"/>
              </a:ext>
            </a:extLst>
          </p:cNvPr>
          <p:cNvSpPr txBox="1"/>
          <p:nvPr/>
        </p:nvSpPr>
        <p:spPr>
          <a:xfrm>
            <a:off x="436880" y="1026160"/>
            <a:ext cx="11318240" cy="5355312"/>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dirty="0"/>
              <a:t>The original transformer architecture is a variant of the encoder-decoder architecture, where the recurrent layers are replaced with (self-)attention layers </a:t>
            </a:r>
          </a:p>
          <a:p>
            <a:pPr marL="285750" indent="-285750">
              <a:lnSpc>
                <a:spcPct val="150000"/>
              </a:lnSpc>
              <a:buFont typeface="Wingdings" panose="05000000000000000000" pitchFamily="2" charset="2"/>
              <a:buChar char="q"/>
            </a:pPr>
            <a:r>
              <a:rPr lang="en-US" dirty="0"/>
              <a:t>The transformer was initially proposed by Google in the seminal paper titled </a:t>
            </a:r>
            <a:r>
              <a:rPr lang="en-US" i="1" dirty="0"/>
              <a:t>Attention Is All You Need </a:t>
            </a:r>
            <a:r>
              <a:rPr lang="en-US" dirty="0"/>
              <a:t>by Ashish Vaswani, Noam </a:t>
            </a:r>
            <a:r>
              <a:rPr lang="en-US" dirty="0" err="1"/>
              <a:t>Shazeer</a:t>
            </a:r>
            <a:r>
              <a:rPr lang="en-US" dirty="0"/>
              <a:t>, Niki Parmar, Jakob </a:t>
            </a:r>
            <a:r>
              <a:rPr lang="en-US" dirty="0" err="1"/>
              <a:t>Uszkoreit</a:t>
            </a:r>
            <a:r>
              <a:rPr lang="en-US" dirty="0"/>
              <a:t>, Llion Jones, Aidan N. Gomez, Lukasz Kaiser, and Illia </a:t>
            </a:r>
            <a:r>
              <a:rPr lang="en-US" dirty="0" err="1"/>
              <a:t>Polosukhin</a:t>
            </a:r>
            <a:r>
              <a:rPr lang="en-US" dirty="0"/>
              <a:t>, 2017, https://arxiv.org/abs/1706.03762 </a:t>
            </a:r>
          </a:p>
          <a:p>
            <a:pPr marL="285750" indent="-285750">
              <a:lnSpc>
                <a:spcPct val="150000"/>
              </a:lnSpc>
              <a:buFont typeface="Wingdings" panose="05000000000000000000" pitchFamily="2" charset="2"/>
              <a:buChar char="q"/>
            </a:pPr>
            <a:r>
              <a:rPr lang="en-US" dirty="0"/>
              <a:t>Prior to that, attention had been used together with </a:t>
            </a:r>
            <a:r>
              <a:rPr lang="en-US" b="1" dirty="0"/>
              <a:t>Long-Short-Term Memory </a:t>
            </a:r>
            <a:r>
              <a:rPr lang="en-US" dirty="0"/>
              <a:t>(</a:t>
            </a:r>
            <a:r>
              <a:rPr lang="en-US" b="1" dirty="0"/>
              <a:t>LSTM</a:t>
            </a:r>
            <a:r>
              <a:rPr lang="en-US" dirty="0"/>
              <a:t>) and other </a:t>
            </a:r>
            <a:r>
              <a:rPr lang="en-US" b="1" dirty="0"/>
              <a:t>RNN </a:t>
            </a:r>
            <a:r>
              <a:rPr lang="en-US" dirty="0"/>
              <a:t>(</a:t>
            </a:r>
            <a:r>
              <a:rPr lang="en-US" b="1" dirty="0"/>
              <a:t>Recurrent Neural Network</a:t>
            </a:r>
            <a:r>
              <a:rPr lang="en-US" dirty="0"/>
              <a:t>). Attention was introduced in 2014 in </a:t>
            </a:r>
            <a:r>
              <a:rPr lang="en-US" i="1" dirty="0"/>
              <a:t>Neural Machine Translation by Jointly Learning to Align and Translate </a:t>
            </a:r>
            <a:r>
              <a:rPr lang="en-US" dirty="0"/>
              <a:t>by </a:t>
            </a:r>
            <a:r>
              <a:rPr lang="en-US" dirty="0" err="1"/>
              <a:t>Bahdanau</a:t>
            </a:r>
            <a:r>
              <a:rPr lang="en-US" dirty="0"/>
              <a:t> et al., https://arxiv.org/abs/1409.0473, and applied to neural machine translation in 2015 in </a:t>
            </a:r>
            <a:r>
              <a:rPr lang="en-US" i="1" dirty="0"/>
              <a:t>Effective Approaches to Attention-based Neural Machine Translation </a:t>
            </a:r>
            <a:r>
              <a:rPr lang="en-US" dirty="0"/>
              <a:t>by Luong et al., https://arxiv. org/abs/1508.04025</a:t>
            </a:r>
          </a:p>
          <a:p>
            <a:pPr marL="285750" indent="-285750">
              <a:lnSpc>
                <a:spcPct val="150000"/>
              </a:lnSpc>
              <a:buFont typeface="Wingdings" panose="05000000000000000000" pitchFamily="2" charset="2"/>
              <a:buChar char="q"/>
            </a:pPr>
            <a:r>
              <a:rPr lang="en-US" i="1" dirty="0">
                <a:solidFill>
                  <a:srgbClr val="FF0000"/>
                </a:solidFill>
                <a:effectLst>
                  <a:outerShdw blurRad="38100" dist="38100" dir="2700000" algn="tl">
                    <a:srgbClr val="000000">
                      <a:alpha val="43137"/>
                    </a:srgbClr>
                  </a:outerShdw>
                </a:effectLst>
              </a:rPr>
              <a:t>In 2017, the first transformer demonstrated that you could remove LSTMs from </a:t>
            </a:r>
            <a:r>
              <a:rPr lang="en-US" b="1" i="1" dirty="0">
                <a:solidFill>
                  <a:srgbClr val="FF0000"/>
                </a:solidFill>
                <a:effectLst>
                  <a:outerShdw blurRad="38100" dist="38100" dir="2700000" algn="tl">
                    <a:srgbClr val="000000">
                      <a:alpha val="43137"/>
                    </a:srgbClr>
                  </a:outerShdw>
                </a:effectLst>
              </a:rPr>
              <a:t>Neural Machine Translation </a:t>
            </a:r>
            <a:r>
              <a:rPr lang="en-US" i="1" dirty="0">
                <a:solidFill>
                  <a:srgbClr val="FF0000"/>
                </a:solidFill>
                <a:effectLst>
                  <a:outerShdw blurRad="38100" dist="38100" dir="2700000" algn="tl">
                    <a:srgbClr val="000000">
                      <a:alpha val="43137"/>
                    </a:srgbClr>
                  </a:outerShdw>
                </a:effectLst>
              </a:rPr>
              <a:t>(</a:t>
            </a:r>
            <a:r>
              <a:rPr lang="en-US" b="1" i="1" dirty="0">
                <a:solidFill>
                  <a:srgbClr val="FF0000"/>
                </a:solidFill>
                <a:effectLst>
                  <a:outerShdw blurRad="38100" dist="38100" dir="2700000" algn="tl">
                    <a:srgbClr val="000000">
                      <a:alpha val="43137"/>
                    </a:srgbClr>
                  </a:outerShdw>
                </a:effectLst>
              </a:rPr>
              <a:t>NMT</a:t>
            </a:r>
            <a:r>
              <a:rPr lang="en-US" i="1" dirty="0">
                <a:solidFill>
                  <a:srgbClr val="FF0000"/>
                </a:solidFill>
                <a:effectLst>
                  <a:outerShdw blurRad="38100" dist="38100" dir="2700000" algn="tl">
                    <a:srgbClr val="000000">
                      <a:alpha val="43137"/>
                    </a:srgbClr>
                  </a:outerShdw>
                </a:effectLst>
              </a:rPr>
              <a:t>) models and use the so-called (self-)attention blocks (hence the paper title Attention Is All You Need). </a:t>
            </a:r>
          </a:p>
          <a:p>
            <a:pPr marL="285750" indent="-285750">
              <a:buFont typeface="Wingdings" panose="05000000000000000000" pitchFamily="2" charset="2"/>
              <a:buChar char="q"/>
            </a:pPr>
            <a:endParaRPr lang="en-US" dirty="0"/>
          </a:p>
        </p:txBody>
      </p:sp>
    </p:spTree>
    <p:extLst>
      <p:ext uri="{BB962C8B-B14F-4D97-AF65-F5344CB8AC3E}">
        <p14:creationId xmlns:p14="http://schemas.microsoft.com/office/powerpoint/2010/main" val="1707351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7EF4F-2A4A-B5ED-1CDA-ADE13DC4F24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91A050E-08F8-62F2-AC1C-62FB894B4907}"/>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TRANSFORMERS</a:t>
            </a:r>
          </a:p>
        </p:txBody>
      </p:sp>
      <p:sp>
        <p:nvSpPr>
          <p:cNvPr id="2" name="TextBox 1">
            <a:extLst>
              <a:ext uri="{FF2B5EF4-FFF2-40B4-BE49-F238E27FC236}">
                <a16:creationId xmlns:a16="http://schemas.microsoft.com/office/drawing/2014/main" id="{EDC2C6D4-FF45-317F-30D8-0D545A93A5C8}"/>
              </a:ext>
            </a:extLst>
          </p:cNvPr>
          <p:cNvSpPr txBox="1"/>
          <p:nvPr/>
        </p:nvSpPr>
        <p:spPr>
          <a:xfrm>
            <a:off x="436880" y="1026160"/>
            <a:ext cx="11318240" cy="5770811"/>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dirty="0"/>
              <a:t>The innovation introduced with the transformer in 2017 is based on four main key ideas:</a:t>
            </a:r>
          </a:p>
          <a:p>
            <a:pPr marL="803275" indent="-519113">
              <a:lnSpc>
                <a:spcPct val="150000"/>
              </a:lnSpc>
              <a:buFont typeface="Wingdings" panose="05000000000000000000" pitchFamily="2" charset="2"/>
              <a:buChar char="ü"/>
            </a:pPr>
            <a:r>
              <a:rPr lang="en-US" dirty="0">
                <a:solidFill>
                  <a:srgbClr val="FF0000"/>
                </a:solidFill>
                <a:effectLst>
                  <a:outerShdw blurRad="38100" dist="38100" dir="2700000" algn="tl">
                    <a:srgbClr val="000000">
                      <a:alpha val="43137"/>
                    </a:srgbClr>
                  </a:outerShdw>
                </a:effectLst>
              </a:rPr>
              <a:t>Positional encoding</a:t>
            </a:r>
          </a:p>
          <a:p>
            <a:pPr marL="803275" indent="-519113">
              <a:lnSpc>
                <a:spcPct val="150000"/>
              </a:lnSpc>
              <a:buFont typeface="Wingdings" panose="05000000000000000000" pitchFamily="2" charset="2"/>
              <a:buChar char="ü"/>
            </a:pPr>
            <a:r>
              <a:rPr lang="en-US" dirty="0">
                <a:solidFill>
                  <a:srgbClr val="FF0000"/>
                </a:solidFill>
                <a:effectLst>
                  <a:outerShdw blurRad="38100" dist="38100" dir="2700000" algn="tl">
                    <a:srgbClr val="000000">
                      <a:alpha val="43137"/>
                    </a:srgbClr>
                  </a:outerShdw>
                </a:effectLst>
              </a:rPr>
              <a:t>Attention</a:t>
            </a:r>
          </a:p>
          <a:p>
            <a:pPr marL="803275" indent="-519113">
              <a:lnSpc>
                <a:spcPct val="150000"/>
              </a:lnSpc>
              <a:buFont typeface="Wingdings" panose="05000000000000000000" pitchFamily="2" charset="2"/>
              <a:buChar char="ü"/>
            </a:pPr>
            <a:r>
              <a:rPr lang="en-US" dirty="0">
                <a:solidFill>
                  <a:srgbClr val="FF0000"/>
                </a:solidFill>
                <a:effectLst>
                  <a:outerShdw blurRad="38100" dist="38100" dir="2700000" algn="tl">
                    <a:srgbClr val="000000">
                      <a:alpha val="43137"/>
                    </a:srgbClr>
                  </a:outerShdw>
                </a:effectLst>
              </a:rPr>
              <a:t>Self-attention</a:t>
            </a:r>
          </a:p>
          <a:p>
            <a:pPr marL="803275" indent="-519113">
              <a:lnSpc>
                <a:spcPct val="150000"/>
              </a:lnSpc>
              <a:buFont typeface="Wingdings" panose="05000000000000000000" pitchFamily="2" charset="2"/>
              <a:buChar char="ü"/>
            </a:pPr>
            <a:r>
              <a:rPr lang="en-US" dirty="0">
                <a:solidFill>
                  <a:srgbClr val="FF0000"/>
                </a:solidFill>
                <a:effectLst>
                  <a:outerShdw blurRad="38100" dist="38100" dir="2700000" algn="tl">
                    <a:srgbClr val="000000">
                      <a:alpha val="43137"/>
                    </a:srgbClr>
                  </a:outerShdw>
                </a:effectLst>
              </a:rPr>
              <a:t>Multi-head (self-)attention </a:t>
            </a:r>
          </a:p>
          <a:p>
            <a:pPr marL="346075" indent="-346075">
              <a:lnSpc>
                <a:spcPct val="150000"/>
              </a:lnSpc>
              <a:buFont typeface="Wingdings" panose="05000000000000000000" pitchFamily="2" charset="2"/>
              <a:buChar char="q"/>
            </a:pPr>
            <a:r>
              <a:rPr lang="en-US" i="1" dirty="0">
                <a:solidFill>
                  <a:srgbClr val="FF0000"/>
                </a:solidFill>
                <a:effectLst>
                  <a:outerShdw blurRad="38100" dist="38100" dir="2700000" algn="tl">
                    <a:srgbClr val="000000">
                      <a:alpha val="43137"/>
                    </a:srgbClr>
                  </a:outerShdw>
                </a:effectLst>
              </a:rPr>
              <a:t>RNNs keep the word order by processing words sequentially</a:t>
            </a:r>
            <a:r>
              <a:rPr lang="en-US" dirty="0"/>
              <a:t>. The </a:t>
            </a:r>
            <a:r>
              <a:rPr lang="en-US" i="1" dirty="0">
                <a:solidFill>
                  <a:srgbClr val="0070C0"/>
                </a:solidFill>
                <a:effectLst>
                  <a:outerShdw blurRad="38100" dist="38100" dir="2700000" algn="tl">
                    <a:srgbClr val="000000">
                      <a:alpha val="43137"/>
                    </a:srgbClr>
                  </a:outerShdw>
                </a:effectLst>
              </a:rPr>
              <a:t>advantage of this approach is simplicity</a:t>
            </a:r>
            <a:r>
              <a:rPr lang="en-US" dirty="0"/>
              <a:t>, but one of the </a:t>
            </a:r>
            <a:r>
              <a:rPr lang="en-US" i="1" dirty="0">
                <a:solidFill>
                  <a:srgbClr val="0070C0"/>
                </a:solidFill>
                <a:effectLst>
                  <a:outerShdw blurRad="38100" dist="38100" dir="2700000" algn="tl">
                    <a:srgbClr val="000000">
                      <a:alpha val="43137"/>
                    </a:srgbClr>
                  </a:outerShdw>
                </a:effectLst>
              </a:rPr>
              <a:t>disadvantages is that this makes parallelization hard </a:t>
            </a:r>
            <a:r>
              <a:rPr lang="en-US" dirty="0"/>
              <a:t>(training on multiple hardware accelerators). If we want to effectively leverage highly parallel architectures, such as GPUs and TPUs, we’d need an alternative way to represent ordering.</a:t>
            </a:r>
          </a:p>
          <a:p>
            <a:pPr>
              <a:lnSpc>
                <a:spcPct val="150000"/>
              </a:lnSpc>
            </a:pPr>
            <a:endParaRPr lang="en-US" dirty="0"/>
          </a:p>
          <a:p>
            <a:pPr marL="346075" indent="-346075">
              <a:lnSpc>
                <a:spcPct val="150000"/>
              </a:lnSpc>
              <a:buFont typeface="Wingdings" panose="05000000000000000000" pitchFamily="2" charset="2"/>
              <a:buChar char="q"/>
            </a:pPr>
            <a:r>
              <a:rPr lang="en-US" dirty="0"/>
              <a:t>The transformer uses a </a:t>
            </a:r>
            <a:r>
              <a:rPr lang="en-US" i="1" dirty="0">
                <a:solidFill>
                  <a:srgbClr val="FF0000"/>
                </a:solidFill>
                <a:effectLst>
                  <a:outerShdw blurRad="38100" dist="38100" dir="2700000" algn="tl">
                    <a:srgbClr val="000000">
                      <a:alpha val="43137"/>
                    </a:srgbClr>
                  </a:outerShdw>
                </a:effectLst>
              </a:rPr>
              <a:t>simple alternative order representation called positional encoding</a:t>
            </a:r>
            <a:r>
              <a:rPr lang="en-US" dirty="0"/>
              <a:t>, which </a:t>
            </a:r>
            <a:r>
              <a:rPr lang="en-US" i="1" dirty="0">
                <a:solidFill>
                  <a:srgbClr val="FF0000"/>
                </a:solidFill>
                <a:effectLst>
                  <a:outerShdw blurRad="38100" dist="38100" dir="2700000" algn="tl">
                    <a:srgbClr val="000000">
                      <a:alpha val="43137"/>
                    </a:srgbClr>
                  </a:outerShdw>
                </a:effectLst>
              </a:rPr>
              <a:t>associates each word with a number representing its position in the text</a:t>
            </a:r>
            <a:r>
              <a:rPr lang="en-US" dirty="0"/>
              <a:t> The key intuition is that enriching transformers with a position allows the model to learn the importance of the position of each token (a word in the text/sentence) </a:t>
            </a:r>
          </a:p>
          <a:p>
            <a:pPr marL="285750" indent="-285750">
              <a:buFont typeface="Wingdings" panose="05000000000000000000" pitchFamily="2" charset="2"/>
              <a:buChar char="q"/>
            </a:pPr>
            <a:endParaRPr lang="en-US" dirty="0"/>
          </a:p>
        </p:txBody>
      </p:sp>
      <p:pic>
        <p:nvPicPr>
          <p:cNvPr id="5" name="Picture 4">
            <a:extLst>
              <a:ext uri="{FF2B5EF4-FFF2-40B4-BE49-F238E27FC236}">
                <a16:creationId xmlns:a16="http://schemas.microsoft.com/office/drawing/2014/main" id="{31CDACB1-50B1-D8EC-D0E7-A226E4B5B831}"/>
              </a:ext>
            </a:extLst>
          </p:cNvPr>
          <p:cNvPicPr>
            <a:picLocks noChangeAspect="1"/>
          </p:cNvPicPr>
          <p:nvPr/>
        </p:nvPicPr>
        <p:blipFill>
          <a:blip r:embed="rId2"/>
          <a:stretch>
            <a:fillRect/>
          </a:stretch>
        </p:blipFill>
        <p:spPr>
          <a:xfrm>
            <a:off x="1392768" y="4739621"/>
            <a:ext cx="9731583" cy="426757"/>
          </a:xfrm>
          <a:prstGeom prst="rect">
            <a:avLst/>
          </a:prstGeom>
        </p:spPr>
      </p:pic>
    </p:spTree>
    <p:extLst>
      <p:ext uri="{BB962C8B-B14F-4D97-AF65-F5344CB8AC3E}">
        <p14:creationId xmlns:p14="http://schemas.microsoft.com/office/powerpoint/2010/main" val="4222846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DC4F3-18F6-FF77-741F-C4782BD590E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8CDF4FA-58C5-8716-C33D-EEBD4E7CE0DB}"/>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TRANSFORMER</a:t>
            </a:r>
          </a:p>
        </p:txBody>
      </p:sp>
      <p:sp>
        <p:nvSpPr>
          <p:cNvPr id="2" name="TextBox 1">
            <a:extLst>
              <a:ext uri="{FF2B5EF4-FFF2-40B4-BE49-F238E27FC236}">
                <a16:creationId xmlns:a16="http://schemas.microsoft.com/office/drawing/2014/main" id="{A8D7C8A6-0731-7EEA-A9CC-B6FEF79EA1FE}"/>
              </a:ext>
            </a:extLst>
          </p:cNvPr>
          <p:cNvSpPr txBox="1"/>
          <p:nvPr/>
        </p:nvSpPr>
        <p:spPr>
          <a:xfrm>
            <a:off x="210048" y="750194"/>
            <a:ext cx="11771904" cy="5824800"/>
          </a:xfrm>
          <a:prstGeom prst="rect">
            <a:avLst/>
          </a:prstGeom>
          <a:noFill/>
        </p:spPr>
        <p:txBody>
          <a:bodyPr wrap="square" rtlCol="0">
            <a:spAutoFit/>
          </a:bodyPr>
          <a:lstStyle/>
          <a:p>
            <a:pPr marL="285750" indent="-285750" algn="just">
              <a:lnSpc>
                <a:spcPct val="130000"/>
              </a:lnSpc>
              <a:buFont typeface="Wingdings" panose="05000000000000000000" pitchFamily="2" charset="2"/>
              <a:buChar char="q"/>
            </a:pPr>
            <a:r>
              <a:rPr lang="en-US" dirty="0"/>
              <a:t>To understand how a Multi-Head Attention layer works, we must first understand the </a:t>
            </a:r>
            <a:r>
              <a:rPr lang="en-US" i="1" dirty="0"/>
              <a:t>Scaled Dot-Product Attention </a:t>
            </a:r>
            <a:r>
              <a:rPr lang="en-US" dirty="0"/>
              <a:t>layer, which it is based on </a:t>
            </a:r>
          </a:p>
          <a:p>
            <a:pPr marL="285750" indent="-285750" algn="just">
              <a:lnSpc>
                <a:spcPct val="130000"/>
              </a:lnSpc>
              <a:buFont typeface="Wingdings" panose="05000000000000000000" pitchFamily="2" charset="2"/>
              <a:buChar char="q"/>
            </a:pPr>
            <a:r>
              <a:rPr lang="en-US" dirty="0"/>
              <a:t>Let’s suppose the </a:t>
            </a:r>
            <a:r>
              <a:rPr lang="en-US" dirty="0">
                <a:solidFill>
                  <a:srgbClr val="0070C0"/>
                </a:solidFill>
                <a:effectLst>
                  <a:outerShdw blurRad="38100" dist="38100" dir="2700000" algn="tl">
                    <a:srgbClr val="000000">
                      <a:alpha val="43137"/>
                    </a:srgbClr>
                  </a:outerShdw>
                </a:effectLst>
              </a:rPr>
              <a:t>encoder analyzed the input sentence “They played chess,” </a:t>
            </a:r>
            <a:r>
              <a:rPr lang="en-US" dirty="0"/>
              <a:t>and it managed to understand that the word </a:t>
            </a:r>
            <a:r>
              <a:rPr lang="en-US" dirty="0">
                <a:solidFill>
                  <a:srgbClr val="0070C0"/>
                </a:solidFill>
                <a:effectLst>
                  <a:outerShdw blurRad="38100" dist="38100" dir="2700000" algn="tl">
                    <a:srgbClr val="000000">
                      <a:alpha val="43137"/>
                    </a:srgbClr>
                  </a:outerShdw>
                </a:effectLst>
              </a:rPr>
              <a:t>“They” is the subject and the word “played” is the verb</a:t>
            </a:r>
            <a:r>
              <a:rPr lang="en-US" dirty="0"/>
              <a:t>, so it encoded this information in the representations of these words. </a:t>
            </a:r>
          </a:p>
          <a:p>
            <a:pPr marL="285750" indent="-285750" algn="just">
              <a:lnSpc>
                <a:spcPct val="130000"/>
              </a:lnSpc>
              <a:buFont typeface="Wingdings" panose="05000000000000000000" pitchFamily="2" charset="2"/>
              <a:buChar char="q"/>
            </a:pPr>
            <a:r>
              <a:rPr lang="en-US" dirty="0"/>
              <a:t>Now </a:t>
            </a:r>
            <a:r>
              <a:rPr lang="en-US" i="1" dirty="0">
                <a:solidFill>
                  <a:schemeClr val="accent6">
                    <a:lumMod val="75000"/>
                  </a:schemeClr>
                </a:solidFill>
                <a:effectLst>
                  <a:outerShdw blurRad="38100" dist="38100" dir="2700000" algn="tl">
                    <a:srgbClr val="000000">
                      <a:alpha val="43137"/>
                    </a:srgbClr>
                  </a:outerShdw>
                </a:effectLst>
              </a:rPr>
              <a:t>suppose the decoder has already translated the subject, and it thinks that it should translate the verb next. For this, it needs to fetch the verb from the input sentence</a:t>
            </a:r>
            <a:r>
              <a:rPr lang="en-US" dirty="0"/>
              <a:t>. This is analog to a dictionary lookup: it’s as if the encoder created a dictionary {“subject”: “They”, “verb”: “played”, …} and the decoder wanted to look up the value that corresponds to the key “verb </a:t>
            </a:r>
          </a:p>
          <a:p>
            <a:pPr marL="285750" indent="-285750" algn="just">
              <a:lnSpc>
                <a:spcPct val="130000"/>
              </a:lnSpc>
              <a:buFont typeface="Wingdings" panose="05000000000000000000" pitchFamily="2" charset="2"/>
              <a:buChar char="q"/>
            </a:pPr>
            <a:r>
              <a:rPr lang="en-US" dirty="0"/>
              <a:t>However, </a:t>
            </a:r>
            <a:r>
              <a:rPr lang="en-US" i="1" dirty="0">
                <a:solidFill>
                  <a:srgbClr val="0070C0"/>
                </a:solidFill>
                <a:effectLst>
                  <a:outerShdw blurRad="38100" dist="38100" dir="2700000" algn="tl">
                    <a:srgbClr val="000000">
                      <a:alpha val="43137"/>
                    </a:srgbClr>
                  </a:outerShdw>
                </a:effectLst>
              </a:rPr>
              <a:t>the model does not have discrete tokens to represent the keys (like “subject” or “verb”); it has vectorized representations of these concepts (which it learned during training), so the key it will use for the query (lookup – look for the verb) will not perfectly match any key in the dictionary</a:t>
            </a:r>
            <a:r>
              <a:rPr lang="en-US" dirty="0"/>
              <a:t>. </a:t>
            </a:r>
          </a:p>
          <a:p>
            <a:pPr marL="285750" indent="-285750" algn="just">
              <a:lnSpc>
                <a:spcPct val="130000"/>
              </a:lnSpc>
              <a:buFont typeface="Wingdings" panose="05000000000000000000" pitchFamily="2" charset="2"/>
              <a:buChar char="q"/>
            </a:pPr>
            <a:r>
              <a:rPr lang="en-US" i="1" dirty="0">
                <a:solidFill>
                  <a:srgbClr val="FF0000"/>
                </a:solidFill>
                <a:effectLst>
                  <a:outerShdw blurRad="38100" dist="38100" dir="2700000" algn="tl">
                    <a:srgbClr val="000000">
                      <a:alpha val="43137"/>
                    </a:srgbClr>
                  </a:outerShdw>
                </a:effectLst>
              </a:rPr>
              <a:t>The solution is to compute a similarity measure between the query and each key in the dictionary, and then use the </a:t>
            </a:r>
            <a:r>
              <a:rPr lang="en-US" i="1" dirty="0" err="1">
                <a:solidFill>
                  <a:srgbClr val="FF0000"/>
                </a:solidFill>
                <a:effectLst>
                  <a:outerShdw blurRad="38100" dist="38100" dir="2700000" algn="tl">
                    <a:srgbClr val="000000">
                      <a:alpha val="43137"/>
                    </a:srgbClr>
                  </a:outerShdw>
                </a:effectLst>
              </a:rPr>
              <a:t>softmax</a:t>
            </a:r>
            <a:r>
              <a:rPr lang="en-US" i="1" dirty="0">
                <a:solidFill>
                  <a:srgbClr val="FF0000"/>
                </a:solidFill>
                <a:effectLst>
                  <a:outerShdw blurRad="38100" dist="38100" dir="2700000" algn="tl">
                    <a:srgbClr val="000000">
                      <a:alpha val="43137"/>
                    </a:srgbClr>
                  </a:outerShdw>
                </a:effectLst>
              </a:rPr>
              <a:t> function to convert these similarity scores to weights that add up to 1 </a:t>
            </a:r>
          </a:p>
          <a:p>
            <a:pPr marL="285750" indent="-285750" algn="just">
              <a:lnSpc>
                <a:spcPct val="130000"/>
              </a:lnSpc>
              <a:buFont typeface="Wingdings" panose="05000000000000000000" pitchFamily="2" charset="2"/>
              <a:buChar char="q"/>
            </a:pPr>
            <a:r>
              <a:rPr lang="en-US" i="1" dirty="0">
                <a:solidFill>
                  <a:srgbClr val="FF0000"/>
                </a:solidFill>
                <a:effectLst>
                  <a:outerShdw blurRad="38100" dist="38100" dir="2700000" algn="tl">
                    <a:srgbClr val="000000">
                      <a:alpha val="43137"/>
                    </a:srgbClr>
                  </a:outerShdw>
                </a:effectLst>
              </a:rPr>
              <a:t>If the key that represents the verb is by far the most similar to the query, then that key’s weight will be close to 1. Then the model can compute a weighted sum of the corresponding values, so if the weight of the “verb” key is close to 1</a:t>
            </a:r>
            <a:r>
              <a:rPr lang="en-US" dirty="0"/>
              <a:t>, </a:t>
            </a:r>
          </a:p>
        </p:txBody>
      </p:sp>
    </p:spTree>
    <p:extLst>
      <p:ext uri="{BB962C8B-B14F-4D97-AF65-F5344CB8AC3E}">
        <p14:creationId xmlns:p14="http://schemas.microsoft.com/office/powerpoint/2010/main" val="476294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84390-768B-3D05-A0C9-958335A59D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7644B41-579B-26BA-9731-5ECD844C20B0}"/>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TRANSFORMER</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DA10777-ED27-2CC8-00B2-5619A3153ACC}"/>
                  </a:ext>
                </a:extLst>
              </p:cNvPr>
              <p:cNvSpPr txBox="1"/>
              <p:nvPr/>
            </p:nvSpPr>
            <p:spPr>
              <a:xfrm>
                <a:off x="210048" y="750194"/>
                <a:ext cx="11771904" cy="641829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q"/>
                </a:pPr>
                <a:r>
                  <a:rPr lang="en-US" dirty="0"/>
                  <a:t>If the key that represents the verb is by far the most similar to the query, Then the model can compute a weighted sum of the corresponding values, so if the weight of the “verb” key is close to 1, then the </a:t>
                </a:r>
                <a:r>
                  <a:rPr lang="en-US" i="1" dirty="0">
                    <a:solidFill>
                      <a:srgbClr val="FF0000"/>
                    </a:solidFill>
                    <a:effectLst>
                      <a:outerShdw blurRad="38100" dist="38100" dir="2700000" algn="tl">
                        <a:srgbClr val="000000">
                          <a:alpha val="43137"/>
                        </a:srgbClr>
                      </a:outerShdw>
                    </a:effectLst>
                  </a:rPr>
                  <a:t>weighted sum will be very close to the representation of the word “played.”</a:t>
                </a:r>
              </a:p>
              <a:p>
                <a:pPr marL="285750" indent="-285750" algn="just">
                  <a:lnSpc>
                    <a:spcPct val="200000"/>
                  </a:lnSpc>
                  <a:buFont typeface="Wingdings" panose="05000000000000000000" pitchFamily="2" charset="2"/>
                  <a:buChar char="q"/>
                </a:pPr>
                <a:r>
                  <a:rPr lang="en-US" dirty="0"/>
                  <a:t>In short, you can think of this whole process as a differentiable dictionary lookup. The similarity measure used by the Transformer is just the dot product. </a:t>
                </a:r>
              </a:p>
              <a:p>
                <a:pPr marL="285750" indent="-285750" algn="just">
                  <a:lnSpc>
                    <a:spcPct val="200000"/>
                  </a:lnSpc>
                  <a:buFont typeface="Wingdings" panose="05000000000000000000" pitchFamily="2" charset="2"/>
                  <a:buChar char="q"/>
                </a:pPr>
                <a:r>
                  <a:rPr lang="en-US" dirty="0"/>
                  <a:t>In fact, the </a:t>
                </a:r>
                <a:r>
                  <a:rPr lang="en-US" i="1" dirty="0">
                    <a:solidFill>
                      <a:srgbClr val="0070C0"/>
                    </a:solidFill>
                    <a:effectLst>
                      <a:outerShdw blurRad="38100" dist="38100" dir="2700000" algn="tl">
                        <a:srgbClr val="000000">
                          <a:alpha val="43137"/>
                        </a:srgbClr>
                      </a:outerShdw>
                    </a:effectLst>
                  </a:rPr>
                  <a:t>equation is the same as for Scaled Dot Product attention</a:t>
                </a:r>
                <a:r>
                  <a:rPr lang="en-US" dirty="0"/>
                  <a:t>, except for a scaling factor </a:t>
                </a:r>
              </a:p>
              <a:p>
                <a:pPr marL="285750" indent="-285750" algn="just">
                  <a:lnSpc>
                    <a:spcPct val="200000"/>
                  </a:lnSpc>
                  <a:buFont typeface="Wingdings" panose="05000000000000000000" pitchFamily="2" charset="2"/>
                  <a:buChar char="q"/>
                </a:pPr>
                <a:endParaRPr lang="en-US" dirty="0"/>
              </a:p>
              <a:p>
                <a:pPr marL="285750" indent="-285750">
                  <a:lnSpc>
                    <a:spcPct val="130000"/>
                  </a:lnSpc>
                  <a:buFont typeface="Wingdings" panose="05000000000000000000" pitchFamily="2" charset="2"/>
                  <a:buChar char="q"/>
                </a:pPr>
                <a:endParaRPr lang="en-US" dirty="0"/>
              </a:p>
              <a:p>
                <a:pPr marL="285750" indent="-285750">
                  <a:lnSpc>
                    <a:spcPct val="130000"/>
                  </a:lnSpc>
                  <a:buFont typeface="Wingdings" panose="05000000000000000000" pitchFamily="2" charset="2"/>
                  <a:buChar char="q"/>
                </a:pPr>
                <a:endParaRPr lang="en-US" dirty="0"/>
              </a:p>
              <a:p>
                <a:pPr marL="631825" indent="-285750">
                  <a:buFont typeface="Wingdings" panose="05000000000000000000" pitchFamily="2" charset="2"/>
                  <a:buChar char="ü"/>
                </a:pPr>
                <a:r>
                  <a:rPr lang="en-US" b="1" dirty="0"/>
                  <a:t>Q </a:t>
                </a:r>
                <a:r>
                  <a:rPr lang="en-US" dirty="0"/>
                  <a:t>is a matrix containing one row per query shape. Its shape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𝑞𝑢𝑒𝑟𝑖𝑒𝑠</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𝑘𝑒𝑦𝑠</m:t>
                        </m:r>
                      </m:sub>
                    </m:sSub>
                    <m:r>
                      <a:rPr lang="en-US" b="0" i="1" smtClean="0">
                        <a:latin typeface="Cambria Math" panose="02040503050406030204" pitchFamily="18" charset="0"/>
                      </a:rPr>
                      <m:t>]</m:t>
                    </m:r>
                  </m:oMath>
                </a14:m>
                <a:endParaRPr lang="en-US" b="0" dirty="0"/>
              </a:p>
              <a:p>
                <a:pPr marL="631825" indent="-285750">
                  <a:buFont typeface="Wingdings" panose="05000000000000000000" pitchFamily="2" charset="2"/>
                  <a:buChar char="ü"/>
                </a:pPr>
                <a:r>
                  <a:rPr lang="en-US" dirty="0"/>
                  <a:t>K is a matrix containing one row per Key. Its shape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𝑘𝑒𝑦𝑠</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𝑘𝑒𝑦𝑠</m:t>
                        </m:r>
                      </m:sub>
                    </m:sSub>
                    <m:r>
                      <a:rPr lang="en-US" b="0" i="1" smtClean="0">
                        <a:latin typeface="Cambria Math" panose="02040503050406030204" pitchFamily="18" charset="0"/>
                      </a:rPr>
                      <m:t>]</m:t>
                    </m:r>
                  </m:oMath>
                </a14:m>
                <a:endParaRPr lang="en-US" b="0" dirty="0"/>
              </a:p>
              <a:p>
                <a:pPr marL="631825" indent="-285750">
                  <a:buFont typeface="Wingdings" panose="05000000000000000000" pitchFamily="2" charset="2"/>
                  <a:buChar char="ü"/>
                </a:pPr>
                <a:r>
                  <a:rPr lang="en-US" dirty="0"/>
                  <a:t>V is a matrix containing one row per value. Its shape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𝑘𝑒𝑦𝑠</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𝑣𝑎𝑙𝑢𝑒𝑠</m:t>
                        </m:r>
                      </m:sub>
                    </m:sSub>
                    <m:r>
                      <a:rPr lang="en-US" b="0" i="1" smtClean="0">
                        <a:latin typeface="Cambria Math" panose="02040503050406030204" pitchFamily="18" charset="0"/>
                      </a:rPr>
                      <m:t>]</m:t>
                    </m:r>
                  </m:oMath>
                </a14:m>
                <a:endParaRPr lang="en-US" b="0" dirty="0"/>
              </a:p>
              <a:p>
                <a:pPr marL="631825" indent="-285750">
                  <a:buFont typeface="Wingdings" panose="05000000000000000000" pitchFamily="2" charset="2"/>
                  <a:buChar char="ü"/>
                </a:pPr>
                <a:r>
                  <a:rPr lang="en-US" dirty="0"/>
                  <a:t>The final shape of the output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𝑞𝑢𝑒𝑟𝑖𝑒𝑠</m:t>
                        </m:r>
                      </m:sub>
                    </m:sSub>
                    <m:r>
                      <a:rPr lang="en-US" b="0" i="1" smtClean="0">
                        <a:latin typeface="Cambria Math" panose="02040503050406030204" pitchFamily="18" charset="0"/>
                      </a:rPr>
                      <m:t>, </m:t>
                    </m:r>
                    <m:r>
                      <a:rPr lang="en-US" b="0" i="1" smtClean="0">
                        <a:latin typeface="Cambria Math" panose="02040503050406030204" pitchFamily="18" charset="0"/>
                      </a:rPr>
                      <m:t>𝑑</m:t>
                    </m:r>
                    <m:r>
                      <a:rPr lang="en-US" b="0" i="1" smtClean="0">
                        <a:latin typeface="Cambria Math" panose="02040503050406030204" pitchFamily="18" charset="0"/>
                      </a:rPr>
                      <m:t>_</m:t>
                    </m:r>
                    <m:r>
                      <a:rPr lang="en-US" b="0" i="1" smtClean="0">
                        <a:latin typeface="Cambria Math" panose="02040503050406030204" pitchFamily="18" charset="0"/>
                      </a:rPr>
                      <m:t>𝑣𝑎𝑙𝑢𝑒𝑠</m:t>
                    </m:r>
                    <m:r>
                      <a:rPr lang="en-US" b="0" i="1" smtClean="0">
                        <a:latin typeface="Cambria Math" panose="02040503050406030204" pitchFamily="18" charset="0"/>
                      </a:rPr>
                      <m:t>] </m:t>
                    </m:r>
                  </m:oMath>
                </a14:m>
                <a:br>
                  <a:rPr lang="en-US" dirty="0"/>
                </a:br>
                <a:r>
                  <a:rPr lang="en-US" dirty="0"/>
                  <a:t> </a:t>
                </a:r>
                <a:br>
                  <a:rPr lang="en-US" dirty="0"/>
                </a:br>
                <a:r>
                  <a:rPr lang="en-US" dirty="0"/>
                  <a:t> </a:t>
                </a:r>
              </a:p>
            </p:txBody>
          </p:sp>
        </mc:Choice>
        <mc:Fallback xmlns="">
          <p:sp>
            <p:nvSpPr>
              <p:cNvPr id="2" name="TextBox 1">
                <a:extLst>
                  <a:ext uri="{FF2B5EF4-FFF2-40B4-BE49-F238E27FC236}">
                    <a16:creationId xmlns:a16="http://schemas.microsoft.com/office/drawing/2014/main" id="{4DA10777-ED27-2CC8-00B2-5619A3153ACC}"/>
                  </a:ext>
                </a:extLst>
              </p:cNvPr>
              <p:cNvSpPr txBox="1">
                <a:spLocks noRot="1" noChangeAspect="1" noMove="1" noResize="1" noEditPoints="1" noAdjustHandles="1" noChangeArrowheads="1" noChangeShapeType="1" noTextEdit="1"/>
              </p:cNvSpPr>
              <p:nvPr/>
            </p:nvSpPr>
            <p:spPr>
              <a:xfrm>
                <a:off x="210048" y="750194"/>
                <a:ext cx="11771904" cy="6418295"/>
              </a:xfrm>
              <a:prstGeom prst="rect">
                <a:avLst/>
              </a:prstGeom>
              <a:blipFill>
                <a:blip r:embed="rId2"/>
                <a:stretch>
                  <a:fillRect l="-311" r="-62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BC40A970-E3E1-2AE7-EB3A-C417FA97CD5B}"/>
              </a:ext>
            </a:extLst>
          </p:cNvPr>
          <p:cNvPicPr>
            <a:picLocks noChangeAspect="1"/>
          </p:cNvPicPr>
          <p:nvPr/>
        </p:nvPicPr>
        <p:blipFill>
          <a:blip r:embed="rId3"/>
          <a:stretch>
            <a:fillRect/>
          </a:stretch>
        </p:blipFill>
        <p:spPr>
          <a:xfrm>
            <a:off x="3630869" y="4340130"/>
            <a:ext cx="3891091" cy="804360"/>
          </a:xfrm>
          <a:prstGeom prst="rect">
            <a:avLst/>
          </a:prstGeom>
        </p:spPr>
      </p:pic>
    </p:spTree>
    <p:extLst>
      <p:ext uri="{BB962C8B-B14F-4D97-AF65-F5344CB8AC3E}">
        <p14:creationId xmlns:p14="http://schemas.microsoft.com/office/powerpoint/2010/main" val="2783308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6FD78-0982-B25F-7FD9-49B3BB6E253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1EAE24-409F-790F-CAB4-AC83995B2F2B}"/>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TRANSFORMER</a:t>
            </a:r>
          </a:p>
        </p:txBody>
      </p:sp>
      <p:sp>
        <p:nvSpPr>
          <p:cNvPr id="2" name="TextBox 1">
            <a:extLst>
              <a:ext uri="{FF2B5EF4-FFF2-40B4-BE49-F238E27FC236}">
                <a16:creationId xmlns:a16="http://schemas.microsoft.com/office/drawing/2014/main" id="{6D37BACF-4051-1114-F0F3-5130D3AE84CE}"/>
              </a:ext>
            </a:extLst>
          </p:cNvPr>
          <p:cNvSpPr txBox="1"/>
          <p:nvPr/>
        </p:nvSpPr>
        <p:spPr>
          <a:xfrm>
            <a:off x="210048" y="750194"/>
            <a:ext cx="11771904" cy="5554726"/>
          </a:xfrm>
          <a:prstGeom prst="rect">
            <a:avLst/>
          </a:prstGeom>
          <a:noFill/>
        </p:spPr>
        <p:txBody>
          <a:bodyPr wrap="square" rtlCol="0">
            <a:spAutoFit/>
          </a:bodyPr>
          <a:lstStyle/>
          <a:p>
            <a:pPr marL="285750" indent="-285750">
              <a:lnSpc>
                <a:spcPct val="200000"/>
              </a:lnSpc>
              <a:buFont typeface="Wingdings" panose="05000000000000000000" pitchFamily="2" charset="2"/>
              <a:buChar char="q"/>
            </a:pPr>
            <a:r>
              <a:rPr lang="en-US" i="1" dirty="0">
                <a:solidFill>
                  <a:srgbClr val="FF0000"/>
                </a:solidFill>
                <a:effectLst>
                  <a:outerShdw blurRad="38100" dist="38100" dir="2700000" algn="tl">
                    <a:srgbClr val="000000">
                      <a:alpha val="43137"/>
                    </a:srgbClr>
                  </a:outerShdw>
                </a:effectLst>
              </a:rPr>
              <a:t>The scaling factor scales down the similarity score to avoid saturating the soft max function </a:t>
            </a:r>
            <a:r>
              <a:rPr lang="en-US" dirty="0"/>
              <a:t>which would lead to tiny gradients</a:t>
            </a:r>
          </a:p>
          <a:p>
            <a:pPr marL="285750" indent="-285750">
              <a:lnSpc>
                <a:spcPct val="200000"/>
              </a:lnSpc>
              <a:buFont typeface="Wingdings" panose="05000000000000000000" pitchFamily="2" charset="2"/>
              <a:buChar char="q"/>
            </a:pPr>
            <a:r>
              <a:rPr lang="en-US" dirty="0"/>
              <a:t>It </a:t>
            </a:r>
            <a:r>
              <a:rPr lang="en-US" i="1" dirty="0">
                <a:solidFill>
                  <a:srgbClr val="FF0000"/>
                </a:solidFill>
                <a:effectLst>
                  <a:outerShdw blurRad="38100" dist="38100" dir="2700000" algn="tl">
                    <a:srgbClr val="000000">
                      <a:alpha val="43137"/>
                    </a:srgbClr>
                  </a:outerShdw>
                </a:effectLst>
              </a:rPr>
              <a:t>is possible to mask out some key/value pairs by adding a very large negative  value to the corresponding similarity scores, just before computing the </a:t>
            </a:r>
            <a:r>
              <a:rPr lang="en-US" i="1" dirty="0" err="1">
                <a:solidFill>
                  <a:srgbClr val="FF0000"/>
                </a:solidFill>
                <a:effectLst>
                  <a:outerShdw blurRad="38100" dist="38100" dir="2700000" algn="tl">
                    <a:srgbClr val="000000">
                      <a:alpha val="43137"/>
                    </a:srgbClr>
                  </a:outerShdw>
                </a:effectLst>
              </a:rPr>
              <a:t>softmax</a:t>
            </a:r>
            <a:r>
              <a:rPr lang="en-US" dirty="0"/>
              <a:t>. This is useful in the </a:t>
            </a:r>
            <a:r>
              <a:rPr lang="en-US" i="1" dirty="0">
                <a:solidFill>
                  <a:srgbClr val="FF0000"/>
                </a:solidFill>
                <a:effectLst>
                  <a:outerShdw blurRad="38100" dist="38100" dir="2700000" algn="tl">
                    <a:srgbClr val="000000">
                      <a:alpha val="43137"/>
                    </a:srgbClr>
                  </a:outerShdw>
                </a:effectLst>
              </a:rPr>
              <a:t>Masked Multi-Head Attention layer</a:t>
            </a:r>
            <a:r>
              <a:rPr lang="en-US" dirty="0"/>
              <a:t>. </a:t>
            </a:r>
          </a:p>
          <a:p>
            <a:pPr marL="285750" indent="-285750">
              <a:lnSpc>
                <a:spcPct val="200000"/>
              </a:lnSpc>
              <a:buFont typeface="Wingdings" panose="05000000000000000000" pitchFamily="2" charset="2"/>
              <a:buChar char="q"/>
            </a:pPr>
            <a:r>
              <a:rPr lang="en-US" dirty="0"/>
              <a:t>In the encoder, this equation is applied to every input sentence in the batch, with </a:t>
            </a:r>
            <a:r>
              <a:rPr lang="en-US" b="1" dirty="0"/>
              <a:t>Q</a:t>
            </a:r>
            <a:r>
              <a:rPr lang="en-US" dirty="0"/>
              <a:t>, </a:t>
            </a:r>
            <a:r>
              <a:rPr lang="en-US" b="1" dirty="0"/>
              <a:t>K</a:t>
            </a:r>
            <a:r>
              <a:rPr lang="en-US" dirty="0"/>
              <a:t>, and </a:t>
            </a:r>
            <a:r>
              <a:rPr lang="en-US" b="1" dirty="0"/>
              <a:t>V </a:t>
            </a:r>
            <a:r>
              <a:rPr lang="en-US" dirty="0"/>
              <a:t>all equal to the list of words in the input sentence </a:t>
            </a:r>
          </a:p>
          <a:p>
            <a:pPr marL="285750" indent="-285750">
              <a:lnSpc>
                <a:spcPct val="200000"/>
              </a:lnSpc>
              <a:buFont typeface="Wingdings" panose="05000000000000000000" pitchFamily="2" charset="2"/>
              <a:buChar char="q"/>
            </a:pPr>
            <a:r>
              <a:rPr lang="en-US" dirty="0"/>
              <a:t>So each word in the sentence will be compared to every word in the same sentence, including itself</a:t>
            </a:r>
          </a:p>
          <a:p>
            <a:pPr marL="285750" indent="-285750">
              <a:lnSpc>
                <a:spcPct val="200000"/>
              </a:lnSpc>
              <a:buFont typeface="Wingdings" panose="05000000000000000000" pitchFamily="2" charset="2"/>
              <a:buChar char="q"/>
            </a:pPr>
            <a:r>
              <a:rPr lang="en-US" dirty="0"/>
              <a:t>Similarly, in the decoder’s masked attention layer, the equation will be applied to every target sentence in the batch, with </a:t>
            </a:r>
            <a:r>
              <a:rPr lang="en-US" b="1" dirty="0"/>
              <a:t>Q</a:t>
            </a:r>
            <a:r>
              <a:rPr lang="en-US" dirty="0"/>
              <a:t>, </a:t>
            </a:r>
            <a:r>
              <a:rPr lang="en-US" b="1" dirty="0"/>
              <a:t>K</a:t>
            </a:r>
            <a:r>
              <a:rPr lang="en-US" dirty="0"/>
              <a:t>, and </a:t>
            </a:r>
            <a:r>
              <a:rPr lang="en-US" b="1" dirty="0"/>
              <a:t>V </a:t>
            </a:r>
            <a:r>
              <a:rPr lang="en-US" dirty="0"/>
              <a:t>all equal to the list of words in the target sentence, </a:t>
            </a:r>
            <a:r>
              <a:rPr lang="en-US" i="1" dirty="0">
                <a:solidFill>
                  <a:srgbClr val="FF0000"/>
                </a:solidFill>
                <a:effectLst>
                  <a:outerShdw blurRad="38100" dist="38100" dir="2700000" algn="tl">
                    <a:srgbClr val="000000">
                      <a:alpha val="43137"/>
                    </a:srgbClr>
                  </a:outerShdw>
                </a:effectLst>
              </a:rPr>
              <a:t>but this time using a mask to prevent any word from comparing itself to words located after it </a:t>
            </a:r>
          </a:p>
        </p:txBody>
      </p:sp>
    </p:spTree>
    <p:extLst>
      <p:ext uri="{BB962C8B-B14F-4D97-AF65-F5344CB8AC3E}">
        <p14:creationId xmlns:p14="http://schemas.microsoft.com/office/powerpoint/2010/main" val="2636514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64954-B8E0-3B0C-750D-607E502608E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CF6CE05-2870-1226-FDF2-9BFAE0441E01}"/>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TRANSFORMER</a:t>
            </a:r>
          </a:p>
        </p:txBody>
      </p:sp>
      <p:sp>
        <p:nvSpPr>
          <p:cNvPr id="2" name="TextBox 1">
            <a:extLst>
              <a:ext uri="{FF2B5EF4-FFF2-40B4-BE49-F238E27FC236}">
                <a16:creationId xmlns:a16="http://schemas.microsoft.com/office/drawing/2014/main" id="{227C7973-AC03-D4C4-98FD-CEF2E1FA20F0}"/>
              </a:ext>
            </a:extLst>
          </p:cNvPr>
          <p:cNvSpPr txBox="1"/>
          <p:nvPr/>
        </p:nvSpPr>
        <p:spPr>
          <a:xfrm>
            <a:off x="210048" y="750194"/>
            <a:ext cx="11771904" cy="5727850"/>
          </a:xfrm>
          <a:prstGeom prst="rect">
            <a:avLst/>
          </a:prstGeom>
          <a:noFill/>
        </p:spPr>
        <p:txBody>
          <a:bodyPr wrap="square" rtlCol="0">
            <a:spAutoFit/>
          </a:bodyPr>
          <a:lstStyle/>
          <a:p>
            <a:pPr marL="285750" indent="-285750">
              <a:lnSpc>
                <a:spcPct val="200000"/>
              </a:lnSpc>
              <a:buFont typeface="Wingdings" panose="05000000000000000000" pitchFamily="2" charset="2"/>
              <a:buChar char="q"/>
            </a:pPr>
            <a:r>
              <a:rPr lang="en-US" dirty="0"/>
              <a:t>Each input token sequence (for example, of a sentence) embedding that passes into the transformer (encoder and/or decoder) produces </a:t>
            </a:r>
            <a:r>
              <a:rPr lang="en-US" i="1" dirty="0"/>
              <a:t>attention weights</a:t>
            </a:r>
            <a:r>
              <a:rPr lang="en-US" dirty="0"/>
              <a:t> that are simultaneously calculated between every sequence element (such as a word). </a:t>
            </a:r>
          </a:p>
          <a:p>
            <a:pPr marL="285750" indent="-285750">
              <a:lnSpc>
                <a:spcPct val="200000"/>
              </a:lnSpc>
              <a:buFont typeface="Wingdings" panose="05000000000000000000" pitchFamily="2" charset="2"/>
              <a:buChar char="q"/>
            </a:pPr>
            <a:r>
              <a:rPr lang="en-US" dirty="0">
                <a:solidFill>
                  <a:srgbClr val="FF0000"/>
                </a:solidFill>
                <a:effectLst>
                  <a:outerShdw blurRad="38100" dist="38100" dir="2700000" algn="tl">
                    <a:srgbClr val="000000">
                      <a:alpha val="43137"/>
                    </a:srgbClr>
                  </a:outerShdw>
                </a:effectLst>
              </a:rPr>
              <a:t>The output results in embeddings produced for every token containing the token itself together with every other relevant token weighted by its relative attention weight</a:t>
            </a:r>
            <a:r>
              <a:rPr lang="en-US" dirty="0"/>
              <a:t>. </a:t>
            </a:r>
          </a:p>
          <a:p>
            <a:pPr marL="285750" indent="-285750">
              <a:lnSpc>
                <a:spcPct val="150000"/>
              </a:lnSpc>
              <a:buFont typeface="Wingdings" panose="05000000000000000000" pitchFamily="2" charset="2"/>
              <a:buChar char="q"/>
            </a:pPr>
            <a:r>
              <a:rPr lang="en-US" dirty="0"/>
              <a:t>The </a:t>
            </a:r>
            <a:r>
              <a:rPr lang="en-US" dirty="0">
                <a:solidFill>
                  <a:srgbClr val="0070C0"/>
                </a:solidFill>
                <a:effectLst>
                  <a:outerShdw blurRad="38100" dist="38100" dir="2700000" algn="tl">
                    <a:srgbClr val="000000">
                      <a:alpha val="43137"/>
                    </a:srgbClr>
                  </a:outerShdw>
                </a:effectLst>
              </a:rPr>
              <a:t>attention layer transforms the input vectors into query, key, and value matrices, which are then split into attention heads</a:t>
            </a:r>
            <a:r>
              <a:rPr lang="en-US" dirty="0"/>
              <a:t>: </a:t>
            </a:r>
          </a:p>
          <a:p>
            <a:pPr marL="914400" indent="-631825">
              <a:lnSpc>
                <a:spcPct val="150000"/>
              </a:lnSpc>
              <a:buFont typeface="Wingdings" panose="05000000000000000000" pitchFamily="2" charset="2"/>
              <a:buChar char="ü"/>
            </a:pPr>
            <a:r>
              <a:rPr lang="en-US" dirty="0"/>
              <a:t>The </a:t>
            </a:r>
            <a:r>
              <a:rPr lang="en-US" dirty="0">
                <a:solidFill>
                  <a:srgbClr val="00B050"/>
                </a:solidFill>
                <a:effectLst>
                  <a:outerShdw blurRad="38100" dist="38100" dir="2700000" algn="tl">
                    <a:srgbClr val="000000">
                      <a:alpha val="43137"/>
                    </a:srgbClr>
                  </a:outerShdw>
                </a:effectLst>
              </a:rPr>
              <a:t>query word can be interpreted as the word </a:t>
            </a:r>
            <a:r>
              <a:rPr lang="en-US" i="1" dirty="0">
                <a:solidFill>
                  <a:srgbClr val="00B050"/>
                </a:solidFill>
                <a:effectLst>
                  <a:outerShdw blurRad="38100" dist="38100" dir="2700000" algn="tl">
                    <a:srgbClr val="000000">
                      <a:alpha val="43137"/>
                    </a:srgbClr>
                  </a:outerShdw>
                </a:effectLst>
              </a:rPr>
              <a:t>for which </a:t>
            </a:r>
            <a:r>
              <a:rPr lang="en-US" dirty="0">
                <a:solidFill>
                  <a:srgbClr val="00B050"/>
                </a:solidFill>
                <a:effectLst>
                  <a:outerShdw blurRad="38100" dist="38100" dir="2700000" algn="tl">
                    <a:srgbClr val="000000">
                      <a:alpha val="43137"/>
                    </a:srgbClr>
                  </a:outerShdw>
                </a:effectLst>
              </a:rPr>
              <a:t>we are calculating the attention function</a:t>
            </a:r>
            <a:r>
              <a:rPr lang="en-US" dirty="0"/>
              <a:t>.</a:t>
            </a:r>
          </a:p>
          <a:p>
            <a:pPr marL="914400" indent="-631825">
              <a:lnSpc>
                <a:spcPct val="150000"/>
              </a:lnSpc>
              <a:buFont typeface="Wingdings" panose="05000000000000000000" pitchFamily="2" charset="2"/>
              <a:buChar char="ü"/>
            </a:pPr>
            <a:r>
              <a:rPr lang="en-US" dirty="0"/>
              <a:t>The </a:t>
            </a:r>
            <a:r>
              <a:rPr lang="en-US" dirty="0">
                <a:solidFill>
                  <a:srgbClr val="FF0000"/>
                </a:solidFill>
                <a:effectLst>
                  <a:outerShdw blurRad="38100" dist="38100" dir="2700000" algn="tl">
                    <a:srgbClr val="000000">
                      <a:alpha val="43137"/>
                    </a:srgbClr>
                  </a:outerShdw>
                </a:effectLst>
              </a:rPr>
              <a:t>key and value words are the words </a:t>
            </a:r>
            <a:r>
              <a:rPr lang="en-US" i="1" dirty="0">
                <a:solidFill>
                  <a:srgbClr val="FF0000"/>
                </a:solidFill>
                <a:effectLst>
                  <a:outerShdw blurRad="38100" dist="38100" dir="2700000" algn="tl">
                    <a:srgbClr val="000000">
                      <a:alpha val="43137"/>
                    </a:srgbClr>
                  </a:outerShdw>
                </a:effectLst>
              </a:rPr>
              <a:t>to which </a:t>
            </a:r>
            <a:r>
              <a:rPr lang="en-US" dirty="0">
                <a:solidFill>
                  <a:srgbClr val="FF0000"/>
                </a:solidFill>
                <a:effectLst>
                  <a:outerShdw blurRad="38100" dist="38100" dir="2700000" algn="tl">
                    <a:srgbClr val="000000">
                      <a:alpha val="43137"/>
                    </a:srgbClr>
                  </a:outerShdw>
                </a:effectLst>
              </a:rPr>
              <a:t>we are paying attention</a:t>
            </a:r>
            <a:r>
              <a:rPr lang="en-US" dirty="0"/>
              <a:t>. </a:t>
            </a:r>
          </a:p>
          <a:p>
            <a:pPr marL="285750" indent="-285750">
              <a:lnSpc>
                <a:spcPct val="150000"/>
              </a:lnSpc>
              <a:buFont typeface="Wingdings" panose="05000000000000000000" pitchFamily="2" charset="2"/>
              <a:buChar char="q"/>
            </a:pPr>
            <a:r>
              <a:rPr lang="en-US" dirty="0"/>
              <a:t>The </a:t>
            </a:r>
            <a:r>
              <a:rPr lang="en-US" dirty="0">
                <a:solidFill>
                  <a:schemeClr val="accent5">
                    <a:lumMod val="50000"/>
                  </a:schemeClr>
                </a:solidFill>
                <a:effectLst>
                  <a:outerShdw blurRad="38100" dist="38100" dir="2700000" algn="tl">
                    <a:srgbClr val="000000">
                      <a:alpha val="43137"/>
                    </a:srgbClr>
                  </a:outerShdw>
                </a:effectLst>
              </a:rPr>
              <a:t>dot-product (explained further below) tells us the similarity between words</a:t>
            </a:r>
            <a:r>
              <a:rPr lang="en-US" dirty="0"/>
              <a:t>. </a:t>
            </a:r>
            <a:r>
              <a:rPr lang="en-US" dirty="0">
                <a:solidFill>
                  <a:srgbClr val="00B050"/>
                </a:solidFill>
                <a:effectLst>
                  <a:outerShdw blurRad="38100" dist="38100" dir="2700000" algn="tl">
                    <a:srgbClr val="000000">
                      <a:alpha val="43137"/>
                    </a:srgbClr>
                  </a:outerShdw>
                </a:effectLst>
              </a:rPr>
              <a:t>If the vectors for two words are more aligned, the </a:t>
            </a:r>
            <a:r>
              <a:rPr lang="en-US" i="1" dirty="0">
                <a:solidFill>
                  <a:srgbClr val="00B050"/>
                </a:solidFill>
                <a:effectLst>
                  <a:outerShdw blurRad="38100" dist="38100" dir="2700000" algn="tl">
                    <a:srgbClr val="000000">
                      <a:alpha val="43137"/>
                    </a:srgbClr>
                  </a:outerShdw>
                </a:effectLst>
              </a:rPr>
              <a:t>attention score </a:t>
            </a:r>
            <a:r>
              <a:rPr lang="en-US" dirty="0">
                <a:solidFill>
                  <a:srgbClr val="00B050"/>
                </a:solidFill>
                <a:effectLst>
                  <a:outerShdw blurRad="38100" dist="38100" dir="2700000" algn="tl">
                    <a:srgbClr val="000000">
                      <a:alpha val="43137"/>
                    </a:srgbClr>
                  </a:outerShdw>
                </a:effectLst>
              </a:rPr>
              <a:t>will be higher.</a:t>
            </a:r>
            <a:r>
              <a:rPr lang="en-US" dirty="0"/>
              <a:t> The </a:t>
            </a:r>
            <a:r>
              <a:rPr lang="en-US" dirty="0">
                <a:solidFill>
                  <a:srgbClr val="FF0000"/>
                </a:solidFill>
                <a:effectLst>
                  <a:outerShdw blurRad="38100" dist="38100" dir="2700000" algn="tl">
                    <a:srgbClr val="000000">
                      <a:alpha val="43137"/>
                    </a:srgbClr>
                  </a:outerShdw>
                </a:effectLst>
              </a:rPr>
              <a:t>transformer will learn the weights in such a way that if two words in a sentence are relevant to each other, then their word vectors will be aligned</a:t>
            </a:r>
            <a:r>
              <a:rPr lang="en-US" dirty="0"/>
              <a:t>.</a:t>
            </a:r>
          </a:p>
        </p:txBody>
      </p:sp>
    </p:spTree>
    <p:extLst>
      <p:ext uri="{BB962C8B-B14F-4D97-AF65-F5344CB8AC3E}">
        <p14:creationId xmlns:p14="http://schemas.microsoft.com/office/powerpoint/2010/main" val="3396590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E38E6-0FBB-2472-E240-B851EB54D27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275E83E-656A-BC57-07D1-9B9A1E794B57}"/>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TRANSFORMER</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F415771-61C5-68A4-464C-61264DEBA625}"/>
                  </a:ext>
                </a:extLst>
              </p:cNvPr>
              <p:cNvSpPr txBox="1"/>
              <p:nvPr/>
            </p:nvSpPr>
            <p:spPr>
              <a:xfrm>
                <a:off x="210048" y="750194"/>
                <a:ext cx="11771904" cy="5697714"/>
              </a:xfrm>
              <a:prstGeom prst="rect">
                <a:avLst/>
              </a:prstGeom>
              <a:noFill/>
            </p:spPr>
            <p:txBody>
              <a:bodyPr wrap="square" rtlCol="0">
                <a:spAutoFit/>
              </a:bodyPr>
              <a:lstStyle/>
              <a:p>
                <a:pPr marL="285750" indent="-285750">
                  <a:lnSpc>
                    <a:spcPct val="200000"/>
                  </a:lnSpc>
                  <a:buFont typeface="Wingdings" panose="05000000000000000000" pitchFamily="2" charset="2"/>
                  <a:buChar char="q"/>
                </a:pPr>
                <a:r>
                  <a:rPr lang="en-US" dirty="0"/>
                  <a:t>Each attention layer learns three weight matrices</a:t>
                </a:r>
              </a:p>
              <a:p>
                <a:pPr marL="574675" indent="-285750">
                  <a:buFont typeface="Wingdings" panose="05000000000000000000" pitchFamily="2" charset="2"/>
                  <a:buChar char="ü"/>
                </a:pPr>
                <a:r>
                  <a:rPr lang="en-US" dirty="0"/>
                  <a:t>The query weights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𝑄</m:t>
                        </m:r>
                      </m:sub>
                    </m:sSub>
                  </m:oMath>
                </a14:m>
                <a:endParaRPr lang="en-US" i="1" dirty="0"/>
              </a:p>
              <a:p>
                <a:pPr marL="574675" indent="-285750">
                  <a:buFont typeface="Wingdings" panose="05000000000000000000" pitchFamily="2" charset="2"/>
                  <a:buChar char="ü"/>
                </a:pPr>
                <a:r>
                  <a:rPr lang="en-US" dirty="0"/>
                  <a:t>The key weights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b="0" i="1" smtClean="0">
                            <a:latin typeface="Cambria Math" panose="02040503050406030204" pitchFamily="18" charset="0"/>
                          </a:rPr>
                          <m:t>𝑘</m:t>
                        </m:r>
                      </m:sub>
                    </m:sSub>
                  </m:oMath>
                </a14:m>
                <a:endParaRPr lang="en-US" i="1" dirty="0"/>
              </a:p>
              <a:p>
                <a:pPr marL="574675" indent="-285750">
                  <a:buFont typeface="Wingdings" panose="05000000000000000000" pitchFamily="2" charset="2"/>
                  <a:buChar char="ü"/>
                </a:pPr>
                <a:r>
                  <a:rPr lang="en-US" dirty="0"/>
                  <a:t>The value weights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b="0" i="1" smtClean="0">
                            <a:latin typeface="Cambria Math" panose="02040503050406030204" pitchFamily="18" charset="0"/>
                          </a:rPr>
                          <m:t>𝑣</m:t>
                        </m:r>
                      </m:sub>
                    </m:sSub>
                  </m:oMath>
                </a14:m>
                <a:r>
                  <a:rPr lang="en-US" dirty="0"/>
                  <a:t> </a:t>
                </a:r>
              </a:p>
              <a:p>
                <a:pPr marL="285750" indent="-285750">
                  <a:buFont typeface="Wingdings" panose="05000000000000000000" pitchFamily="2" charset="2"/>
                  <a:buChar char="q"/>
                </a:pPr>
                <a:r>
                  <a:rPr lang="en-US" dirty="0"/>
                  <a:t>For each word </a:t>
                </a:r>
                <a:r>
                  <a:rPr lang="en-US" i="1" dirty="0" err="1"/>
                  <a:t>i</a:t>
                </a:r>
                <a:r>
                  <a:rPr lang="en-US" dirty="0"/>
                  <a:t>, an input word embedding </a:t>
                </a:r>
                <a:r>
                  <a:rPr lang="en-US" i="1" dirty="0"/>
                  <a:t>xi </a:t>
                </a:r>
                <a:r>
                  <a:rPr lang="en-US" dirty="0"/>
                  <a:t>is computed :</a:t>
                </a:r>
              </a:p>
              <a:p>
                <a:pPr marL="574675" indent="-285750">
                  <a:buFont typeface="Wingdings" panose="05000000000000000000" pitchFamily="2" charset="2"/>
                  <a:buChar char="ü"/>
                </a:pPr>
                <a:r>
                  <a:rPr lang="en-US" dirty="0"/>
                  <a:t>A query vector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𝑄</m:t>
                        </m:r>
                      </m:sub>
                    </m:sSub>
                  </m:oMath>
                </a14:m>
                <a:endParaRPr lang="en-US" i="1" dirty="0"/>
              </a:p>
              <a:p>
                <a:pPr marL="574675" indent="-285750">
                  <a:buFont typeface="Wingdings" panose="05000000000000000000" pitchFamily="2" charset="2"/>
                  <a:buChar char="ü"/>
                </a:pPr>
                <a:r>
                  <a:rPr lang="en-US" dirty="0"/>
                  <a:t>A key vector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𝑘</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𝑘</m:t>
                        </m:r>
                      </m:sub>
                    </m:sSub>
                  </m:oMath>
                </a14:m>
                <a:endParaRPr lang="en-US" i="1" dirty="0"/>
              </a:p>
              <a:p>
                <a:pPr marL="574675" indent="-285750">
                  <a:buFont typeface="Wingdings" panose="05000000000000000000" pitchFamily="2" charset="2"/>
                  <a:buChar char="ü"/>
                </a:pPr>
                <a:r>
                  <a:rPr lang="en-US" dirty="0"/>
                  <a:t>A value vector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𝑣</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b="0" i="1" smtClean="0">
                            <a:latin typeface="Cambria Math" panose="02040503050406030204" pitchFamily="18" charset="0"/>
                          </a:rPr>
                          <m:t>𝑣</m:t>
                        </m:r>
                      </m:sub>
                    </m:sSub>
                  </m:oMath>
                </a14:m>
                <a:endParaRPr lang="en-US" dirty="0"/>
              </a:p>
              <a:p>
                <a:pPr marL="285750" indent="-285750">
                  <a:buFont typeface="Wingdings" panose="05000000000000000000" pitchFamily="2" charset="2"/>
                  <a:buChar char="q"/>
                </a:pPr>
                <a:r>
                  <a:rPr lang="en-US" dirty="0"/>
                  <a:t>Given the query and the corresponding key vectors, the following dot-product formula produces the </a:t>
                </a:r>
                <a:r>
                  <a:rPr lang="en-US" i="1" dirty="0"/>
                  <a:t>attention weight </a:t>
                </a:r>
                <a:r>
                  <a:rPr lang="en-US" dirty="0"/>
                  <a:t>in the original transformer paper: </a:t>
                </a:r>
              </a:p>
              <a:p>
                <a:pPr algn="ctr"/>
                <a:br>
                  <a:rPr lang="en-US" dirty="0"/>
                </a:br>
                <a:r>
                  <a:rPr lang="en-US" dirty="0"/>
                  <a: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𝒂</m:t>
                        </m:r>
                      </m:e>
                      <m:sub>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𝒋</m:t>
                            </m:r>
                          </m:e>
                        </m:d>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𝒒</m:t>
                        </m:r>
                      </m:e>
                      <m:sub>
                        <m:r>
                          <a:rPr lang="en-US" b="1" i="1" smtClean="0">
                            <a:latin typeface="Cambria Math" panose="02040503050406030204" pitchFamily="18" charset="0"/>
                          </a:rPr>
                          <m:t>𝒊</m:t>
                        </m:r>
                      </m:sub>
                    </m:sSub>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𝒌</m:t>
                        </m:r>
                      </m:e>
                      <m:sub>
                        <m:r>
                          <a:rPr lang="en-US" b="1" i="1" smtClean="0">
                            <a:latin typeface="Cambria Math" panose="02040503050406030204" pitchFamily="18" charset="0"/>
                          </a:rPr>
                          <m:t>𝒋</m:t>
                        </m:r>
                      </m:sub>
                    </m:sSub>
                  </m:oMath>
                </a14:m>
                <a:endParaRPr lang="en-US" b="1" dirty="0"/>
              </a:p>
              <a:p>
                <a:pPr algn="ctr"/>
                <a:endParaRPr lang="en-US" b="1" dirty="0"/>
              </a:p>
              <a:p>
                <a:r>
                  <a:rPr lang="en-US" dirty="0"/>
                  <a:t>where:</a:t>
                </a:r>
              </a:p>
              <a:p>
                <a:pPr marL="285750" indent="-285750">
                  <a:buFont typeface="Wingdings" panose="05000000000000000000" pitchFamily="2" charset="2"/>
                  <a:buChar char="q"/>
                </a:pPr>
                <a:r>
                  <a:rPr lang="en-US" dirty="0"/>
                  <a:t> </a:t>
                </a:r>
                <a:r>
                  <a:rPr lang="en-US" i="1" dirty="0" err="1"/>
                  <a:t>ai,j</a:t>
                </a:r>
                <a:r>
                  <a:rPr lang="en-US" i="1" dirty="0"/>
                  <a:t> </a:t>
                </a:r>
                <a:r>
                  <a:rPr lang="en-US" dirty="0"/>
                  <a:t>is the attention from word </a:t>
                </a:r>
                <a:r>
                  <a:rPr lang="en-US" i="1" dirty="0" err="1"/>
                  <a:t>i</a:t>
                </a:r>
                <a:r>
                  <a:rPr lang="en-US" i="1" dirty="0"/>
                  <a:t> </a:t>
                </a:r>
                <a:r>
                  <a:rPr lang="en-US" dirty="0"/>
                  <a:t>to a word </a:t>
                </a:r>
                <a:r>
                  <a:rPr lang="en-US" i="1" dirty="0"/>
                  <a:t>j</a:t>
                </a:r>
                <a:r>
                  <a:rPr lang="en-US" dirty="0"/>
                  <a:t>.</a:t>
                </a:r>
              </a:p>
              <a:p>
                <a:pPr marL="285750" indent="-285750">
                  <a:buFont typeface="Wingdings" panose="05000000000000000000" pitchFamily="2" charset="2"/>
                  <a:buChar char="q"/>
                </a:pPr>
                <a:r>
                  <a:rPr lang="en-US" dirty="0"/>
                  <a:t>•  is the dot-product of the query with keys, which will give a sense of how “close” the vectors are. </a:t>
                </a:r>
              </a:p>
              <a:p>
                <a:pPr marL="285750" indent="-285750">
                  <a:buFont typeface="Wingdings" panose="05000000000000000000" pitchFamily="2" charset="2"/>
                  <a:buChar char="q"/>
                </a:pPr>
                <a:r>
                  <a:rPr lang="en-US" dirty="0">
                    <a:solidFill>
                      <a:srgbClr val="FF0000"/>
                    </a:solidFill>
                  </a:rPr>
                  <a:t>Note that the attention unit for word </a:t>
                </a:r>
                <a:r>
                  <a:rPr lang="en-US" i="1" dirty="0" err="1">
                    <a:solidFill>
                      <a:srgbClr val="FF0000"/>
                    </a:solidFill>
                  </a:rPr>
                  <a:t>i</a:t>
                </a:r>
                <a:r>
                  <a:rPr lang="en-US" i="1" dirty="0">
                    <a:solidFill>
                      <a:srgbClr val="FF0000"/>
                    </a:solidFill>
                  </a:rPr>
                  <a:t> </a:t>
                </a:r>
                <a:r>
                  <a:rPr lang="en-US" dirty="0">
                    <a:solidFill>
                      <a:srgbClr val="FF0000"/>
                    </a:solidFill>
                  </a:rPr>
                  <a:t>is the weighted sum of the value vectors of all words, weighted by </a:t>
                </a:r>
                <a:r>
                  <a:rPr lang="en-US" i="1" dirty="0" err="1">
                    <a:solidFill>
                      <a:srgbClr val="FF0000"/>
                    </a:solidFill>
                  </a:rPr>
                  <a:t>ai,j</a:t>
                </a:r>
                <a:r>
                  <a:rPr lang="en-US" dirty="0">
                    <a:solidFill>
                      <a:srgbClr val="FF0000"/>
                    </a:solidFill>
                  </a:rPr>
                  <a:t>, the attention from word </a:t>
                </a:r>
                <a:r>
                  <a:rPr lang="en-US" i="1" dirty="0" err="1">
                    <a:solidFill>
                      <a:srgbClr val="FF0000"/>
                    </a:solidFill>
                  </a:rPr>
                  <a:t>i</a:t>
                </a:r>
                <a:r>
                  <a:rPr lang="en-US" i="1" dirty="0">
                    <a:solidFill>
                      <a:srgbClr val="FF0000"/>
                    </a:solidFill>
                  </a:rPr>
                  <a:t> </a:t>
                </a:r>
                <a:r>
                  <a:rPr lang="en-US" dirty="0">
                    <a:solidFill>
                      <a:srgbClr val="FF0000"/>
                    </a:solidFill>
                  </a:rPr>
                  <a:t>to a word </a:t>
                </a:r>
                <a:br>
                  <a:rPr lang="en-US" dirty="0"/>
                </a:br>
                <a:endParaRPr lang="en-US" dirty="0"/>
              </a:p>
            </p:txBody>
          </p:sp>
        </mc:Choice>
        <mc:Fallback xmlns="">
          <p:sp>
            <p:nvSpPr>
              <p:cNvPr id="2" name="TextBox 1">
                <a:extLst>
                  <a:ext uri="{FF2B5EF4-FFF2-40B4-BE49-F238E27FC236}">
                    <a16:creationId xmlns:a16="http://schemas.microsoft.com/office/drawing/2014/main" id="{2F415771-61C5-68A4-464C-61264DEBA625}"/>
                  </a:ext>
                </a:extLst>
              </p:cNvPr>
              <p:cNvSpPr txBox="1">
                <a:spLocks noRot="1" noChangeAspect="1" noMove="1" noResize="1" noEditPoints="1" noAdjustHandles="1" noChangeArrowheads="1" noChangeShapeType="1" noTextEdit="1"/>
              </p:cNvSpPr>
              <p:nvPr/>
            </p:nvSpPr>
            <p:spPr>
              <a:xfrm>
                <a:off x="210048" y="750194"/>
                <a:ext cx="11771904" cy="5697714"/>
              </a:xfrm>
              <a:prstGeom prst="rect">
                <a:avLst/>
              </a:prstGeom>
              <a:blipFill>
                <a:blip r:embed="rId2"/>
                <a:stretch>
                  <a:fillRect l="-414"/>
                </a:stretch>
              </a:blipFill>
            </p:spPr>
            <p:txBody>
              <a:bodyPr/>
              <a:lstStyle/>
              <a:p>
                <a:r>
                  <a:rPr lang="en-US">
                    <a:noFill/>
                  </a:rPr>
                  <a:t> </a:t>
                </a:r>
              </a:p>
            </p:txBody>
          </p:sp>
        </mc:Fallback>
      </mc:AlternateContent>
    </p:spTree>
    <p:extLst>
      <p:ext uri="{BB962C8B-B14F-4D97-AF65-F5344CB8AC3E}">
        <p14:creationId xmlns:p14="http://schemas.microsoft.com/office/powerpoint/2010/main" val="2410184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52D5B-59BD-F3EF-F4CF-AF0DE026A2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C5CC01D-8633-5E4B-F4CC-52F66C308784}"/>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TRANSFORMER</a:t>
            </a:r>
          </a:p>
        </p:txBody>
      </p:sp>
      <p:sp>
        <p:nvSpPr>
          <p:cNvPr id="2" name="TextBox 1">
            <a:extLst>
              <a:ext uri="{FF2B5EF4-FFF2-40B4-BE49-F238E27FC236}">
                <a16:creationId xmlns:a16="http://schemas.microsoft.com/office/drawing/2014/main" id="{215FA866-AC70-1322-A38B-3F93092E7AF6}"/>
              </a:ext>
            </a:extLst>
          </p:cNvPr>
          <p:cNvSpPr txBox="1"/>
          <p:nvPr/>
        </p:nvSpPr>
        <p:spPr>
          <a:xfrm>
            <a:off x="210048" y="750194"/>
            <a:ext cx="11771904" cy="2784737"/>
          </a:xfrm>
          <a:prstGeom prst="rect">
            <a:avLst/>
          </a:prstGeom>
          <a:noFill/>
        </p:spPr>
        <p:txBody>
          <a:bodyPr wrap="square" rtlCol="0">
            <a:spAutoFit/>
          </a:bodyPr>
          <a:lstStyle/>
          <a:p>
            <a:pPr marL="285750" indent="-285750">
              <a:lnSpc>
                <a:spcPct val="200000"/>
              </a:lnSpc>
              <a:buFont typeface="Wingdings" panose="05000000000000000000" pitchFamily="2" charset="2"/>
              <a:buChar char="q"/>
            </a:pPr>
            <a:r>
              <a:rPr lang="en-US" dirty="0"/>
              <a:t>Now, to stabilize gradients during the training, the attention weights are divided by the square root of the dimension of the key vectors </a:t>
            </a:r>
          </a:p>
          <a:p>
            <a:pPr marL="285750" indent="-285750">
              <a:lnSpc>
                <a:spcPct val="200000"/>
              </a:lnSpc>
              <a:buFont typeface="Wingdings" panose="05000000000000000000" pitchFamily="2" charset="2"/>
              <a:buChar char="q"/>
            </a:pPr>
            <a:r>
              <a:rPr lang="en-US" dirty="0"/>
              <a:t>Then, the results are passed through a </a:t>
            </a:r>
            <a:r>
              <a:rPr lang="en-US" dirty="0" err="1"/>
              <a:t>softmax</a:t>
            </a:r>
            <a:r>
              <a:rPr lang="en-US" dirty="0"/>
              <a:t> function to normalize the weight. Note that the attention function from a word </a:t>
            </a:r>
            <a:r>
              <a:rPr lang="en-US" i="1" dirty="0" err="1"/>
              <a:t>i</a:t>
            </a:r>
            <a:r>
              <a:rPr lang="en-US" i="1" dirty="0"/>
              <a:t> </a:t>
            </a:r>
            <a:r>
              <a:rPr lang="en-US" dirty="0"/>
              <a:t>to a word </a:t>
            </a:r>
            <a:r>
              <a:rPr lang="en-US" i="1" dirty="0"/>
              <a:t>j </a:t>
            </a:r>
            <a:r>
              <a:rPr lang="en-US" dirty="0"/>
              <a:t>is not the same as the attention from word </a:t>
            </a:r>
            <a:r>
              <a:rPr lang="en-US" i="1" dirty="0"/>
              <a:t>j </a:t>
            </a:r>
            <a:r>
              <a:rPr lang="en-US" dirty="0"/>
              <a:t>to a word </a:t>
            </a:r>
            <a:r>
              <a:rPr lang="en-US" i="1" dirty="0" err="1"/>
              <a:t>i</a:t>
            </a:r>
            <a:r>
              <a:rPr lang="en-US" dirty="0"/>
              <a:t>. </a:t>
            </a:r>
            <a:br>
              <a:rPr lang="en-US" dirty="0"/>
            </a:br>
            <a:endParaRPr lang="en-US" dirty="0"/>
          </a:p>
        </p:txBody>
      </p:sp>
      <p:pic>
        <p:nvPicPr>
          <p:cNvPr id="5" name="Picture 4">
            <a:extLst>
              <a:ext uri="{FF2B5EF4-FFF2-40B4-BE49-F238E27FC236}">
                <a16:creationId xmlns:a16="http://schemas.microsoft.com/office/drawing/2014/main" id="{E07D081E-49DC-AA5A-6A75-4AE9837A975A}"/>
              </a:ext>
            </a:extLst>
          </p:cNvPr>
          <p:cNvPicPr>
            <a:picLocks noChangeAspect="1"/>
          </p:cNvPicPr>
          <p:nvPr/>
        </p:nvPicPr>
        <p:blipFill>
          <a:blip r:embed="rId2"/>
          <a:stretch>
            <a:fillRect/>
          </a:stretch>
        </p:blipFill>
        <p:spPr>
          <a:xfrm>
            <a:off x="3573147" y="3192090"/>
            <a:ext cx="6123477" cy="932438"/>
          </a:xfrm>
          <a:prstGeom prst="rect">
            <a:avLst/>
          </a:prstGeom>
        </p:spPr>
      </p:pic>
    </p:spTree>
    <p:extLst>
      <p:ext uri="{BB962C8B-B14F-4D97-AF65-F5344CB8AC3E}">
        <p14:creationId xmlns:p14="http://schemas.microsoft.com/office/powerpoint/2010/main" val="42702636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A17D8-C9E5-3CE9-CA08-40B0184937D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85CADCD-B90C-E7B8-7640-E23438BEC663}"/>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EXAMPLE OF ATTENTION MECHANISM</a:t>
            </a:r>
          </a:p>
        </p:txBody>
      </p:sp>
      <p:pic>
        <p:nvPicPr>
          <p:cNvPr id="3" name="Picture 2">
            <a:extLst>
              <a:ext uri="{FF2B5EF4-FFF2-40B4-BE49-F238E27FC236}">
                <a16:creationId xmlns:a16="http://schemas.microsoft.com/office/drawing/2014/main" id="{EC6CCD42-2330-C53A-A556-79A6A87486F3}"/>
              </a:ext>
            </a:extLst>
          </p:cNvPr>
          <p:cNvPicPr>
            <a:picLocks noChangeAspect="1"/>
          </p:cNvPicPr>
          <p:nvPr/>
        </p:nvPicPr>
        <p:blipFill>
          <a:blip r:embed="rId2"/>
          <a:stretch>
            <a:fillRect/>
          </a:stretch>
        </p:blipFill>
        <p:spPr>
          <a:xfrm>
            <a:off x="6905530" y="1162080"/>
            <a:ext cx="4976291" cy="4922947"/>
          </a:xfrm>
          <a:prstGeom prst="rect">
            <a:avLst/>
          </a:prstGeom>
        </p:spPr>
      </p:pic>
      <p:sp>
        <p:nvSpPr>
          <p:cNvPr id="5" name="TextBox 4">
            <a:extLst>
              <a:ext uri="{FF2B5EF4-FFF2-40B4-BE49-F238E27FC236}">
                <a16:creationId xmlns:a16="http://schemas.microsoft.com/office/drawing/2014/main" id="{63B5067A-8A0B-E625-04EF-38AB869E1378}"/>
              </a:ext>
            </a:extLst>
          </p:cNvPr>
          <p:cNvSpPr txBox="1"/>
          <p:nvPr/>
        </p:nvSpPr>
        <p:spPr>
          <a:xfrm>
            <a:off x="564204" y="1162080"/>
            <a:ext cx="6731541" cy="545085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en-US" dirty="0"/>
              <a:t>Using the </a:t>
            </a:r>
            <a:r>
              <a:rPr lang="en-US" dirty="0">
                <a:solidFill>
                  <a:srgbClr val="FF0000"/>
                </a:solidFill>
              </a:rPr>
              <a:t>attention mechanism, the neural network can learn a heatmap of each source English word in relation to each target French word</a:t>
            </a:r>
            <a:r>
              <a:rPr lang="en-US" dirty="0"/>
              <a:t>. Note that </a:t>
            </a:r>
            <a:r>
              <a:rPr lang="en-US" dirty="0">
                <a:solidFill>
                  <a:srgbClr val="0070C0"/>
                </a:solidFill>
              </a:rPr>
              <a:t>relationships are not only on the diagonal but might spread across the whole matrix</a:t>
            </a:r>
            <a:r>
              <a:rPr lang="en-US" dirty="0"/>
              <a:t>. For instance, </a:t>
            </a:r>
            <a:r>
              <a:rPr lang="en-US" dirty="0">
                <a:solidFill>
                  <a:srgbClr val="00B050"/>
                </a:solidFill>
                <a:effectLst>
                  <a:outerShdw blurRad="38100" dist="38100" dir="2700000" algn="tl">
                    <a:srgbClr val="000000">
                      <a:alpha val="43137"/>
                    </a:srgbClr>
                  </a:outerShdw>
                </a:effectLst>
              </a:rPr>
              <a:t>when the model outputs the French word “</a:t>
            </a:r>
            <a:r>
              <a:rPr lang="en-US" dirty="0" err="1">
                <a:solidFill>
                  <a:srgbClr val="00B050"/>
                </a:solidFill>
                <a:effectLst>
                  <a:outerShdw blurRad="38100" dist="38100" dir="2700000" algn="tl">
                    <a:srgbClr val="000000">
                      <a:alpha val="43137"/>
                    </a:srgbClr>
                  </a:outerShdw>
                </a:effectLst>
              </a:rPr>
              <a:t>européenne</a:t>
            </a:r>
            <a:r>
              <a:rPr lang="en-US" dirty="0">
                <a:solidFill>
                  <a:srgbClr val="00B050"/>
                </a:solidFill>
                <a:effectLst>
                  <a:outerShdw blurRad="38100" dist="38100" dir="2700000" algn="tl">
                    <a:srgbClr val="000000">
                      <a:alpha val="43137"/>
                    </a:srgbClr>
                  </a:outerShdw>
                </a:effectLst>
              </a:rPr>
              <a:t>,” it will pay a lot of attention to the input words “European” and “Economic.” </a:t>
            </a:r>
          </a:p>
          <a:p>
            <a:pPr marL="285750" indent="-285750" algn="just">
              <a:lnSpc>
                <a:spcPct val="150000"/>
              </a:lnSpc>
              <a:buFont typeface="Wingdings" panose="05000000000000000000" pitchFamily="2" charset="2"/>
              <a:buChar char="q"/>
            </a:pPr>
            <a:r>
              <a:rPr lang="en-US" dirty="0"/>
              <a:t>The </a:t>
            </a:r>
            <a:r>
              <a:rPr lang="en-US" dirty="0">
                <a:solidFill>
                  <a:srgbClr val="0070C0"/>
                </a:solidFill>
                <a:effectLst>
                  <a:outerShdw blurRad="38100" dist="38100" dir="2700000" algn="tl">
                    <a:srgbClr val="000000">
                      <a:alpha val="43137"/>
                    </a:srgbClr>
                  </a:outerShdw>
                </a:effectLst>
              </a:rPr>
              <a:t>2014 attention paper by </a:t>
            </a:r>
            <a:r>
              <a:rPr lang="en-US" dirty="0" err="1">
                <a:solidFill>
                  <a:srgbClr val="0070C0"/>
                </a:solidFill>
                <a:effectLst>
                  <a:outerShdw blurRad="38100" dist="38100" dir="2700000" algn="tl">
                    <a:srgbClr val="000000">
                      <a:alpha val="43137"/>
                    </a:srgbClr>
                  </a:outerShdw>
                </a:effectLst>
              </a:rPr>
              <a:t>Bahdanou</a:t>
            </a:r>
            <a:r>
              <a:rPr lang="en-US" dirty="0">
                <a:solidFill>
                  <a:srgbClr val="0070C0"/>
                </a:solidFill>
                <a:effectLst>
                  <a:outerShdw blurRad="38100" dist="38100" dir="2700000" algn="tl">
                    <a:srgbClr val="000000">
                      <a:alpha val="43137"/>
                    </a:srgbClr>
                  </a:outerShdw>
                </a:effectLst>
              </a:rPr>
              <a:t> et al. demonstrated that the model (which used an RNN encoder-decoder framework with attention) can </a:t>
            </a:r>
            <a:r>
              <a:rPr lang="en-US" i="1" dirty="0">
                <a:solidFill>
                  <a:srgbClr val="0070C0"/>
                </a:solidFill>
                <a:effectLst>
                  <a:outerShdw blurRad="38100" dist="38100" dir="2700000" algn="tl">
                    <a:srgbClr val="000000">
                      <a:alpha val="43137"/>
                    </a:srgbClr>
                  </a:outerShdw>
                </a:effectLst>
              </a:rPr>
              <a:t>learn to align and attend </a:t>
            </a:r>
            <a:r>
              <a:rPr lang="en-US" dirty="0">
                <a:solidFill>
                  <a:srgbClr val="0070C0"/>
                </a:solidFill>
                <a:effectLst>
                  <a:outerShdw blurRad="38100" dist="38100" dir="2700000" algn="tl">
                    <a:srgbClr val="000000">
                      <a:alpha val="43137"/>
                    </a:srgbClr>
                  </a:outerShdw>
                </a:effectLst>
              </a:rPr>
              <a:t>to the input elements without supervision</a:t>
            </a:r>
            <a:r>
              <a:rPr lang="en-US" dirty="0"/>
              <a:t>, and, as </a:t>
            </a:r>
            <a:r>
              <a:rPr lang="en-US" i="1" dirty="0"/>
              <a:t>Figure </a:t>
            </a:r>
            <a:r>
              <a:rPr lang="en-US" dirty="0"/>
              <a:t>shows, translate the input English sentences into French. And, of course, the larger the training set is, the greater the number of correlations that the attention-based model can learn </a:t>
            </a:r>
          </a:p>
        </p:txBody>
      </p:sp>
    </p:spTree>
    <p:extLst>
      <p:ext uri="{BB962C8B-B14F-4D97-AF65-F5344CB8AC3E}">
        <p14:creationId xmlns:p14="http://schemas.microsoft.com/office/powerpoint/2010/main" val="35894114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BF582-1A54-1568-9B5A-2ED0249A138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99DE2B2-8293-3DCC-E716-2FB1D5D91C31}"/>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SELF ATTENTION</a:t>
            </a:r>
          </a:p>
        </p:txBody>
      </p:sp>
      <p:pic>
        <p:nvPicPr>
          <p:cNvPr id="3" name="Picture 2">
            <a:extLst>
              <a:ext uri="{FF2B5EF4-FFF2-40B4-BE49-F238E27FC236}">
                <a16:creationId xmlns:a16="http://schemas.microsoft.com/office/drawing/2014/main" id="{DD73275B-A518-0DC5-A934-4BBAB828D0AA}"/>
              </a:ext>
            </a:extLst>
          </p:cNvPr>
          <p:cNvPicPr>
            <a:picLocks noChangeAspect="1"/>
          </p:cNvPicPr>
          <p:nvPr/>
        </p:nvPicPr>
        <p:blipFill>
          <a:blip r:embed="rId2"/>
          <a:stretch>
            <a:fillRect/>
          </a:stretch>
        </p:blipFill>
        <p:spPr>
          <a:xfrm>
            <a:off x="6905530" y="1162080"/>
            <a:ext cx="4976291" cy="4922947"/>
          </a:xfrm>
          <a:prstGeom prst="rect">
            <a:avLst/>
          </a:prstGeom>
        </p:spPr>
      </p:pic>
      <p:sp>
        <p:nvSpPr>
          <p:cNvPr id="5" name="TextBox 4">
            <a:extLst>
              <a:ext uri="{FF2B5EF4-FFF2-40B4-BE49-F238E27FC236}">
                <a16:creationId xmlns:a16="http://schemas.microsoft.com/office/drawing/2014/main" id="{4130BCFF-7BE1-EABC-3D6F-F76CCDFFB263}"/>
              </a:ext>
            </a:extLst>
          </p:cNvPr>
          <p:cNvSpPr txBox="1"/>
          <p:nvPr/>
        </p:nvSpPr>
        <p:spPr>
          <a:xfrm>
            <a:off x="548891" y="665693"/>
            <a:ext cx="6731541" cy="2542363"/>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en-US" dirty="0"/>
              <a:t>The third key idea popularized by the original transformer paper is the </a:t>
            </a:r>
            <a:r>
              <a:rPr lang="en-US" dirty="0">
                <a:solidFill>
                  <a:srgbClr val="0070C0"/>
                </a:solidFill>
                <a:effectLst>
                  <a:outerShdw blurRad="38100" dist="38100" dir="2700000" algn="tl">
                    <a:srgbClr val="000000">
                      <a:alpha val="43137"/>
                    </a:srgbClr>
                  </a:outerShdw>
                </a:effectLst>
              </a:rPr>
              <a:t>use of attention within the same sentence in the source language—self-attention</a:t>
            </a:r>
            <a:r>
              <a:rPr lang="en-US" dirty="0"/>
              <a:t>. With this mechanism, </a:t>
            </a:r>
            <a:r>
              <a:rPr lang="en-US" dirty="0">
                <a:solidFill>
                  <a:srgbClr val="0070C0"/>
                </a:solidFill>
                <a:effectLst>
                  <a:outerShdw blurRad="38100" dist="38100" dir="2700000" algn="tl">
                    <a:srgbClr val="000000">
                      <a:alpha val="43137"/>
                    </a:srgbClr>
                  </a:outerShdw>
                </a:effectLst>
              </a:rPr>
              <a:t>neural networks can be trained to learn the relationships among all words </a:t>
            </a:r>
            <a:r>
              <a:rPr lang="en-US" dirty="0"/>
              <a:t>(or other elements) in each input sequence (such as a sentence) irrespective of their positions </a:t>
            </a:r>
          </a:p>
        </p:txBody>
      </p:sp>
      <p:sp>
        <p:nvSpPr>
          <p:cNvPr id="6" name="TextBox 5">
            <a:extLst>
              <a:ext uri="{FF2B5EF4-FFF2-40B4-BE49-F238E27FC236}">
                <a16:creationId xmlns:a16="http://schemas.microsoft.com/office/drawing/2014/main" id="{4B5CFCBD-BE5B-66AE-85AC-B3392743E299}"/>
              </a:ext>
            </a:extLst>
          </p:cNvPr>
          <p:cNvSpPr txBox="1"/>
          <p:nvPr/>
        </p:nvSpPr>
        <p:spPr>
          <a:xfrm>
            <a:off x="669767" y="3838814"/>
            <a:ext cx="6489787" cy="2957861"/>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800" b="0" i="0" dirty="0">
                <a:solidFill>
                  <a:srgbClr val="000000"/>
                </a:solidFill>
                <a:effectLst/>
                <a:latin typeface="SourceSerif4-Regular"/>
              </a:rPr>
              <a:t>Clearly, the </a:t>
            </a:r>
            <a:r>
              <a:rPr lang="en-US" sz="1800" b="0" i="0" dirty="0">
                <a:solidFill>
                  <a:srgbClr val="0070C0"/>
                </a:solidFill>
                <a:effectLst>
                  <a:outerShdw blurRad="38100" dist="38100" dir="2700000" algn="tl">
                    <a:srgbClr val="000000">
                      <a:alpha val="43137"/>
                    </a:srgbClr>
                  </a:outerShdw>
                </a:effectLst>
                <a:latin typeface="SourceSerif4-Regular"/>
              </a:rPr>
              <a:t>word “server” has a very different meaning in either sentence and self-attention can understand each word considering the context of the surrounding words</a:t>
            </a:r>
            <a:r>
              <a:rPr lang="en-US" sz="1800" b="0" i="0" dirty="0">
                <a:solidFill>
                  <a:srgbClr val="000000"/>
                </a:solidFill>
                <a:effectLst/>
                <a:latin typeface="SourceSerif4-Regular"/>
              </a:rPr>
              <a:t>. Just to reiterate, the </a:t>
            </a:r>
            <a:r>
              <a:rPr lang="en-US" sz="1800" b="0" i="0" dirty="0">
                <a:solidFill>
                  <a:srgbClr val="FF0000"/>
                </a:solidFill>
                <a:effectLst>
                  <a:outerShdw blurRad="38100" dist="38100" dir="2700000" algn="tl">
                    <a:srgbClr val="000000">
                      <a:alpha val="43137"/>
                    </a:srgbClr>
                  </a:outerShdw>
                </a:effectLst>
                <a:latin typeface="SourceSerif4-Regular"/>
              </a:rPr>
              <a:t>attention mechanism can access all previous words and weigh them according to a learned measure of relevancy</a:t>
            </a:r>
            <a:r>
              <a:rPr lang="en-US" sz="1800" b="0" i="0" dirty="0">
                <a:solidFill>
                  <a:srgbClr val="000000"/>
                </a:solidFill>
                <a:effectLst/>
                <a:latin typeface="SourceSerif4-Regular"/>
              </a:rPr>
              <a:t>. Self-attention provides relevant information about tokens located far away in the source sentence.</a:t>
            </a:r>
            <a:r>
              <a:rPr lang="en-US" dirty="0"/>
              <a:t> </a:t>
            </a:r>
          </a:p>
        </p:txBody>
      </p:sp>
      <p:pic>
        <p:nvPicPr>
          <p:cNvPr id="8" name="Picture 7">
            <a:extLst>
              <a:ext uri="{FF2B5EF4-FFF2-40B4-BE49-F238E27FC236}">
                <a16:creationId xmlns:a16="http://schemas.microsoft.com/office/drawing/2014/main" id="{69C6FA15-52BD-D54F-BBCB-DFC37FDD6A3B}"/>
              </a:ext>
            </a:extLst>
          </p:cNvPr>
          <p:cNvPicPr>
            <a:picLocks noChangeAspect="1"/>
          </p:cNvPicPr>
          <p:nvPr/>
        </p:nvPicPr>
        <p:blipFill>
          <a:blip r:embed="rId3"/>
          <a:stretch>
            <a:fillRect/>
          </a:stretch>
        </p:blipFill>
        <p:spPr>
          <a:xfrm>
            <a:off x="2553269" y="3019186"/>
            <a:ext cx="3680779" cy="815411"/>
          </a:xfrm>
          <a:prstGeom prst="rect">
            <a:avLst/>
          </a:prstGeom>
        </p:spPr>
      </p:pic>
    </p:spTree>
    <p:extLst>
      <p:ext uri="{BB962C8B-B14F-4D97-AF65-F5344CB8AC3E}">
        <p14:creationId xmlns:p14="http://schemas.microsoft.com/office/powerpoint/2010/main" val="1499757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BCFD5-EA5D-23B9-E53B-A849E191ABE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6A6E9A-04F1-22CC-F2A4-DCE819CFC48C}"/>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TRANSFORMER</a:t>
            </a:r>
          </a:p>
        </p:txBody>
      </p:sp>
      <p:pic>
        <p:nvPicPr>
          <p:cNvPr id="6" name="Picture 5">
            <a:extLst>
              <a:ext uri="{FF2B5EF4-FFF2-40B4-BE49-F238E27FC236}">
                <a16:creationId xmlns:a16="http://schemas.microsoft.com/office/drawing/2014/main" id="{3AE6E1FF-E938-1E3C-E9E0-A1A04BE7E853}"/>
              </a:ext>
            </a:extLst>
          </p:cNvPr>
          <p:cNvPicPr>
            <a:picLocks noChangeAspect="1"/>
          </p:cNvPicPr>
          <p:nvPr/>
        </p:nvPicPr>
        <p:blipFill>
          <a:blip r:embed="rId2"/>
          <a:stretch>
            <a:fillRect/>
          </a:stretch>
        </p:blipFill>
        <p:spPr>
          <a:xfrm>
            <a:off x="3425659" y="833658"/>
            <a:ext cx="4746955" cy="5587462"/>
          </a:xfrm>
          <a:prstGeom prst="rect">
            <a:avLst/>
          </a:prstGeom>
        </p:spPr>
      </p:pic>
    </p:spTree>
    <p:extLst>
      <p:ext uri="{BB962C8B-B14F-4D97-AF65-F5344CB8AC3E}">
        <p14:creationId xmlns:p14="http://schemas.microsoft.com/office/powerpoint/2010/main" val="2873611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FDBB0-CD34-811B-210F-E344E76A310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5581B7-275F-2D95-2C0D-3872D933EF87}"/>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TRANSFORMER</a:t>
            </a:r>
          </a:p>
        </p:txBody>
      </p:sp>
      <p:sp>
        <p:nvSpPr>
          <p:cNvPr id="2" name="TextBox 1">
            <a:extLst>
              <a:ext uri="{FF2B5EF4-FFF2-40B4-BE49-F238E27FC236}">
                <a16:creationId xmlns:a16="http://schemas.microsoft.com/office/drawing/2014/main" id="{5D522E2E-EF31-3E03-4711-FBA8CABB8E21}"/>
              </a:ext>
            </a:extLst>
          </p:cNvPr>
          <p:cNvSpPr txBox="1"/>
          <p:nvPr/>
        </p:nvSpPr>
        <p:spPr>
          <a:xfrm>
            <a:off x="436880" y="1026160"/>
            <a:ext cx="11318240" cy="4108817"/>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b="1" u="sng" dirty="0"/>
              <a:t>Positional Encoding</a:t>
            </a:r>
          </a:p>
          <a:p>
            <a:pPr marL="285750" indent="-285750">
              <a:lnSpc>
                <a:spcPct val="150000"/>
              </a:lnSpc>
              <a:buFont typeface="Wingdings" panose="05000000000000000000" pitchFamily="2" charset="2"/>
              <a:buChar char="q"/>
            </a:pPr>
            <a:r>
              <a:rPr lang="en-US" dirty="0"/>
              <a:t> A positional embedding is a dense vector that encodes the position of a word within a sentence: the </a:t>
            </a:r>
            <a:r>
              <a:rPr lang="en-US" i="1" dirty="0" err="1"/>
              <a:t>i_</a:t>
            </a:r>
            <a:r>
              <a:rPr lang="en-US" dirty="0" err="1"/>
              <a:t>th</a:t>
            </a:r>
            <a:r>
              <a:rPr lang="en-US" dirty="0"/>
              <a:t> positional embedding is simply added to the word embedding of the </a:t>
            </a:r>
            <a:r>
              <a:rPr lang="en-US" i="1" dirty="0" err="1"/>
              <a:t>i_</a:t>
            </a:r>
            <a:r>
              <a:rPr lang="en-US" dirty="0" err="1"/>
              <a:t>th</a:t>
            </a:r>
            <a:r>
              <a:rPr lang="en-US" dirty="0"/>
              <a:t> word in the sentence. </a:t>
            </a:r>
          </a:p>
          <a:p>
            <a:pPr marL="285750" indent="-285750">
              <a:lnSpc>
                <a:spcPct val="150000"/>
              </a:lnSpc>
              <a:buFont typeface="Wingdings" panose="05000000000000000000" pitchFamily="2" charset="2"/>
              <a:buChar char="q"/>
            </a:pPr>
            <a:endParaRPr lang="en-US" dirty="0"/>
          </a:p>
          <a:p>
            <a:pPr marL="285750" indent="-285750">
              <a:lnSpc>
                <a:spcPct val="150000"/>
              </a:lnSpc>
              <a:buFont typeface="Wingdings" panose="05000000000000000000" pitchFamily="2" charset="2"/>
              <a:buChar char="q"/>
            </a:pPr>
            <a:endParaRPr lang="en-US" dirty="0"/>
          </a:p>
          <a:p>
            <a:pPr marL="285750" indent="-285750">
              <a:lnSpc>
                <a:spcPct val="150000"/>
              </a:lnSpc>
              <a:buFont typeface="Wingdings" panose="05000000000000000000" pitchFamily="2" charset="2"/>
              <a:buChar char="q"/>
            </a:pPr>
            <a:endParaRPr lang="en-US" dirty="0"/>
          </a:p>
          <a:p>
            <a:pPr marL="285750" indent="-285750">
              <a:lnSpc>
                <a:spcPct val="150000"/>
              </a:lnSpc>
              <a:buFont typeface="Wingdings" panose="05000000000000000000" pitchFamily="2" charset="2"/>
              <a:buChar char="q"/>
            </a:pPr>
            <a:endParaRPr lang="en-US" dirty="0"/>
          </a:p>
          <a:p>
            <a:pPr marL="285750" indent="-285750">
              <a:lnSpc>
                <a:spcPct val="150000"/>
              </a:lnSpc>
              <a:buFont typeface="Wingdings" panose="05000000000000000000" pitchFamily="2" charset="2"/>
              <a:buChar char="q"/>
            </a:pPr>
            <a:endParaRPr lang="en-US" dirty="0"/>
          </a:p>
          <a:p>
            <a:pPr marL="285750" indent="-285750">
              <a:lnSpc>
                <a:spcPct val="150000"/>
              </a:lnSpc>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p:txBody>
      </p:sp>
      <p:pic>
        <p:nvPicPr>
          <p:cNvPr id="5" name="Picture 4">
            <a:extLst>
              <a:ext uri="{FF2B5EF4-FFF2-40B4-BE49-F238E27FC236}">
                <a16:creationId xmlns:a16="http://schemas.microsoft.com/office/drawing/2014/main" id="{2ADEEAF0-EAB7-6238-8BA0-F4881B3EE471}"/>
              </a:ext>
            </a:extLst>
          </p:cNvPr>
          <p:cNvPicPr>
            <a:picLocks noChangeAspect="1"/>
          </p:cNvPicPr>
          <p:nvPr/>
        </p:nvPicPr>
        <p:blipFill>
          <a:blip r:embed="rId2"/>
          <a:stretch>
            <a:fillRect/>
          </a:stretch>
        </p:blipFill>
        <p:spPr>
          <a:xfrm>
            <a:off x="3687871" y="2285132"/>
            <a:ext cx="2408129" cy="823031"/>
          </a:xfrm>
          <a:prstGeom prst="rect">
            <a:avLst/>
          </a:prstGeom>
        </p:spPr>
      </p:pic>
      <p:pic>
        <p:nvPicPr>
          <p:cNvPr id="8" name="Picture 7">
            <a:extLst>
              <a:ext uri="{FF2B5EF4-FFF2-40B4-BE49-F238E27FC236}">
                <a16:creationId xmlns:a16="http://schemas.microsoft.com/office/drawing/2014/main" id="{FC082983-1BD5-4DB8-6EB3-5918FE92437E}"/>
              </a:ext>
            </a:extLst>
          </p:cNvPr>
          <p:cNvPicPr>
            <a:picLocks noChangeAspect="1"/>
          </p:cNvPicPr>
          <p:nvPr/>
        </p:nvPicPr>
        <p:blipFill>
          <a:blip r:embed="rId3"/>
          <a:stretch>
            <a:fillRect/>
          </a:stretch>
        </p:blipFill>
        <p:spPr>
          <a:xfrm>
            <a:off x="2305455" y="3239273"/>
            <a:ext cx="6413334" cy="3304874"/>
          </a:xfrm>
          <a:prstGeom prst="rect">
            <a:avLst/>
          </a:prstGeom>
        </p:spPr>
      </p:pic>
    </p:spTree>
    <p:extLst>
      <p:ext uri="{BB962C8B-B14F-4D97-AF65-F5344CB8AC3E}">
        <p14:creationId xmlns:p14="http://schemas.microsoft.com/office/powerpoint/2010/main" val="42646565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E30A8-88D3-E6B4-9D43-05FA486AB7B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32AF3D2-6C4E-8604-1966-756356A13286}"/>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TRANSFORMER</a:t>
            </a:r>
          </a:p>
        </p:txBody>
      </p:sp>
      <p:sp>
        <p:nvSpPr>
          <p:cNvPr id="2" name="TextBox 1">
            <a:extLst>
              <a:ext uri="{FF2B5EF4-FFF2-40B4-BE49-F238E27FC236}">
                <a16:creationId xmlns:a16="http://schemas.microsoft.com/office/drawing/2014/main" id="{7437ADE6-DD99-71BC-769E-8E78D16CD0E4}"/>
              </a:ext>
            </a:extLst>
          </p:cNvPr>
          <p:cNvSpPr txBox="1"/>
          <p:nvPr/>
        </p:nvSpPr>
        <p:spPr>
          <a:xfrm>
            <a:off x="364380" y="536186"/>
            <a:ext cx="11712916" cy="3693319"/>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q"/>
            </a:pPr>
            <a:r>
              <a:rPr lang="en-US" dirty="0"/>
              <a:t>After the positional embeddings are added to the word embeddings, </a:t>
            </a:r>
            <a:r>
              <a:rPr lang="en-US" dirty="0">
                <a:solidFill>
                  <a:srgbClr val="FF0000"/>
                </a:solidFill>
              </a:rPr>
              <a:t>the rest of the model has access to the absolute position of each word in the sentence because there is a unique positional embedding for each position </a:t>
            </a:r>
            <a:r>
              <a:rPr lang="en-US" dirty="0"/>
              <a:t>(e.g., </a:t>
            </a:r>
            <a:r>
              <a:rPr lang="en-US" dirty="0">
                <a:solidFill>
                  <a:srgbClr val="0070C0"/>
                </a:solidFill>
              </a:rPr>
              <a:t>the positional embedding for the word located at the 22nd position in a sentence is represented by the vertical dashed line at the bottom left of Figure, and you can see that it is unique to that position</a:t>
            </a:r>
            <a:r>
              <a:rPr lang="en-US" dirty="0"/>
              <a:t>). Moreover, </a:t>
            </a:r>
            <a:r>
              <a:rPr lang="en-US" b="1" dirty="0">
                <a:solidFill>
                  <a:schemeClr val="accent6">
                    <a:lumMod val="50000"/>
                  </a:schemeClr>
                </a:solidFill>
              </a:rPr>
              <a:t>the choice of oscillating functions (sine and cosine) makes it possible for the model to learn relative positions as well</a:t>
            </a:r>
            <a:r>
              <a:rPr lang="en-US" dirty="0"/>
              <a:t>. </a:t>
            </a:r>
          </a:p>
          <a:p>
            <a:pPr marL="285750" indent="-285750">
              <a:lnSpc>
                <a:spcPct val="150000"/>
              </a:lnSpc>
              <a:buFont typeface="Wingdings" panose="05000000000000000000" pitchFamily="2" charset="2"/>
              <a:buChar char="q"/>
            </a:pPr>
            <a:r>
              <a:rPr lang="en-US" dirty="0"/>
              <a:t>For example, </a:t>
            </a:r>
            <a:r>
              <a:rPr lang="en-US" dirty="0">
                <a:solidFill>
                  <a:srgbClr val="FF0000"/>
                </a:solidFill>
              </a:rPr>
              <a:t>words located 38 words apart (e.g., at positions </a:t>
            </a:r>
            <a:r>
              <a:rPr lang="en-US" i="1" dirty="0">
                <a:solidFill>
                  <a:srgbClr val="FF0000"/>
                </a:solidFill>
              </a:rPr>
              <a:t>p </a:t>
            </a:r>
            <a:r>
              <a:rPr lang="en-US" dirty="0">
                <a:solidFill>
                  <a:srgbClr val="FF0000"/>
                </a:solidFill>
              </a:rPr>
              <a:t>= 22 and </a:t>
            </a:r>
            <a:r>
              <a:rPr lang="en-US" i="1" dirty="0">
                <a:solidFill>
                  <a:srgbClr val="FF0000"/>
                </a:solidFill>
              </a:rPr>
              <a:t>p </a:t>
            </a:r>
            <a:r>
              <a:rPr lang="en-US" dirty="0">
                <a:solidFill>
                  <a:srgbClr val="FF0000"/>
                </a:solidFill>
              </a:rPr>
              <a:t>= 60) always have the same positional embedding values in the embedding dimensions </a:t>
            </a:r>
            <a:r>
              <a:rPr lang="en-US" i="1" dirty="0" err="1">
                <a:solidFill>
                  <a:srgbClr val="FF0000"/>
                </a:solidFill>
              </a:rPr>
              <a:t>i</a:t>
            </a:r>
            <a:r>
              <a:rPr lang="en-US" i="1" dirty="0">
                <a:solidFill>
                  <a:srgbClr val="FF0000"/>
                </a:solidFill>
              </a:rPr>
              <a:t> </a:t>
            </a:r>
            <a:r>
              <a:rPr lang="en-US" dirty="0">
                <a:solidFill>
                  <a:srgbClr val="FF0000"/>
                </a:solidFill>
              </a:rPr>
              <a:t>= 100 and </a:t>
            </a:r>
            <a:r>
              <a:rPr lang="en-US" i="1" dirty="0" err="1">
                <a:solidFill>
                  <a:srgbClr val="FF0000"/>
                </a:solidFill>
              </a:rPr>
              <a:t>i</a:t>
            </a:r>
            <a:r>
              <a:rPr lang="en-US" i="1" dirty="0">
                <a:solidFill>
                  <a:srgbClr val="FF0000"/>
                </a:solidFill>
              </a:rPr>
              <a:t> </a:t>
            </a:r>
            <a:r>
              <a:rPr lang="en-US" dirty="0">
                <a:solidFill>
                  <a:srgbClr val="FF0000"/>
                </a:solidFill>
              </a:rPr>
              <a:t>= 101, as you can see in Figure</a:t>
            </a:r>
            <a:r>
              <a:rPr lang="en-US" dirty="0"/>
              <a:t>. </a:t>
            </a:r>
            <a:br>
              <a:rPr lang="en-US" b="1" dirty="0">
                <a:solidFill>
                  <a:srgbClr val="0070C0"/>
                </a:solidFill>
              </a:rPr>
            </a:br>
            <a:endParaRPr lang="en-US" b="1" dirty="0">
              <a:solidFill>
                <a:srgbClr val="0070C0"/>
              </a:solidFill>
            </a:endParaRPr>
          </a:p>
          <a:p>
            <a:pPr marL="285750" indent="-285750">
              <a:buFont typeface="Wingdings" panose="05000000000000000000" pitchFamily="2" charset="2"/>
              <a:buChar char="q"/>
            </a:pPr>
            <a:endParaRPr lang="en-US" dirty="0"/>
          </a:p>
        </p:txBody>
      </p:sp>
      <p:pic>
        <p:nvPicPr>
          <p:cNvPr id="8" name="Picture 7">
            <a:extLst>
              <a:ext uri="{FF2B5EF4-FFF2-40B4-BE49-F238E27FC236}">
                <a16:creationId xmlns:a16="http://schemas.microsoft.com/office/drawing/2014/main" id="{B6CDC851-1245-618B-CAEB-778D1415BCC8}"/>
              </a:ext>
            </a:extLst>
          </p:cNvPr>
          <p:cNvPicPr>
            <a:picLocks noChangeAspect="1"/>
          </p:cNvPicPr>
          <p:nvPr/>
        </p:nvPicPr>
        <p:blipFill>
          <a:blip r:embed="rId2"/>
          <a:stretch>
            <a:fillRect/>
          </a:stretch>
        </p:blipFill>
        <p:spPr>
          <a:xfrm>
            <a:off x="3200400" y="4791242"/>
            <a:ext cx="6332706" cy="2066758"/>
          </a:xfrm>
          <a:prstGeom prst="rect">
            <a:avLst/>
          </a:prstGeom>
        </p:spPr>
      </p:pic>
    </p:spTree>
    <p:extLst>
      <p:ext uri="{BB962C8B-B14F-4D97-AF65-F5344CB8AC3E}">
        <p14:creationId xmlns:p14="http://schemas.microsoft.com/office/powerpoint/2010/main" val="24427395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18CC-2E08-2EB6-027E-2133258EDD7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2DEBB33-7392-5AA0-67B3-4E71C04EB225}"/>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TRANSFORMER</a:t>
            </a:r>
          </a:p>
        </p:txBody>
      </p:sp>
      <p:pic>
        <p:nvPicPr>
          <p:cNvPr id="5" name="Picture 4">
            <a:extLst>
              <a:ext uri="{FF2B5EF4-FFF2-40B4-BE49-F238E27FC236}">
                <a16:creationId xmlns:a16="http://schemas.microsoft.com/office/drawing/2014/main" id="{3586A4EE-B8FF-29E2-D784-A7ED6CFFE8F7}"/>
              </a:ext>
            </a:extLst>
          </p:cNvPr>
          <p:cNvPicPr>
            <a:picLocks noChangeAspect="1"/>
          </p:cNvPicPr>
          <p:nvPr/>
        </p:nvPicPr>
        <p:blipFill>
          <a:blip r:embed="rId2"/>
          <a:stretch>
            <a:fillRect/>
          </a:stretch>
        </p:blipFill>
        <p:spPr>
          <a:xfrm>
            <a:off x="2256407" y="1038005"/>
            <a:ext cx="6929843" cy="2595276"/>
          </a:xfrm>
          <a:prstGeom prst="rect">
            <a:avLst/>
          </a:prstGeom>
        </p:spPr>
      </p:pic>
      <p:pic>
        <p:nvPicPr>
          <p:cNvPr id="7" name="Picture 6">
            <a:extLst>
              <a:ext uri="{FF2B5EF4-FFF2-40B4-BE49-F238E27FC236}">
                <a16:creationId xmlns:a16="http://schemas.microsoft.com/office/drawing/2014/main" id="{32CD0507-3DCD-C745-30A1-06CFBD35A3A7}"/>
              </a:ext>
            </a:extLst>
          </p:cNvPr>
          <p:cNvPicPr>
            <a:picLocks noChangeAspect="1"/>
          </p:cNvPicPr>
          <p:nvPr/>
        </p:nvPicPr>
        <p:blipFill>
          <a:blip r:embed="rId3"/>
          <a:stretch>
            <a:fillRect/>
          </a:stretch>
        </p:blipFill>
        <p:spPr>
          <a:xfrm>
            <a:off x="2923384" y="4846890"/>
            <a:ext cx="6345231" cy="1936589"/>
          </a:xfrm>
          <a:prstGeom prst="rect">
            <a:avLst/>
          </a:prstGeom>
        </p:spPr>
      </p:pic>
      <p:sp>
        <p:nvSpPr>
          <p:cNvPr id="10" name="TextBox 9">
            <a:extLst>
              <a:ext uri="{FF2B5EF4-FFF2-40B4-BE49-F238E27FC236}">
                <a16:creationId xmlns:a16="http://schemas.microsoft.com/office/drawing/2014/main" id="{CBAEA147-E846-40E6-9141-8E51EB51F5AB}"/>
              </a:ext>
            </a:extLst>
          </p:cNvPr>
          <p:cNvSpPr txBox="1"/>
          <p:nvPr/>
        </p:nvSpPr>
        <p:spPr>
          <a:xfrm>
            <a:off x="1040860" y="3929974"/>
            <a:ext cx="10340502" cy="646331"/>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After creating the positional encoding class we can create the positional encoding layer for the Transformer</a:t>
            </a:r>
          </a:p>
        </p:txBody>
      </p:sp>
    </p:spTree>
    <p:extLst>
      <p:ext uri="{BB962C8B-B14F-4D97-AF65-F5344CB8AC3E}">
        <p14:creationId xmlns:p14="http://schemas.microsoft.com/office/powerpoint/2010/main" val="1081177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234F9DD-3698-B580-BC01-0306B9FE36F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E181DF-428C-F2E6-CD66-D55B71AD89D9}"/>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TRANSFORMER</a:t>
            </a:r>
          </a:p>
        </p:txBody>
      </p:sp>
      <p:sp>
        <p:nvSpPr>
          <p:cNvPr id="2" name="TextBox 1">
            <a:extLst>
              <a:ext uri="{FF2B5EF4-FFF2-40B4-BE49-F238E27FC236}">
                <a16:creationId xmlns:a16="http://schemas.microsoft.com/office/drawing/2014/main" id="{D4B8F881-A878-A2B8-FE54-59FFE1EBCFDD}"/>
              </a:ext>
            </a:extLst>
          </p:cNvPr>
          <p:cNvSpPr txBox="1"/>
          <p:nvPr/>
        </p:nvSpPr>
        <p:spPr>
          <a:xfrm>
            <a:off x="210048" y="750194"/>
            <a:ext cx="11771904" cy="5554726"/>
          </a:xfrm>
          <a:prstGeom prst="rect">
            <a:avLst/>
          </a:prstGeom>
          <a:noFill/>
        </p:spPr>
        <p:txBody>
          <a:bodyPr wrap="square" rtlCol="0">
            <a:spAutoFit/>
          </a:bodyPr>
          <a:lstStyle/>
          <a:p>
            <a:pPr marL="285750" indent="-285750">
              <a:lnSpc>
                <a:spcPct val="200000"/>
              </a:lnSpc>
              <a:buFont typeface="Wingdings" panose="05000000000000000000" pitchFamily="2" charset="2"/>
              <a:buChar char="q"/>
            </a:pPr>
            <a:r>
              <a:rPr lang="en-US" dirty="0"/>
              <a:t>In the upper attention layer of the decoder, the keys </a:t>
            </a:r>
            <a:r>
              <a:rPr lang="en-US" b="1" dirty="0"/>
              <a:t>K </a:t>
            </a:r>
            <a:r>
              <a:rPr lang="en-US" dirty="0"/>
              <a:t>and values </a:t>
            </a:r>
            <a:r>
              <a:rPr lang="en-US" b="1" dirty="0"/>
              <a:t>V </a:t>
            </a:r>
            <a:r>
              <a:rPr lang="en-US" dirty="0"/>
              <a:t>are simply the list of word encodings produced by the encoder, and the queries </a:t>
            </a:r>
            <a:r>
              <a:rPr lang="en-US" b="1" dirty="0"/>
              <a:t>Q </a:t>
            </a:r>
            <a:r>
              <a:rPr lang="en-US" dirty="0"/>
              <a:t>are the list of word encodings produced by the decoder. </a:t>
            </a:r>
          </a:p>
          <a:p>
            <a:pPr marL="285750" indent="-285750">
              <a:lnSpc>
                <a:spcPct val="200000"/>
              </a:lnSpc>
              <a:buFont typeface="Wingdings" panose="05000000000000000000" pitchFamily="2" charset="2"/>
              <a:buChar char="q"/>
            </a:pPr>
            <a:r>
              <a:rPr lang="en-US" dirty="0"/>
              <a:t>The </a:t>
            </a:r>
            <a:r>
              <a:rPr lang="en-US" dirty="0" err="1"/>
              <a:t>keras.layers.Attention</a:t>
            </a:r>
            <a:r>
              <a:rPr lang="en-US" dirty="0"/>
              <a:t> layer implements Scaled Dot-Product Attention, efficiently applying the equation to multiple sentences in a batch. Its inputs are just like </a:t>
            </a:r>
            <a:r>
              <a:rPr lang="en-US" b="1" dirty="0"/>
              <a:t>Q</a:t>
            </a:r>
            <a:r>
              <a:rPr lang="en-US" dirty="0"/>
              <a:t>, </a:t>
            </a:r>
            <a:r>
              <a:rPr lang="en-US" b="1" dirty="0"/>
              <a:t>K</a:t>
            </a:r>
            <a:r>
              <a:rPr lang="en-US" dirty="0"/>
              <a:t>, and </a:t>
            </a:r>
            <a:r>
              <a:rPr lang="en-US" b="1" dirty="0"/>
              <a:t>V</a:t>
            </a:r>
            <a:r>
              <a:rPr lang="en-US" dirty="0"/>
              <a:t>, except with an extra batch dimension (first dimension)</a:t>
            </a:r>
          </a:p>
          <a:p>
            <a:pPr marL="285750" indent="-285750">
              <a:lnSpc>
                <a:spcPct val="200000"/>
              </a:lnSpc>
              <a:buFont typeface="Wingdings" panose="05000000000000000000" pitchFamily="2" charset="2"/>
              <a:buChar char="q"/>
            </a:pPr>
            <a:r>
              <a:rPr lang="en-US" dirty="0"/>
              <a:t>In TensorFlow, if A and B are tensors with more than two dimensions—say, of shape [2, 3, 4, 5] and [2, 3, 5, 6] respectively—then </a:t>
            </a:r>
            <a:r>
              <a:rPr lang="en-US" dirty="0" err="1"/>
              <a:t>tf.matmul</a:t>
            </a:r>
            <a:r>
              <a:rPr lang="en-US" dirty="0"/>
              <a:t>(A, B) will treat these tensors as 2 × 3 arrays where each cell contains a matrix, and it will multiply the corresponding </a:t>
            </a:r>
            <a:r>
              <a:rPr lang="en-US" dirty="0" err="1"/>
              <a:t>matri</a:t>
            </a:r>
            <a:r>
              <a:rPr lang="en-US" dirty="0"/>
              <a:t>‐ </a:t>
            </a:r>
            <a:r>
              <a:rPr lang="en-US" dirty="0" err="1"/>
              <a:t>ces</a:t>
            </a:r>
            <a:r>
              <a:rPr lang="en-US" dirty="0"/>
              <a:t>: the matrix at the </a:t>
            </a:r>
            <a:r>
              <a:rPr lang="en-US" i="1" dirty="0" err="1"/>
              <a:t>i</a:t>
            </a:r>
            <a:r>
              <a:rPr lang="en-US" dirty="0" err="1"/>
              <a:t>th</a:t>
            </a:r>
            <a:r>
              <a:rPr lang="en-US" dirty="0"/>
              <a:t> row and </a:t>
            </a:r>
            <a:r>
              <a:rPr lang="en-US" i="1" dirty="0" err="1"/>
              <a:t>j</a:t>
            </a:r>
            <a:r>
              <a:rPr lang="en-US" dirty="0" err="1"/>
              <a:t>th</a:t>
            </a:r>
            <a:r>
              <a:rPr lang="en-US" dirty="0"/>
              <a:t> column in A will be multiplied by the matrix at the </a:t>
            </a:r>
            <a:r>
              <a:rPr lang="en-US" i="1" dirty="0" err="1"/>
              <a:t>i</a:t>
            </a:r>
            <a:r>
              <a:rPr lang="en-US" dirty="0" err="1"/>
              <a:t>th</a:t>
            </a:r>
            <a:r>
              <a:rPr lang="en-US" dirty="0"/>
              <a:t> row and </a:t>
            </a:r>
            <a:r>
              <a:rPr lang="en-US" i="1" dirty="0" err="1"/>
              <a:t>j</a:t>
            </a:r>
            <a:r>
              <a:rPr lang="en-US" dirty="0" err="1"/>
              <a:t>th</a:t>
            </a:r>
            <a:r>
              <a:rPr lang="en-US" dirty="0"/>
              <a:t> column in B. Since the product of a 4 × 5 matrix with a 5 × 6 matrix is a 4 × 6 matrix, </a:t>
            </a:r>
            <a:r>
              <a:rPr lang="en-US" dirty="0" err="1"/>
              <a:t>tf.matmul</a:t>
            </a:r>
            <a:r>
              <a:rPr lang="en-US" dirty="0"/>
              <a:t>(A, B) will return an array of shape [2, 3, 4, 6]. </a:t>
            </a:r>
            <a:br>
              <a:rPr lang="en-US" dirty="0"/>
            </a:br>
            <a:endParaRPr lang="en-US" dirty="0"/>
          </a:p>
        </p:txBody>
      </p:sp>
    </p:spTree>
    <p:extLst>
      <p:ext uri="{BB962C8B-B14F-4D97-AF65-F5344CB8AC3E}">
        <p14:creationId xmlns:p14="http://schemas.microsoft.com/office/powerpoint/2010/main" val="20909947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4DA41-B5C9-D093-8CB0-0AB40159B6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B6A603F-D302-3DDA-6F88-6C5CE9F0B307}"/>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POSITIONAL ENCODING CLASS</a:t>
            </a:r>
          </a:p>
        </p:txBody>
      </p:sp>
      <p:sp>
        <p:nvSpPr>
          <p:cNvPr id="5" name="TextBox 4">
            <a:extLst>
              <a:ext uri="{FF2B5EF4-FFF2-40B4-BE49-F238E27FC236}">
                <a16:creationId xmlns:a16="http://schemas.microsoft.com/office/drawing/2014/main" id="{894F0A42-06EB-9ED9-8771-F19317EED565}"/>
              </a:ext>
            </a:extLst>
          </p:cNvPr>
          <p:cNvSpPr txBox="1"/>
          <p:nvPr/>
        </p:nvSpPr>
        <p:spPr>
          <a:xfrm>
            <a:off x="481012" y="734211"/>
            <a:ext cx="11401425" cy="5632311"/>
          </a:xfrm>
          <a:prstGeom prst="rect">
            <a:avLst/>
          </a:prstGeom>
          <a:noFill/>
        </p:spPr>
        <p:txBody>
          <a:bodyPr wrap="square">
            <a:spAutoFit/>
          </a:bodyPr>
          <a:lstStyle/>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import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numpy</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as np</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import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tensorflow</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as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tf</a:t>
            </a:r>
            <a:endParaRPr lang="en-US" b="0" dirty="0">
              <a:solidFill>
                <a:srgbClr val="0070C0"/>
              </a:solidFill>
              <a:effectLst>
                <a:outerShdw blurRad="38100" dist="38100" dir="2700000" algn="tl">
                  <a:srgbClr val="000000">
                    <a:alpha val="43137"/>
                  </a:srgbClr>
                </a:outerShdw>
              </a:effectLst>
              <a:latin typeface="Consolas" panose="020B0609020204030204" pitchFamily="49" charset="0"/>
            </a:endParaRPr>
          </a:p>
          <a:p>
            <a:pPr>
              <a:buNone/>
            </a:pPr>
            <a:endParaRPr lang="en-US" b="0" dirty="0">
              <a:solidFill>
                <a:srgbClr val="0070C0"/>
              </a:solidFill>
              <a:effectLst>
                <a:outerShdw blurRad="38100" dist="38100" dir="2700000" algn="tl">
                  <a:srgbClr val="000000">
                    <a:alpha val="43137"/>
                  </a:srgbClr>
                </a:outerShdw>
              </a:effectLst>
              <a:latin typeface="Consolas" panose="020B0609020204030204" pitchFamily="49" charset="0"/>
            </a:endParaRP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class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positional_encoding</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def __</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init</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__(self,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max_seq_len</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d_model</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self.max_seq_len</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max_seq_len</a:t>
            </a:r>
            <a:endParaRPr lang="en-US" b="0" dirty="0">
              <a:solidFill>
                <a:srgbClr val="0070C0"/>
              </a:solidFill>
              <a:effectLst>
                <a:outerShdw blurRad="38100" dist="38100" dir="2700000" algn="tl">
                  <a:srgbClr val="000000">
                    <a:alpha val="43137"/>
                  </a:srgbClr>
                </a:outerShdw>
              </a:effectLst>
              <a:latin typeface="Consolas" panose="020B0609020204030204" pitchFamily="49" charset="0"/>
            </a:endParaRP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self.d_model</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d_model</a:t>
            </a:r>
            <a:endParaRPr lang="en-US" b="0" dirty="0">
              <a:solidFill>
                <a:srgbClr val="0070C0"/>
              </a:solidFill>
              <a:effectLst>
                <a:outerShdw blurRad="38100" dist="38100" dir="2700000" algn="tl">
                  <a:srgbClr val="000000">
                    <a:alpha val="43137"/>
                  </a:srgbClr>
                </a:outerShdw>
              </a:effectLst>
              <a:latin typeface="Consolas" panose="020B0609020204030204" pitchFamily="49" charset="0"/>
            </a:endParaRP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self.pos_encoding</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self.get_positional_encoding</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def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get_positional_encoding</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(self):</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pos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np.arange</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self.max_seq_len</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np.newaxis</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i</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np.arange</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self.d_model</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np.newaxis</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angle_rates</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 = 1 / </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np.power</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(10000, (2 * (</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i</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//2)) / np.float32(</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self.d_model</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a:t>
            </a:r>
          </a:p>
          <a:p>
            <a:pPr>
              <a:buNone/>
            </a:pP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angle_rads</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 = pos * </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angle_rates</a:t>
            </a:r>
            <a:endParaRPr lang="en-US" b="0" dirty="0">
              <a:solidFill>
                <a:srgbClr val="FF0000"/>
              </a:solidFill>
              <a:effectLst>
                <a:outerShdw blurRad="38100" dist="38100" dir="2700000" algn="tl">
                  <a:srgbClr val="000000">
                    <a:alpha val="43137"/>
                  </a:srgbClr>
                </a:outerShdw>
              </a:effectLst>
              <a:latin typeface="Consolas" panose="020B0609020204030204" pitchFamily="49" charset="0"/>
            </a:endParaRP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angle_rads</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0::2]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np.sin</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angle_rads</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0::2])</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angle_rads</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1::2]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np.cos</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angle_rads</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1::2])</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pos_encoding</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angle_rads</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np.newaxis</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return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tf.cast</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pos_encoding</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dtype</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=tf.float32)</a:t>
            </a:r>
          </a:p>
        </p:txBody>
      </p:sp>
    </p:spTree>
    <p:extLst>
      <p:ext uri="{BB962C8B-B14F-4D97-AF65-F5344CB8AC3E}">
        <p14:creationId xmlns:p14="http://schemas.microsoft.com/office/powerpoint/2010/main" val="9662258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8B10F-4848-14E5-AA2E-A507B451083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8EA97F8-D405-83D2-33C2-05DBF404E8A6}"/>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POSITIONAL ENCODING CLASS</a:t>
            </a:r>
          </a:p>
        </p:txBody>
      </p:sp>
      <p:sp>
        <p:nvSpPr>
          <p:cNvPr id="5" name="TextBox 4">
            <a:extLst>
              <a:ext uri="{FF2B5EF4-FFF2-40B4-BE49-F238E27FC236}">
                <a16:creationId xmlns:a16="http://schemas.microsoft.com/office/drawing/2014/main" id="{2D4B3CB2-FAEC-88F3-06BD-916586F6624A}"/>
              </a:ext>
            </a:extLst>
          </p:cNvPr>
          <p:cNvSpPr txBox="1"/>
          <p:nvPr/>
        </p:nvSpPr>
        <p:spPr>
          <a:xfrm>
            <a:off x="481012" y="734211"/>
            <a:ext cx="11561831" cy="5632311"/>
          </a:xfrm>
          <a:prstGeom prst="rect">
            <a:avLst/>
          </a:prstGeom>
          <a:noFill/>
        </p:spPr>
        <p:txBody>
          <a:bodyPr wrap="square">
            <a:spAutoFit/>
          </a:bodyPr>
          <a:lstStyle/>
          <a:p>
            <a:r>
              <a:rPr lang="en-US" dirty="0">
                <a:solidFill>
                  <a:srgbClr val="0070C0"/>
                </a:solidFill>
                <a:effectLst>
                  <a:outerShdw blurRad="38100" dist="38100" dir="2700000" algn="tl">
                    <a:srgbClr val="000000">
                      <a:alpha val="43137"/>
                    </a:srgbClr>
                  </a:outerShdw>
                </a:effectLst>
              </a:rPr>
              <a:t>import </a:t>
            </a:r>
            <a:r>
              <a:rPr lang="en-US" dirty="0" err="1">
                <a:solidFill>
                  <a:srgbClr val="0070C0"/>
                </a:solidFill>
                <a:effectLst>
                  <a:outerShdw blurRad="38100" dist="38100" dir="2700000" algn="tl">
                    <a:srgbClr val="000000">
                      <a:alpha val="43137"/>
                    </a:srgbClr>
                  </a:outerShdw>
                </a:effectLst>
              </a:rPr>
              <a:t>tensorflow</a:t>
            </a:r>
            <a:r>
              <a:rPr lang="en-US" dirty="0">
                <a:solidFill>
                  <a:srgbClr val="0070C0"/>
                </a:solidFill>
                <a:effectLst>
                  <a:outerShdw blurRad="38100" dist="38100" dir="2700000" algn="tl">
                    <a:srgbClr val="000000">
                      <a:alpha val="43137"/>
                    </a:srgbClr>
                  </a:outerShdw>
                </a:effectLst>
              </a:rPr>
              <a:t> as </a:t>
            </a:r>
            <a:r>
              <a:rPr lang="en-US" dirty="0" err="1">
                <a:solidFill>
                  <a:srgbClr val="0070C0"/>
                </a:solidFill>
                <a:effectLst>
                  <a:outerShdw blurRad="38100" dist="38100" dir="2700000" algn="tl">
                    <a:srgbClr val="000000">
                      <a:alpha val="43137"/>
                    </a:srgbClr>
                  </a:outerShdw>
                </a:effectLst>
              </a:rPr>
              <a:t>tf</a:t>
            </a:r>
            <a:endParaRPr lang="en-US" dirty="0">
              <a:solidFill>
                <a:srgbClr val="0070C0"/>
              </a:solidFill>
              <a:effectLst>
                <a:outerShdw blurRad="38100" dist="38100" dir="2700000" algn="tl">
                  <a:srgbClr val="000000">
                    <a:alpha val="43137"/>
                  </a:srgbClr>
                </a:outerShdw>
              </a:effectLst>
            </a:endParaRPr>
          </a:p>
          <a:p>
            <a:r>
              <a:rPr lang="en-US" dirty="0">
                <a:solidFill>
                  <a:srgbClr val="0070C0"/>
                </a:solidFill>
                <a:effectLst>
                  <a:outerShdw blurRad="38100" dist="38100" dir="2700000" algn="tl">
                    <a:srgbClr val="000000">
                      <a:alpha val="43137"/>
                    </a:srgbClr>
                  </a:outerShdw>
                </a:effectLst>
              </a:rPr>
              <a:t>class </a:t>
            </a:r>
            <a:r>
              <a:rPr lang="en-US" dirty="0" err="1">
                <a:solidFill>
                  <a:srgbClr val="0070C0"/>
                </a:solidFill>
                <a:effectLst>
                  <a:outerShdw blurRad="38100" dist="38100" dir="2700000" algn="tl">
                    <a:srgbClr val="000000">
                      <a:alpha val="43137"/>
                    </a:srgbClr>
                  </a:outerShdw>
                </a:effectLst>
              </a:rPr>
              <a:t>padding_mask</a:t>
            </a:r>
            <a:r>
              <a:rPr lang="en-US" dirty="0">
                <a:solidFill>
                  <a:srgbClr val="0070C0"/>
                </a:solidFill>
                <a:effectLst>
                  <a:outerShdw blurRad="38100" dist="38100" dir="2700000" algn="tl">
                    <a:srgbClr val="000000">
                      <a:alpha val="43137"/>
                    </a:srgbClr>
                  </a:outerShdw>
                </a:effectLst>
              </a:rPr>
              <a:t>:</a:t>
            </a:r>
          </a:p>
          <a:p>
            <a:r>
              <a:rPr lang="en-US" dirty="0">
                <a:solidFill>
                  <a:srgbClr val="0070C0"/>
                </a:solidFill>
                <a:effectLst>
                  <a:outerShdw blurRad="38100" dist="38100" dir="2700000" algn="tl">
                    <a:srgbClr val="000000">
                      <a:alpha val="43137"/>
                    </a:srgbClr>
                  </a:outerShdw>
                </a:effectLst>
              </a:rPr>
              <a:t>    def __</a:t>
            </a:r>
            <a:r>
              <a:rPr lang="en-US" dirty="0" err="1">
                <a:solidFill>
                  <a:srgbClr val="0070C0"/>
                </a:solidFill>
                <a:effectLst>
                  <a:outerShdw blurRad="38100" dist="38100" dir="2700000" algn="tl">
                    <a:srgbClr val="000000">
                      <a:alpha val="43137"/>
                    </a:srgbClr>
                  </a:outerShdw>
                </a:effectLst>
              </a:rPr>
              <a:t>init</a:t>
            </a:r>
            <a:r>
              <a:rPr lang="en-US" dirty="0">
                <a:solidFill>
                  <a:srgbClr val="0070C0"/>
                </a:solidFill>
                <a:effectLst>
                  <a:outerShdw blurRad="38100" dist="38100" dir="2700000" algn="tl">
                    <a:srgbClr val="000000">
                      <a:alpha val="43137"/>
                    </a:srgbClr>
                  </a:outerShdw>
                </a:effectLst>
              </a:rPr>
              <a:t>__(self, seq):</a:t>
            </a:r>
          </a:p>
          <a:p>
            <a:r>
              <a:rPr lang="en-US" dirty="0">
                <a:solidFill>
                  <a:srgbClr val="0070C0"/>
                </a:solidFill>
                <a:effectLst>
                  <a:outerShdw blurRad="38100" dist="38100" dir="2700000" algn="tl">
                    <a:srgbClr val="000000">
                      <a:alpha val="43137"/>
                    </a:srgbClr>
                  </a:outerShdw>
                </a:effectLst>
              </a:rPr>
              <a:t>        </a:t>
            </a:r>
            <a:r>
              <a:rPr lang="en-US" dirty="0" err="1">
                <a:solidFill>
                  <a:srgbClr val="0070C0"/>
                </a:solidFill>
                <a:effectLst>
                  <a:outerShdw blurRad="38100" dist="38100" dir="2700000" algn="tl">
                    <a:srgbClr val="000000">
                      <a:alpha val="43137"/>
                    </a:srgbClr>
                  </a:outerShdw>
                </a:effectLst>
              </a:rPr>
              <a:t>self.seq</a:t>
            </a:r>
            <a:r>
              <a:rPr lang="en-US" dirty="0">
                <a:solidFill>
                  <a:srgbClr val="0070C0"/>
                </a:solidFill>
                <a:effectLst>
                  <a:outerShdw blurRad="38100" dist="38100" dir="2700000" algn="tl">
                    <a:srgbClr val="000000">
                      <a:alpha val="43137"/>
                    </a:srgbClr>
                  </a:outerShdw>
                </a:effectLst>
              </a:rPr>
              <a:t> = seq</a:t>
            </a:r>
          </a:p>
          <a:p>
            <a:r>
              <a:rPr lang="en-US" dirty="0">
                <a:solidFill>
                  <a:srgbClr val="0070C0"/>
                </a:solidFill>
                <a:effectLst>
                  <a:outerShdw blurRad="38100" dist="38100" dir="2700000" algn="tl">
                    <a:srgbClr val="000000">
                      <a:alpha val="43137"/>
                    </a:srgbClr>
                  </a:outerShdw>
                </a:effectLst>
              </a:rPr>
              <a:t>    def </a:t>
            </a:r>
            <a:r>
              <a:rPr lang="en-US" dirty="0" err="1">
                <a:solidFill>
                  <a:srgbClr val="0070C0"/>
                </a:solidFill>
                <a:effectLst>
                  <a:outerShdw blurRad="38100" dist="38100" dir="2700000" algn="tl">
                    <a:srgbClr val="000000">
                      <a:alpha val="43137"/>
                    </a:srgbClr>
                  </a:outerShdw>
                </a:effectLst>
              </a:rPr>
              <a:t>create_padding_mask</a:t>
            </a:r>
            <a:r>
              <a:rPr lang="en-US" dirty="0">
                <a:solidFill>
                  <a:srgbClr val="0070C0"/>
                </a:solidFill>
                <a:effectLst>
                  <a:outerShdw blurRad="38100" dist="38100" dir="2700000" algn="tl">
                    <a:srgbClr val="000000">
                      <a:alpha val="43137"/>
                    </a:srgbClr>
                  </a:outerShdw>
                </a:effectLst>
              </a:rPr>
              <a:t>(self):</a:t>
            </a:r>
          </a:p>
          <a:p>
            <a:r>
              <a:rPr lang="en-US" dirty="0">
                <a:solidFill>
                  <a:srgbClr val="0070C0"/>
                </a:solidFill>
                <a:effectLst>
                  <a:outerShdw blurRad="38100" dist="38100" dir="2700000" algn="tl">
                    <a:srgbClr val="000000">
                      <a:alpha val="43137"/>
                    </a:srgbClr>
                  </a:outerShdw>
                </a:effectLst>
              </a:rPr>
              <a:t>        """Creates a padding mask for attention mechanisms"""</a:t>
            </a:r>
          </a:p>
          <a:p>
            <a:r>
              <a:rPr lang="en-US" dirty="0">
                <a:solidFill>
                  <a:srgbClr val="0070C0"/>
                </a:solidFill>
                <a:effectLst>
                  <a:outerShdw blurRad="38100" dist="38100" dir="2700000" algn="tl">
                    <a:srgbClr val="000000">
                      <a:alpha val="43137"/>
                    </a:srgbClr>
                  </a:outerShdw>
                </a:effectLst>
              </a:rPr>
              <a:t>        seq = </a:t>
            </a:r>
            <a:r>
              <a:rPr lang="en-US" dirty="0" err="1">
                <a:solidFill>
                  <a:srgbClr val="0070C0"/>
                </a:solidFill>
                <a:effectLst>
                  <a:outerShdw blurRad="38100" dist="38100" dir="2700000" algn="tl">
                    <a:srgbClr val="000000">
                      <a:alpha val="43137"/>
                    </a:srgbClr>
                  </a:outerShdw>
                </a:effectLst>
              </a:rPr>
              <a:t>self.seq</a:t>
            </a:r>
            <a:endParaRPr lang="en-US" dirty="0">
              <a:solidFill>
                <a:srgbClr val="0070C0"/>
              </a:solidFill>
              <a:effectLst>
                <a:outerShdw blurRad="38100" dist="38100" dir="2700000" algn="tl">
                  <a:srgbClr val="000000">
                    <a:alpha val="43137"/>
                  </a:srgbClr>
                </a:outerShdw>
              </a:effectLst>
            </a:endParaRPr>
          </a:p>
          <a:p>
            <a:r>
              <a:rPr lang="en-US" dirty="0">
                <a:solidFill>
                  <a:srgbClr val="0070C0"/>
                </a:solidFill>
                <a:effectLst>
                  <a:outerShdw blurRad="38100" dist="38100" dir="2700000" algn="tl">
                    <a:srgbClr val="000000">
                      <a:alpha val="43137"/>
                    </a:srgbClr>
                  </a:outerShdw>
                </a:effectLst>
              </a:rPr>
              <a:t>        # Create mask where 1 indicates padding position</a:t>
            </a:r>
          </a:p>
          <a:p>
            <a:r>
              <a:rPr lang="en-US" dirty="0">
                <a:solidFill>
                  <a:srgbClr val="0070C0"/>
                </a:solidFill>
                <a:effectLst>
                  <a:outerShdw blurRad="38100" dist="38100" dir="2700000" algn="tl">
                    <a:srgbClr val="000000">
                      <a:alpha val="43137"/>
                    </a:srgbClr>
                  </a:outerShdw>
                </a:effectLst>
              </a:rPr>
              <a:t>        mask = </a:t>
            </a:r>
            <a:r>
              <a:rPr lang="en-US" dirty="0" err="1">
                <a:solidFill>
                  <a:srgbClr val="0070C0"/>
                </a:solidFill>
                <a:effectLst>
                  <a:outerShdw blurRad="38100" dist="38100" dir="2700000" algn="tl">
                    <a:srgbClr val="000000">
                      <a:alpha val="43137"/>
                    </a:srgbClr>
                  </a:outerShdw>
                </a:effectLst>
              </a:rPr>
              <a:t>tf.cast</a:t>
            </a:r>
            <a:r>
              <a:rPr lang="en-US" dirty="0">
                <a:solidFill>
                  <a:srgbClr val="0070C0"/>
                </a:solidFill>
                <a:effectLst>
                  <a:outerShdw blurRad="38100" dist="38100" dir="2700000" algn="tl">
                    <a:srgbClr val="000000">
                      <a:alpha val="43137"/>
                    </a:srgbClr>
                  </a:outerShdw>
                </a:effectLst>
              </a:rPr>
              <a:t>(</a:t>
            </a:r>
            <a:r>
              <a:rPr lang="en-US" dirty="0" err="1">
                <a:solidFill>
                  <a:srgbClr val="0070C0"/>
                </a:solidFill>
                <a:effectLst>
                  <a:outerShdw blurRad="38100" dist="38100" dir="2700000" algn="tl">
                    <a:srgbClr val="000000">
                      <a:alpha val="43137"/>
                    </a:srgbClr>
                  </a:outerShdw>
                </a:effectLst>
              </a:rPr>
              <a:t>tf.math.equal</a:t>
            </a:r>
            <a:r>
              <a:rPr lang="en-US" dirty="0">
                <a:solidFill>
                  <a:srgbClr val="0070C0"/>
                </a:solidFill>
                <a:effectLst>
                  <a:outerShdw blurRad="38100" dist="38100" dir="2700000" algn="tl">
                    <a:srgbClr val="000000">
                      <a:alpha val="43137"/>
                    </a:srgbClr>
                  </a:outerShdw>
                </a:effectLst>
              </a:rPr>
              <a:t>(seq, 0), tf.float32)</a:t>
            </a:r>
          </a:p>
          <a:p>
            <a:r>
              <a:rPr lang="en-US" dirty="0">
                <a:solidFill>
                  <a:srgbClr val="0070C0"/>
                </a:solidFill>
                <a:effectLst>
                  <a:outerShdw blurRad="38100" dist="38100" dir="2700000" algn="tl">
                    <a:srgbClr val="000000">
                      <a:alpha val="43137"/>
                    </a:srgbClr>
                  </a:outerShdw>
                </a:effectLst>
              </a:rPr>
              <a:t>        # Add dimensions: (</a:t>
            </a:r>
            <a:r>
              <a:rPr lang="en-US" dirty="0" err="1">
                <a:solidFill>
                  <a:srgbClr val="0070C0"/>
                </a:solidFill>
                <a:effectLst>
                  <a:outerShdw blurRad="38100" dist="38100" dir="2700000" algn="tl">
                    <a:srgbClr val="000000">
                      <a:alpha val="43137"/>
                    </a:srgbClr>
                  </a:outerShdw>
                </a:effectLst>
              </a:rPr>
              <a:t>batch_size</a:t>
            </a:r>
            <a:r>
              <a:rPr lang="en-US" dirty="0">
                <a:solidFill>
                  <a:srgbClr val="0070C0"/>
                </a:solidFill>
                <a:effectLst>
                  <a:outerShdw blurRad="38100" dist="38100" dir="2700000" algn="tl">
                    <a:srgbClr val="000000">
                      <a:alpha val="43137"/>
                    </a:srgbClr>
                  </a:outerShdw>
                </a:effectLst>
              </a:rPr>
              <a:t>, 1, 1, </a:t>
            </a:r>
            <a:r>
              <a:rPr lang="en-US" dirty="0" err="1">
                <a:solidFill>
                  <a:srgbClr val="0070C0"/>
                </a:solidFill>
                <a:effectLst>
                  <a:outerShdw blurRad="38100" dist="38100" dir="2700000" algn="tl">
                    <a:srgbClr val="000000">
                      <a:alpha val="43137"/>
                    </a:srgbClr>
                  </a:outerShdw>
                </a:effectLst>
              </a:rPr>
              <a:t>seq_len</a:t>
            </a:r>
            <a:r>
              <a:rPr lang="en-US" dirty="0">
                <a:solidFill>
                  <a:srgbClr val="0070C0"/>
                </a:solidFill>
                <a:effectLst>
                  <a:outerShdw blurRad="38100" dist="38100" dir="2700000" algn="tl">
                    <a:srgbClr val="000000">
                      <a:alpha val="43137"/>
                    </a:srgbClr>
                  </a:outerShdw>
                </a:effectLst>
              </a:rPr>
              <a:t>)</a:t>
            </a:r>
          </a:p>
          <a:p>
            <a:r>
              <a:rPr lang="en-US" dirty="0">
                <a:solidFill>
                  <a:srgbClr val="0070C0"/>
                </a:solidFill>
                <a:effectLst>
                  <a:outerShdw blurRad="38100" dist="38100" dir="2700000" algn="tl">
                    <a:srgbClr val="000000">
                      <a:alpha val="43137"/>
                    </a:srgbClr>
                  </a:outerShdw>
                </a:effectLst>
              </a:rPr>
              <a:t>        # This allows broadcasting across attention heads</a:t>
            </a:r>
          </a:p>
          <a:p>
            <a:r>
              <a:rPr lang="en-US" dirty="0">
                <a:solidFill>
                  <a:srgbClr val="0070C0"/>
                </a:solidFill>
                <a:effectLst>
                  <a:outerShdw blurRad="38100" dist="38100" dir="2700000" algn="tl">
                    <a:srgbClr val="000000">
                      <a:alpha val="43137"/>
                    </a:srgbClr>
                  </a:outerShdw>
                </a:effectLst>
              </a:rPr>
              <a:t>        return mask[:, </a:t>
            </a:r>
            <a:r>
              <a:rPr lang="en-US" dirty="0" err="1">
                <a:solidFill>
                  <a:srgbClr val="0070C0"/>
                </a:solidFill>
                <a:effectLst>
                  <a:outerShdw blurRad="38100" dist="38100" dir="2700000" algn="tl">
                    <a:srgbClr val="000000">
                      <a:alpha val="43137"/>
                    </a:srgbClr>
                  </a:outerShdw>
                </a:effectLst>
              </a:rPr>
              <a:t>tf.newaxis</a:t>
            </a:r>
            <a:r>
              <a:rPr lang="en-US" dirty="0">
                <a:solidFill>
                  <a:srgbClr val="0070C0"/>
                </a:solidFill>
                <a:effectLst>
                  <a:outerShdw blurRad="38100" dist="38100" dir="2700000" algn="tl">
                    <a:srgbClr val="000000">
                      <a:alpha val="43137"/>
                    </a:srgbClr>
                  </a:outerShdw>
                </a:effectLst>
              </a:rPr>
              <a:t>, </a:t>
            </a:r>
            <a:r>
              <a:rPr lang="en-US" dirty="0" err="1">
                <a:solidFill>
                  <a:srgbClr val="0070C0"/>
                </a:solidFill>
                <a:effectLst>
                  <a:outerShdw blurRad="38100" dist="38100" dir="2700000" algn="tl">
                    <a:srgbClr val="000000">
                      <a:alpha val="43137"/>
                    </a:srgbClr>
                  </a:outerShdw>
                </a:effectLst>
              </a:rPr>
              <a:t>tf.newaxis</a:t>
            </a:r>
            <a:r>
              <a:rPr lang="en-US" dirty="0">
                <a:solidFill>
                  <a:srgbClr val="0070C0"/>
                </a:solidFill>
                <a:effectLst>
                  <a:outerShdw blurRad="38100" dist="38100" dir="2700000" algn="tl">
                    <a:srgbClr val="000000">
                      <a:alpha val="43137"/>
                    </a:srgbClr>
                  </a:outerShdw>
                </a:effectLst>
              </a:rPr>
              <a:t>, :]  # Shape: (</a:t>
            </a:r>
            <a:r>
              <a:rPr lang="en-US" dirty="0" err="1">
                <a:solidFill>
                  <a:srgbClr val="0070C0"/>
                </a:solidFill>
                <a:effectLst>
                  <a:outerShdw blurRad="38100" dist="38100" dir="2700000" algn="tl">
                    <a:srgbClr val="000000">
                      <a:alpha val="43137"/>
                    </a:srgbClr>
                  </a:outerShdw>
                </a:effectLst>
              </a:rPr>
              <a:t>batch_size</a:t>
            </a:r>
            <a:r>
              <a:rPr lang="en-US" dirty="0">
                <a:solidFill>
                  <a:srgbClr val="0070C0"/>
                </a:solidFill>
                <a:effectLst>
                  <a:outerShdw blurRad="38100" dist="38100" dir="2700000" algn="tl">
                    <a:srgbClr val="000000">
                      <a:alpha val="43137"/>
                    </a:srgbClr>
                  </a:outerShdw>
                </a:effectLst>
              </a:rPr>
              <a:t>, 1, 1, </a:t>
            </a:r>
            <a:r>
              <a:rPr lang="en-US" dirty="0" err="1">
                <a:solidFill>
                  <a:srgbClr val="0070C0"/>
                </a:solidFill>
                <a:effectLst>
                  <a:outerShdw blurRad="38100" dist="38100" dir="2700000" algn="tl">
                    <a:srgbClr val="000000">
                      <a:alpha val="43137"/>
                    </a:srgbClr>
                  </a:outerShdw>
                </a:effectLst>
              </a:rPr>
              <a:t>seq_len</a:t>
            </a:r>
            <a:r>
              <a:rPr lang="en-US" dirty="0">
                <a:solidFill>
                  <a:srgbClr val="0070C0"/>
                </a:solidFill>
                <a:effectLst>
                  <a:outerShdw blurRad="38100" dist="38100" dir="2700000" algn="tl">
                    <a:srgbClr val="000000">
                      <a:alpha val="43137"/>
                    </a:srgbClr>
                  </a:outerShdw>
                </a:effectLst>
              </a:rPr>
              <a:t>)</a:t>
            </a:r>
          </a:p>
          <a:p>
            <a:r>
              <a:rPr lang="en-US" dirty="0">
                <a:solidFill>
                  <a:srgbClr val="0070C0"/>
                </a:solidFill>
                <a:effectLst>
                  <a:outerShdw blurRad="38100" dist="38100" dir="2700000" algn="tl">
                    <a:srgbClr val="000000">
                      <a:alpha val="43137"/>
                    </a:srgbClr>
                  </a:outerShdw>
                </a:effectLst>
              </a:rPr>
              <a:t>    def </a:t>
            </a:r>
            <a:r>
              <a:rPr lang="en-US" dirty="0" err="1">
                <a:solidFill>
                  <a:srgbClr val="FF0000"/>
                </a:solidFill>
                <a:effectLst>
                  <a:outerShdw blurRad="38100" dist="38100" dir="2700000" algn="tl">
                    <a:srgbClr val="000000">
                      <a:alpha val="43137"/>
                    </a:srgbClr>
                  </a:outerShdw>
                </a:effectLst>
              </a:rPr>
              <a:t>create_look_ahead_mask</a:t>
            </a:r>
            <a:r>
              <a:rPr lang="en-US" dirty="0">
                <a:solidFill>
                  <a:srgbClr val="FF0000"/>
                </a:solidFill>
                <a:effectLst>
                  <a:outerShdw blurRad="38100" dist="38100" dir="2700000" algn="tl">
                    <a:srgbClr val="000000">
                      <a:alpha val="43137"/>
                    </a:srgbClr>
                  </a:outerShdw>
                </a:effectLst>
              </a:rPr>
              <a:t>(self):</a:t>
            </a:r>
          </a:p>
          <a:p>
            <a:r>
              <a:rPr lang="en-US" dirty="0">
                <a:solidFill>
                  <a:srgbClr val="0070C0"/>
                </a:solidFill>
                <a:effectLst>
                  <a:outerShdw blurRad="38100" dist="38100" dir="2700000" algn="tl">
                    <a:srgbClr val="000000">
                      <a:alpha val="43137"/>
                    </a:srgbClr>
                  </a:outerShdw>
                </a:effectLst>
              </a:rPr>
              <a:t>        """Creates a look-ahead mask for decoder self-attention"""</a:t>
            </a:r>
          </a:p>
          <a:p>
            <a:r>
              <a:rPr lang="en-US" dirty="0">
                <a:solidFill>
                  <a:srgbClr val="0070C0"/>
                </a:solidFill>
                <a:effectLst>
                  <a:outerShdw blurRad="38100" dist="38100" dir="2700000" algn="tl">
                    <a:srgbClr val="000000">
                      <a:alpha val="43137"/>
                    </a:srgbClr>
                  </a:outerShdw>
                </a:effectLst>
              </a:rPr>
              <a:t>        </a:t>
            </a:r>
            <a:r>
              <a:rPr lang="en-US" dirty="0">
                <a:solidFill>
                  <a:srgbClr val="FF0000"/>
                </a:solidFill>
                <a:effectLst>
                  <a:outerShdw blurRad="38100" dist="38100" dir="2700000" algn="tl">
                    <a:srgbClr val="000000">
                      <a:alpha val="43137"/>
                    </a:srgbClr>
                  </a:outerShdw>
                </a:effectLst>
              </a:rPr>
              <a:t>size = </a:t>
            </a:r>
            <a:r>
              <a:rPr lang="en-US" dirty="0" err="1">
                <a:solidFill>
                  <a:srgbClr val="FF0000"/>
                </a:solidFill>
                <a:effectLst>
                  <a:outerShdw blurRad="38100" dist="38100" dir="2700000" algn="tl">
                    <a:srgbClr val="000000">
                      <a:alpha val="43137"/>
                    </a:srgbClr>
                  </a:outerShdw>
                </a:effectLst>
              </a:rPr>
              <a:t>tf.shape</a:t>
            </a:r>
            <a:r>
              <a:rPr lang="en-US" dirty="0">
                <a:solidFill>
                  <a:srgbClr val="FF0000"/>
                </a:solidFill>
                <a:effectLst>
                  <a:outerShdw blurRad="38100" dist="38100" dir="2700000" algn="tl">
                    <a:srgbClr val="000000">
                      <a:alpha val="43137"/>
                    </a:srgbClr>
                  </a:outerShdw>
                </a:effectLst>
              </a:rPr>
              <a:t>(</a:t>
            </a:r>
            <a:r>
              <a:rPr lang="en-US" dirty="0" err="1">
                <a:solidFill>
                  <a:srgbClr val="FF0000"/>
                </a:solidFill>
                <a:effectLst>
                  <a:outerShdw blurRad="38100" dist="38100" dir="2700000" algn="tl">
                    <a:srgbClr val="000000">
                      <a:alpha val="43137"/>
                    </a:srgbClr>
                  </a:outerShdw>
                </a:effectLst>
              </a:rPr>
              <a:t>self.seq</a:t>
            </a:r>
            <a:r>
              <a:rPr lang="en-US" dirty="0">
                <a:solidFill>
                  <a:srgbClr val="FF0000"/>
                </a:solidFill>
                <a:effectLst>
                  <a:outerShdw blurRad="38100" dist="38100" dir="2700000" algn="tl">
                    <a:srgbClr val="000000">
                      <a:alpha val="43137"/>
                    </a:srgbClr>
                  </a:outerShdw>
                </a:effectLst>
              </a:rPr>
              <a:t>)[1]</a:t>
            </a:r>
          </a:p>
          <a:p>
            <a:r>
              <a:rPr lang="en-US" dirty="0">
                <a:solidFill>
                  <a:srgbClr val="0070C0"/>
                </a:solidFill>
                <a:effectLst>
                  <a:outerShdw blurRad="38100" dist="38100" dir="2700000" algn="tl">
                    <a:srgbClr val="000000">
                      <a:alpha val="43137"/>
                    </a:srgbClr>
                  </a:outerShdw>
                </a:effectLst>
              </a:rPr>
              <a:t>        # Create a lower triangular matrix of 1s and subtract from 1</a:t>
            </a:r>
          </a:p>
          <a:p>
            <a:r>
              <a:rPr lang="en-US" dirty="0">
                <a:solidFill>
                  <a:srgbClr val="0070C0"/>
                </a:solidFill>
                <a:effectLst>
                  <a:outerShdw blurRad="38100" dist="38100" dir="2700000" algn="tl">
                    <a:srgbClr val="000000">
                      <a:alpha val="43137"/>
                    </a:srgbClr>
                  </a:outerShdw>
                </a:effectLst>
              </a:rPr>
              <a:t>        # This gives a mask that prevents attending to future positions</a:t>
            </a:r>
          </a:p>
          <a:p>
            <a:r>
              <a:rPr lang="en-US" dirty="0">
                <a:solidFill>
                  <a:srgbClr val="0070C0"/>
                </a:solidFill>
                <a:effectLst>
                  <a:outerShdw blurRad="38100" dist="38100" dir="2700000" algn="tl">
                    <a:srgbClr val="000000">
                      <a:alpha val="43137"/>
                    </a:srgbClr>
                  </a:outerShdw>
                </a:effectLst>
              </a:rPr>
              <a:t>        </a:t>
            </a:r>
            <a:r>
              <a:rPr lang="en-US" dirty="0">
                <a:solidFill>
                  <a:srgbClr val="FF0000"/>
                </a:solidFill>
                <a:effectLst>
                  <a:outerShdw blurRad="38100" dist="38100" dir="2700000" algn="tl">
                    <a:srgbClr val="000000">
                      <a:alpha val="43137"/>
                    </a:srgbClr>
                  </a:outerShdw>
                </a:effectLst>
              </a:rPr>
              <a:t>mask = 1 - </a:t>
            </a:r>
            <a:r>
              <a:rPr lang="en-US" dirty="0" err="1">
                <a:solidFill>
                  <a:srgbClr val="FF0000"/>
                </a:solidFill>
                <a:effectLst>
                  <a:outerShdw blurRad="38100" dist="38100" dir="2700000" algn="tl">
                    <a:srgbClr val="000000">
                      <a:alpha val="43137"/>
                    </a:srgbClr>
                  </a:outerShdw>
                </a:effectLst>
              </a:rPr>
              <a:t>tf.linalg.band_part</a:t>
            </a:r>
            <a:r>
              <a:rPr lang="en-US" dirty="0">
                <a:solidFill>
                  <a:srgbClr val="FF0000"/>
                </a:solidFill>
                <a:effectLst>
                  <a:outerShdw blurRad="38100" dist="38100" dir="2700000" algn="tl">
                    <a:srgbClr val="000000">
                      <a:alpha val="43137"/>
                    </a:srgbClr>
                  </a:outerShdw>
                </a:effectLst>
              </a:rPr>
              <a:t>(</a:t>
            </a:r>
            <a:r>
              <a:rPr lang="en-US" dirty="0" err="1">
                <a:solidFill>
                  <a:srgbClr val="FF0000"/>
                </a:solidFill>
                <a:effectLst>
                  <a:outerShdw blurRad="38100" dist="38100" dir="2700000" algn="tl">
                    <a:srgbClr val="000000">
                      <a:alpha val="43137"/>
                    </a:srgbClr>
                  </a:outerShdw>
                </a:effectLst>
              </a:rPr>
              <a:t>tf.ones</a:t>
            </a:r>
            <a:r>
              <a:rPr lang="en-US" dirty="0">
                <a:solidFill>
                  <a:srgbClr val="FF0000"/>
                </a:solidFill>
                <a:effectLst>
                  <a:outerShdw blurRad="38100" dist="38100" dir="2700000" algn="tl">
                    <a:srgbClr val="000000">
                      <a:alpha val="43137"/>
                    </a:srgbClr>
                  </a:outerShdw>
                </a:effectLst>
              </a:rPr>
              <a:t>((size, size)), -1, 0)</a:t>
            </a:r>
          </a:p>
          <a:p>
            <a:r>
              <a:rPr lang="en-US" dirty="0">
                <a:solidFill>
                  <a:srgbClr val="0070C0"/>
                </a:solidFill>
                <a:effectLst>
                  <a:outerShdw blurRad="38100" dist="38100" dir="2700000" algn="tl">
                    <a:srgbClr val="000000">
                      <a:alpha val="43137"/>
                    </a:srgbClr>
                  </a:outerShdw>
                </a:effectLst>
              </a:rPr>
              <a:t>        </a:t>
            </a:r>
            <a:r>
              <a:rPr lang="en-US" dirty="0">
                <a:solidFill>
                  <a:srgbClr val="FF0000"/>
                </a:solidFill>
                <a:effectLst>
                  <a:outerShdw blurRad="38100" dist="38100" dir="2700000" algn="tl">
                    <a:srgbClr val="000000">
                      <a:alpha val="43137"/>
                    </a:srgbClr>
                  </a:outerShdw>
                </a:effectLst>
              </a:rPr>
              <a:t>return mask  </a:t>
            </a:r>
            <a:r>
              <a:rPr lang="en-US" dirty="0">
                <a:solidFill>
                  <a:srgbClr val="0070C0"/>
                </a:solidFill>
                <a:effectLst>
                  <a:outerShdw blurRad="38100" dist="38100" dir="2700000" algn="tl">
                    <a:srgbClr val="000000">
                      <a:alpha val="43137"/>
                    </a:srgbClr>
                  </a:outerShdw>
                </a:effectLst>
              </a:rPr>
              <a:t># Shape: (</a:t>
            </a:r>
            <a:r>
              <a:rPr lang="en-US" dirty="0" err="1">
                <a:solidFill>
                  <a:srgbClr val="0070C0"/>
                </a:solidFill>
                <a:effectLst>
                  <a:outerShdw blurRad="38100" dist="38100" dir="2700000" algn="tl">
                    <a:srgbClr val="000000">
                      <a:alpha val="43137"/>
                    </a:srgbClr>
                  </a:outerShdw>
                </a:effectLst>
              </a:rPr>
              <a:t>seq_len</a:t>
            </a:r>
            <a:r>
              <a:rPr lang="en-US" dirty="0">
                <a:solidFill>
                  <a:srgbClr val="0070C0"/>
                </a:solidFill>
                <a:effectLst>
                  <a:outerShdw blurRad="38100" dist="38100" dir="2700000" algn="tl">
                    <a:srgbClr val="000000">
                      <a:alpha val="43137"/>
                    </a:srgbClr>
                  </a:outerShdw>
                </a:effectLst>
              </a:rPr>
              <a:t>, </a:t>
            </a:r>
            <a:r>
              <a:rPr lang="en-US" dirty="0" err="1">
                <a:solidFill>
                  <a:srgbClr val="0070C0"/>
                </a:solidFill>
                <a:effectLst>
                  <a:outerShdw blurRad="38100" dist="38100" dir="2700000" algn="tl">
                    <a:srgbClr val="000000">
                      <a:alpha val="43137"/>
                    </a:srgbClr>
                  </a:outerShdw>
                </a:effectLst>
              </a:rPr>
              <a:t>seq_len</a:t>
            </a:r>
            <a:r>
              <a:rPr lang="en-US" dirty="0">
                <a:solidFill>
                  <a:srgbClr val="0070C0"/>
                </a:solidFill>
                <a:effectLst>
                  <a:outerShdw blurRad="38100" dist="38100" dir="2700000" algn="tl">
                    <a:srgbClr val="000000">
                      <a:alpha val="43137"/>
                    </a:srgbClr>
                  </a:outerShdw>
                </a:effectLst>
              </a:rPr>
              <a:t>)</a:t>
            </a:r>
          </a:p>
          <a:p>
            <a:pPr>
              <a:buNone/>
            </a:pPr>
            <a:endParaRPr lang="en-US" b="0" dirty="0">
              <a:solidFill>
                <a:srgbClr val="0070C0"/>
              </a:solidFill>
              <a:effectLst>
                <a:outerShdw blurRad="38100" dist="38100" dir="2700000" algn="tl">
                  <a:srgbClr val="000000">
                    <a:alpha val="43137"/>
                  </a:srgbClr>
                </a:outerShdw>
              </a:effectLst>
              <a:latin typeface="Consolas" panose="020B0609020204030204" pitchFamily="49" charset="0"/>
            </a:endParaRPr>
          </a:p>
        </p:txBody>
      </p:sp>
    </p:spTree>
    <p:extLst>
      <p:ext uri="{BB962C8B-B14F-4D97-AF65-F5344CB8AC3E}">
        <p14:creationId xmlns:p14="http://schemas.microsoft.com/office/powerpoint/2010/main" val="3197426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CC5AE-5D6E-E89A-2761-3C4279D7CBE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A1519FA-ABF0-D851-928E-D7F838DE491B}"/>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SCALED DOT PRODUCT ATTENTION</a:t>
            </a:r>
          </a:p>
        </p:txBody>
      </p:sp>
      <p:sp>
        <p:nvSpPr>
          <p:cNvPr id="3" name="TextBox 2">
            <a:extLst>
              <a:ext uri="{FF2B5EF4-FFF2-40B4-BE49-F238E27FC236}">
                <a16:creationId xmlns:a16="http://schemas.microsoft.com/office/drawing/2014/main" id="{68B64C4E-610F-944A-16FF-3FD099F5CD92}"/>
              </a:ext>
            </a:extLst>
          </p:cNvPr>
          <p:cNvSpPr txBox="1"/>
          <p:nvPr/>
        </p:nvSpPr>
        <p:spPr>
          <a:xfrm>
            <a:off x="895349" y="766831"/>
            <a:ext cx="10658475" cy="5632311"/>
          </a:xfrm>
          <a:prstGeom prst="rect">
            <a:avLst/>
          </a:prstGeom>
          <a:noFill/>
        </p:spPr>
        <p:txBody>
          <a:bodyPr wrap="square">
            <a:spAutoFit/>
          </a:bodyPr>
          <a:lstStyle/>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import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tensorflow</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as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tf</a:t>
            </a:r>
            <a:endParaRPr lang="en-US" b="0" dirty="0">
              <a:solidFill>
                <a:srgbClr val="0070C0"/>
              </a:solidFill>
              <a:effectLst>
                <a:outerShdw blurRad="38100" dist="38100" dir="2700000" algn="tl">
                  <a:srgbClr val="000000">
                    <a:alpha val="43137"/>
                  </a:srgbClr>
                </a:outerShdw>
              </a:effectLst>
              <a:latin typeface="Consolas" panose="020B0609020204030204" pitchFamily="49" charset="0"/>
            </a:endParaRPr>
          </a:p>
          <a:p>
            <a:pPr>
              <a:buNone/>
            </a:pPr>
            <a:endParaRPr lang="en-US" b="0" dirty="0">
              <a:solidFill>
                <a:srgbClr val="0070C0"/>
              </a:solidFill>
              <a:effectLst>
                <a:outerShdw blurRad="38100" dist="38100" dir="2700000" algn="tl">
                  <a:srgbClr val="000000">
                    <a:alpha val="43137"/>
                  </a:srgbClr>
                </a:outerShdw>
              </a:effectLst>
              <a:latin typeface="Consolas" panose="020B0609020204030204" pitchFamily="49" charset="0"/>
            </a:endParaRP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def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scaled_dot_product_attention</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(q, k, v, mask=None):</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"""Calculate scaled dot product attention"""</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matmul_qk</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tf.matmul</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(q, k, </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transpose_b</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=True)</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Scale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matmul_qk</a:t>
            </a:r>
            <a:endParaRPr lang="en-US" b="0" dirty="0">
              <a:solidFill>
                <a:srgbClr val="0070C0"/>
              </a:solidFill>
              <a:effectLst>
                <a:outerShdw blurRad="38100" dist="38100" dir="2700000" algn="tl">
                  <a:srgbClr val="000000">
                    <a:alpha val="43137"/>
                  </a:srgbClr>
                </a:outerShdw>
              </a:effectLst>
              <a:latin typeface="Consolas" panose="020B0609020204030204" pitchFamily="49" charset="0"/>
            </a:endParaRP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dk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tf.cast</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tf.shape</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(k)[-1], tf.float32)</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scaled_attention_logits</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matmul_qk</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tf.math.sqrt</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(dk)</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Add the mask to the scaled tensor</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if mask is not None:</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scaled_attention_logits</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(mask * -1e9)</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Softmax</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is normalized on the last axis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seq_len_k</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attention_weights</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tf.nn.softmax</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scaled_attention_logits</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 axis=-1)</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output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tf.matmul</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attention_weights</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v)</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return output,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attention_weights</a:t>
            </a:r>
            <a:endParaRPr lang="en-US" b="0" dirty="0">
              <a:solidFill>
                <a:srgbClr val="0070C0"/>
              </a:solidFill>
              <a:effectLst>
                <a:outerShdw blurRad="38100" dist="38100" dir="2700000" algn="tl">
                  <a:srgbClr val="000000">
                    <a:alpha val="43137"/>
                  </a:srgbClr>
                </a:outerShdw>
              </a:effectLst>
              <a:latin typeface="Consolas" panose="020B0609020204030204" pitchFamily="49" charset="0"/>
            </a:endParaRPr>
          </a:p>
        </p:txBody>
      </p:sp>
    </p:spTree>
    <p:extLst>
      <p:ext uri="{BB962C8B-B14F-4D97-AF65-F5344CB8AC3E}">
        <p14:creationId xmlns:p14="http://schemas.microsoft.com/office/powerpoint/2010/main" val="26938100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53121-997C-2A6F-459A-61035206218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332160-A201-2CB2-83B4-BD8679DAE404}"/>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SCALED DOT PRODUCT ATTENTION</a:t>
            </a:r>
          </a:p>
        </p:txBody>
      </p:sp>
      <p:pic>
        <p:nvPicPr>
          <p:cNvPr id="5" name="Picture 4">
            <a:extLst>
              <a:ext uri="{FF2B5EF4-FFF2-40B4-BE49-F238E27FC236}">
                <a16:creationId xmlns:a16="http://schemas.microsoft.com/office/drawing/2014/main" id="{7846A436-05BB-5045-15A6-C70CD1BAEA88}"/>
              </a:ext>
            </a:extLst>
          </p:cNvPr>
          <p:cNvPicPr>
            <a:picLocks noChangeAspect="1"/>
          </p:cNvPicPr>
          <p:nvPr/>
        </p:nvPicPr>
        <p:blipFill>
          <a:blip r:embed="rId2"/>
          <a:stretch>
            <a:fillRect/>
          </a:stretch>
        </p:blipFill>
        <p:spPr>
          <a:xfrm>
            <a:off x="1803933" y="907053"/>
            <a:ext cx="9250483" cy="3512547"/>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9B53C1A-6EC1-772E-B344-C0CBE283DABD}"/>
                  </a:ext>
                </a:extLst>
              </p:cNvPr>
              <p:cNvSpPr txBox="1"/>
              <p:nvPr/>
            </p:nvSpPr>
            <p:spPr>
              <a:xfrm>
                <a:off x="778933" y="4546600"/>
                <a:ext cx="10981267" cy="1526252"/>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The </a:t>
                </a:r>
                <a:r>
                  <a:rPr lang="en-US" i="1" dirty="0" err="1">
                    <a:solidFill>
                      <a:srgbClr val="FF0000"/>
                    </a:solidFill>
                    <a:effectLst>
                      <a:outerShdw blurRad="38100" dist="38100" dir="2700000" algn="tl">
                        <a:srgbClr val="000000">
                          <a:alpha val="43137"/>
                        </a:srgbClr>
                      </a:outerShdw>
                    </a:effectLst>
                  </a:rPr>
                  <a:t>use_scale</a:t>
                </a:r>
                <a:r>
                  <a:rPr lang="en-US" i="1" dirty="0">
                    <a:solidFill>
                      <a:srgbClr val="FF0000"/>
                    </a:solidFill>
                    <a:effectLst>
                      <a:outerShdw blurRad="38100" dist="38100" dir="2700000" algn="tl">
                        <a:srgbClr val="000000">
                          <a:alpha val="43137"/>
                        </a:srgbClr>
                      </a:outerShdw>
                    </a:effectLst>
                  </a:rPr>
                  <a:t>=True </a:t>
                </a:r>
                <a:r>
                  <a:rPr lang="en-US" dirty="0"/>
                  <a:t>argument creates an additional parameter that lets the layer learn how to properly downscale the similarity scores. This is a bit different from the Transformer model, which always downscales the similarity scores by the same factor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𝑘𝑒𝑦𝑠</m:t>
                        </m:r>
                      </m:sub>
                    </m:sSub>
                    <m:r>
                      <a:rPr lang="en-US" b="0" i="1" smtClean="0">
                        <a:latin typeface="Cambria Math" panose="02040503050406030204" pitchFamily="18" charset="0"/>
                      </a:rPr>
                      <m:t>)</m:t>
                    </m:r>
                  </m:oMath>
                </a14:m>
                <a:r>
                  <a:rPr lang="en-US" dirty="0"/>
                  <a:t>. </a:t>
                </a:r>
                <a:r>
                  <a:rPr lang="en-US" i="1" dirty="0">
                    <a:solidFill>
                      <a:srgbClr val="FF0000"/>
                    </a:solidFill>
                    <a:effectLst>
                      <a:outerShdw blurRad="38100" dist="38100" dir="2700000" algn="tl">
                        <a:srgbClr val="000000">
                          <a:alpha val="43137"/>
                        </a:srgbClr>
                      </a:outerShdw>
                    </a:effectLst>
                  </a:rPr>
                  <a:t>The causal=True argument when creating the second attention layer ensures that each output token only attends to previous output tokens</a:t>
                </a:r>
                <a:r>
                  <a:rPr lang="en-US" dirty="0"/>
                  <a:t>, not future ones. </a:t>
                </a:r>
                <a:br>
                  <a:rPr lang="en-US" dirty="0"/>
                </a:br>
                <a:endParaRPr lang="en-US" dirty="0"/>
              </a:p>
            </p:txBody>
          </p:sp>
        </mc:Choice>
        <mc:Fallback xmlns="">
          <p:sp>
            <p:nvSpPr>
              <p:cNvPr id="6" name="TextBox 5">
                <a:extLst>
                  <a:ext uri="{FF2B5EF4-FFF2-40B4-BE49-F238E27FC236}">
                    <a16:creationId xmlns:a16="http://schemas.microsoft.com/office/drawing/2014/main" id="{39B53C1A-6EC1-772E-B344-C0CBE283DABD}"/>
                  </a:ext>
                </a:extLst>
              </p:cNvPr>
              <p:cNvSpPr txBox="1">
                <a:spLocks noRot="1" noChangeAspect="1" noMove="1" noResize="1" noEditPoints="1" noAdjustHandles="1" noChangeArrowheads="1" noChangeShapeType="1" noTextEdit="1"/>
              </p:cNvSpPr>
              <p:nvPr/>
            </p:nvSpPr>
            <p:spPr>
              <a:xfrm>
                <a:off x="778933" y="4546600"/>
                <a:ext cx="10981267" cy="1526252"/>
              </a:xfrm>
              <a:prstGeom prst="rect">
                <a:avLst/>
              </a:prstGeom>
              <a:blipFill>
                <a:blip r:embed="rId3"/>
                <a:stretch>
                  <a:fillRect l="-389" t="-2400" r="-722"/>
                </a:stretch>
              </a:blipFill>
            </p:spPr>
            <p:txBody>
              <a:bodyPr/>
              <a:lstStyle/>
              <a:p>
                <a:r>
                  <a:rPr lang="en-US">
                    <a:noFill/>
                  </a:rPr>
                  <a:t> </a:t>
                </a:r>
              </a:p>
            </p:txBody>
          </p:sp>
        </mc:Fallback>
      </mc:AlternateContent>
    </p:spTree>
    <p:extLst>
      <p:ext uri="{BB962C8B-B14F-4D97-AF65-F5344CB8AC3E}">
        <p14:creationId xmlns:p14="http://schemas.microsoft.com/office/powerpoint/2010/main" val="3991740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5C2A7-B8E8-93BE-27B0-B57F2D42F497}"/>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F3ABF646-4291-66F8-FFDD-3F9BE7179C70}"/>
              </a:ext>
            </a:extLst>
          </p:cNvPr>
          <p:cNvPicPr>
            <a:picLocks noChangeAspect="1"/>
          </p:cNvPicPr>
          <p:nvPr/>
        </p:nvPicPr>
        <p:blipFill>
          <a:blip r:embed="rId2"/>
          <a:stretch>
            <a:fillRect/>
          </a:stretch>
        </p:blipFill>
        <p:spPr>
          <a:xfrm>
            <a:off x="8522764" y="2992865"/>
            <a:ext cx="3669236" cy="2986040"/>
          </a:xfrm>
          <a:prstGeom prst="rect">
            <a:avLst/>
          </a:prstGeom>
        </p:spPr>
      </p:pic>
      <p:sp>
        <p:nvSpPr>
          <p:cNvPr id="4" name="TextBox 3">
            <a:extLst>
              <a:ext uri="{FF2B5EF4-FFF2-40B4-BE49-F238E27FC236}">
                <a16:creationId xmlns:a16="http://schemas.microsoft.com/office/drawing/2014/main" id="{0C839688-C735-C7E3-34CD-4BFA128AD7BD}"/>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MULTIPLE HEAD ATTENTION</a:t>
            </a:r>
          </a:p>
        </p:txBody>
      </p:sp>
      <p:sp>
        <p:nvSpPr>
          <p:cNvPr id="9" name="TextBox 8">
            <a:extLst>
              <a:ext uri="{FF2B5EF4-FFF2-40B4-BE49-F238E27FC236}">
                <a16:creationId xmlns:a16="http://schemas.microsoft.com/office/drawing/2014/main" id="{E8256401-D1E2-1D27-9096-E7655B7C418D}"/>
              </a:ext>
            </a:extLst>
          </p:cNvPr>
          <p:cNvSpPr txBox="1"/>
          <p:nvPr/>
        </p:nvSpPr>
        <p:spPr>
          <a:xfrm>
            <a:off x="446616" y="789855"/>
            <a:ext cx="10907183" cy="3139321"/>
          </a:xfrm>
          <a:prstGeom prst="rect">
            <a:avLst/>
          </a:prstGeom>
          <a:noFill/>
        </p:spPr>
        <p:txBody>
          <a:bodyPr wrap="square">
            <a:spAutoFit/>
          </a:bodyPr>
          <a:lstStyle/>
          <a:p>
            <a:pPr marL="285750" indent="-285750">
              <a:buFont typeface="Wingdings" panose="05000000000000000000" pitchFamily="2" charset="2"/>
              <a:buChar char="q"/>
            </a:pPr>
            <a:r>
              <a:rPr lang="en-US" dirty="0"/>
              <a:t>Multi-Head Attention allows the Transformer to:</a:t>
            </a:r>
          </a:p>
          <a:p>
            <a:pPr marL="627063" indent="-285750">
              <a:buFont typeface="Wingdings" panose="05000000000000000000" pitchFamily="2" charset="2"/>
              <a:buChar char="ü"/>
            </a:pPr>
            <a:r>
              <a:rPr lang="en-US" dirty="0"/>
              <a:t>Focus on multiple relationships simultaneously </a:t>
            </a:r>
          </a:p>
          <a:p>
            <a:pPr marL="627063" indent="-285750">
              <a:buFont typeface="Wingdings" panose="05000000000000000000" pitchFamily="2" charset="2"/>
              <a:buChar char="ü"/>
            </a:pPr>
            <a:r>
              <a:rPr lang="en-US" dirty="0"/>
              <a:t>Learn different contextual meanings </a:t>
            </a:r>
          </a:p>
          <a:p>
            <a:pPr marL="627063" indent="-285750">
              <a:buFont typeface="Wingdings" panose="05000000000000000000" pitchFamily="2" charset="2"/>
              <a:buChar char="ü"/>
            </a:pPr>
            <a:r>
              <a:rPr lang="en-US" dirty="0"/>
              <a:t>Capture long-range dependencies </a:t>
            </a:r>
          </a:p>
          <a:p>
            <a:pPr marL="285750" indent="-285750">
              <a:buFont typeface="Wingdings" panose="05000000000000000000" pitchFamily="2" charset="2"/>
              <a:buChar char="q"/>
            </a:pPr>
            <a:r>
              <a:rPr lang="en-US" dirty="0"/>
              <a:t>Instead of using one attention mechanism, the Transformer uses multiple attention heads.</a:t>
            </a:r>
          </a:p>
          <a:p>
            <a:pPr marL="285750" indent="-285750">
              <a:buFont typeface="Wingdings" panose="05000000000000000000" pitchFamily="2" charset="2"/>
              <a:buChar char="q"/>
            </a:pPr>
            <a:r>
              <a:rPr lang="en-US" dirty="0"/>
              <a:t>Each head will learn some thing new about the input sentence</a:t>
            </a:r>
          </a:p>
          <a:p>
            <a:pPr marL="285750" indent="-285750">
              <a:buFont typeface="Wingdings" panose="05000000000000000000" pitchFamily="2" charset="2"/>
              <a:buChar char="q"/>
            </a:pPr>
            <a:r>
              <a:rPr lang="en-US" dirty="0"/>
              <a:t>It is just a </a:t>
            </a:r>
            <a:r>
              <a:rPr lang="en-US" dirty="0">
                <a:solidFill>
                  <a:srgbClr val="FF0000"/>
                </a:solidFill>
                <a:effectLst>
                  <a:outerShdw blurRad="38100" dist="38100" dir="2700000" algn="tl">
                    <a:srgbClr val="000000">
                      <a:alpha val="43137"/>
                    </a:srgbClr>
                  </a:outerShdw>
                </a:effectLst>
              </a:rPr>
              <a:t>bunch of Scaled Dot-Product Attention layers, each preceded by a linear transformation of the values, keys, and queries </a:t>
            </a:r>
            <a:r>
              <a:rPr lang="en-US" dirty="0"/>
              <a:t>(i.e., a </a:t>
            </a:r>
            <a:r>
              <a:rPr lang="en-US" dirty="0" err="1"/>
              <a:t>timedistributed</a:t>
            </a:r>
            <a:r>
              <a:rPr lang="en-US" dirty="0"/>
              <a:t> Dense layer with no activation function). All the outputs are simply concatenated, and they go through a final linear transformation (again, </a:t>
            </a:r>
            <a:r>
              <a:rPr lang="en-US" dirty="0" err="1"/>
              <a:t>timedistributed</a:t>
            </a:r>
            <a:r>
              <a:rPr lang="en-US" dirty="0"/>
              <a:t>). </a:t>
            </a:r>
            <a:br>
              <a:rPr lang="en-US" dirty="0"/>
            </a:br>
            <a:br>
              <a:rPr lang="en-US" dirty="0"/>
            </a:br>
            <a:endParaRPr lang="en-US" dirty="0"/>
          </a:p>
        </p:txBody>
      </p:sp>
    </p:spTree>
    <p:extLst>
      <p:ext uri="{BB962C8B-B14F-4D97-AF65-F5344CB8AC3E}">
        <p14:creationId xmlns:p14="http://schemas.microsoft.com/office/powerpoint/2010/main" val="27466063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F5880-48AE-2028-F3A9-76D78E48F4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E646E0D-5781-EFCD-868C-44B37376F994}"/>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MULTIPLE HEAD ATTENTION</a:t>
            </a:r>
          </a:p>
        </p:txBody>
      </p:sp>
      <p:sp>
        <p:nvSpPr>
          <p:cNvPr id="9" name="TextBox 8">
            <a:extLst>
              <a:ext uri="{FF2B5EF4-FFF2-40B4-BE49-F238E27FC236}">
                <a16:creationId xmlns:a16="http://schemas.microsoft.com/office/drawing/2014/main" id="{4C90734B-001D-1DBA-7A23-D0CCDA2CA3A0}"/>
              </a:ext>
            </a:extLst>
          </p:cNvPr>
          <p:cNvSpPr txBox="1"/>
          <p:nvPr/>
        </p:nvSpPr>
        <p:spPr>
          <a:xfrm>
            <a:off x="495254" y="838493"/>
            <a:ext cx="11080661" cy="5450851"/>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US" dirty="0">
                <a:solidFill>
                  <a:srgbClr val="FF0000"/>
                </a:solidFill>
              </a:rPr>
              <a:t>Consider the word “played” in the sentence “They played chess”. </a:t>
            </a:r>
            <a:r>
              <a:rPr lang="en-US" dirty="0"/>
              <a:t>The encoder was smart enough to encode the fact that it is a verb. But the word representation also includes its position in the text, thanks to the positional encodings, and it probably includes many other features that are useful for its translation, such as the fact that it is in the past tense. </a:t>
            </a:r>
            <a:r>
              <a:rPr lang="en-US" dirty="0">
                <a:solidFill>
                  <a:srgbClr val="FF0000"/>
                </a:solidFill>
                <a:effectLst>
                  <a:outerShdw blurRad="38100" dist="38100" dir="2700000" algn="tl">
                    <a:srgbClr val="000000">
                      <a:alpha val="43137"/>
                    </a:srgbClr>
                  </a:outerShdw>
                </a:effectLst>
              </a:rPr>
              <a:t>In short, the word representation encodes many different characteristics of the word</a:t>
            </a:r>
            <a:r>
              <a:rPr lang="en-US" dirty="0"/>
              <a:t>. </a:t>
            </a:r>
          </a:p>
          <a:p>
            <a:pPr marL="285750" indent="-285750" algn="just">
              <a:lnSpc>
                <a:spcPct val="150000"/>
              </a:lnSpc>
              <a:buFont typeface="Wingdings" panose="05000000000000000000" pitchFamily="2" charset="2"/>
              <a:buChar char="q"/>
            </a:pPr>
            <a:r>
              <a:rPr lang="en-US" dirty="0">
                <a:solidFill>
                  <a:srgbClr val="FF0000"/>
                </a:solidFill>
                <a:effectLst>
                  <a:outerShdw blurRad="38100" dist="38100" dir="2700000" algn="tl">
                    <a:srgbClr val="000000">
                      <a:alpha val="43137"/>
                    </a:srgbClr>
                  </a:outerShdw>
                </a:effectLst>
              </a:rPr>
              <a:t>If we just used a single Scaled Dot-Product Attention layer, we would only be able to query all of these characteristics in one shot</a:t>
            </a:r>
            <a:r>
              <a:rPr lang="en-US" dirty="0"/>
              <a:t>. </a:t>
            </a:r>
          </a:p>
          <a:p>
            <a:pPr marL="285750" indent="-285750" algn="just">
              <a:lnSpc>
                <a:spcPct val="150000"/>
              </a:lnSpc>
              <a:buFont typeface="Wingdings" panose="05000000000000000000" pitchFamily="2" charset="2"/>
              <a:buChar char="q"/>
            </a:pPr>
            <a:r>
              <a:rPr lang="en-US" dirty="0"/>
              <a:t>This is why the </a:t>
            </a:r>
            <a:r>
              <a:rPr lang="en-US" dirty="0">
                <a:solidFill>
                  <a:srgbClr val="FF0000"/>
                </a:solidFill>
                <a:effectLst>
                  <a:outerShdw blurRad="38100" dist="38100" dir="2700000" algn="tl">
                    <a:srgbClr val="000000">
                      <a:alpha val="43137"/>
                    </a:srgbClr>
                  </a:outerShdw>
                </a:effectLst>
              </a:rPr>
              <a:t>Multi-Head Attention layer applies multiple different linear transformations of the values, keys, and queries: this allows the model to apply many different projections of the word representation into different subspaces</a:t>
            </a:r>
            <a:r>
              <a:rPr lang="en-US" dirty="0"/>
              <a:t>, each focusing on a subset of the word’s characteristics. </a:t>
            </a:r>
            <a:r>
              <a:rPr lang="en-US" dirty="0">
                <a:solidFill>
                  <a:schemeClr val="accent6">
                    <a:lumMod val="50000"/>
                  </a:schemeClr>
                </a:solidFill>
                <a:effectLst>
                  <a:outerShdw blurRad="38100" dist="38100" dir="2700000" algn="tl">
                    <a:srgbClr val="000000">
                      <a:alpha val="43137"/>
                    </a:srgbClr>
                  </a:outerShdw>
                </a:effectLst>
              </a:rPr>
              <a:t>Perhaps one of the linear layers will project the word representation into a subspace where all that remains is the information that the word is a verb, another linear layer will extract just the fact that it is past tense, and so on</a:t>
            </a:r>
            <a:r>
              <a:rPr lang="en-US" dirty="0"/>
              <a:t>. Then the </a:t>
            </a:r>
            <a:r>
              <a:rPr lang="en-US" dirty="0">
                <a:solidFill>
                  <a:srgbClr val="0070C0"/>
                </a:solidFill>
                <a:effectLst>
                  <a:outerShdw blurRad="38100" dist="38100" dir="2700000" algn="tl">
                    <a:srgbClr val="000000">
                      <a:alpha val="43137"/>
                    </a:srgbClr>
                  </a:outerShdw>
                </a:effectLst>
              </a:rPr>
              <a:t>Scaled Dot-Product Attention layers implement the lookup phase, and finally we concatenate all the results and project them back to the original space.</a:t>
            </a:r>
          </a:p>
        </p:txBody>
      </p:sp>
    </p:spTree>
    <p:extLst>
      <p:ext uri="{BB962C8B-B14F-4D97-AF65-F5344CB8AC3E}">
        <p14:creationId xmlns:p14="http://schemas.microsoft.com/office/powerpoint/2010/main" val="16197665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4AE44-E036-DB0B-1B35-CE558DB1E8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DD0DD7-1E83-3858-7428-23EA37D14514}"/>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MULTIPLE HEAD ATTENTION</a:t>
            </a:r>
          </a:p>
        </p:txBody>
      </p:sp>
      <p:sp>
        <p:nvSpPr>
          <p:cNvPr id="5" name="TextBox 4">
            <a:extLst>
              <a:ext uri="{FF2B5EF4-FFF2-40B4-BE49-F238E27FC236}">
                <a16:creationId xmlns:a16="http://schemas.microsoft.com/office/drawing/2014/main" id="{A5FCF43A-B21B-435D-9BF2-D33415C81067}"/>
              </a:ext>
            </a:extLst>
          </p:cNvPr>
          <p:cNvSpPr txBox="1"/>
          <p:nvPr/>
        </p:nvSpPr>
        <p:spPr>
          <a:xfrm>
            <a:off x="200025" y="1309438"/>
            <a:ext cx="11791950" cy="4582024"/>
          </a:xfrm>
          <a:prstGeom prst="rect">
            <a:avLst/>
          </a:prstGeom>
          <a:noFill/>
        </p:spPr>
        <p:txBody>
          <a:bodyPr wrap="square">
            <a:spAutoFit/>
          </a:bodyPr>
          <a:lstStyle/>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import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tensorflow</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as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tf</a:t>
            </a:r>
            <a:endParaRPr lang="en-US" b="0" dirty="0">
              <a:solidFill>
                <a:srgbClr val="0070C0"/>
              </a:solidFill>
              <a:effectLst>
                <a:outerShdw blurRad="38100" dist="38100" dir="2700000" algn="tl">
                  <a:srgbClr val="000000">
                    <a:alpha val="43137"/>
                  </a:srgbClr>
                </a:outerShdw>
              </a:effectLst>
              <a:latin typeface="Consolas" panose="020B0609020204030204" pitchFamily="49" charset="0"/>
            </a:endParaRP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from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scaled_dot_product_attention</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import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scaled_dot_product_attention</a:t>
            </a:r>
            <a:br>
              <a:rPr lang="en-US" b="0" dirty="0">
                <a:solidFill>
                  <a:srgbClr val="0070C0"/>
                </a:solidFill>
                <a:effectLst>
                  <a:outerShdw blurRad="38100" dist="38100" dir="2700000" algn="tl">
                    <a:srgbClr val="000000">
                      <a:alpha val="43137"/>
                    </a:srgbClr>
                  </a:outerShdw>
                </a:effectLst>
                <a:latin typeface="Consolas" panose="020B0609020204030204" pitchFamily="49" charset="0"/>
              </a:rPr>
            </a:br>
            <a:endParaRPr lang="en-US" b="0" dirty="0">
              <a:solidFill>
                <a:srgbClr val="0070C0"/>
              </a:solidFill>
              <a:effectLst>
                <a:outerShdw blurRad="38100" dist="38100" dir="2700000" algn="tl">
                  <a:srgbClr val="000000">
                    <a:alpha val="43137"/>
                  </a:srgbClr>
                </a:outerShdw>
              </a:effectLst>
              <a:latin typeface="Consolas" panose="020B0609020204030204" pitchFamily="49" charset="0"/>
            </a:endParaRP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class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MultiHeadAttention</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tf.keras.layers.Layer</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def __</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init</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__(self,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d_model</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num_heads</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super(</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MultiHeadAttention</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self).__</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init</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__()</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self.num_heads</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num_heads</a:t>
            </a:r>
            <a:endParaRPr lang="en-US" b="0" dirty="0">
              <a:solidFill>
                <a:srgbClr val="0070C0"/>
              </a:solidFill>
              <a:effectLst>
                <a:outerShdw blurRad="38100" dist="38100" dir="2700000" algn="tl">
                  <a:srgbClr val="000000">
                    <a:alpha val="43137"/>
                  </a:srgbClr>
                </a:outerShdw>
              </a:effectLst>
              <a:latin typeface="Consolas" panose="020B0609020204030204" pitchFamily="49" charset="0"/>
            </a:endParaRP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self.d_model</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d_model</a:t>
            </a:r>
            <a:endParaRPr lang="en-US" b="0" dirty="0">
              <a:solidFill>
                <a:srgbClr val="0070C0"/>
              </a:solidFill>
              <a:effectLst>
                <a:outerShdw blurRad="38100" dist="38100" dir="2700000" algn="tl">
                  <a:srgbClr val="000000">
                    <a:alpha val="43137"/>
                  </a:srgbClr>
                </a:outerShdw>
              </a:effectLst>
              <a:latin typeface="Consolas" panose="020B0609020204030204" pitchFamily="49" charset="0"/>
            </a:endParaRP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assert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d_model</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self.num_heads</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0</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self.depth</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d_model</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self.num_heads</a:t>
            </a:r>
            <a:endParaRPr lang="en-US" b="0" dirty="0">
              <a:solidFill>
                <a:srgbClr val="0070C0"/>
              </a:solidFill>
              <a:effectLst>
                <a:outerShdw blurRad="38100" dist="38100" dir="2700000" algn="tl">
                  <a:srgbClr val="000000">
                    <a:alpha val="43137"/>
                  </a:srgbClr>
                </a:outerShdw>
              </a:effectLst>
              <a:latin typeface="Consolas" panose="020B0609020204030204" pitchFamily="49" charset="0"/>
            </a:endParaRP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self.wq</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tf.keras.layers.Dense</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d_model</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self.wk</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tf.keras.layers.Dense</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d_model</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self.wv</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tf.keras.layers.Dense</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d_model</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self.dense</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tf.keras.layers.Dense</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d_model</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def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split_heads</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(self, x,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batch_size</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x = </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tf.reshape</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(x, (</a:t>
            </a:r>
            <a:r>
              <a:rPr lang="en-US" b="0" dirty="0" err="1">
                <a:solidFill>
                  <a:srgbClr val="FF0000"/>
                </a:solidFill>
                <a:effectLst>
                  <a:outerShdw blurRad="38100" dist="38100" dir="2700000" algn="tl">
                    <a:srgbClr val="000000">
                      <a:alpha val="43137"/>
                    </a:srgbClr>
                  </a:outerShdw>
                </a:effectLst>
                <a:highlight>
                  <a:srgbClr val="FFFF00"/>
                </a:highlight>
                <a:latin typeface="Consolas" panose="020B0609020204030204" pitchFamily="49" charset="0"/>
              </a:rPr>
              <a:t>batch_size</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 -1, </a:t>
            </a:r>
            <a:r>
              <a:rPr lang="en-US" b="0" dirty="0" err="1">
                <a:solidFill>
                  <a:srgbClr val="FF0000"/>
                </a:solidFill>
                <a:effectLst>
                  <a:outerShdw blurRad="38100" dist="38100" dir="2700000" algn="tl">
                    <a:srgbClr val="000000">
                      <a:alpha val="43137"/>
                    </a:srgbClr>
                  </a:outerShdw>
                </a:effectLst>
                <a:highlight>
                  <a:srgbClr val="FFFF00"/>
                </a:highlight>
                <a:latin typeface="Consolas" panose="020B0609020204030204" pitchFamily="49" charset="0"/>
              </a:rPr>
              <a:t>self.num_heads</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 </a:t>
            </a:r>
            <a:r>
              <a:rPr lang="en-US" b="0" dirty="0" err="1">
                <a:solidFill>
                  <a:srgbClr val="FF0000"/>
                </a:solidFill>
                <a:effectLst>
                  <a:outerShdw blurRad="38100" dist="38100" dir="2700000" algn="tl">
                    <a:srgbClr val="000000">
                      <a:alpha val="43137"/>
                    </a:srgbClr>
                  </a:outerShdw>
                </a:effectLst>
                <a:latin typeface="Consolas" panose="020B0609020204030204" pitchFamily="49" charset="0"/>
              </a:rPr>
              <a:t>self.depth</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return </a:t>
            </a:r>
            <a:r>
              <a:rPr lang="en-US" b="0" dirty="0" err="1">
                <a:solidFill>
                  <a:srgbClr val="0070C0"/>
                </a:solidFill>
                <a:effectLst>
                  <a:outerShdw blurRad="38100" dist="38100" dir="2700000" algn="tl">
                    <a:srgbClr val="000000">
                      <a:alpha val="43137"/>
                    </a:srgbClr>
                  </a:outerShdw>
                </a:effectLst>
                <a:latin typeface="Consolas" panose="020B0609020204030204" pitchFamily="49" charset="0"/>
              </a:rPr>
              <a:t>tf.transpose</a:t>
            </a: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(x, perm=[0, 2, 1, 3])</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lnSpc>
                <a:spcPts val="1425"/>
              </a:lnSpc>
              <a:buNone/>
            </a:pPr>
            <a:r>
              <a:rPr lang="en-US" b="0" dirty="0">
                <a:solidFill>
                  <a:srgbClr val="0070C0"/>
                </a:solidFill>
                <a:effectLst>
                  <a:outerShdw blurRad="38100" dist="38100" dir="2700000" algn="tl">
                    <a:srgbClr val="000000">
                      <a:alpha val="43137"/>
                    </a:srgbClr>
                  </a:outerShdw>
                </a:effectLst>
                <a:latin typeface="Consolas" panose="020B0609020204030204" pitchFamily="49" charset="0"/>
              </a:rPr>
              <a:t> </a:t>
            </a:r>
          </a:p>
        </p:txBody>
      </p:sp>
    </p:spTree>
    <p:extLst>
      <p:ext uri="{BB962C8B-B14F-4D97-AF65-F5344CB8AC3E}">
        <p14:creationId xmlns:p14="http://schemas.microsoft.com/office/powerpoint/2010/main" val="17838701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B8D78-07EF-0DB6-B410-673169D02D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0A478AB-52C7-E6EB-ABD9-C53D5F7A38B1}"/>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MULTIPLE HEAD ATTENTION</a:t>
            </a:r>
          </a:p>
        </p:txBody>
      </p:sp>
      <p:sp>
        <p:nvSpPr>
          <p:cNvPr id="7" name="TextBox 6">
            <a:extLst>
              <a:ext uri="{FF2B5EF4-FFF2-40B4-BE49-F238E27FC236}">
                <a16:creationId xmlns:a16="http://schemas.microsoft.com/office/drawing/2014/main" id="{9DF9FECD-2F2C-0E2A-D49A-7741ED7D8EDE}"/>
              </a:ext>
            </a:extLst>
          </p:cNvPr>
          <p:cNvSpPr txBox="1"/>
          <p:nvPr/>
        </p:nvSpPr>
        <p:spPr>
          <a:xfrm>
            <a:off x="190500" y="1579615"/>
            <a:ext cx="12001500" cy="3698769"/>
          </a:xfrm>
          <a:prstGeom prst="rect">
            <a:avLst/>
          </a:prstGeom>
          <a:noFill/>
        </p:spPr>
        <p:txBody>
          <a:bodyPr wrap="square">
            <a:spAutoFit/>
          </a:bodyPr>
          <a:lstStyle/>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def call(self, v, k, q, mask=None):  # Changed order to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q,k,v</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but kept interface</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batch_size</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tf.shape</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(q)[0]</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q =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self.wq</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(q)</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k =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self.wk</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(k)</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v =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self.wv</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(v)</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q =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self.split_heads</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(q,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batch_size</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k =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self.split_heads</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(k,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batch_size</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v =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self.split_heads</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(v,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batch_size</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 FIXED: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scaled_dot_product_attention</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returns (output,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attention_weights</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sz="1800" b="0" dirty="0" err="1">
                <a:solidFill>
                  <a:srgbClr val="FF0000"/>
                </a:solidFill>
                <a:effectLst>
                  <a:outerShdw blurRad="38100" dist="38100" dir="2700000" algn="tl">
                    <a:srgbClr val="000000">
                      <a:alpha val="43137"/>
                    </a:srgbClr>
                  </a:outerShdw>
                </a:effectLst>
                <a:latin typeface="Consolas" panose="020B0609020204030204" pitchFamily="49" charset="0"/>
              </a:rPr>
              <a:t>scaled_attention</a:t>
            </a:r>
            <a:r>
              <a:rPr lang="en-US" sz="1800" b="0" dirty="0">
                <a:solidFill>
                  <a:srgbClr val="FF0000"/>
                </a:solidFill>
                <a:effectLst>
                  <a:outerShdw blurRad="38100" dist="38100" dir="2700000" algn="tl">
                    <a:srgbClr val="000000">
                      <a:alpha val="43137"/>
                    </a:srgbClr>
                  </a:outerShdw>
                </a:effectLst>
                <a:latin typeface="Consolas" panose="020B0609020204030204" pitchFamily="49" charset="0"/>
              </a:rPr>
              <a:t>, </a:t>
            </a:r>
            <a:r>
              <a:rPr lang="en-US" sz="1800" b="0" dirty="0" err="1">
                <a:solidFill>
                  <a:srgbClr val="FF0000"/>
                </a:solidFill>
                <a:effectLst>
                  <a:outerShdw blurRad="38100" dist="38100" dir="2700000" algn="tl">
                    <a:srgbClr val="000000">
                      <a:alpha val="43137"/>
                    </a:srgbClr>
                  </a:outerShdw>
                </a:effectLst>
                <a:latin typeface="Consolas" panose="020B0609020204030204" pitchFamily="49" charset="0"/>
              </a:rPr>
              <a:t>attention_weights</a:t>
            </a:r>
            <a:r>
              <a:rPr lang="en-US" sz="1800" b="0" dirty="0">
                <a:solidFill>
                  <a:srgbClr val="FF0000"/>
                </a:solidFill>
                <a:effectLst>
                  <a:outerShdw blurRad="38100" dist="38100" dir="2700000" algn="tl">
                    <a:srgbClr val="000000">
                      <a:alpha val="43137"/>
                    </a:srgbClr>
                  </a:outerShdw>
                </a:effectLst>
                <a:latin typeface="Consolas" panose="020B0609020204030204" pitchFamily="49" charset="0"/>
              </a:rPr>
              <a:t> = </a:t>
            </a:r>
            <a:r>
              <a:rPr lang="en-US" sz="1800" b="0" dirty="0" err="1">
                <a:solidFill>
                  <a:srgbClr val="FF0000"/>
                </a:solidFill>
                <a:effectLst>
                  <a:outerShdw blurRad="38100" dist="38100" dir="2700000" algn="tl">
                    <a:srgbClr val="000000">
                      <a:alpha val="43137"/>
                    </a:srgbClr>
                  </a:outerShdw>
                </a:effectLst>
                <a:latin typeface="Consolas" panose="020B0609020204030204" pitchFamily="49" charset="0"/>
              </a:rPr>
              <a:t>scaled_dot_product_attention</a:t>
            </a:r>
            <a:r>
              <a:rPr lang="en-US" sz="1800" b="0" dirty="0">
                <a:solidFill>
                  <a:srgbClr val="FF0000"/>
                </a:solidFill>
                <a:effectLst>
                  <a:outerShdw blurRad="38100" dist="38100" dir="2700000" algn="tl">
                    <a:srgbClr val="000000">
                      <a:alpha val="43137"/>
                    </a:srgbClr>
                  </a:outerShdw>
                </a:effectLst>
                <a:latin typeface="Consolas" panose="020B0609020204030204" pitchFamily="49" charset="0"/>
              </a:rPr>
              <a:t>(q, k, v, mask)</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scaled_attention</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tf.transpose</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scaled_attention</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perm=[0, 2, 1, 3])</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concat_attention</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tf.reshape</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scaled_attention</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batch_size</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-1,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self.d_model</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a:t>
            </a:r>
            <a:r>
              <a:rPr lang="en-US" sz="1800" b="0" dirty="0">
                <a:solidFill>
                  <a:srgbClr val="FF0000"/>
                </a:solidFill>
                <a:effectLst>
                  <a:outerShdw blurRad="38100" dist="38100" dir="2700000" algn="tl">
                    <a:srgbClr val="000000">
                      <a:alpha val="43137"/>
                    </a:srgbClr>
                  </a:outerShdw>
                </a:effectLst>
                <a:latin typeface="Consolas" panose="020B0609020204030204" pitchFamily="49" charset="0"/>
              </a:rPr>
              <a:t>output = </a:t>
            </a:r>
            <a:r>
              <a:rPr lang="en-US" sz="1800" b="0" dirty="0" err="1">
                <a:solidFill>
                  <a:srgbClr val="FF0000"/>
                </a:solidFill>
                <a:effectLst>
                  <a:outerShdw blurRad="38100" dist="38100" dir="2700000" algn="tl">
                    <a:srgbClr val="000000">
                      <a:alpha val="43137"/>
                    </a:srgbClr>
                  </a:outerShdw>
                </a:effectLst>
                <a:latin typeface="Consolas" panose="020B0609020204030204" pitchFamily="49" charset="0"/>
              </a:rPr>
              <a:t>self.dense</a:t>
            </a:r>
            <a:r>
              <a:rPr lang="en-US" sz="1800" b="0" dirty="0">
                <a:solidFill>
                  <a:srgbClr val="FF0000"/>
                </a:solidFill>
                <a:effectLst>
                  <a:outerShdw blurRad="38100" dist="38100" dir="2700000" algn="tl">
                    <a:srgbClr val="000000">
                      <a:alpha val="43137"/>
                    </a:srgbClr>
                  </a:outerShdw>
                </a:effectLst>
                <a:latin typeface="Consolas" panose="020B0609020204030204" pitchFamily="49" charset="0"/>
              </a:rPr>
              <a:t>(</a:t>
            </a:r>
            <a:r>
              <a:rPr lang="en-US" sz="1800" b="0" dirty="0" err="1">
                <a:solidFill>
                  <a:srgbClr val="FF0000"/>
                </a:solidFill>
                <a:effectLst>
                  <a:outerShdw blurRad="38100" dist="38100" dir="2700000" algn="tl">
                    <a:srgbClr val="000000">
                      <a:alpha val="43137"/>
                    </a:srgbClr>
                  </a:outerShdw>
                </a:effectLst>
                <a:latin typeface="Consolas" panose="020B0609020204030204" pitchFamily="49" charset="0"/>
              </a:rPr>
              <a:t>concat_attention</a:t>
            </a:r>
            <a:r>
              <a:rPr lang="en-US" sz="1800" b="0" dirty="0">
                <a:solidFill>
                  <a:srgbClr val="FF0000"/>
                </a:solidFill>
                <a:effectLst>
                  <a:outerShdw blurRad="38100" dist="38100" dir="2700000" algn="tl">
                    <a:srgbClr val="000000">
                      <a:alpha val="43137"/>
                    </a:srgbClr>
                  </a:outerShdw>
                </a:effectLst>
                <a:latin typeface="Consolas" panose="020B0609020204030204" pitchFamily="49" charset="0"/>
              </a:rPr>
              <a:t>)</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a:t>
            </a:r>
          </a:p>
          <a:p>
            <a:pPr>
              <a:lnSpc>
                <a:spcPts val="1425"/>
              </a:lnSpc>
              <a:buNone/>
            </a:pP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return output, </a:t>
            </a:r>
            <a:r>
              <a:rPr lang="en-US" sz="1800" b="0" dirty="0" err="1">
                <a:solidFill>
                  <a:srgbClr val="0070C0"/>
                </a:solidFill>
                <a:effectLst>
                  <a:outerShdw blurRad="38100" dist="38100" dir="2700000" algn="tl">
                    <a:srgbClr val="000000">
                      <a:alpha val="43137"/>
                    </a:srgbClr>
                  </a:outerShdw>
                </a:effectLst>
                <a:latin typeface="Consolas" panose="020B0609020204030204" pitchFamily="49" charset="0"/>
              </a:rPr>
              <a:t>attention_weights</a:t>
            </a:r>
            <a:r>
              <a:rPr lang="en-US" sz="1800" b="0" dirty="0">
                <a:solidFill>
                  <a:srgbClr val="0070C0"/>
                </a:solidFill>
                <a:effectLst>
                  <a:outerShdw blurRad="38100" dist="38100" dir="2700000" algn="tl">
                    <a:srgbClr val="000000">
                      <a:alpha val="43137"/>
                    </a:srgbClr>
                  </a:outerShdw>
                </a:effectLst>
                <a:latin typeface="Consolas" panose="020B0609020204030204" pitchFamily="49" charset="0"/>
              </a:rPr>
              <a:t>  </a:t>
            </a:r>
            <a:endParaRPr lang="en-US"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310134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A4066-D513-DE53-4EDB-5424D67665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C6AF68E-EBCF-F5EE-BBAA-30ACD3A82EC0}"/>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POINT WISE FEED FORWARD NETWORK</a:t>
            </a:r>
          </a:p>
        </p:txBody>
      </p:sp>
      <p:sp>
        <p:nvSpPr>
          <p:cNvPr id="3" name="TextBox 2">
            <a:extLst>
              <a:ext uri="{FF2B5EF4-FFF2-40B4-BE49-F238E27FC236}">
                <a16:creationId xmlns:a16="http://schemas.microsoft.com/office/drawing/2014/main" id="{EA5BD271-DAD3-BCB7-8C40-012262EABD54}"/>
              </a:ext>
            </a:extLst>
          </p:cNvPr>
          <p:cNvSpPr txBox="1"/>
          <p:nvPr/>
        </p:nvSpPr>
        <p:spPr>
          <a:xfrm>
            <a:off x="933855" y="923181"/>
            <a:ext cx="10554511" cy="4202817"/>
          </a:xfrm>
          <a:prstGeom prst="rect">
            <a:avLst/>
          </a:prstGeom>
          <a:noFill/>
        </p:spPr>
        <p:txBody>
          <a:bodyPr wrap="square">
            <a:spAutoFit/>
          </a:bodyPr>
          <a:lstStyle/>
          <a:p>
            <a:pPr>
              <a:lnSpc>
                <a:spcPct val="150000"/>
              </a:lnSpc>
              <a:buNone/>
            </a:pPr>
            <a:r>
              <a:rPr lang="en-US" b="0" dirty="0">
                <a:solidFill>
                  <a:srgbClr val="0070C0"/>
                </a:solidFill>
                <a:effectLst/>
                <a:latin typeface="Consolas" panose="020B0609020204030204" pitchFamily="49" charset="0"/>
              </a:rPr>
              <a:t>import </a:t>
            </a:r>
            <a:r>
              <a:rPr lang="en-US" b="0" dirty="0" err="1">
                <a:solidFill>
                  <a:srgbClr val="0070C0"/>
                </a:solidFill>
                <a:effectLst/>
                <a:latin typeface="Consolas" panose="020B0609020204030204" pitchFamily="49" charset="0"/>
              </a:rPr>
              <a:t>tensorflow</a:t>
            </a:r>
            <a:r>
              <a:rPr lang="en-US" b="0" dirty="0">
                <a:solidFill>
                  <a:srgbClr val="0070C0"/>
                </a:solidFill>
                <a:effectLst/>
                <a:latin typeface="Consolas" panose="020B0609020204030204" pitchFamily="49" charset="0"/>
              </a:rPr>
              <a:t> as </a:t>
            </a:r>
            <a:r>
              <a:rPr lang="en-US" b="0" dirty="0" err="1">
                <a:solidFill>
                  <a:srgbClr val="0070C0"/>
                </a:solidFill>
                <a:effectLst/>
                <a:latin typeface="Consolas" panose="020B0609020204030204" pitchFamily="49" charset="0"/>
              </a:rPr>
              <a:t>tf</a:t>
            </a:r>
            <a:endParaRPr lang="en-US" b="0" dirty="0">
              <a:solidFill>
                <a:srgbClr val="0070C0"/>
              </a:solidFill>
              <a:effectLst/>
              <a:latin typeface="Consolas" panose="020B0609020204030204" pitchFamily="49" charset="0"/>
            </a:endParaRPr>
          </a:p>
          <a:p>
            <a:pPr>
              <a:lnSpc>
                <a:spcPct val="150000"/>
              </a:lnSpc>
              <a:buNone/>
            </a:pPr>
            <a:r>
              <a:rPr lang="en-US" b="0" dirty="0">
                <a:solidFill>
                  <a:srgbClr val="0070C0"/>
                </a:solidFill>
                <a:effectLst/>
                <a:latin typeface="Consolas" panose="020B0609020204030204" pitchFamily="49" charset="0"/>
              </a:rPr>
              <a:t>class </a:t>
            </a:r>
            <a:r>
              <a:rPr lang="en-US" b="0" dirty="0" err="1">
                <a:solidFill>
                  <a:srgbClr val="0070C0"/>
                </a:solidFill>
                <a:effectLst/>
                <a:latin typeface="Consolas" panose="020B0609020204030204" pitchFamily="49" charset="0"/>
              </a:rPr>
              <a:t>point_wise_feed_forward_network</a:t>
            </a:r>
            <a:r>
              <a:rPr lang="en-US" b="0" dirty="0">
                <a:solidFill>
                  <a:srgbClr val="0070C0"/>
                </a:solidFill>
                <a:effectLst/>
                <a:latin typeface="Consolas" panose="020B0609020204030204" pitchFamily="49" charset="0"/>
              </a:rPr>
              <a:t>(</a:t>
            </a:r>
            <a:r>
              <a:rPr lang="en-US" b="0" dirty="0" err="1">
                <a:solidFill>
                  <a:srgbClr val="0070C0"/>
                </a:solidFill>
                <a:effectLst/>
                <a:latin typeface="Consolas" panose="020B0609020204030204" pitchFamily="49" charset="0"/>
              </a:rPr>
              <a:t>tf.keras.layers.Layer</a:t>
            </a:r>
            <a:r>
              <a:rPr lang="en-US" b="0" dirty="0">
                <a:solidFill>
                  <a:srgbClr val="0070C0"/>
                </a:solidFill>
                <a:effectLst/>
                <a:latin typeface="Consolas" panose="020B0609020204030204" pitchFamily="49" charset="0"/>
              </a:rPr>
              <a:t>):</a:t>
            </a:r>
          </a:p>
          <a:p>
            <a:pPr>
              <a:lnSpc>
                <a:spcPct val="150000"/>
              </a:lnSpc>
              <a:buNone/>
            </a:pPr>
            <a:r>
              <a:rPr lang="en-US" b="0" dirty="0">
                <a:solidFill>
                  <a:srgbClr val="0070C0"/>
                </a:solidFill>
                <a:effectLst/>
                <a:latin typeface="Consolas" panose="020B0609020204030204" pitchFamily="49" charset="0"/>
              </a:rPr>
              <a:t>    def __</a:t>
            </a:r>
            <a:r>
              <a:rPr lang="en-US" b="0" dirty="0" err="1">
                <a:solidFill>
                  <a:srgbClr val="0070C0"/>
                </a:solidFill>
                <a:effectLst/>
                <a:latin typeface="Consolas" panose="020B0609020204030204" pitchFamily="49" charset="0"/>
              </a:rPr>
              <a:t>init</a:t>
            </a:r>
            <a:r>
              <a:rPr lang="en-US" b="0" dirty="0">
                <a:solidFill>
                  <a:srgbClr val="0070C0"/>
                </a:solidFill>
                <a:effectLst/>
                <a:latin typeface="Consolas" panose="020B0609020204030204" pitchFamily="49" charset="0"/>
              </a:rPr>
              <a:t>__(self, </a:t>
            </a:r>
            <a:r>
              <a:rPr lang="en-US" b="0" dirty="0" err="1">
                <a:solidFill>
                  <a:srgbClr val="0070C0"/>
                </a:solidFill>
                <a:effectLst/>
                <a:latin typeface="Consolas" panose="020B0609020204030204" pitchFamily="49" charset="0"/>
              </a:rPr>
              <a:t>d_model</a:t>
            </a: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dff</a:t>
            </a:r>
            <a:r>
              <a:rPr lang="en-US" b="0" dirty="0">
                <a:solidFill>
                  <a:srgbClr val="0070C0"/>
                </a:solidFill>
                <a:effectLst/>
                <a:latin typeface="Consolas" panose="020B0609020204030204" pitchFamily="49" charset="0"/>
              </a:rPr>
              <a:t>):</a:t>
            </a:r>
          </a:p>
          <a:p>
            <a:pPr>
              <a:lnSpc>
                <a:spcPct val="150000"/>
              </a:lnSpc>
              <a:buNone/>
            </a:pPr>
            <a:r>
              <a:rPr lang="en-US" b="0" dirty="0">
                <a:solidFill>
                  <a:srgbClr val="0070C0"/>
                </a:solidFill>
                <a:effectLst/>
                <a:latin typeface="Consolas" panose="020B0609020204030204" pitchFamily="49" charset="0"/>
              </a:rPr>
              <a:t>        super(</a:t>
            </a:r>
            <a:r>
              <a:rPr lang="en-US" b="0" dirty="0" err="1">
                <a:solidFill>
                  <a:srgbClr val="0070C0"/>
                </a:solidFill>
                <a:effectLst/>
                <a:latin typeface="Consolas" panose="020B0609020204030204" pitchFamily="49" charset="0"/>
              </a:rPr>
              <a:t>point_wise_feed_forward_network</a:t>
            </a:r>
            <a:r>
              <a:rPr lang="en-US" b="0" dirty="0">
                <a:solidFill>
                  <a:srgbClr val="0070C0"/>
                </a:solidFill>
                <a:effectLst/>
                <a:latin typeface="Consolas" panose="020B0609020204030204" pitchFamily="49" charset="0"/>
              </a:rPr>
              <a:t>, self).__</a:t>
            </a:r>
            <a:r>
              <a:rPr lang="en-US" b="0" dirty="0" err="1">
                <a:solidFill>
                  <a:srgbClr val="0070C0"/>
                </a:solidFill>
                <a:effectLst/>
                <a:latin typeface="Consolas" panose="020B0609020204030204" pitchFamily="49" charset="0"/>
              </a:rPr>
              <a:t>init</a:t>
            </a:r>
            <a:r>
              <a:rPr lang="en-US" b="0" dirty="0">
                <a:solidFill>
                  <a:srgbClr val="0070C0"/>
                </a:solidFill>
                <a:effectLst/>
                <a:latin typeface="Consolas" panose="020B0609020204030204" pitchFamily="49" charset="0"/>
              </a:rPr>
              <a:t>__()</a:t>
            </a:r>
          </a:p>
          <a:p>
            <a:pPr>
              <a:lnSpc>
                <a:spcPct val="150000"/>
              </a:lnSpc>
              <a:buNone/>
            </a:pPr>
            <a:r>
              <a:rPr lang="en-US" b="0" dirty="0">
                <a:solidFill>
                  <a:srgbClr val="0070C0"/>
                </a:solidFill>
                <a:effectLst/>
                <a:latin typeface="Consolas" panose="020B0609020204030204" pitchFamily="49" charset="0"/>
              </a:rPr>
              <a:t>        self.dense1 = </a:t>
            </a:r>
            <a:r>
              <a:rPr lang="en-US" b="0" dirty="0" err="1">
                <a:solidFill>
                  <a:srgbClr val="0070C0"/>
                </a:solidFill>
                <a:effectLst/>
                <a:latin typeface="Consolas" panose="020B0609020204030204" pitchFamily="49" charset="0"/>
              </a:rPr>
              <a:t>tf.keras.layers.Dense</a:t>
            </a:r>
            <a:r>
              <a:rPr lang="en-US" b="0" dirty="0">
                <a:solidFill>
                  <a:srgbClr val="0070C0"/>
                </a:solidFill>
                <a:effectLst/>
                <a:latin typeface="Consolas" panose="020B0609020204030204" pitchFamily="49" charset="0"/>
              </a:rPr>
              <a:t>(</a:t>
            </a:r>
            <a:r>
              <a:rPr lang="en-US" b="0" dirty="0" err="1">
                <a:solidFill>
                  <a:srgbClr val="0070C0"/>
                </a:solidFill>
                <a:effectLst/>
                <a:latin typeface="Consolas" panose="020B0609020204030204" pitchFamily="49" charset="0"/>
              </a:rPr>
              <a:t>dff</a:t>
            </a:r>
            <a:r>
              <a:rPr lang="en-US" b="0" dirty="0">
                <a:solidFill>
                  <a:srgbClr val="0070C0"/>
                </a:solidFill>
                <a:effectLst/>
                <a:latin typeface="Consolas" panose="020B0609020204030204" pitchFamily="49" charset="0"/>
              </a:rPr>
              <a:t>, activation='</a:t>
            </a:r>
            <a:r>
              <a:rPr lang="en-US" b="0" dirty="0" err="1">
                <a:solidFill>
                  <a:srgbClr val="0070C0"/>
                </a:solidFill>
                <a:effectLst/>
                <a:latin typeface="Consolas" panose="020B0609020204030204" pitchFamily="49" charset="0"/>
              </a:rPr>
              <a:t>relu</a:t>
            </a:r>
            <a:r>
              <a:rPr lang="en-US" b="0" dirty="0">
                <a:solidFill>
                  <a:srgbClr val="0070C0"/>
                </a:solidFill>
                <a:effectLst/>
                <a:latin typeface="Consolas" panose="020B0609020204030204" pitchFamily="49" charset="0"/>
              </a:rPr>
              <a:t>')</a:t>
            </a:r>
          </a:p>
          <a:p>
            <a:pPr>
              <a:lnSpc>
                <a:spcPct val="150000"/>
              </a:lnSpc>
              <a:buNone/>
            </a:pPr>
            <a:r>
              <a:rPr lang="en-US" b="0" dirty="0">
                <a:solidFill>
                  <a:srgbClr val="0070C0"/>
                </a:solidFill>
                <a:effectLst/>
                <a:latin typeface="Consolas" panose="020B0609020204030204" pitchFamily="49" charset="0"/>
              </a:rPr>
              <a:t>        self.dense2 = </a:t>
            </a:r>
            <a:r>
              <a:rPr lang="en-US" b="0" dirty="0" err="1">
                <a:solidFill>
                  <a:srgbClr val="0070C0"/>
                </a:solidFill>
                <a:effectLst/>
                <a:latin typeface="Consolas" panose="020B0609020204030204" pitchFamily="49" charset="0"/>
              </a:rPr>
              <a:t>tf.keras.layers.Dense</a:t>
            </a:r>
            <a:r>
              <a:rPr lang="en-US" b="0" dirty="0">
                <a:solidFill>
                  <a:srgbClr val="0070C0"/>
                </a:solidFill>
                <a:effectLst/>
                <a:latin typeface="Consolas" panose="020B0609020204030204" pitchFamily="49" charset="0"/>
              </a:rPr>
              <a:t>(</a:t>
            </a:r>
            <a:r>
              <a:rPr lang="en-US" b="0" dirty="0" err="1">
                <a:solidFill>
                  <a:srgbClr val="0070C0"/>
                </a:solidFill>
                <a:effectLst/>
                <a:latin typeface="Consolas" panose="020B0609020204030204" pitchFamily="49" charset="0"/>
              </a:rPr>
              <a:t>d_model</a:t>
            </a:r>
            <a:r>
              <a:rPr lang="en-US" b="0" dirty="0">
                <a:solidFill>
                  <a:srgbClr val="0070C0"/>
                </a:solidFill>
                <a:effectLst/>
                <a:latin typeface="Consolas" panose="020B0609020204030204" pitchFamily="49" charset="0"/>
              </a:rPr>
              <a:t>)</a:t>
            </a:r>
          </a:p>
          <a:p>
            <a:pPr>
              <a:lnSpc>
                <a:spcPct val="150000"/>
              </a:lnSpc>
              <a:buNone/>
            </a:pPr>
            <a:r>
              <a:rPr lang="en-US" b="0" dirty="0">
                <a:solidFill>
                  <a:srgbClr val="0070C0"/>
                </a:solidFill>
                <a:effectLst/>
                <a:latin typeface="Consolas" panose="020B0609020204030204" pitchFamily="49" charset="0"/>
              </a:rPr>
              <a:t>    def call(self, x):</a:t>
            </a:r>
          </a:p>
          <a:p>
            <a:pPr>
              <a:lnSpc>
                <a:spcPct val="150000"/>
              </a:lnSpc>
              <a:buNone/>
            </a:pPr>
            <a:r>
              <a:rPr lang="en-US" b="0" dirty="0">
                <a:solidFill>
                  <a:srgbClr val="0070C0"/>
                </a:solidFill>
                <a:effectLst/>
                <a:latin typeface="Consolas" panose="020B0609020204030204" pitchFamily="49" charset="0"/>
              </a:rPr>
              <a:t>        </a:t>
            </a: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x = self.dense1(x)</a:t>
            </a:r>
          </a:p>
          <a:p>
            <a:pPr>
              <a:lnSpc>
                <a:spcPct val="150000"/>
              </a:lnSpc>
              <a:buNone/>
            </a:pPr>
            <a:r>
              <a:rPr lang="en-US" b="0" dirty="0">
                <a:solidFill>
                  <a:srgbClr val="FF0000"/>
                </a:solidFill>
                <a:effectLst>
                  <a:outerShdw blurRad="38100" dist="38100" dir="2700000" algn="tl">
                    <a:srgbClr val="000000">
                      <a:alpha val="43137"/>
                    </a:srgbClr>
                  </a:outerShdw>
                </a:effectLst>
                <a:latin typeface="Consolas" panose="020B0609020204030204" pitchFamily="49" charset="0"/>
              </a:rPr>
              <a:t>        x = self.dense2(x)</a:t>
            </a:r>
          </a:p>
          <a:p>
            <a:pPr>
              <a:lnSpc>
                <a:spcPct val="150000"/>
              </a:lnSpc>
              <a:buNone/>
            </a:pPr>
            <a:r>
              <a:rPr lang="en-US" b="0" dirty="0">
                <a:solidFill>
                  <a:srgbClr val="0070C0"/>
                </a:solidFill>
                <a:effectLst/>
                <a:latin typeface="Consolas" panose="020B0609020204030204" pitchFamily="49" charset="0"/>
              </a:rPr>
              <a:t>        return x</a:t>
            </a:r>
          </a:p>
        </p:txBody>
      </p:sp>
    </p:spTree>
    <p:extLst>
      <p:ext uri="{BB962C8B-B14F-4D97-AF65-F5344CB8AC3E}">
        <p14:creationId xmlns:p14="http://schemas.microsoft.com/office/powerpoint/2010/main" val="5617404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D07A8-FD86-E003-8415-AF762C218C9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8DE0A0-7FB6-7706-8B78-39100A7D5E18}"/>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POINT WISE FEED FORWARD NETWORK</a:t>
            </a:r>
          </a:p>
        </p:txBody>
      </p:sp>
      <p:sp>
        <p:nvSpPr>
          <p:cNvPr id="5" name="TextBox 4">
            <a:extLst>
              <a:ext uri="{FF2B5EF4-FFF2-40B4-BE49-F238E27FC236}">
                <a16:creationId xmlns:a16="http://schemas.microsoft.com/office/drawing/2014/main" id="{A287434E-6268-6EDC-7C1C-AA9B25B36B23}"/>
              </a:ext>
            </a:extLst>
          </p:cNvPr>
          <p:cNvSpPr txBox="1"/>
          <p:nvPr/>
        </p:nvSpPr>
        <p:spPr>
          <a:xfrm>
            <a:off x="-8106" y="952936"/>
            <a:ext cx="12208212" cy="4954305"/>
          </a:xfrm>
          <a:prstGeom prst="rect">
            <a:avLst/>
          </a:prstGeom>
          <a:noFill/>
        </p:spPr>
        <p:txBody>
          <a:bodyPr wrap="square">
            <a:spAutoFit/>
          </a:bodyPr>
          <a:lstStyle/>
          <a:p>
            <a:pPr>
              <a:lnSpc>
                <a:spcPts val="1425"/>
              </a:lnSpc>
              <a:buNone/>
            </a:pPr>
            <a:r>
              <a:rPr lang="en-US" b="0" dirty="0">
                <a:solidFill>
                  <a:srgbClr val="0070C0"/>
                </a:solidFill>
                <a:effectLst/>
                <a:latin typeface="Consolas" panose="020B0609020204030204" pitchFamily="49" charset="0"/>
              </a:rPr>
              <a:t>import </a:t>
            </a:r>
            <a:r>
              <a:rPr lang="en-US" b="0" dirty="0" err="1">
                <a:solidFill>
                  <a:srgbClr val="0070C0"/>
                </a:solidFill>
                <a:effectLst/>
                <a:latin typeface="Consolas" panose="020B0609020204030204" pitchFamily="49" charset="0"/>
              </a:rPr>
              <a:t>tensorflow</a:t>
            </a:r>
            <a:r>
              <a:rPr lang="en-US" b="0" dirty="0">
                <a:solidFill>
                  <a:srgbClr val="0070C0"/>
                </a:solidFill>
                <a:effectLst/>
                <a:latin typeface="Consolas" panose="020B0609020204030204" pitchFamily="49" charset="0"/>
              </a:rPr>
              <a:t> as </a:t>
            </a:r>
            <a:r>
              <a:rPr lang="en-US" b="0" dirty="0" err="1">
                <a:solidFill>
                  <a:srgbClr val="0070C0"/>
                </a:solidFill>
                <a:effectLst/>
                <a:latin typeface="Consolas" panose="020B0609020204030204" pitchFamily="49" charset="0"/>
              </a:rPr>
              <a:t>tf</a:t>
            </a:r>
            <a:endParaRPr lang="en-US" b="0" dirty="0">
              <a:solidFill>
                <a:srgbClr val="0070C0"/>
              </a:solidFill>
              <a:effectLst/>
              <a:latin typeface="Consolas" panose="020B0609020204030204" pitchFamily="49" charset="0"/>
            </a:endParaRPr>
          </a:p>
          <a:p>
            <a:pPr>
              <a:lnSpc>
                <a:spcPts val="1425"/>
              </a:lnSpc>
              <a:buNone/>
            </a:pPr>
            <a:r>
              <a:rPr lang="en-US" b="0" dirty="0">
                <a:solidFill>
                  <a:srgbClr val="0070C0"/>
                </a:solidFill>
                <a:effectLst/>
                <a:latin typeface="Consolas" panose="020B0609020204030204" pitchFamily="49" charset="0"/>
              </a:rPr>
              <a:t>from </a:t>
            </a:r>
            <a:r>
              <a:rPr lang="en-US" b="0" dirty="0" err="1">
                <a:solidFill>
                  <a:srgbClr val="0070C0"/>
                </a:solidFill>
                <a:effectLst/>
                <a:latin typeface="Consolas" panose="020B0609020204030204" pitchFamily="49" charset="0"/>
              </a:rPr>
              <a:t>MultiHeadAttention</a:t>
            </a:r>
            <a:r>
              <a:rPr lang="en-US" b="0" dirty="0">
                <a:solidFill>
                  <a:srgbClr val="0070C0"/>
                </a:solidFill>
                <a:effectLst/>
                <a:latin typeface="Consolas" panose="020B0609020204030204" pitchFamily="49" charset="0"/>
              </a:rPr>
              <a:t> import </a:t>
            </a:r>
            <a:r>
              <a:rPr lang="en-US" b="0" dirty="0" err="1">
                <a:solidFill>
                  <a:srgbClr val="0070C0"/>
                </a:solidFill>
                <a:effectLst/>
                <a:latin typeface="Consolas" panose="020B0609020204030204" pitchFamily="49" charset="0"/>
              </a:rPr>
              <a:t>MultiHeadAttention</a:t>
            </a:r>
            <a:endParaRPr lang="en-US" b="0" dirty="0">
              <a:solidFill>
                <a:srgbClr val="0070C0"/>
              </a:solidFill>
              <a:effectLst/>
              <a:latin typeface="Consolas" panose="020B0609020204030204" pitchFamily="49" charset="0"/>
            </a:endParaRPr>
          </a:p>
          <a:p>
            <a:pPr>
              <a:lnSpc>
                <a:spcPts val="1425"/>
              </a:lnSpc>
              <a:buNone/>
            </a:pPr>
            <a:r>
              <a:rPr lang="en-US" b="0" dirty="0">
                <a:solidFill>
                  <a:srgbClr val="0070C0"/>
                </a:solidFill>
                <a:effectLst/>
                <a:latin typeface="Consolas" panose="020B0609020204030204" pitchFamily="49" charset="0"/>
              </a:rPr>
              <a:t>from </a:t>
            </a:r>
            <a:r>
              <a:rPr lang="en-US" b="0" dirty="0" err="1">
                <a:solidFill>
                  <a:srgbClr val="0070C0"/>
                </a:solidFill>
                <a:effectLst/>
                <a:latin typeface="Consolas" panose="020B0609020204030204" pitchFamily="49" charset="0"/>
              </a:rPr>
              <a:t>point_wise_feed_forward_network</a:t>
            </a:r>
            <a:r>
              <a:rPr lang="en-US" b="0" dirty="0">
                <a:solidFill>
                  <a:srgbClr val="0070C0"/>
                </a:solidFill>
                <a:effectLst/>
                <a:latin typeface="Consolas" panose="020B0609020204030204" pitchFamily="49" charset="0"/>
              </a:rPr>
              <a:t> import </a:t>
            </a:r>
            <a:r>
              <a:rPr lang="en-US" b="0" dirty="0" err="1">
                <a:solidFill>
                  <a:srgbClr val="0070C0"/>
                </a:solidFill>
                <a:effectLst/>
                <a:latin typeface="Consolas" panose="020B0609020204030204" pitchFamily="49" charset="0"/>
              </a:rPr>
              <a:t>point_wise_feed_forward_network</a:t>
            </a:r>
            <a:endParaRPr lang="en-US" b="0" dirty="0">
              <a:solidFill>
                <a:srgbClr val="0070C0"/>
              </a:solidFill>
              <a:effectLst/>
              <a:latin typeface="Consolas" panose="020B0609020204030204" pitchFamily="49" charset="0"/>
            </a:endParaRPr>
          </a:p>
          <a:p>
            <a:pPr>
              <a:lnSpc>
                <a:spcPts val="1425"/>
              </a:lnSpc>
              <a:buNone/>
            </a:pPr>
            <a:br>
              <a:rPr lang="en-US" b="0" dirty="0">
                <a:solidFill>
                  <a:srgbClr val="0070C0"/>
                </a:solidFill>
                <a:effectLst/>
                <a:latin typeface="Consolas" panose="020B0609020204030204" pitchFamily="49" charset="0"/>
              </a:rPr>
            </a:br>
            <a:endParaRPr lang="en-US" b="0" dirty="0">
              <a:solidFill>
                <a:srgbClr val="0070C0"/>
              </a:solidFill>
              <a:effectLst/>
              <a:latin typeface="Consolas" panose="020B0609020204030204" pitchFamily="49" charset="0"/>
            </a:endParaRPr>
          </a:p>
          <a:p>
            <a:pPr>
              <a:lnSpc>
                <a:spcPts val="1425"/>
              </a:lnSpc>
              <a:buNone/>
            </a:pPr>
            <a:r>
              <a:rPr lang="en-US" b="0" dirty="0">
                <a:solidFill>
                  <a:srgbClr val="0070C0"/>
                </a:solidFill>
                <a:effectLst/>
                <a:latin typeface="Consolas" panose="020B0609020204030204" pitchFamily="49" charset="0"/>
              </a:rPr>
              <a:t>class </a:t>
            </a:r>
            <a:r>
              <a:rPr lang="en-US" b="0" dirty="0" err="1">
                <a:solidFill>
                  <a:srgbClr val="0070C0"/>
                </a:solidFill>
                <a:effectLst/>
                <a:latin typeface="Consolas" panose="020B0609020204030204" pitchFamily="49" charset="0"/>
              </a:rPr>
              <a:t>EncoderLayer</a:t>
            </a:r>
            <a:r>
              <a:rPr lang="en-US" b="0" dirty="0">
                <a:solidFill>
                  <a:srgbClr val="0070C0"/>
                </a:solidFill>
                <a:effectLst/>
                <a:latin typeface="Consolas" panose="020B0609020204030204" pitchFamily="49" charset="0"/>
              </a:rPr>
              <a:t>(</a:t>
            </a:r>
            <a:r>
              <a:rPr lang="en-US" b="0" dirty="0" err="1">
                <a:solidFill>
                  <a:srgbClr val="0070C0"/>
                </a:solidFill>
                <a:effectLst/>
                <a:latin typeface="Consolas" panose="020B0609020204030204" pitchFamily="49" charset="0"/>
              </a:rPr>
              <a:t>tf.keras.layers.Layer</a:t>
            </a:r>
            <a:r>
              <a:rPr lang="en-US" b="0" dirty="0">
                <a:solidFill>
                  <a:srgbClr val="0070C0"/>
                </a:solidFill>
                <a:effectLst/>
                <a:latin typeface="Consolas" panose="020B0609020204030204" pitchFamily="49" charset="0"/>
              </a:rPr>
              <a:t>):</a:t>
            </a:r>
          </a:p>
          <a:p>
            <a:pPr>
              <a:lnSpc>
                <a:spcPts val="1425"/>
              </a:lnSpc>
              <a:buNone/>
            </a:pPr>
            <a:r>
              <a:rPr lang="en-US" b="0" dirty="0">
                <a:solidFill>
                  <a:srgbClr val="0070C0"/>
                </a:solidFill>
                <a:effectLst/>
                <a:latin typeface="Consolas" panose="020B0609020204030204" pitchFamily="49" charset="0"/>
              </a:rPr>
              <a:t>    def __</a:t>
            </a:r>
            <a:r>
              <a:rPr lang="en-US" b="0" dirty="0" err="1">
                <a:solidFill>
                  <a:srgbClr val="0070C0"/>
                </a:solidFill>
                <a:effectLst/>
                <a:latin typeface="Consolas" panose="020B0609020204030204" pitchFamily="49" charset="0"/>
              </a:rPr>
              <a:t>init</a:t>
            </a:r>
            <a:r>
              <a:rPr lang="en-US" b="0" dirty="0">
                <a:solidFill>
                  <a:srgbClr val="0070C0"/>
                </a:solidFill>
                <a:effectLst/>
                <a:latin typeface="Consolas" panose="020B0609020204030204" pitchFamily="49" charset="0"/>
              </a:rPr>
              <a:t>__(self, </a:t>
            </a:r>
            <a:r>
              <a:rPr lang="en-US" b="0" dirty="0" err="1">
                <a:solidFill>
                  <a:srgbClr val="0070C0"/>
                </a:solidFill>
                <a:effectLst/>
                <a:latin typeface="Consolas" panose="020B0609020204030204" pitchFamily="49" charset="0"/>
              </a:rPr>
              <a:t>d_model</a:t>
            </a: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num_heads</a:t>
            </a: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dff</a:t>
            </a:r>
            <a:r>
              <a:rPr lang="en-US" b="0" dirty="0">
                <a:solidFill>
                  <a:srgbClr val="0070C0"/>
                </a:solidFill>
                <a:effectLst/>
                <a:latin typeface="Consolas" panose="020B0609020204030204" pitchFamily="49" charset="0"/>
              </a:rPr>
              <a:t>, rate=0.1):</a:t>
            </a:r>
          </a:p>
          <a:p>
            <a:pPr>
              <a:lnSpc>
                <a:spcPts val="1425"/>
              </a:lnSpc>
              <a:buNone/>
            </a:pPr>
            <a:r>
              <a:rPr lang="en-US" b="0" dirty="0">
                <a:solidFill>
                  <a:srgbClr val="0070C0"/>
                </a:solidFill>
                <a:effectLst/>
                <a:latin typeface="Consolas" panose="020B0609020204030204" pitchFamily="49" charset="0"/>
              </a:rPr>
              <a:t>        super(</a:t>
            </a:r>
            <a:r>
              <a:rPr lang="en-US" b="0" dirty="0" err="1">
                <a:solidFill>
                  <a:srgbClr val="0070C0"/>
                </a:solidFill>
                <a:effectLst/>
                <a:latin typeface="Consolas" panose="020B0609020204030204" pitchFamily="49" charset="0"/>
              </a:rPr>
              <a:t>EncoderLayer</a:t>
            </a:r>
            <a:r>
              <a:rPr lang="en-US" b="0" dirty="0">
                <a:solidFill>
                  <a:srgbClr val="0070C0"/>
                </a:solidFill>
                <a:effectLst/>
                <a:latin typeface="Consolas" panose="020B0609020204030204" pitchFamily="49" charset="0"/>
              </a:rPr>
              <a:t>, self).__</a:t>
            </a:r>
            <a:r>
              <a:rPr lang="en-US" b="0" dirty="0" err="1">
                <a:solidFill>
                  <a:srgbClr val="0070C0"/>
                </a:solidFill>
                <a:effectLst/>
                <a:latin typeface="Consolas" panose="020B0609020204030204" pitchFamily="49" charset="0"/>
              </a:rPr>
              <a:t>init</a:t>
            </a:r>
            <a:r>
              <a:rPr lang="en-US" b="0" dirty="0">
                <a:solidFill>
                  <a:srgbClr val="0070C0"/>
                </a:solidFill>
                <a:effectLst/>
                <a:latin typeface="Consolas" panose="020B0609020204030204" pitchFamily="49" charset="0"/>
              </a:rPr>
              <a:t>__()</a:t>
            </a:r>
          </a:p>
          <a:p>
            <a:pPr>
              <a:lnSpc>
                <a:spcPts val="1425"/>
              </a:lnSpc>
              <a:buNone/>
            </a:pPr>
            <a:r>
              <a:rPr lang="en-US" b="0" dirty="0">
                <a:solidFill>
                  <a:srgbClr val="0070C0"/>
                </a:solidFill>
                <a:effectLst/>
                <a:latin typeface="Consolas" panose="020B0609020204030204" pitchFamily="49" charset="0"/>
              </a:rPr>
              <a:t>        </a:t>
            </a:r>
          </a:p>
          <a:p>
            <a:pPr>
              <a:lnSpc>
                <a:spcPts val="1425"/>
              </a:lnSpc>
              <a:buNone/>
            </a:pP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self.mha</a:t>
            </a:r>
            <a:r>
              <a:rPr lang="en-US" b="0" dirty="0">
                <a:solidFill>
                  <a:srgbClr val="0070C0"/>
                </a:solidFill>
                <a:effectLst/>
                <a:latin typeface="Consolas" panose="020B0609020204030204" pitchFamily="49" charset="0"/>
              </a:rPr>
              <a:t> = </a:t>
            </a:r>
            <a:r>
              <a:rPr lang="en-US" b="0" dirty="0" err="1">
                <a:solidFill>
                  <a:srgbClr val="0070C0"/>
                </a:solidFill>
                <a:effectLst/>
                <a:latin typeface="Consolas" panose="020B0609020204030204" pitchFamily="49" charset="0"/>
              </a:rPr>
              <a:t>MultiHeadAttention</a:t>
            </a:r>
            <a:r>
              <a:rPr lang="en-US" b="0" dirty="0">
                <a:solidFill>
                  <a:srgbClr val="0070C0"/>
                </a:solidFill>
                <a:effectLst/>
                <a:latin typeface="Consolas" panose="020B0609020204030204" pitchFamily="49" charset="0"/>
              </a:rPr>
              <a:t>(</a:t>
            </a:r>
            <a:r>
              <a:rPr lang="en-US" b="0" dirty="0" err="1">
                <a:solidFill>
                  <a:srgbClr val="0070C0"/>
                </a:solidFill>
                <a:effectLst/>
                <a:latin typeface="Consolas" panose="020B0609020204030204" pitchFamily="49" charset="0"/>
              </a:rPr>
              <a:t>d_model</a:t>
            </a: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num_heads</a:t>
            </a:r>
            <a:r>
              <a:rPr lang="en-US" b="0" dirty="0">
                <a:solidFill>
                  <a:srgbClr val="0070C0"/>
                </a:solidFill>
                <a:effectLst/>
                <a:latin typeface="Consolas" panose="020B0609020204030204" pitchFamily="49" charset="0"/>
              </a:rPr>
              <a:t>)</a:t>
            </a:r>
          </a:p>
          <a:p>
            <a:pPr>
              <a:lnSpc>
                <a:spcPts val="1425"/>
              </a:lnSpc>
              <a:buNone/>
            </a:pP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self.ffn</a:t>
            </a:r>
            <a:r>
              <a:rPr lang="en-US" b="0" dirty="0">
                <a:solidFill>
                  <a:srgbClr val="0070C0"/>
                </a:solidFill>
                <a:effectLst/>
                <a:latin typeface="Consolas" panose="020B0609020204030204" pitchFamily="49" charset="0"/>
              </a:rPr>
              <a:t> = </a:t>
            </a:r>
            <a:r>
              <a:rPr lang="en-US" b="0" dirty="0" err="1">
                <a:solidFill>
                  <a:srgbClr val="0070C0"/>
                </a:solidFill>
                <a:effectLst/>
                <a:latin typeface="Consolas" panose="020B0609020204030204" pitchFamily="49" charset="0"/>
              </a:rPr>
              <a:t>point_wise_feed_forward_network</a:t>
            </a:r>
            <a:r>
              <a:rPr lang="en-US" b="0" dirty="0">
                <a:solidFill>
                  <a:srgbClr val="0070C0"/>
                </a:solidFill>
                <a:effectLst/>
                <a:latin typeface="Consolas" panose="020B0609020204030204" pitchFamily="49" charset="0"/>
              </a:rPr>
              <a:t>(</a:t>
            </a:r>
            <a:r>
              <a:rPr lang="en-US" b="0" dirty="0" err="1">
                <a:solidFill>
                  <a:srgbClr val="0070C0"/>
                </a:solidFill>
                <a:effectLst/>
                <a:latin typeface="Consolas" panose="020B0609020204030204" pitchFamily="49" charset="0"/>
              </a:rPr>
              <a:t>d_model</a:t>
            </a: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dff</a:t>
            </a:r>
            <a:r>
              <a:rPr lang="en-US" b="0" dirty="0">
                <a:solidFill>
                  <a:srgbClr val="0070C0"/>
                </a:solidFill>
                <a:effectLst/>
                <a:latin typeface="Consolas" panose="020B0609020204030204" pitchFamily="49" charset="0"/>
              </a:rPr>
              <a:t>)</a:t>
            </a:r>
          </a:p>
          <a:p>
            <a:pPr>
              <a:lnSpc>
                <a:spcPts val="1425"/>
              </a:lnSpc>
              <a:buNone/>
            </a:pPr>
            <a:r>
              <a:rPr lang="en-US" b="0" dirty="0">
                <a:solidFill>
                  <a:srgbClr val="0070C0"/>
                </a:solidFill>
                <a:effectLst/>
                <a:latin typeface="Consolas" panose="020B0609020204030204" pitchFamily="49" charset="0"/>
              </a:rPr>
              <a:t>        self.layernorm1 = </a:t>
            </a:r>
            <a:r>
              <a:rPr lang="en-US" b="0" dirty="0" err="1">
                <a:solidFill>
                  <a:srgbClr val="0070C0"/>
                </a:solidFill>
                <a:effectLst/>
                <a:latin typeface="Consolas" panose="020B0609020204030204" pitchFamily="49" charset="0"/>
              </a:rPr>
              <a:t>tf.keras.layers.LayerNormalization</a:t>
            </a:r>
            <a:r>
              <a:rPr lang="en-US" b="0" dirty="0">
                <a:solidFill>
                  <a:srgbClr val="0070C0"/>
                </a:solidFill>
                <a:effectLst/>
                <a:latin typeface="Consolas" panose="020B0609020204030204" pitchFamily="49" charset="0"/>
              </a:rPr>
              <a:t>(epsilon=1e-6)</a:t>
            </a:r>
          </a:p>
          <a:p>
            <a:pPr>
              <a:lnSpc>
                <a:spcPts val="1425"/>
              </a:lnSpc>
              <a:buNone/>
            </a:pPr>
            <a:r>
              <a:rPr lang="en-US" b="0" dirty="0">
                <a:solidFill>
                  <a:srgbClr val="0070C0"/>
                </a:solidFill>
                <a:effectLst/>
                <a:latin typeface="Consolas" panose="020B0609020204030204" pitchFamily="49" charset="0"/>
              </a:rPr>
              <a:t>        self.layernorm2 = </a:t>
            </a:r>
            <a:r>
              <a:rPr lang="en-US" b="0" dirty="0" err="1">
                <a:solidFill>
                  <a:srgbClr val="0070C0"/>
                </a:solidFill>
                <a:effectLst/>
                <a:latin typeface="Consolas" panose="020B0609020204030204" pitchFamily="49" charset="0"/>
              </a:rPr>
              <a:t>tf.keras.layers.LayerNormalization</a:t>
            </a:r>
            <a:r>
              <a:rPr lang="en-US" b="0" dirty="0">
                <a:solidFill>
                  <a:srgbClr val="0070C0"/>
                </a:solidFill>
                <a:effectLst/>
                <a:latin typeface="Consolas" panose="020B0609020204030204" pitchFamily="49" charset="0"/>
              </a:rPr>
              <a:t>(epsilon=1e-6)</a:t>
            </a:r>
          </a:p>
          <a:p>
            <a:pPr>
              <a:lnSpc>
                <a:spcPts val="1425"/>
              </a:lnSpc>
              <a:buNone/>
            </a:pPr>
            <a:r>
              <a:rPr lang="en-US" b="0" dirty="0">
                <a:solidFill>
                  <a:srgbClr val="0070C0"/>
                </a:solidFill>
                <a:effectLst/>
                <a:latin typeface="Consolas" panose="020B0609020204030204" pitchFamily="49" charset="0"/>
              </a:rPr>
              <a:t>        self.dropout1 = </a:t>
            </a:r>
            <a:r>
              <a:rPr lang="en-US" b="0" dirty="0" err="1">
                <a:solidFill>
                  <a:srgbClr val="0070C0"/>
                </a:solidFill>
                <a:effectLst/>
                <a:latin typeface="Consolas" panose="020B0609020204030204" pitchFamily="49" charset="0"/>
              </a:rPr>
              <a:t>tf.keras.layers.Dropout</a:t>
            </a:r>
            <a:r>
              <a:rPr lang="en-US" b="0" dirty="0">
                <a:solidFill>
                  <a:srgbClr val="0070C0"/>
                </a:solidFill>
                <a:effectLst/>
                <a:latin typeface="Consolas" panose="020B0609020204030204" pitchFamily="49" charset="0"/>
              </a:rPr>
              <a:t>(rate)</a:t>
            </a:r>
          </a:p>
          <a:p>
            <a:pPr>
              <a:lnSpc>
                <a:spcPts val="1425"/>
              </a:lnSpc>
              <a:buNone/>
            </a:pPr>
            <a:r>
              <a:rPr lang="en-US" b="0" dirty="0">
                <a:solidFill>
                  <a:srgbClr val="0070C0"/>
                </a:solidFill>
                <a:effectLst/>
                <a:latin typeface="Consolas" panose="020B0609020204030204" pitchFamily="49" charset="0"/>
              </a:rPr>
              <a:t>        self.dropout2 = </a:t>
            </a:r>
            <a:r>
              <a:rPr lang="en-US" b="0" dirty="0" err="1">
                <a:solidFill>
                  <a:srgbClr val="0070C0"/>
                </a:solidFill>
                <a:effectLst/>
                <a:latin typeface="Consolas" panose="020B0609020204030204" pitchFamily="49" charset="0"/>
              </a:rPr>
              <a:t>tf.keras.layers.Dropout</a:t>
            </a:r>
            <a:r>
              <a:rPr lang="en-US" b="0" dirty="0">
                <a:solidFill>
                  <a:srgbClr val="0070C0"/>
                </a:solidFill>
                <a:effectLst/>
                <a:latin typeface="Consolas" panose="020B0609020204030204" pitchFamily="49" charset="0"/>
              </a:rPr>
              <a:t>(rate)</a:t>
            </a:r>
          </a:p>
          <a:p>
            <a:pPr>
              <a:lnSpc>
                <a:spcPts val="1425"/>
              </a:lnSpc>
              <a:buNone/>
            </a:pPr>
            <a:r>
              <a:rPr lang="en-US" b="0" dirty="0">
                <a:solidFill>
                  <a:srgbClr val="0070C0"/>
                </a:solidFill>
                <a:effectLst/>
                <a:latin typeface="Consolas" panose="020B0609020204030204" pitchFamily="49" charset="0"/>
              </a:rPr>
              <a:t>        </a:t>
            </a:r>
          </a:p>
          <a:p>
            <a:pPr>
              <a:lnSpc>
                <a:spcPts val="1425"/>
              </a:lnSpc>
              <a:buNone/>
            </a:pPr>
            <a:r>
              <a:rPr lang="en-US" b="0" dirty="0">
                <a:solidFill>
                  <a:srgbClr val="0070C0"/>
                </a:solidFill>
                <a:effectLst/>
                <a:latin typeface="Consolas" panose="020B0609020204030204" pitchFamily="49" charset="0"/>
              </a:rPr>
              <a:t>    def call(self, x, training, mask=None):</a:t>
            </a:r>
          </a:p>
          <a:p>
            <a:pPr>
              <a:lnSpc>
                <a:spcPts val="1425"/>
              </a:lnSpc>
              <a:buNone/>
            </a:pPr>
            <a:r>
              <a:rPr lang="en-US" b="0" dirty="0">
                <a:solidFill>
                  <a:srgbClr val="0070C0"/>
                </a:solidFill>
                <a:effectLst/>
                <a:latin typeface="Consolas" panose="020B0609020204030204" pitchFamily="49" charset="0"/>
              </a:rPr>
              <a:t>        # Self-attention</a:t>
            </a:r>
          </a:p>
          <a:p>
            <a:pPr>
              <a:lnSpc>
                <a:spcPts val="1425"/>
              </a:lnSpc>
              <a:buNone/>
            </a:pPr>
            <a:r>
              <a:rPr lang="en-US" b="0" dirty="0">
                <a:solidFill>
                  <a:srgbClr val="0070C0"/>
                </a:solidFill>
                <a:effectLst/>
                <a:latin typeface="Consolas" panose="020B0609020204030204" pitchFamily="49" charset="0"/>
              </a:rPr>
              <a:t>        </a:t>
            </a:r>
            <a:r>
              <a:rPr lang="en-US" b="0" dirty="0" err="1">
                <a:solidFill>
                  <a:srgbClr val="FF0000"/>
                </a:solidFill>
                <a:effectLst/>
                <a:latin typeface="Consolas" panose="020B0609020204030204" pitchFamily="49" charset="0"/>
              </a:rPr>
              <a:t>attn_output</a:t>
            </a:r>
            <a:r>
              <a:rPr lang="en-US" b="0" dirty="0">
                <a:solidFill>
                  <a:srgbClr val="FF0000"/>
                </a:solidFill>
                <a:effectLst/>
                <a:latin typeface="Consolas" panose="020B0609020204030204" pitchFamily="49" charset="0"/>
              </a:rPr>
              <a:t>, _ = </a:t>
            </a:r>
            <a:r>
              <a:rPr lang="en-US" b="0" dirty="0" err="1">
                <a:solidFill>
                  <a:srgbClr val="FF0000"/>
                </a:solidFill>
                <a:effectLst/>
                <a:latin typeface="Consolas" panose="020B0609020204030204" pitchFamily="49" charset="0"/>
              </a:rPr>
              <a:t>self.mha</a:t>
            </a:r>
            <a:r>
              <a:rPr lang="en-US" b="0" dirty="0">
                <a:solidFill>
                  <a:srgbClr val="FF0000"/>
                </a:solidFill>
                <a:effectLst/>
                <a:latin typeface="Consolas" panose="020B0609020204030204" pitchFamily="49" charset="0"/>
              </a:rPr>
              <a:t>(x, x, x, mask = mask)  </a:t>
            </a: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batch_size</a:t>
            </a: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input_seq_len</a:t>
            </a: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d_model</a:t>
            </a:r>
            <a:r>
              <a:rPr lang="en-US" b="0" dirty="0">
                <a:solidFill>
                  <a:srgbClr val="0070C0"/>
                </a:solidFill>
                <a:effectLst/>
                <a:latin typeface="Consolas" panose="020B0609020204030204" pitchFamily="49" charset="0"/>
              </a:rPr>
              <a:t>)</a:t>
            </a:r>
          </a:p>
          <a:p>
            <a:pPr>
              <a:lnSpc>
                <a:spcPts val="1425"/>
              </a:lnSpc>
              <a:buNone/>
            </a:pPr>
            <a:r>
              <a:rPr lang="en-US" b="0" dirty="0">
                <a:solidFill>
                  <a:srgbClr val="FF0000"/>
                </a:solidFill>
                <a:effectLst/>
                <a:latin typeface="Consolas" panose="020B0609020204030204" pitchFamily="49" charset="0"/>
              </a:rPr>
              <a:t>        </a:t>
            </a:r>
            <a:r>
              <a:rPr lang="en-US" b="0" dirty="0" err="1">
                <a:solidFill>
                  <a:srgbClr val="FF0000"/>
                </a:solidFill>
                <a:effectLst/>
                <a:latin typeface="Consolas" panose="020B0609020204030204" pitchFamily="49" charset="0"/>
              </a:rPr>
              <a:t>attn_output</a:t>
            </a:r>
            <a:r>
              <a:rPr lang="en-US" b="0" dirty="0">
                <a:solidFill>
                  <a:srgbClr val="FF0000"/>
                </a:solidFill>
                <a:effectLst/>
                <a:latin typeface="Consolas" panose="020B0609020204030204" pitchFamily="49" charset="0"/>
              </a:rPr>
              <a:t> = self.dropout1(</a:t>
            </a:r>
            <a:r>
              <a:rPr lang="en-US" b="0" dirty="0" err="1">
                <a:solidFill>
                  <a:srgbClr val="FF0000"/>
                </a:solidFill>
                <a:effectLst/>
                <a:latin typeface="Consolas" panose="020B0609020204030204" pitchFamily="49" charset="0"/>
              </a:rPr>
              <a:t>attn_output</a:t>
            </a:r>
            <a:r>
              <a:rPr lang="en-US" b="0" dirty="0">
                <a:solidFill>
                  <a:srgbClr val="FF0000"/>
                </a:solidFill>
                <a:effectLst/>
                <a:latin typeface="Consolas" panose="020B0609020204030204" pitchFamily="49" charset="0"/>
              </a:rPr>
              <a:t>, training=training)</a:t>
            </a:r>
          </a:p>
          <a:p>
            <a:pPr>
              <a:lnSpc>
                <a:spcPts val="1425"/>
              </a:lnSpc>
              <a:buNone/>
            </a:pPr>
            <a:r>
              <a:rPr lang="en-US" b="0" dirty="0">
                <a:solidFill>
                  <a:srgbClr val="0070C0"/>
                </a:solidFill>
                <a:effectLst/>
                <a:latin typeface="Consolas" panose="020B0609020204030204" pitchFamily="49" charset="0"/>
              </a:rPr>
              <a:t>        </a:t>
            </a:r>
            <a:r>
              <a:rPr lang="en-US" b="0" dirty="0">
                <a:solidFill>
                  <a:srgbClr val="FF0000"/>
                </a:solidFill>
                <a:effectLst/>
                <a:latin typeface="Consolas" panose="020B0609020204030204" pitchFamily="49" charset="0"/>
              </a:rPr>
              <a:t>out1 = self.layernorm1(x + </a:t>
            </a:r>
            <a:r>
              <a:rPr lang="en-US" b="0" dirty="0" err="1">
                <a:solidFill>
                  <a:srgbClr val="FF0000"/>
                </a:solidFill>
                <a:effectLst/>
                <a:latin typeface="Consolas" panose="020B0609020204030204" pitchFamily="49" charset="0"/>
              </a:rPr>
              <a:t>attn_output</a:t>
            </a:r>
            <a:r>
              <a:rPr lang="en-US" b="0" dirty="0">
                <a:solidFill>
                  <a:srgbClr val="FF0000"/>
                </a:solidFill>
                <a:effectLst/>
                <a:latin typeface="Consolas" panose="020B0609020204030204" pitchFamily="49" charset="0"/>
              </a:rPr>
              <a:t>)  </a:t>
            </a:r>
            <a:endParaRPr lang="en-US" b="0" dirty="0">
              <a:solidFill>
                <a:srgbClr val="0070C0"/>
              </a:solidFill>
              <a:effectLst/>
              <a:latin typeface="Consolas" panose="020B0609020204030204" pitchFamily="49" charset="0"/>
            </a:endParaRPr>
          </a:p>
          <a:p>
            <a:pPr>
              <a:lnSpc>
                <a:spcPts val="1425"/>
              </a:lnSpc>
              <a:buNone/>
            </a:pPr>
            <a:r>
              <a:rPr lang="en-US" b="0" dirty="0">
                <a:solidFill>
                  <a:srgbClr val="0070C0"/>
                </a:solidFill>
                <a:effectLst/>
                <a:latin typeface="Consolas" panose="020B0609020204030204" pitchFamily="49" charset="0"/>
              </a:rPr>
              <a:t>        # Feed forward</a:t>
            </a:r>
          </a:p>
          <a:p>
            <a:pPr>
              <a:lnSpc>
                <a:spcPts val="1425"/>
              </a:lnSpc>
              <a:buNone/>
            </a:pPr>
            <a:r>
              <a:rPr lang="en-US" b="0" dirty="0">
                <a:solidFill>
                  <a:srgbClr val="0070C0"/>
                </a:solidFill>
                <a:effectLst/>
                <a:latin typeface="Consolas" panose="020B0609020204030204" pitchFamily="49" charset="0"/>
              </a:rPr>
              <a:t>        </a:t>
            </a:r>
            <a:r>
              <a:rPr lang="en-US" b="0" dirty="0" err="1">
                <a:solidFill>
                  <a:srgbClr val="FF0000"/>
                </a:solidFill>
                <a:effectLst/>
                <a:latin typeface="Consolas" panose="020B0609020204030204" pitchFamily="49" charset="0"/>
              </a:rPr>
              <a:t>ffn_output</a:t>
            </a:r>
            <a:r>
              <a:rPr lang="en-US" b="0" dirty="0">
                <a:solidFill>
                  <a:srgbClr val="FF0000"/>
                </a:solidFill>
                <a:effectLst/>
                <a:latin typeface="Consolas" panose="020B0609020204030204" pitchFamily="49" charset="0"/>
              </a:rPr>
              <a:t> = </a:t>
            </a:r>
            <a:r>
              <a:rPr lang="en-US" b="0" dirty="0" err="1">
                <a:solidFill>
                  <a:srgbClr val="FF0000"/>
                </a:solidFill>
                <a:effectLst/>
                <a:latin typeface="Consolas" panose="020B0609020204030204" pitchFamily="49" charset="0"/>
              </a:rPr>
              <a:t>self.ffn</a:t>
            </a:r>
            <a:r>
              <a:rPr lang="en-US" b="0" dirty="0">
                <a:solidFill>
                  <a:srgbClr val="FF0000"/>
                </a:solidFill>
                <a:effectLst/>
                <a:latin typeface="Consolas" panose="020B0609020204030204" pitchFamily="49" charset="0"/>
              </a:rPr>
              <a:t>(out1)</a:t>
            </a:r>
          </a:p>
          <a:p>
            <a:pPr>
              <a:lnSpc>
                <a:spcPts val="1425"/>
              </a:lnSpc>
              <a:buNone/>
            </a:pPr>
            <a:r>
              <a:rPr lang="en-US" b="0" dirty="0">
                <a:solidFill>
                  <a:srgbClr val="FF0000"/>
                </a:solidFill>
                <a:effectLst/>
                <a:latin typeface="Consolas" panose="020B0609020204030204" pitchFamily="49" charset="0"/>
              </a:rPr>
              <a:t>        </a:t>
            </a:r>
            <a:r>
              <a:rPr lang="en-US" b="0" dirty="0" err="1">
                <a:solidFill>
                  <a:srgbClr val="FF0000"/>
                </a:solidFill>
                <a:effectLst/>
                <a:latin typeface="Consolas" panose="020B0609020204030204" pitchFamily="49" charset="0"/>
              </a:rPr>
              <a:t>ffn_output</a:t>
            </a:r>
            <a:r>
              <a:rPr lang="en-US" b="0" dirty="0">
                <a:solidFill>
                  <a:srgbClr val="FF0000"/>
                </a:solidFill>
                <a:effectLst/>
                <a:latin typeface="Consolas" panose="020B0609020204030204" pitchFamily="49" charset="0"/>
              </a:rPr>
              <a:t> = self.dropout2(</a:t>
            </a:r>
            <a:r>
              <a:rPr lang="en-US" b="0" dirty="0" err="1">
                <a:solidFill>
                  <a:srgbClr val="FF0000"/>
                </a:solidFill>
                <a:effectLst/>
                <a:latin typeface="Consolas" panose="020B0609020204030204" pitchFamily="49" charset="0"/>
              </a:rPr>
              <a:t>ffn_output</a:t>
            </a:r>
            <a:r>
              <a:rPr lang="en-US" b="0" dirty="0">
                <a:solidFill>
                  <a:srgbClr val="FF0000"/>
                </a:solidFill>
                <a:effectLst/>
                <a:latin typeface="Consolas" panose="020B0609020204030204" pitchFamily="49" charset="0"/>
              </a:rPr>
              <a:t>, training=training)</a:t>
            </a:r>
          </a:p>
          <a:p>
            <a:pPr>
              <a:lnSpc>
                <a:spcPts val="1425"/>
              </a:lnSpc>
              <a:buNone/>
            </a:pPr>
            <a:r>
              <a:rPr lang="en-US" b="0" dirty="0">
                <a:solidFill>
                  <a:srgbClr val="FF0000"/>
                </a:solidFill>
                <a:effectLst/>
                <a:latin typeface="Consolas" panose="020B0609020204030204" pitchFamily="49" charset="0"/>
              </a:rPr>
              <a:t>        out2 = self.layernorm2(out1 + </a:t>
            </a:r>
            <a:r>
              <a:rPr lang="en-US" b="0" dirty="0" err="1">
                <a:solidFill>
                  <a:srgbClr val="FF0000"/>
                </a:solidFill>
                <a:effectLst/>
                <a:latin typeface="Consolas" panose="020B0609020204030204" pitchFamily="49" charset="0"/>
              </a:rPr>
              <a:t>ffn_output</a:t>
            </a:r>
            <a:r>
              <a:rPr lang="en-US" b="0" dirty="0">
                <a:solidFill>
                  <a:srgbClr val="FF0000"/>
                </a:solidFill>
                <a:effectLst/>
                <a:latin typeface="Consolas" panose="020B0609020204030204" pitchFamily="49" charset="0"/>
              </a:rPr>
              <a:t>)          </a:t>
            </a:r>
          </a:p>
          <a:p>
            <a:pPr>
              <a:lnSpc>
                <a:spcPts val="1425"/>
              </a:lnSpc>
              <a:buNone/>
            </a:pPr>
            <a:r>
              <a:rPr lang="en-US" b="0" dirty="0">
                <a:solidFill>
                  <a:srgbClr val="0070C0"/>
                </a:solidFill>
                <a:effectLst/>
                <a:latin typeface="Consolas" panose="020B0609020204030204" pitchFamily="49" charset="0"/>
              </a:rPr>
              <a:t>        return out2</a:t>
            </a:r>
          </a:p>
        </p:txBody>
      </p:sp>
    </p:spTree>
    <p:extLst>
      <p:ext uri="{BB962C8B-B14F-4D97-AF65-F5344CB8AC3E}">
        <p14:creationId xmlns:p14="http://schemas.microsoft.com/office/powerpoint/2010/main" val="7029899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ACC05-ABD1-B92F-1FD6-D61336DECA5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ACAA13-4D7B-3232-5971-E72AC5373D7F}"/>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POINT WISE FEED FORWARD NETWORK</a:t>
            </a:r>
          </a:p>
        </p:txBody>
      </p:sp>
      <p:sp>
        <p:nvSpPr>
          <p:cNvPr id="3" name="TextBox 2">
            <a:extLst>
              <a:ext uri="{FF2B5EF4-FFF2-40B4-BE49-F238E27FC236}">
                <a16:creationId xmlns:a16="http://schemas.microsoft.com/office/drawing/2014/main" id="{5C3847C6-0CE7-0F9F-F390-A108FC057C96}"/>
              </a:ext>
            </a:extLst>
          </p:cNvPr>
          <p:cNvSpPr txBox="1"/>
          <p:nvPr/>
        </p:nvSpPr>
        <p:spPr>
          <a:xfrm>
            <a:off x="43774" y="1181872"/>
            <a:ext cx="12104451" cy="4236160"/>
          </a:xfrm>
          <a:prstGeom prst="rect">
            <a:avLst/>
          </a:prstGeom>
          <a:noFill/>
        </p:spPr>
        <p:txBody>
          <a:bodyPr wrap="square">
            <a:spAutoFit/>
          </a:bodyPr>
          <a:lstStyle/>
          <a:p>
            <a:pPr>
              <a:lnSpc>
                <a:spcPts val="1425"/>
              </a:lnSpc>
              <a:buNone/>
            </a:pPr>
            <a:r>
              <a:rPr lang="en-US" b="0" dirty="0">
                <a:solidFill>
                  <a:srgbClr val="0070C0"/>
                </a:solidFill>
                <a:effectLst/>
                <a:latin typeface="Consolas" panose="020B0609020204030204" pitchFamily="49" charset="0"/>
              </a:rPr>
              <a:t>import </a:t>
            </a:r>
            <a:r>
              <a:rPr lang="en-US" b="0" dirty="0" err="1">
                <a:solidFill>
                  <a:srgbClr val="0070C0"/>
                </a:solidFill>
                <a:effectLst/>
                <a:latin typeface="Consolas" panose="020B0609020204030204" pitchFamily="49" charset="0"/>
              </a:rPr>
              <a:t>tensorflow</a:t>
            </a:r>
            <a:r>
              <a:rPr lang="en-US" b="0" dirty="0">
                <a:solidFill>
                  <a:srgbClr val="0070C0"/>
                </a:solidFill>
                <a:effectLst/>
                <a:latin typeface="Consolas" panose="020B0609020204030204" pitchFamily="49" charset="0"/>
              </a:rPr>
              <a:t> as </a:t>
            </a:r>
            <a:r>
              <a:rPr lang="en-US" b="0" dirty="0" err="1">
                <a:solidFill>
                  <a:srgbClr val="0070C0"/>
                </a:solidFill>
                <a:effectLst/>
                <a:latin typeface="Consolas" panose="020B0609020204030204" pitchFamily="49" charset="0"/>
              </a:rPr>
              <a:t>tf</a:t>
            </a:r>
            <a:endParaRPr lang="en-US" b="0" dirty="0">
              <a:solidFill>
                <a:srgbClr val="0070C0"/>
              </a:solidFill>
              <a:effectLst/>
              <a:latin typeface="Consolas" panose="020B0609020204030204" pitchFamily="49" charset="0"/>
            </a:endParaRPr>
          </a:p>
          <a:p>
            <a:pPr>
              <a:lnSpc>
                <a:spcPts val="1425"/>
              </a:lnSpc>
              <a:buNone/>
            </a:pPr>
            <a:r>
              <a:rPr lang="en-US" b="0" dirty="0">
                <a:solidFill>
                  <a:srgbClr val="0070C0"/>
                </a:solidFill>
                <a:effectLst/>
                <a:latin typeface="Consolas" panose="020B0609020204030204" pitchFamily="49" charset="0"/>
              </a:rPr>
              <a:t>from </a:t>
            </a:r>
            <a:r>
              <a:rPr lang="en-US" b="0" dirty="0" err="1">
                <a:solidFill>
                  <a:srgbClr val="0070C0"/>
                </a:solidFill>
                <a:effectLst/>
                <a:latin typeface="Consolas" panose="020B0609020204030204" pitchFamily="49" charset="0"/>
              </a:rPr>
              <a:t>MultiHeadAttention</a:t>
            </a:r>
            <a:r>
              <a:rPr lang="en-US" b="0" dirty="0">
                <a:solidFill>
                  <a:srgbClr val="0070C0"/>
                </a:solidFill>
                <a:effectLst/>
                <a:latin typeface="Consolas" panose="020B0609020204030204" pitchFamily="49" charset="0"/>
              </a:rPr>
              <a:t> import </a:t>
            </a:r>
            <a:r>
              <a:rPr lang="en-US" b="0" dirty="0" err="1">
                <a:solidFill>
                  <a:srgbClr val="0070C0"/>
                </a:solidFill>
                <a:effectLst/>
                <a:latin typeface="Consolas" panose="020B0609020204030204" pitchFamily="49" charset="0"/>
              </a:rPr>
              <a:t>MultiHeadAttention</a:t>
            </a:r>
            <a:endParaRPr lang="en-US" b="0" dirty="0">
              <a:solidFill>
                <a:srgbClr val="0070C0"/>
              </a:solidFill>
              <a:effectLst/>
              <a:latin typeface="Consolas" panose="020B0609020204030204" pitchFamily="49" charset="0"/>
            </a:endParaRPr>
          </a:p>
          <a:p>
            <a:pPr>
              <a:lnSpc>
                <a:spcPts val="1425"/>
              </a:lnSpc>
              <a:buNone/>
            </a:pPr>
            <a:r>
              <a:rPr lang="en-US" b="0" dirty="0">
                <a:solidFill>
                  <a:srgbClr val="0070C0"/>
                </a:solidFill>
                <a:effectLst/>
                <a:latin typeface="Consolas" panose="020B0609020204030204" pitchFamily="49" charset="0"/>
              </a:rPr>
              <a:t>from </a:t>
            </a:r>
            <a:r>
              <a:rPr lang="en-US" b="0" dirty="0" err="1">
                <a:solidFill>
                  <a:srgbClr val="0070C0"/>
                </a:solidFill>
                <a:effectLst/>
                <a:latin typeface="Consolas" panose="020B0609020204030204" pitchFamily="49" charset="0"/>
              </a:rPr>
              <a:t>point_wise_feed_forward_network</a:t>
            </a:r>
            <a:r>
              <a:rPr lang="en-US" b="0" dirty="0">
                <a:solidFill>
                  <a:srgbClr val="0070C0"/>
                </a:solidFill>
                <a:effectLst/>
                <a:latin typeface="Consolas" panose="020B0609020204030204" pitchFamily="49" charset="0"/>
              </a:rPr>
              <a:t> import </a:t>
            </a:r>
            <a:r>
              <a:rPr lang="en-US" b="0" dirty="0" err="1">
                <a:solidFill>
                  <a:srgbClr val="0070C0"/>
                </a:solidFill>
                <a:effectLst/>
                <a:latin typeface="Consolas" panose="020B0609020204030204" pitchFamily="49" charset="0"/>
              </a:rPr>
              <a:t>point_wise_feed_forward_network</a:t>
            </a:r>
            <a:endParaRPr lang="en-US" b="0" dirty="0">
              <a:solidFill>
                <a:srgbClr val="0070C0"/>
              </a:solidFill>
              <a:effectLst/>
              <a:latin typeface="Consolas" panose="020B0609020204030204" pitchFamily="49" charset="0"/>
            </a:endParaRPr>
          </a:p>
          <a:p>
            <a:pPr>
              <a:lnSpc>
                <a:spcPts val="1425"/>
              </a:lnSpc>
              <a:buNone/>
            </a:pPr>
            <a:br>
              <a:rPr lang="en-US" b="0" dirty="0">
                <a:solidFill>
                  <a:srgbClr val="0070C0"/>
                </a:solidFill>
                <a:effectLst/>
                <a:latin typeface="Consolas" panose="020B0609020204030204" pitchFamily="49" charset="0"/>
              </a:rPr>
            </a:br>
            <a:endParaRPr lang="en-US" b="0" dirty="0">
              <a:solidFill>
                <a:srgbClr val="0070C0"/>
              </a:solidFill>
              <a:effectLst/>
              <a:latin typeface="Consolas" panose="020B0609020204030204" pitchFamily="49" charset="0"/>
            </a:endParaRPr>
          </a:p>
          <a:p>
            <a:pPr>
              <a:lnSpc>
                <a:spcPts val="1425"/>
              </a:lnSpc>
              <a:buNone/>
            </a:pPr>
            <a:r>
              <a:rPr lang="en-US" b="0" dirty="0">
                <a:solidFill>
                  <a:srgbClr val="0070C0"/>
                </a:solidFill>
                <a:effectLst/>
                <a:latin typeface="Consolas" panose="020B0609020204030204" pitchFamily="49" charset="0"/>
              </a:rPr>
              <a:t>class </a:t>
            </a:r>
            <a:r>
              <a:rPr lang="en-US" b="0" dirty="0" err="1">
                <a:solidFill>
                  <a:srgbClr val="0070C0"/>
                </a:solidFill>
                <a:effectLst/>
                <a:latin typeface="Consolas" panose="020B0609020204030204" pitchFamily="49" charset="0"/>
              </a:rPr>
              <a:t>DecoderLayer</a:t>
            </a:r>
            <a:r>
              <a:rPr lang="en-US" b="0" dirty="0">
                <a:solidFill>
                  <a:srgbClr val="0070C0"/>
                </a:solidFill>
                <a:effectLst/>
                <a:latin typeface="Consolas" panose="020B0609020204030204" pitchFamily="49" charset="0"/>
              </a:rPr>
              <a:t>(</a:t>
            </a:r>
            <a:r>
              <a:rPr lang="en-US" b="0" dirty="0" err="1">
                <a:solidFill>
                  <a:srgbClr val="0070C0"/>
                </a:solidFill>
                <a:effectLst/>
                <a:latin typeface="Consolas" panose="020B0609020204030204" pitchFamily="49" charset="0"/>
              </a:rPr>
              <a:t>tf.keras.layers.Layer</a:t>
            </a:r>
            <a:r>
              <a:rPr lang="en-US" b="0" dirty="0">
                <a:solidFill>
                  <a:srgbClr val="0070C0"/>
                </a:solidFill>
                <a:effectLst/>
                <a:latin typeface="Consolas" panose="020B0609020204030204" pitchFamily="49" charset="0"/>
              </a:rPr>
              <a:t>):  # FIXED: </a:t>
            </a:r>
            <a:r>
              <a:rPr lang="en-US" b="0" dirty="0" err="1">
                <a:solidFill>
                  <a:srgbClr val="0070C0"/>
                </a:solidFill>
                <a:effectLst/>
                <a:latin typeface="Consolas" panose="020B0609020204030204" pitchFamily="49" charset="0"/>
              </a:rPr>
              <a:t>tf.keras.layers.Layer</a:t>
            </a:r>
            <a:r>
              <a:rPr lang="en-US" b="0" dirty="0">
                <a:solidFill>
                  <a:srgbClr val="0070C0"/>
                </a:solidFill>
                <a:effectLst/>
                <a:latin typeface="Consolas" panose="020B0609020204030204" pitchFamily="49" charset="0"/>
              </a:rPr>
              <a:t> not </a:t>
            </a:r>
            <a:r>
              <a:rPr lang="en-US" b="0" dirty="0" err="1">
                <a:solidFill>
                  <a:srgbClr val="0070C0"/>
                </a:solidFill>
                <a:effectLst/>
                <a:latin typeface="Consolas" panose="020B0609020204030204" pitchFamily="49" charset="0"/>
              </a:rPr>
              <a:t>tf.keras.Layer</a:t>
            </a:r>
            <a:endParaRPr lang="en-US" b="0" dirty="0">
              <a:solidFill>
                <a:srgbClr val="0070C0"/>
              </a:solidFill>
              <a:effectLst/>
              <a:latin typeface="Consolas" panose="020B0609020204030204" pitchFamily="49" charset="0"/>
            </a:endParaRPr>
          </a:p>
          <a:p>
            <a:pPr>
              <a:lnSpc>
                <a:spcPts val="1425"/>
              </a:lnSpc>
              <a:buNone/>
            </a:pPr>
            <a:r>
              <a:rPr lang="en-US" b="0" dirty="0">
                <a:solidFill>
                  <a:srgbClr val="0070C0"/>
                </a:solidFill>
                <a:effectLst/>
                <a:latin typeface="Consolas" panose="020B0609020204030204" pitchFamily="49" charset="0"/>
              </a:rPr>
              <a:t>    def __</a:t>
            </a:r>
            <a:r>
              <a:rPr lang="en-US" b="0" dirty="0" err="1">
                <a:solidFill>
                  <a:srgbClr val="0070C0"/>
                </a:solidFill>
                <a:effectLst/>
                <a:latin typeface="Consolas" panose="020B0609020204030204" pitchFamily="49" charset="0"/>
              </a:rPr>
              <a:t>init</a:t>
            </a:r>
            <a:r>
              <a:rPr lang="en-US" b="0" dirty="0">
                <a:solidFill>
                  <a:srgbClr val="0070C0"/>
                </a:solidFill>
                <a:effectLst/>
                <a:latin typeface="Consolas" panose="020B0609020204030204" pitchFamily="49" charset="0"/>
              </a:rPr>
              <a:t>__(self, </a:t>
            </a:r>
            <a:r>
              <a:rPr lang="en-US" b="0" dirty="0" err="1">
                <a:solidFill>
                  <a:srgbClr val="0070C0"/>
                </a:solidFill>
                <a:effectLst/>
                <a:latin typeface="Consolas" panose="020B0609020204030204" pitchFamily="49" charset="0"/>
              </a:rPr>
              <a:t>d_model</a:t>
            </a: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num_heads</a:t>
            </a: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dff</a:t>
            </a:r>
            <a:r>
              <a:rPr lang="en-US" b="0" dirty="0">
                <a:solidFill>
                  <a:srgbClr val="0070C0"/>
                </a:solidFill>
                <a:effectLst/>
                <a:latin typeface="Consolas" panose="020B0609020204030204" pitchFamily="49" charset="0"/>
              </a:rPr>
              <a:t>, rate=0.1):</a:t>
            </a:r>
          </a:p>
          <a:p>
            <a:pPr>
              <a:lnSpc>
                <a:spcPts val="1425"/>
              </a:lnSpc>
              <a:buNone/>
            </a:pPr>
            <a:r>
              <a:rPr lang="en-US" b="0" dirty="0">
                <a:solidFill>
                  <a:srgbClr val="0070C0"/>
                </a:solidFill>
                <a:effectLst/>
                <a:latin typeface="Consolas" panose="020B0609020204030204" pitchFamily="49" charset="0"/>
              </a:rPr>
              <a:t>        super(</a:t>
            </a:r>
            <a:r>
              <a:rPr lang="en-US" b="0" dirty="0" err="1">
                <a:solidFill>
                  <a:srgbClr val="0070C0"/>
                </a:solidFill>
                <a:effectLst/>
                <a:latin typeface="Consolas" panose="020B0609020204030204" pitchFamily="49" charset="0"/>
              </a:rPr>
              <a:t>DecoderLayer</a:t>
            </a:r>
            <a:r>
              <a:rPr lang="en-US" b="0" dirty="0">
                <a:solidFill>
                  <a:srgbClr val="0070C0"/>
                </a:solidFill>
                <a:effectLst/>
                <a:latin typeface="Consolas" panose="020B0609020204030204" pitchFamily="49" charset="0"/>
              </a:rPr>
              <a:t>, self).__</a:t>
            </a:r>
            <a:r>
              <a:rPr lang="en-US" b="0" dirty="0" err="1">
                <a:solidFill>
                  <a:srgbClr val="0070C0"/>
                </a:solidFill>
                <a:effectLst/>
                <a:latin typeface="Consolas" panose="020B0609020204030204" pitchFamily="49" charset="0"/>
              </a:rPr>
              <a:t>init</a:t>
            </a:r>
            <a:r>
              <a:rPr lang="en-US" b="0" dirty="0">
                <a:solidFill>
                  <a:srgbClr val="0070C0"/>
                </a:solidFill>
                <a:effectLst/>
                <a:latin typeface="Consolas" panose="020B0609020204030204" pitchFamily="49" charset="0"/>
              </a:rPr>
              <a:t>__()</a:t>
            </a:r>
          </a:p>
          <a:p>
            <a:pPr>
              <a:lnSpc>
                <a:spcPts val="1425"/>
              </a:lnSpc>
              <a:buNone/>
            </a:pPr>
            <a:r>
              <a:rPr lang="en-US" b="0" dirty="0">
                <a:solidFill>
                  <a:srgbClr val="0070C0"/>
                </a:solidFill>
                <a:effectLst/>
                <a:latin typeface="Consolas" panose="020B0609020204030204" pitchFamily="49" charset="0"/>
              </a:rPr>
              <a:t>        </a:t>
            </a:r>
          </a:p>
          <a:p>
            <a:pPr>
              <a:lnSpc>
                <a:spcPts val="1425"/>
              </a:lnSpc>
              <a:buNone/>
            </a:pPr>
            <a:r>
              <a:rPr lang="en-US" b="0" dirty="0">
                <a:solidFill>
                  <a:srgbClr val="0070C0"/>
                </a:solidFill>
                <a:effectLst/>
                <a:latin typeface="Consolas" panose="020B0609020204030204" pitchFamily="49" charset="0"/>
              </a:rPr>
              <a:t>        self.mha1 = </a:t>
            </a:r>
            <a:r>
              <a:rPr lang="en-US" b="0" dirty="0" err="1">
                <a:solidFill>
                  <a:srgbClr val="0070C0"/>
                </a:solidFill>
                <a:effectLst/>
                <a:latin typeface="Consolas" panose="020B0609020204030204" pitchFamily="49" charset="0"/>
              </a:rPr>
              <a:t>MultiHeadAttention</a:t>
            </a:r>
            <a:r>
              <a:rPr lang="en-US" b="0" dirty="0">
                <a:solidFill>
                  <a:srgbClr val="0070C0"/>
                </a:solidFill>
                <a:effectLst/>
                <a:latin typeface="Consolas" panose="020B0609020204030204" pitchFamily="49" charset="0"/>
              </a:rPr>
              <a:t>(</a:t>
            </a:r>
            <a:r>
              <a:rPr lang="en-US" b="0" dirty="0" err="1">
                <a:solidFill>
                  <a:srgbClr val="0070C0"/>
                </a:solidFill>
                <a:effectLst/>
                <a:latin typeface="Consolas" panose="020B0609020204030204" pitchFamily="49" charset="0"/>
              </a:rPr>
              <a:t>d_model</a:t>
            </a: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num_heads</a:t>
            </a:r>
            <a:r>
              <a:rPr lang="en-US" b="0" dirty="0">
                <a:solidFill>
                  <a:srgbClr val="0070C0"/>
                </a:solidFill>
                <a:effectLst/>
                <a:latin typeface="Consolas" panose="020B0609020204030204" pitchFamily="49" charset="0"/>
              </a:rPr>
              <a:t>)</a:t>
            </a:r>
          </a:p>
          <a:p>
            <a:pPr>
              <a:lnSpc>
                <a:spcPts val="1425"/>
              </a:lnSpc>
              <a:buNone/>
            </a:pPr>
            <a:r>
              <a:rPr lang="en-US" b="0" dirty="0">
                <a:solidFill>
                  <a:srgbClr val="0070C0"/>
                </a:solidFill>
                <a:effectLst/>
                <a:latin typeface="Consolas" panose="020B0609020204030204" pitchFamily="49" charset="0"/>
              </a:rPr>
              <a:t>        self.mha2 = </a:t>
            </a:r>
            <a:r>
              <a:rPr lang="en-US" b="0" dirty="0" err="1">
                <a:solidFill>
                  <a:srgbClr val="0070C0"/>
                </a:solidFill>
                <a:effectLst/>
                <a:latin typeface="Consolas" panose="020B0609020204030204" pitchFamily="49" charset="0"/>
              </a:rPr>
              <a:t>MultiHeadAttention</a:t>
            </a:r>
            <a:r>
              <a:rPr lang="en-US" b="0" dirty="0">
                <a:solidFill>
                  <a:srgbClr val="0070C0"/>
                </a:solidFill>
                <a:effectLst/>
                <a:latin typeface="Consolas" panose="020B0609020204030204" pitchFamily="49" charset="0"/>
              </a:rPr>
              <a:t>(</a:t>
            </a:r>
            <a:r>
              <a:rPr lang="en-US" b="0" dirty="0" err="1">
                <a:solidFill>
                  <a:srgbClr val="0070C0"/>
                </a:solidFill>
                <a:effectLst/>
                <a:latin typeface="Consolas" panose="020B0609020204030204" pitchFamily="49" charset="0"/>
              </a:rPr>
              <a:t>d_model</a:t>
            </a: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num_heads</a:t>
            </a:r>
            <a:r>
              <a:rPr lang="en-US" b="0" dirty="0">
                <a:solidFill>
                  <a:srgbClr val="0070C0"/>
                </a:solidFill>
                <a:effectLst/>
                <a:latin typeface="Consolas" panose="020B0609020204030204" pitchFamily="49" charset="0"/>
              </a:rPr>
              <a:t>)</a:t>
            </a:r>
          </a:p>
          <a:p>
            <a:pPr>
              <a:lnSpc>
                <a:spcPts val="1425"/>
              </a:lnSpc>
              <a:buNone/>
            </a:pPr>
            <a:r>
              <a:rPr lang="en-US" b="0" dirty="0">
                <a:solidFill>
                  <a:srgbClr val="0070C0"/>
                </a:solidFill>
                <a:effectLst/>
                <a:latin typeface="Consolas" panose="020B0609020204030204" pitchFamily="49" charset="0"/>
              </a:rPr>
              <a:t>        </a:t>
            </a:r>
          </a:p>
          <a:p>
            <a:pPr>
              <a:lnSpc>
                <a:spcPts val="1425"/>
              </a:lnSpc>
              <a:buNone/>
            </a:pP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self.ffn</a:t>
            </a:r>
            <a:r>
              <a:rPr lang="en-US" b="0" dirty="0">
                <a:solidFill>
                  <a:srgbClr val="0070C0"/>
                </a:solidFill>
                <a:effectLst/>
                <a:latin typeface="Consolas" panose="020B0609020204030204" pitchFamily="49" charset="0"/>
              </a:rPr>
              <a:t> = </a:t>
            </a:r>
            <a:r>
              <a:rPr lang="en-US" b="0" dirty="0" err="1">
                <a:solidFill>
                  <a:srgbClr val="0070C0"/>
                </a:solidFill>
                <a:effectLst/>
                <a:latin typeface="Consolas" panose="020B0609020204030204" pitchFamily="49" charset="0"/>
              </a:rPr>
              <a:t>point_wise_feed_forward_network</a:t>
            </a:r>
            <a:r>
              <a:rPr lang="en-US" b="0" dirty="0">
                <a:solidFill>
                  <a:srgbClr val="0070C0"/>
                </a:solidFill>
                <a:effectLst/>
                <a:latin typeface="Consolas" panose="020B0609020204030204" pitchFamily="49" charset="0"/>
              </a:rPr>
              <a:t>(</a:t>
            </a:r>
            <a:r>
              <a:rPr lang="en-US" b="0" dirty="0" err="1">
                <a:solidFill>
                  <a:srgbClr val="0070C0"/>
                </a:solidFill>
                <a:effectLst/>
                <a:latin typeface="Consolas" panose="020B0609020204030204" pitchFamily="49" charset="0"/>
              </a:rPr>
              <a:t>d_model</a:t>
            </a:r>
            <a:r>
              <a:rPr lang="en-US" b="0" dirty="0">
                <a:solidFill>
                  <a:srgbClr val="0070C0"/>
                </a:solidFill>
                <a:effectLst/>
                <a:latin typeface="Consolas" panose="020B0609020204030204" pitchFamily="49" charset="0"/>
              </a:rPr>
              <a:t>, </a:t>
            </a:r>
            <a:r>
              <a:rPr lang="en-US" b="0" dirty="0" err="1">
                <a:solidFill>
                  <a:srgbClr val="0070C0"/>
                </a:solidFill>
                <a:effectLst/>
                <a:latin typeface="Consolas" panose="020B0609020204030204" pitchFamily="49" charset="0"/>
              </a:rPr>
              <a:t>dff</a:t>
            </a:r>
            <a:r>
              <a:rPr lang="en-US" b="0" dirty="0">
                <a:solidFill>
                  <a:srgbClr val="0070C0"/>
                </a:solidFill>
                <a:effectLst/>
                <a:latin typeface="Consolas" panose="020B0609020204030204" pitchFamily="49" charset="0"/>
              </a:rPr>
              <a:t>)</a:t>
            </a:r>
          </a:p>
          <a:p>
            <a:pPr>
              <a:lnSpc>
                <a:spcPts val="1425"/>
              </a:lnSpc>
              <a:buNone/>
            </a:pPr>
            <a:r>
              <a:rPr lang="en-US" b="0" dirty="0">
                <a:solidFill>
                  <a:srgbClr val="0070C0"/>
                </a:solidFill>
                <a:effectLst/>
                <a:latin typeface="Consolas" panose="020B0609020204030204" pitchFamily="49" charset="0"/>
              </a:rPr>
              <a:t>        </a:t>
            </a:r>
          </a:p>
          <a:p>
            <a:pPr>
              <a:lnSpc>
                <a:spcPts val="1425"/>
              </a:lnSpc>
              <a:buNone/>
            </a:pPr>
            <a:r>
              <a:rPr lang="en-US" b="0" dirty="0">
                <a:solidFill>
                  <a:srgbClr val="0070C0"/>
                </a:solidFill>
                <a:effectLst/>
                <a:latin typeface="Consolas" panose="020B0609020204030204" pitchFamily="49" charset="0"/>
              </a:rPr>
              <a:t>        self.layernorm1 = </a:t>
            </a:r>
            <a:r>
              <a:rPr lang="en-US" b="0" dirty="0" err="1">
                <a:solidFill>
                  <a:srgbClr val="0070C0"/>
                </a:solidFill>
                <a:effectLst/>
                <a:latin typeface="Consolas" panose="020B0609020204030204" pitchFamily="49" charset="0"/>
              </a:rPr>
              <a:t>tf.keras.layers.LayerNormalization</a:t>
            </a:r>
            <a:r>
              <a:rPr lang="en-US" b="0" dirty="0">
                <a:solidFill>
                  <a:srgbClr val="0070C0"/>
                </a:solidFill>
                <a:effectLst/>
                <a:latin typeface="Consolas" panose="020B0609020204030204" pitchFamily="49" charset="0"/>
              </a:rPr>
              <a:t>(epsilon=1e-6)</a:t>
            </a:r>
          </a:p>
          <a:p>
            <a:pPr>
              <a:lnSpc>
                <a:spcPts val="1425"/>
              </a:lnSpc>
              <a:buNone/>
            </a:pPr>
            <a:r>
              <a:rPr lang="en-US" b="0" dirty="0">
                <a:solidFill>
                  <a:srgbClr val="0070C0"/>
                </a:solidFill>
                <a:effectLst/>
                <a:latin typeface="Consolas" panose="020B0609020204030204" pitchFamily="49" charset="0"/>
              </a:rPr>
              <a:t>        self.layernorm2 = </a:t>
            </a:r>
            <a:r>
              <a:rPr lang="en-US" b="0" dirty="0" err="1">
                <a:solidFill>
                  <a:srgbClr val="0070C0"/>
                </a:solidFill>
                <a:effectLst/>
                <a:latin typeface="Consolas" panose="020B0609020204030204" pitchFamily="49" charset="0"/>
              </a:rPr>
              <a:t>tf.keras.layers.LayerNormalization</a:t>
            </a:r>
            <a:r>
              <a:rPr lang="en-US" b="0" dirty="0">
                <a:solidFill>
                  <a:srgbClr val="0070C0"/>
                </a:solidFill>
                <a:effectLst/>
                <a:latin typeface="Consolas" panose="020B0609020204030204" pitchFamily="49" charset="0"/>
              </a:rPr>
              <a:t>(epsilon=1e-6)</a:t>
            </a:r>
          </a:p>
          <a:p>
            <a:pPr>
              <a:lnSpc>
                <a:spcPts val="1425"/>
              </a:lnSpc>
              <a:buNone/>
            </a:pPr>
            <a:r>
              <a:rPr lang="en-US" b="0" dirty="0">
                <a:solidFill>
                  <a:srgbClr val="0070C0"/>
                </a:solidFill>
                <a:effectLst/>
                <a:latin typeface="Consolas" panose="020B0609020204030204" pitchFamily="49" charset="0"/>
              </a:rPr>
              <a:t>        self.layernorm3 = </a:t>
            </a:r>
            <a:r>
              <a:rPr lang="en-US" b="0" dirty="0" err="1">
                <a:solidFill>
                  <a:srgbClr val="0070C0"/>
                </a:solidFill>
                <a:effectLst/>
                <a:latin typeface="Consolas" panose="020B0609020204030204" pitchFamily="49" charset="0"/>
              </a:rPr>
              <a:t>tf.keras.layers.LayerNormalization</a:t>
            </a:r>
            <a:r>
              <a:rPr lang="en-US" b="0" dirty="0">
                <a:solidFill>
                  <a:srgbClr val="0070C0"/>
                </a:solidFill>
                <a:effectLst/>
                <a:latin typeface="Consolas" panose="020B0609020204030204" pitchFamily="49" charset="0"/>
              </a:rPr>
              <a:t>(epsilon=1e-6)</a:t>
            </a:r>
          </a:p>
          <a:p>
            <a:pPr>
              <a:lnSpc>
                <a:spcPts val="1425"/>
              </a:lnSpc>
              <a:buNone/>
            </a:pPr>
            <a:r>
              <a:rPr lang="en-US" b="0" dirty="0">
                <a:solidFill>
                  <a:srgbClr val="0070C0"/>
                </a:solidFill>
                <a:effectLst/>
                <a:latin typeface="Consolas" panose="020B0609020204030204" pitchFamily="49" charset="0"/>
              </a:rPr>
              <a:t>        </a:t>
            </a:r>
          </a:p>
          <a:p>
            <a:pPr>
              <a:lnSpc>
                <a:spcPts val="1425"/>
              </a:lnSpc>
              <a:buNone/>
            </a:pPr>
            <a:r>
              <a:rPr lang="en-US" b="0" dirty="0">
                <a:solidFill>
                  <a:srgbClr val="0070C0"/>
                </a:solidFill>
                <a:effectLst/>
                <a:latin typeface="Consolas" panose="020B0609020204030204" pitchFamily="49" charset="0"/>
              </a:rPr>
              <a:t>        self.dropout1 = </a:t>
            </a:r>
            <a:r>
              <a:rPr lang="en-US" b="0" dirty="0" err="1">
                <a:solidFill>
                  <a:srgbClr val="0070C0"/>
                </a:solidFill>
                <a:effectLst/>
                <a:latin typeface="Consolas" panose="020B0609020204030204" pitchFamily="49" charset="0"/>
              </a:rPr>
              <a:t>tf.keras.layers.Dropout</a:t>
            </a:r>
            <a:r>
              <a:rPr lang="en-US" b="0" dirty="0">
                <a:solidFill>
                  <a:srgbClr val="0070C0"/>
                </a:solidFill>
                <a:effectLst/>
                <a:latin typeface="Consolas" panose="020B0609020204030204" pitchFamily="49" charset="0"/>
              </a:rPr>
              <a:t>(rate)</a:t>
            </a:r>
          </a:p>
          <a:p>
            <a:pPr>
              <a:lnSpc>
                <a:spcPts val="1425"/>
              </a:lnSpc>
              <a:buNone/>
            </a:pPr>
            <a:r>
              <a:rPr lang="en-US" b="0" dirty="0">
                <a:solidFill>
                  <a:srgbClr val="0070C0"/>
                </a:solidFill>
                <a:effectLst/>
                <a:latin typeface="Consolas" panose="020B0609020204030204" pitchFamily="49" charset="0"/>
              </a:rPr>
              <a:t>        self.dropout2 = </a:t>
            </a:r>
            <a:r>
              <a:rPr lang="en-US" b="0" dirty="0" err="1">
                <a:solidFill>
                  <a:srgbClr val="0070C0"/>
                </a:solidFill>
                <a:effectLst/>
                <a:latin typeface="Consolas" panose="020B0609020204030204" pitchFamily="49" charset="0"/>
              </a:rPr>
              <a:t>tf.keras.layers.Dropout</a:t>
            </a:r>
            <a:r>
              <a:rPr lang="en-US" b="0" dirty="0">
                <a:solidFill>
                  <a:srgbClr val="0070C0"/>
                </a:solidFill>
                <a:effectLst/>
                <a:latin typeface="Consolas" panose="020B0609020204030204" pitchFamily="49" charset="0"/>
              </a:rPr>
              <a:t>(rate)</a:t>
            </a:r>
          </a:p>
          <a:p>
            <a:pPr>
              <a:lnSpc>
                <a:spcPts val="1425"/>
              </a:lnSpc>
              <a:buNone/>
            </a:pPr>
            <a:r>
              <a:rPr lang="en-US" b="0" dirty="0">
                <a:solidFill>
                  <a:srgbClr val="0070C0"/>
                </a:solidFill>
                <a:effectLst/>
                <a:latin typeface="Consolas" panose="020B0609020204030204" pitchFamily="49" charset="0"/>
              </a:rPr>
              <a:t>        self.dropout3 = </a:t>
            </a:r>
            <a:r>
              <a:rPr lang="en-US" b="0" dirty="0" err="1">
                <a:solidFill>
                  <a:srgbClr val="0070C0"/>
                </a:solidFill>
                <a:effectLst/>
                <a:latin typeface="Consolas" panose="020B0609020204030204" pitchFamily="49" charset="0"/>
              </a:rPr>
              <a:t>tf.keras.layers.Dropout</a:t>
            </a:r>
            <a:r>
              <a:rPr lang="en-US" b="0" dirty="0">
                <a:solidFill>
                  <a:srgbClr val="0070C0"/>
                </a:solidFill>
                <a:effectLst/>
                <a:latin typeface="Consolas" panose="020B0609020204030204" pitchFamily="49" charset="0"/>
              </a:rPr>
              <a:t>(rate)</a:t>
            </a:r>
          </a:p>
          <a:p>
            <a:pPr>
              <a:lnSpc>
                <a:spcPts val="1425"/>
              </a:lnSpc>
              <a:buNone/>
            </a:pPr>
            <a:r>
              <a:rPr lang="en-US" b="0" dirty="0">
                <a:solidFill>
                  <a:srgbClr val="0070C0"/>
                </a:solidFill>
                <a:effectLst/>
                <a:latin typeface="Consolas" panose="020B0609020204030204" pitchFamily="49" charset="0"/>
              </a:rPr>
              <a:t>        </a:t>
            </a:r>
          </a:p>
          <a:p>
            <a:pPr>
              <a:lnSpc>
                <a:spcPts val="1425"/>
              </a:lnSpc>
              <a:buNone/>
            </a:pPr>
            <a:r>
              <a:rPr lang="en-US" b="0" dirty="0">
                <a:solidFill>
                  <a:srgbClr val="0070C0"/>
                </a:solidFill>
                <a:effectLst/>
                <a:latin typeface="Consolas" panose="020B0609020204030204" pitchFamily="49" charset="0"/>
              </a:rPr>
              <a:t>   </a:t>
            </a:r>
          </a:p>
        </p:txBody>
      </p:sp>
    </p:spTree>
    <p:extLst>
      <p:ext uri="{BB962C8B-B14F-4D97-AF65-F5344CB8AC3E}">
        <p14:creationId xmlns:p14="http://schemas.microsoft.com/office/powerpoint/2010/main" val="41689022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67873-1281-989C-AEC6-A6EEE6D08C8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6BC6A45-AAF4-6050-B34E-3E53F2A19786}"/>
              </a:ext>
            </a:extLst>
          </p:cNvPr>
          <p:cNvSpPr txBox="1"/>
          <p:nvPr/>
        </p:nvSpPr>
        <p:spPr>
          <a:xfrm>
            <a:off x="1911927" y="74521"/>
            <a:ext cx="9034496" cy="461665"/>
          </a:xfrm>
          <a:prstGeom prst="rect">
            <a:avLst/>
          </a:prstGeom>
          <a:solidFill>
            <a:srgbClr val="002060"/>
          </a:solidFill>
          <a:ln>
            <a:solidFill>
              <a:srgbClr val="FFFF00"/>
            </a:solidFill>
          </a:ln>
          <a:effectLst>
            <a:glow rad="63500">
              <a:schemeClr val="accent4">
                <a:satMod val="175000"/>
                <a:alpha val="40000"/>
              </a:schemeClr>
            </a:glow>
          </a:effectLst>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POINT WISE FEED FORWARD NETWORK</a:t>
            </a:r>
          </a:p>
        </p:txBody>
      </p:sp>
      <p:sp>
        <p:nvSpPr>
          <p:cNvPr id="5" name="TextBox 4">
            <a:extLst>
              <a:ext uri="{FF2B5EF4-FFF2-40B4-BE49-F238E27FC236}">
                <a16:creationId xmlns:a16="http://schemas.microsoft.com/office/drawing/2014/main" id="{8C20BA4F-0FA8-BEA7-7F6C-921E03E229E2}"/>
              </a:ext>
            </a:extLst>
          </p:cNvPr>
          <p:cNvSpPr txBox="1"/>
          <p:nvPr/>
        </p:nvSpPr>
        <p:spPr>
          <a:xfrm>
            <a:off x="340469" y="1579615"/>
            <a:ext cx="11712102" cy="2801088"/>
          </a:xfrm>
          <a:prstGeom prst="rect">
            <a:avLst/>
          </a:prstGeom>
          <a:noFill/>
        </p:spPr>
        <p:txBody>
          <a:bodyPr wrap="square">
            <a:spAutoFit/>
          </a:bodyPr>
          <a:lstStyle/>
          <a:p>
            <a:pPr>
              <a:lnSpc>
                <a:spcPts val="1425"/>
              </a:lnSpc>
              <a:buNone/>
            </a:pPr>
            <a:r>
              <a:rPr lang="en-US" b="0" dirty="0">
                <a:solidFill>
                  <a:srgbClr val="0070C0"/>
                </a:solidFill>
                <a:effectLst/>
                <a:latin typeface="Consolas" panose="020B0609020204030204" pitchFamily="49" charset="0"/>
              </a:rPr>
              <a:t>def call(self, x, </a:t>
            </a:r>
            <a:r>
              <a:rPr lang="en-US" b="0" dirty="0" err="1">
                <a:solidFill>
                  <a:srgbClr val="0070C0"/>
                </a:solidFill>
                <a:effectLst/>
                <a:latin typeface="Consolas" panose="020B0609020204030204" pitchFamily="49" charset="0"/>
              </a:rPr>
              <a:t>enc_output</a:t>
            </a:r>
            <a:r>
              <a:rPr lang="en-US" b="0" dirty="0">
                <a:solidFill>
                  <a:srgbClr val="0070C0"/>
                </a:solidFill>
                <a:effectLst/>
                <a:latin typeface="Consolas" panose="020B0609020204030204" pitchFamily="49" charset="0"/>
              </a:rPr>
              <a:t>, training, </a:t>
            </a:r>
            <a:r>
              <a:rPr lang="en-US" b="0" dirty="0" err="1">
                <a:solidFill>
                  <a:srgbClr val="0070C0"/>
                </a:solidFill>
                <a:effectLst/>
                <a:latin typeface="Consolas" panose="020B0609020204030204" pitchFamily="49" charset="0"/>
              </a:rPr>
              <a:t>look_ahead_mask</a:t>
            </a:r>
            <a:r>
              <a:rPr lang="en-US" b="0" dirty="0">
                <a:solidFill>
                  <a:srgbClr val="0070C0"/>
                </a:solidFill>
                <a:effectLst/>
                <a:latin typeface="Consolas" panose="020B0609020204030204" pitchFamily="49" charset="0"/>
              </a:rPr>
              <a:t>=None, </a:t>
            </a:r>
            <a:r>
              <a:rPr lang="en-US" b="0" dirty="0" err="1">
                <a:solidFill>
                  <a:srgbClr val="0070C0"/>
                </a:solidFill>
                <a:effectLst/>
                <a:latin typeface="Consolas" panose="020B0609020204030204" pitchFamily="49" charset="0"/>
              </a:rPr>
              <a:t>padding_mask</a:t>
            </a:r>
            <a:r>
              <a:rPr lang="en-US" b="0" dirty="0">
                <a:solidFill>
                  <a:srgbClr val="0070C0"/>
                </a:solidFill>
                <a:effectLst/>
                <a:latin typeface="Consolas" panose="020B0609020204030204" pitchFamily="49" charset="0"/>
              </a:rPr>
              <a:t>=None):</a:t>
            </a:r>
          </a:p>
          <a:p>
            <a:pPr>
              <a:lnSpc>
                <a:spcPts val="1425"/>
              </a:lnSpc>
              <a:buNone/>
            </a:pPr>
            <a:r>
              <a:rPr lang="en-US" b="0" dirty="0">
                <a:solidFill>
                  <a:srgbClr val="0070C0"/>
                </a:solidFill>
                <a:effectLst/>
                <a:latin typeface="Consolas" panose="020B0609020204030204" pitchFamily="49" charset="0"/>
              </a:rPr>
              <a:t>        # Masked self-attention</a:t>
            </a:r>
          </a:p>
          <a:p>
            <a:pPr>
              <a:lnSpc>
                <a:spcPts val="1425"/>
              </a:lnSpc>
              <a:buNone/>
            </a:pPr>
            <a:r>
              <a:rPr lang="en-US" b="0" dirty="0">
                <a:solidFill>
                  <a:srgbClr val="0070C0"/>
                </a:solidFill>
                <a:effectLst/>
                <a:latin typeface="Consolas" panose="020B0609020204030204" pitchFamily="49" charset="0"/>
              </a:rPr>
              <a:t>        </a:t>
            </a:r>
            <a:r>
              <a:rPr lang="en-US" b="0" dirty="0">
                <a:solidFill>
                  <a:srgbClr val="FF0000"/>
                </a:solidFill>
                <a:effectLst/>
                <a:latin typeface="Consolas" panose="020B0609020204030204" pitchFamily="49" charset="0"/>
              </a:rPr>
              <a:t>attn1, attn_weights_block1 = self.mha1(x, x, x, mask = </a:t>
            </a:r>
            <a:r>
              <a:rPr lang="en-US" b="0" dirty="0" err="1">
                <a:solidFill>
                  <a:srgbClr val="FF0000"/>
                </a:solidFill>
                <a:effectLst/>
                <a:latin typeface="Consolas" panose="020B0609020204030204" pitchFamily="49" charset="0"/>
              </a:rPr>
              <a:t>look_ahead_mask</a:t>
            </a:r>
            <a:r>
              <a:rPr lang="en-US" b="0" dirty="0">
                <a:solidFill>
                  <a:srgbClr val="FF0000"/>
                </a:solidFill>
                <a:effectLst/>
                <a:latin typeface="Consolas" panose="020B0609020204030204" pitchFamily="49" charset="0"/>
              </a:rPr>
              <a:t>)  </a:t>
            </a:r>
          </a:p>
          <a:p>
            <a:pPr>
              <a:lnSpc>
                <a:spcPts val="1425"/>
              </a:lnSpc>
              <a:buNone/>
            </a:pPr>
            <a:r>
              <a:rPr lang="en-US" b="0" dirty="0">
                <a:solidFill>
                  <a:srgbClr val="FF0000"/>
                </a:solidFill>
                <a:effectLst/>
                <a:latin typeface="Consolas" panose="020B0609020204030204" pitchFamily="49" charset="0"/>
              </a:rPr>
              <a:t>        attn1 = self.dropout1(attn1, training=training)</a:t>
            </a:r>
          </a:p>
          <a:p>
            <a:pPr>
              <a:lnSpc>
                <a:spcPts val="1425"/>
              </a:lnSpc>
              <a:buNone/>
            </a:pPr>
            <a:r>
              <a:rPr lang="en-US" b="0" dirty="0">
                <a:solidFill>
                  <a:srgbClr val="FF0000"/>
                </a:solidFill>
                <a:effectLst/>
                <a:latin typeface="Consolas" panose="020B0609020204030204" pitchFamily="49" charset="0"/>
              </a:rPr>
              <a:t>        out1 = self.layernorm1(x + attn1)  </a:t>
            </a:r>
            <a:r>
              <a:rPr lang="en-US" b="0" dirty="0">
                <a:solidFill>
                  <a:srgbClr val="0070C0"/>
                </a:solidFill>
                <a:effectLst/>
                <a:latin typeface="Consolas" panose="020B0609020204030204" pitchFamily="49" charset="0"/>
              </a:rPr>
              <a:t>        </a:t>
            </a:r>
          </a:p>
          <a:p>
            <a:pPr>
              <a:lnSpc>
                <a:spcPts val="1425"/>
              </a:lnSpc>
              <a:buNone/>
            </a:pPr>
            <a:r>
              <a:rPr lang="en-US" b="0" dirty="0">
                <a:solidFill>
                  <a:srgbClr val="0070C0"/>
                </a:solidFill>
                <a:effectLst/>
                <a:latin typeface="Consolas" panose="020B0609020204030204" pitchFamily="49" charset="0"/>
              </a:rPr>
              <a:t>        # Cross-attention with encoder output</a:t>
            </a:r>
          </a:p>
          <a:p>
            <a:pPr>
              <a:lnSpc>
                <a:spcPts val="1425"/>
              </a:lnSpc>
              <a:buNone/>
            </a:pPr>
            <a:r>
              <a:rPr lang="en-US" b="0" dirty="0">
                <a:solidFill>
                  <a:srgbClr val="0070C0"/>
                </a:solidFill>
                <a:effectLst/>
                <a:latin typeface="Consolas" panose="020B0609020204030204" pitchFamily="49" charset="0"/>
              </a:rPr>
              <a:t>        </a:t>
            </a:r>
            <a:r>
              <a:rPr lang="en-US" b="0" dirty="0">
                <a:solidFill>
                  <a:srgbClr val="FF0000"/>
                </a:solidFill>
                <a:effectLst/>
                <a:latin typeface="Consolas" panose="020B0609020204030204" pitchFamily="49" charset="0"/>
              </a:rPr>
              <a:t>attn2, attn_weights_block2 = self.mha2(</a:t>
            </a:r>
            <a:r>
              <a:rPr lang="en-US" b="0" dirty="0" err="1">
                <a:solidFill>
                  <a:srgbClr val="FF0000"/>
                </a:solidFill>
                <a:effectLst/>
                <a:latin typeface="Consolas" panose="020B0609020204030204" pitchFamily="49" charset="0"/>
              </a:rPr>
              <a:t>enc_output</a:t>
            </a:r>
            <a:r>
              <a:rPr lang="en-US" b="0" dirty="0">
                <a:solidFill>
                  <a:srgbClr val="FF0000"/>
                </a:solidFill>
                <a:effectLst/>
                <a:latin typeface="Consolas" panose="020B0609020204030204" pitchFamily="49" charset="0"/>
              </a:rPr>
              <a:t>, </a:t>
            </a:r>
            <a:r>
              <a:rPr lang="en-US" b="0" dirty="0" err="1">
                <a:solidFill>
                  <a:srgbClr val="FF0000"/>
                </a:solidFill>
                <a:effectLst/>
                <a:latin typeface="Consolas" panose="020B0609020204030204" pitchFamily="49" charset="0"/>
              </a:rPr>
              <a:t>enc_output</a:t>
            </a:r>
            <a:r>
              <a:rPr lang="en-US" b="0" dirty="0">
                <a:solidFill>
                  <a:srgbClr val="FF0000"/>
                </a:solidFill>
                <a:effectLst/>
                <a:latin typeface="Consolas" panose="020B0609020204030204" pitchFamily="49" charset="0"/>
              </a:rPr>
              <a:t>, out1, </a:t>
            </a:r>
            <a:r>
              <a:rPr lang="en-US" b="0" dirty="0" err="1">
                <a:solidFill>
                  <a:srgbClr val="FF0000"/>
                </a:solidFill>
                <a:effectLst/>
                <a:latin typeface="Consolas" panose="020B0609020204030204" pitchFamily="49" charset="0"/>
              </a:rPr>
              <a:t>padding_mask</a:t>
            </a:r>
            <a:r>
              <a:rPr lang="en-US" b="0" dirty="0">
                <a:solidFill>
                  <a:srgbClr val="FF0000"/>
                </a:solidFill>
                <a:effectLst/>
                <a:latin typeface="Consolas" panose="020B0609020204030204" pitchFamily="49" charset="0"/>
              </a:rPr>
              <a:t>) </a:t>
            </a:r>
          </a:p>
          <a:p>
            <a:pPr>
              <a:lnSpc>
                <a:spcPts val="1425"/>
              </a:lnSpc>
              <a:buNone/>
            </a:pPr>
            <a:r>
              <a:rPr lang="en-US" b="0" dirty="0">
                <a:solidFill>
                  <a:srgbClr val="FF0000"/>
                </a:solidFill>
                <a:effectLst/>
                <a:latin typeface="Consolas" panose="020B0609020204030204" pitchFamily="49" charset="0"/>
              </a:rPr>
              <a:t>        attn2 = self.dropout2(attn2, training=training)</a:t>
            </a:r>
          </a:p>
          <a:p>
            <a:pPr>
              <a:lnSpc>
                <a:spcPts val="1425"/>
              </a:lnSpc>
              <a:buNone/>
            </a:pPr>
            <a:r>
              <a:rPr lang="en-US" b="0" dirty="0">
                <a:solidFill>
                  <a:srgbClr val="FF0000"/>
                </a:solidFill>
                <a:effectLst/>
                <a:latin typeface="Consolas" panose="020B0609020204030204" pitchFamily="49" charset="0"/>
              </a:rPr>
              <a:t>        out2 = self.layernorm2(out1 + attn2)  </a:t>
            </a:r>
          </a:p>
          <a:p>
            <a:pPr>
              <a:lnSpc>
                <a:spcPts val="1425"/>
              </a:lnSpc>
              <a:buNone/>
            </a:pPr>
            <a:r>
              <a:rPr lang="en-US" b="0" dirty="0">
                <a:solidFill>
                  <a:srgbClr val="0070C0"/>
                </a:solidFill>
                <a:effectLst/>
                <a:latin typeface="Consolas" panose="020B0609020204030204" pitchFamily="49" charset="0"/>
              </a:rPr>
              <a:t>        </a:t>
            </a:r>
          </a:p>
          <a:p>
            <a:pPr>
              <a:lnSpc>
                <a:spcPts val="1425"/>
              </a:lnSpc>
              <a:buNone/>
            </a:pPr>
            <a:r>
              <a:rPr lang="en-US" b="0" dirty="0">
                <a:solidFill>
                  <a:srgbClr val="0070C0"/>
                </a:solidFill>
                <a:effectLst/>
                <a:latin typeface="Consolas" panose="020B0609020204030204" pitchFamily="49" charset="0"/>
              </a:rPr>
              <a:t>        # Feed forward</a:t>
            </a:r>
          </a:p>
          <a:p>
            <a:pPr>
              <a:lnSpc>
                <a:spcPts val="1425"/>
              </a:lnSpc>
              <a:buNone/>
            </a:pPr>
            <a:r>
              <a:rPr lang="en-US" b="0" dirty="0">
                <a:solidFill>
                  <a:srgbClr val="0070C0"/>
                </a:solidFill>
                <a:effectLst/>
                <a:latin typeface="Consolas" panose="020B0609020204030204" pitchFamily="49" charset="0"/>
              </a:rPr>
              <a:t>        </a:t>
            </a:r>
            <a:r>
              <a:rPr lang="en-US" b="0" dirty="0" err="1">
                <a:solidFill>
                  <a:srgbClr val="FF0000"/>
                </a:solidFill>
                <a:effectLst/>
                <a:latin typeface="Consolas" panose="020B0609020204030204" pitchFamily="49" charset="0"/>
              </a:rPr>
              <a:t>ffn_output</a:t>
            </a:r>
            <a:r>
              <a:rPr lang="en-US" b="0" dirty="0">
                <a:solidFill>
                  <a:srgbClr val="FF0000"/>
                </a:solidFill>
                <a:effectLst/>
                <a:latin typeface="Consolas" panose="020B0609020204030204" pitchFamily="49" charset="0"/>
              </a:rPr>
              <a:t> = </a:t>
            </a:r>
            <a:r>
              <a:rPr lang="en-US" b="0" dirty="0" err="1">
                <a:solidFill>
                  <a:srgbClr val="FF0000"/>
                </a:solidFill>
                <a:effectLst/>
                <a:latin typeface="Consolas" panose="020B0609020204030204" pitchFamily="49" charset="0"/>
              </a:rPr>
              <a:t>self.ffn</a:t>
            </a:r>
            <a:r>
              <a:rPr lang="en-US" b="0" dirty="0">
                <a:solidFill>
                  <a:srgbClr val="FF0000"/>
                </a:solidFill>
                <a:effectLst/>
                <a:latin typeface="Consolas" panose="020B0609020204030204" pitchFamily="49" charset="0"/>
              </a:rPr>
              <a:t>(out2)</a:t>
            </a:r>
          </a:p>
          <a:p>
            <a:pPr>
              <a:lnSpc>
                <a:spcPts val="1425"/>
              </a:lnSpc>
              <a:buNone/>
            </a:pPr>
            <a:r>
              <a:rPr lang="en-US" b="0" dirty="0">
                <a:solidFill>
                  <a:srgbClr val="FF0000"/>
                </a:solidFill>
                <a:effectLst/>
                <a:latin typeface="Consolas" panose="020B0609020204030204" pitchFamily="49" charset="0"/>
              </a:rPr>
              <a:t>        </a:t>
            </a:r>
            <a:r>
              <a:rPr lang="en-US" b="0" dirty="0" err="1">
                <a:solidFill>
                  <a:srgbClr val="FF0000"/>
                </a:solidFill>
                <a:effectLst/>
                <a:latin typeface="Consolas" panose="020B0609020204030204" pitchFamily="49" charset="0"/>
              </a:rPr>
              <a:t>ffn_output</a:t>
            </a:r>
            <a:r>
              <a:rPr lang="en-US" b="0" dirty="0">
                <a:solidFill>
                  <a:srgbClr val="FF0000"/>
                </a:solidFill>
                <a:effectLst/>
                <a:latin typeface="Consolas" panose="020B0609020204030204" pitchFamily="49" charset="0"/>
              </a:rPr>
              <a:t> = self.dropout3(</a:t>
            </a:r>
            <a:r>
              <a:rPr lang="en-US" b="0" dirty="0" err="1">
                <a:solidFill>
                  <a:srgbClr val="FF0000"/>
                </a:solidFill>
                <a:effectLst/>
                <a:latin typeface="Consolas" panose="020B0609020204030204" pitchFamily="49" charset="0"/>
              </a:rPr>
              <a:t>ffn_output</a:t>
            </a:r>
            <a:r>
              <a:rPr lang="en-US" b="0" dirty="0">
                <a:solidFill>
                  <a:srgbClr val="FF0000"/>
                </a:solidFill>
                <a:effectLst/>
                <a:latin typeface="Consolas" panose="020B0609020204030204" pitchFamily="49" charset="0"/>
              </a:rPr>
              <a:t>, training=training)</a:t>
            </a:r>
          </a:p>
          <a:p>
            <a:pPr>
              <a:lnSpc>
                <a:spcPts val="1425"/>
              </a:lnSpc>
              <a:buNone/>
            </a:pPr>
            <a:r>
              <a:rPr lang="en-US" b="0" dirty="0">
                <a:solidFill>
                  <a:srgbClr val="FF0000"/>
                </a:solidFill>
                <a:effectLst/>
                <a:latin typeface="Consolas" panose="020B0609020204030204" pitchFamily="49" charset="0"/>
              </a:rPr>
              <a:t>        out3 = self.layernorm3(out2 + </a:t>
            </a:r>
            <a:r>
              <a:rPr lang="en-US" b="0" dirty="0" err="1">
                <a:solidFill>
                  <a:srgbClr val="FF0000"/>
                </a:solidFill>
                <a:effectLst/>
                <a:latin typeface="Consolas" panose="020B0609020204030204" pitchFamily="49" charset="0"/>
              </a:rPr>
              <a:t>ffn_output</a:t>
            </a:r>
            <a:r>
              <a:rPr lang="en-US" b="0" dirty="0">
                <a:solidFill>
                  <a:srgbClr val="FF0000"/>
                </a:solidFill>
                <a:effectLst/>
                <a:latin typeface="Consolas" panose="020B0609020204030204" pitchFamily="49" charset="0"/>
              </a:rPr>
              <a:t>)          </a:t>
            </a:r>
          </a:p>
          <a:p>
            <a:pPr>
              <a:lnSpc>
                <a:spcPts val="1425"/>
              </a:lnSpc>
              <a:buNone/>
            </a:pPr>
            <a:r>
              <a:rPr lang="en-US" b="0" dirty="0">
                <a:solidFill>
                  <a:srgbClr val="0070C0"/>
                </a:solidFill>
                <a:effectLst/>
                <a:latin typeface="Consolas" panose="020B0609020204030204" pitchFamily="49" charset="0"/>
              </a:rPr>
              <a:t>        return out3, attn_weights_block1, attn_weights_block2</a:t>
            </a:r>
            <a:endParaRPr lang="en-US" dirty="0">
              <a:solidFill>
                <a:srgbClr val="0070C0"/>
              </a:solidFill>
            </a:endParaRPr>
          </a:p>
        </p:txBody>
      </p:sp>
    </p:spTree>
    <p:extLst>
      <p:ext uri="{BB962C8B-B14F-4D97-AF65-F5344CB8AC3E}">
        <p14:creationId xmlns:p14="http://schemas.microsoft.com/office/powerpoint/2010/main" val="3371837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4120</TotalTime>
  <Words>6903</Words>
  <Application>Microsoft Office PowerPoint</Application>
  <PresentationFormat>Widescreen</PresentationFormat>
  <Paragraphs>392</Paragraphs>
  <Slides>40</Slides>
  <Notes>8</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40</vt:i4>
      </vt:variant>
    </vt:vector>
  </HeadingPairs>
  <TitlesOfParts>
    <vt:vector size="49" baseType="lpstr">
      <vt:lpstr>Arial</vt:lpstr>
      <vt:lpstr>Calibri</vt:lpstr>
      <vt:lpstr>Calibri Light</vt:lpstr>
      <vt:lpstr>Cambria Math</vt:lpstr>
      <vt:lpstr>Consolas</vt:lpstr>
      <vt:lpstr>SourceSerif4-Regular</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Usman Khan</dc:creator>
  <cp:lastModifiedBy>Usman Khan</cp:lastModifiedBy>
  <cp:revision>101</cp:revision>
  <dcterms:created xsi:type="dcterms:W3CDTF">2026-05-23T16:58:05Z</dcterms:created>
  <dcterms:modified xsi:type="dcterms:W3CDTF">2026-05-30T03:21:00Z</dcterms:modified>
</cp:coreProperties>
</file>