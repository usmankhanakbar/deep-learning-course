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339" r:id="rId4"/>
    <p:sldId id="315" r:id="rId5"/>
    <p:sldId id="316" r:id="rId6"/>
    <p:sldId id="317" r:id="rId7"/>
    <p:sldId id="273" r:id="rId8"/>
    <p:sldId id="336" r:id="rId9"/>
    <p:sldId id="337" r:id="rId10"/>
    <p:sldId id="33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3CCF1E-7C26-42A2-8D85-A67404B21C6F}" type="datetimeFigureOut">
              <a:rPr lang="en-US" smtClean="0"/>
              <a:t>3/14/2026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6FE97B-677D-4853-985E-CB09C8454625}" type="slidenum">
              <a:rPr lang="en-US" smtClean="0"/>
              <a:t>‹#›</a:t>
            </a:fld>
            <a:endParaRPr lang="en-US"/>
          </a:p>
        </p:txBody>
      </p:sp>
    </p:spTree>
    <p:extLst>
      <p:ext uri="{BB962C8B-B14F-4D97-AF65-F5344CB8AC3E}">
        <p14:creationId xmlns:p14="http://schemas.microsoft.com/office/powerpoint/2010/main" val="4058366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5170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50C2-6D40-7D92-D068-ADECB9999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C7B78-E349-17D1-ECDA-95A6E4413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BCDD7-7002-491F-2B42-44CFAE3432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242F5E-8663-19F4-6B86-12A487DE9EF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1497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2FF7-E693-E6A1-F014-55FDF7623D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25C73-753D-9047-6297-9A6159A803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3A10A-6596-5209-3AD5-2DEF36EC5D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18A311-6100-9D39-6395-E4EAD79A9AE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983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FB2B-FF79-6365-2E7F-12F09AC3BD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52D4C-E39C-BE9E-04AE-38DBCFACC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57D04-609F-BCBD-B0B5-7C446C491B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55031E-CBE5-D7E2-66C2-90F10626859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0D130D-AD3D-4658-A75D-A0E62C0767A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0473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9D7CF-E5FE-2062-1513-F4A189F410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1D3669-681F-8D12-251F-A14C6F6A3D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2C784C-1E46-C1A9-C01B-1EE4513EFA10}"/>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71C8C3E2-5D51-2966-0624-75C7FF1225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09A5D1-1BB8-0EA8-4608-6598C233C2FD}"/>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1335119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48B1-46EA-9214-4662-3E1809B9F9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EAB6E0-D508-01E8-6325-DCB0331E25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8DAC6-D418-DA26-0DC2-480543B41A79}"/>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0D0002A7-CD99-0F44-70BA-C5CD3B2F4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41F579-4E33-E597-5C41-9EA1DBDAA742}"/>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3866300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81E7B-F899-22DE-1CB4-B7177F04A4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D98BA5-D8B8-8CFC-DD00-CD75488877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239D8-3BDC-6108-2C41-B3F2CB199192}"/>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27476B06-C79C-CB3E-20AF-DB6860673B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ED826-3623-049C-4C62-48DFEE0FA56A}"/>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266412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2FE3D-8CFE-0ECC-2435-78FD634D90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A9ADCE-B5F4-B00A-1801-5E01FF75021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B563EA-BA33-A007-0F9C-83C8A68C6E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1C42E6-7E9C-74FD-CBE4-1C9C448BEBCD}"/>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6" name="Footer Placeholder 5">
            <a:extLst>
              <a:ext uri="{FF2B5EF4-FFF2-40B4-BE49-F238E27FC236}">
                <a16:creationId xmlns:a16="http://schemas.microsoft.com/office/drawing/2014/main" id="{763EC2A1-5D81-3C29-725A-1CE5D5F1AD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CBEB2E-112E-7115-20CE-6842377BCCA8}"/>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3668119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CEB38-3A6C-B051-A03A-DB4FF42745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B231575-43E6-75F2-921A-13D0EBD9E1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9FF099-FA21-BB47-FB36-F45695F4C8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97C8B1-7865-5881-E801-93E93A8A1D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AB7B41-40AB-E252-B6C1-A257732D68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8A6796-EE24-E636-E2E9-E23DD82726FA}"/>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8" name="Footer Placeholder 7">
            <a:extLst>
              <a:ext uri="{FF2B5EF4-FFF2-40B4-BE49-F238E27FC236}">
                <a16:creationId xmlns:a16="http://schemas.microsoft.com/office/drawing/2014/main" id="{ACD0D55F-8468-6566-A94F-B107D30DA3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C835136-3AFA-BCA7-0A10-6434E61A6FE7}"/>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4112504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BA074-A17B-15A9-4B91-13D4E68EE4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55F558-4752-F4D7-29BB-E27A53B6E142}"/>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4" name="Footer Placeholder 3">
            <a:extLst>
              <a:ext uri="{FF2B5EF4-FFF2-40B4-BE49-F238E27FC236}">
                <a16:creationId xmlns:a16="http://schemas.microsoft.com/office/drawing/2014/main" id="{46A9B4AF-0D25-8E78-EA0C-494BB5B9AB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6EC9160-46E3-A2A0-1555-02F33E12B5F7}"/>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173036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FF2B37-9728-FC7F-EC60-93DEBD294380}"/>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3" name="Footer Placeholder 2">
            <a:extLst>
              <a:ext uri="{FF2B5EF4-FFF2-40B4-BE49-F238E27FC236}">
                <a16:creationId xmlns:a16="http://schemas.microsoft.com/office/drawing/2014/main" id="{59C7FD56-9886-8527-3233-5FEE30E297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EE54AE-74F1-912F-F54B-1365BDA6E96E}"/>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528126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E41D0-6AB5-B2BE-0E3B-43A30C4DB8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BBE59A-3503-E62E-0981-2544DDF3973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6FE010-3667-7CF1-0D66-7ABA2C2E47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4D2299-31B6-B5FD-926C-8D2DBA761D0A}"/>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6" name="Footer Placeholder 5">
            <a:extLst>
              <a:ext uri="{FF2B5EF4-FFF2-40B4-BE49-F238E27FC236}">
                <a16:creationId xmlns:a16="http://schemas.microsoft.com/office/drawing/2014/main" id="{9E8E5F0D-A56A-A54B-F581-0261DACCBE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6562CB-4EB8-D779-94FA-F65D480525D0}"/>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911069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8FDBB-3A82-93E3-0ABD-D966A2895C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414C758-00DA-58C8-7135-B67880A892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1A6855-4ACD-154D-A4BC-CB034634D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AE071-C111-FDC6-D6D1-F79F34E31A2C}"/>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6" name="Footer Placeholder 5">
            <a:extLst>
              <a:ext uri="{FF2B5EF4-FFF2-40B4-BE49-F238E27FC236}">
                <a16:creationId xmlns:a16="http://schemas.microsoft.com/office/drawing/2014/main" id="{4196FAFE-F9A9-E0E9-DFD4-848D76F9EA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7B4892-20EA-3C74-2519-CAE7EBF35E20}"/>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1452117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C2E76-B77E-B9BB-1D6E-7C69CCA212B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3C38B0-F3A2-5E7A-DF71-87F408FA98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3D0257-BC4D-DCB7-C8EB-733B97E2D604}"/>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6F9BCB54-841C-37DF-01CA-838BDE492E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9C228F-C316-5588-833B-B44DF46CE079}"/>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926855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1DAB52-8B97-D738-F44C-732356421EC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446FC6-DA2C-111B-A518-A1F4F915B2C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F6262E-CF33-EA90-A18A-2242ED48EF0E}"/>
              </a:ext>
            </a:extLst>
          </p:cNvPr>
          <p:cNvSpPr>
            <a:spLocks noGrp="1"/>
          </p:cNvSpPr>
          <p:nvPr>
            <p:ph type="dt" sz="half" idx="10"/>
          </p:nvPr>
        </p:nvSpPr>
        <p:spPr/>
        <p:txBody>
          <a:body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123C074E-5278-BA04-BBEF-25471FE28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A1C70C-50F1-2157-E3CC-8F77B8F3FC37}"/>
              </a:ext>
            </a:extLst>
          </p:cNvPr>
          <p:cNvSpPr>
            <a:spLocks noGrp="1"/>
          </p:cNvSpPr>
          <p:nvPr>
            <p:ph type="sldNum" sz="quarter" idx="12"/>
          </p:nvPr>
        </p:nvSpPr>
        <p:spPr/>
        <p:txBody>
          <a:bodyPr/>
          <a:lstStyle/>
          <a:p>
            <a:fld id="{89FE4877-BF98-418A-B978-F25E370989C7}" type="slidenum">
              <a:rPr lang="en-US" smtClean="0"/>
              <a:t>‹#›</a:t>
            </a:fld>
            <a:endParaRPr lang="en-US"/>
          </a:p>
        </p:txBody>
      </p:sp>
    </p:spTree>
    <p:extLst>
      <p:ext uri="{BB962C8B-B14F-4D97-AF65-F5344CB8AC3E}">
        <p14:creationId xmlns:p14="http://schemas.microsoft.com/office/powerpoint/2010/main" val="1327130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488A97-3373-6297-57F6-CE05540343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606034-F909-0A18-BD95-F7B46FBA97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9F3F31-1D48-F6E8-891C-05718541C2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60AFF-553B-4F57-B1B7-EE86680DF597}" type="datetimeFigureOut">
              <a:rPr lang="en-US" smtClean="0"/>
              <a:t>3/14/2026</a:t>
            </a:fld>
            <a:endParaRPr lang="en-US"/>
          </a:p>
        </p:txBody>
      </p:sp>
      <p:sp>
        <p:nvSpPr>
          <p:cNvPr id="5" name="Footer Placeholder 4">
            <a:extLst>
              <a:ext uri="{FF2B5EF4-FFF2-40B4-BE49-F238E27FC236}">
                <a16:creationId xmlns:a16="http://schemas.microsoft.com/office/drawing/2014/main" id="{15E66362-E1C8-E9CC-EE4A-3476CB7FD1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E4372EB-CE9E-0FB8-5FCA-C01C1722C3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FE4877-BF98-418A-B978-F25E370989C7}" type="slidenum">
              <a:rPr lang="en-US" smtClean="0"/>
              <a:t>‹#›</a:t>
            </a:fld>
            <a:endParaRPr lang="en-US"/>
          </a:p>
        </p:txBody>
      </p:sp>
    </p:spTree>
    <p:extLst>
      <p:ext uri="{BB962C8B-B14F-4D97-AF65-F5344CB8AC3E}">
        <p14:creationId xmlns:p14="http://schemas.microsoft.com/office/powerpoint/2010/main" val="2872634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p:cNvPicPr>
            <a:picLocks noChangeAspect="1"/>
          </p:cNvPicPr>
          <p:nvPr/>
        </p:nvPicPr>
        <p:blipFill>
          <a:blip r:embed="rId2"/>
          <a:stretch>
            <a:fillRect/>
          </a:stretch>
        </p:blipFill>
        <p:spPr>
          <a:xfrm>
            <a:off x="1323893" y="2279916"/>
            <a:ext cx="8893202" cy="2792827"/>
          </a:xfrm>
          <a:prstGeom prst="rect">
            <a:avLst/>
          </a:prstGeom>
        </p:spPr>
      </p:pic>
    </p:spTree>
    <p:extLst>
      <p:ext uri="{BB962C8B-B14F-4D97-AF65-F5344CB8AC3E}">
        <p14:creationId xmlns:p14="http://schemas.microsoft.com/office/powerpoint/2010/main" val="486590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99899" y="2693745"/>
            <a:ext cx="6192202" cy="1272389"/>
          </a:xfrm>
          <a:prstGeom prst="rect">
            <a:avLst/>
          </a:prstGeom>
          <a:solidFill>
            <a:srgbClr val="00206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DEEP LEARNING COURSE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sng" strike="noStrike" kern="1200" cap="none" spc="0" normalizeH="0" baseline="0" noProof="0" dirty="0">
                <a:ln>
                  <a:noFill/>
                </a:ln>
                <a:solidFill>
                  <a:srgbClr val="FFFF00"/>
                </a:solidFill>
                <a:effectLst>
                  <a:outerShdw blurRad="38100" dist="38100" dir="2700000" algn="tl">
                    <a:srgbClr val="000000">
                      <a:alpha val="43137"/>
                    </a:srgbClr>
                  </a:outerShdw>
                </a:effectLst>
                <a:uLnTx/>
                <a:uFillTx/>
                <a:latin typeface="Calibri" panose="020F0502020204030204"/>
                <a:ea typeface="+mn-ea"/>
                <a:cs typeface="+mn-cs"/>
              </a:rPr>
              <a:t>FALL 2026</a:t>
            </a:r>
          </a:p>
        </p:txBody>
      </p:sp>
      <p:sp>
        <p:nvSpPr>
          <p:cNvPr id="4" name="Rectangle 3"/>
          <p:cNvSpPr/>
          <p:nvPr/>
        </p:nvSpPr>
        <p:spPr>
          <a:xfrm>
            <a:off x="0" y="0"/>
            <a:ext cx="12192000" cy="1362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extBox 2"/>
          <p:cNvSpPr txBox="1"/>
          <p:nvPr/>
        </p:nvSpPr>
        <p:spPr>
          <a:xfrm>
            <a:off x="8107680" y="6263640"/>
            <a:ext cx="352044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Usman Khan, PhD</a:t>
            </a:r>
          </a:p>
        </p:txBody>
      </p:sp>
    </p:spTree>
    <p:extLst>
      <p:ext uri="{BB962C8B-B14F-4D97-AF65-F5344CB8AC3E}">
        <p14:creationId xmlns:p14="http://schemas.microsoft.com/office/powerpoint/2010/main" val="1188647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34F80-122C-FD42-701C-74BFB9B61C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50AA807-14E8-18B2-89E2-793F7FC5D96A}"/>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2" name="TextBox 1">
            <a:extLst>
              <a:ext uri="{FF2B5EF4-FFF2-40B4-BE49-F238E27FC236}">
                <a16:creationId xmlns:a16="http://schemas.microsoft.com/office/drawing/2014/main" id="{997FCDEB-BBFA-6C7F-BA38-10962EDE8160}"/>
              </a:ext>
            </a:extLst>
          </p:cNvPr>
          <p:cNvSpPr txBox="1"/>
          <p:nvPr/>
        </p:nvSpPr>
        <p:spPr>
          <a:xfrm>
            <a:off x="365760" y="904240"/>
            <a:ext cx="11501120" cy="3139321"/>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err="1">
                <a:solidFill>
                  <a:srgbClr val="0070C0"/>
                </a:solidFill>
                <a:effectLst>
                  <a:outerShdw blurRad="38100" dist="38100" dir="2700000" algn="tl">
                    <a:srgbClr val="000000">
                      <a:alpha val="43137"/>
                    </a:srgbClr>
                  </a:outerShdw>
                </a:effectLst>
              </a:rPr>
              <a:t>Keras</a:t>
            </a:r>
            <a:r>
              <a:rPr lang="en-US" dirty="0">
                <a:solidFill>
                  <a:srgbClr val="0070C0"/>
                </a:solidFill>
                <a:effectLst>
                  <a:outerShdw blurRad="38100" dist="38100" dir="2700000" algn="tl">
                    <a:srgbClr val="000000">
                      <a:alpha val="43137"/>
                    </a:srgbClr>
                  </a:outerShdw>
                </a:effectLst>
              </a:rPr>
              <a:t> is a high-level Deep Learning API </a:t>
            </a:r>
            <a:r>
              <a:rPr lang="en-US" dirty="0"/>
              <a:t>that allows you to easily build, train, evaluate, and execute all sorts of neural networks. Its documentation (or specification) is available at </a:t>
            </a:r>
            <a:r>
              <a:rPr lang="en-US" i="1" dirty="0">
                <a:solidFill>
                  <a:srgbClr val="0070C0"/>
                </a:solidFill>
                <a:effectLst>
                  <a:outerShdw blurRad="38100" dist="38100" dir="2700000" algn="tl">
                    <a:srgbClr val="000000">
                      <a:alpha val="43137"/>
                    </a:srgbClr>
                  </a:outerShdw>
                </a:effectLst>
              </a:rPr>
              <a:t>https://keras.io/</a:t>
            </a:r>
            <a:r>
              <a:rPr lang="en-US" dirty="0">
                <a:solidFill>
                  <a:srgbClr val="0070C0"/>
                </a:solidFill>
                <a:effectLst>
                  <a:outerShdw blurRad="38100" dist="38100" dir="2700000" algn="tl">
                    <a:srgbClr val="000000">
                      <a:alpha val="43137"/>
                    </a:srgbClr>
                  </a:outerShdw>
                </a:effectLst>
              </a:rPr>
              <a:t>. </a:t>
            </a:r>
            <a:r>
              <a:rPr lang="en-US" dirty="0"/>
              <a:t>The reference implementation, also called </a:t>
            </a:r>
            <a:r>
              <a:rPr lang="en-US" dirty="0" err="1"/>
              <a:t>Keras</a:t>
            </a:r>
            <a:r>
              <a:rPr lang="en-US" dirty="0"/>
              <a:t>, was developed by François Chollet as part of a research project and was released as an open source project in March 2015</a:t>
            </a:r>
          </a:p>
          <a:p>
            <a:pPr marL="285750" indent="-285750" algn="just">
              <a:buFont typeface="Wingdings" panose="05000000000000000000" pitchFamily="2" charset="2"/>
              <a:buChar char="q"/>
            </a:pPr>
            <a:r>
              <a:rPr lang="en-US" dirty="0"/>
              <a:t>You can choose from three popular open-source Deep Learning libraries: </a:t>
            </a:r>
            <a:r>
              <a:rPr lang="en-US" dirty="0">
                <a:solidFill>
                  <a:srgbClr val="0070C0"/>
                </a:solidFill>
                <a:effectLst>
                  <a:outerShdw blurRad="38100" dist="38100" dir="2700000" algn="tl">
                    <a:srgbClr val="000000">
                      <a:alpha val="43137"/>
                    </a:srgbClr>
                  </a:outerShdw>
                </a:effectLst>
              </a:rPr>
              <a:t>TensorFlow, Microsoft Cognitive Toolkit (CNTK), and Theano</a:t>
            </a:r>
          </a:p>
          <a:p>
            <a:pPr marL="285750" indent="-285750">
              <a:buFont typeface="Wingdings" panose="05000000000000000000" pitchFamily="2" charset="2"/>
              <a:buChar char="q"/>
            </a:pPr>
            <a:r>
              <a:rPr lang="en-US" dirty="0"/>
              <a:t>Since late 2016, other implementations have been released. You can now run </a:t>
            </a:r>
            <a:r>
              <a:rPr lang="en-US" dirty="0" err="1"/>
              <a:t>Keras</a:t>
            </a:r>
            <a:r>
              <a:rPr lang="en-US" dirty="0"/>
              <a:t> on </a:t>
            </a:r>
            <a:r>
              <a:rPr lang="en-US" dirty="0">
                <a:solidFill>
                  <a:srgbClr val="0070C0"/>
                </a:solidFill>
                <a:effectLst>
                  <a:outerShdw blurRad="38100" dist="38100" dir="2700000" algn="tl">
                    <a:srgbClr val="000000">
                      <a:alpha val="43137"/>
                    </a:srgbClr>
                  </a:outerShdw>
                </a:effectLst>
              </a:rPr>
              <a:t>Apache </a:t>
            </a:r>
            <a:r>
              <a:rPr lang="en-US" dirty="0" err="1">
                <a:solidFill>
                  <a:srgbClr val="0070C0"/>
                </a:solidFill>
                <a:effectLst>
                  <a:outerShdw blurRad="38100" dist="38100" dir="2700000" algn="tl">
                    <a:srgbClr val="000000">
                      <a:alpha val="43137"/>
                    </a:srgbClr>
                  </a:outerShdw>
                </a:effectLst>
              </a:rPr>
              <a:t>MXNet</a:t>
            </a:r>
            <a:r>
              <a:rPr lang="en-US" dirty="0">
                <a:solidFill>
                  <a:srgbClr val="0070C0"/>
                </a:solidFill>
                <a:effectLst>
                  <a:outerShdw blurRad="38100" dist="38100" dir="2700000" algn="tl">
                    <a:srgbClr val="000000">
                      <a:alpha val="43137"/>
                    </a:srgbClr>
                  </a:outerShdw>
                </a:effectLst>
              </a:rPr>
              <a:t>, Apple’s Core ML, JavaScript or TypeScript </a:t>
            </a:r>
            <a:r>
              <a:rPr lang="en-US" dirty="0"/>
              <a:t>(to run </a:t>
            </a:r>
            <a:r>
              <a:rPr lang="en-US" dirty="0" err="1"/>
              <a:t>Keras</a:t>
            </a:r>
            <a:r>
              <a:rPr lang="en-US" dirty="0"/>
              <a:t> code in a web browser), and </a:t>
            </a:r>
            <a:r>
              <a:rPr lang="en-US" dirty="0" err="1">
                <a:solidFill>
                  <a:srgbClr val="0070C0"/>
                </a:solidFill>
                <a:effectLst>
                  <a:outerShdw blurRad="38100" dist="38100" dir="2700000" algn="tl">
                    <a:srgbClr val="000000">
                      <a:alpha val="43137"/>
                    </a:srgbClr>
                  </a:outerShdw>
                </a:effectLst>
              </a:rPr>
              <a:t>PlaidML</a:t>
            </a:r>
            <a:r>
              <a:rPr lang="en-US" dirty="0"/>
              <a:t> (which can run on all sorts of GPU devices, not just Nvidia). </a:t>
            </a:r>
            <a:br>
              <a:rPr lang="en-US" dirty="0"/>
            </a:br>
            <a:br>
              <a:rPr lang="en-US" dirty="0"/>
            </a:br>
            <a:endParaRPr lang="en-US" dirty="0"/>
          </a:p>
        </p:txBody>
      </p:sp>
      <p:pic>
        <p:nvPicPr>
          <p:cNvPr id="6" name="Picture 5">
            <a:extLst>
              <a:ext uri="{FF2B5EF4-FFF2-40B4-BE49-F238E27FC236}">
                <a16:creationId xmlns:a16="http://schemas.microsoft.com/office/drawing/2014/main" id="{C9AB9020-14E3-AE9A-D6A3-0B7059BF4767}"/>
              </a:ext>
            </a:extLst>
          </p:cNvPr>
          <p:cNvPicPr>
            <a:picLocks noChangeAspect="1"/>
          </p:cNvPicPr>
          <p:nvPr/>
        </p:nvPicPr>
        <p:blipFill>
          <a:blip r:embed="rId2"/>
          <a:stretch>
            <a:fillRect/>
          </a:stretch>
        </p:blipFill>
        <p:spPr>
          <a:xfrm>
            <a:off x="1860868" y="3715206"/>
            <a:ext cx="7123822" cy="2751634"/>
          </a:xfrm>
          <a:prstGeom prst="rect">
            <a:avLst/>
          </a:prstGeom>
        </p:spPr>
      </p:pic>
    </p:spTree>
    <p:extLst>
      <p:ext uri="{BB962C8B-B14F-4D97-AF65-F5344CB8AC3E}">
        <p14:creationId xmlns:p14="http://schemas.microsoft.com/office/powerpoint/2010/main" val="161982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98CAF-88E1-18BE-9AAE-B9949C0C6AF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0462E8D-5416-85C5-C76A-EE76D2807C92}"/>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3" name="TextBox 2">
            <a:extLst>
              <a:ext uri="{FF2B5EF4-FFF2-40B4-BE49-F238E27FC236}">
                <a16:creationId xmlns:a16="http://schemas.microsoft.com/office/drawing/2014/main" id="{A52E6E9B-7493-013B-54DB-F7D904CA0F9F}"/>
              </a:ext>
            </a:extLst>
          </p:cNvPr>
          <p:cNvSpPr txBox="1"/>
          <p:nvPr/>
        </p:nvSpPr>
        <p:spPr>
          <a:xfrm>
            <a:off x="294640" y="894080"/>
            <a:ext cx="11602720" cy="7666842"/>
          </a:xfrm>
          <a:prstGeom prst="rect">
            <a:avLst/>
          </a:prstGeom>
          <a:noFill/>
        </p:spPr>
        <p:txBody>
          <a:bodyPr wrap="square" rtlCol="0">
            <a:spAutoFit/>
          </a:bodyPr>
          <a:lstStyle/>
          <a:p>
            <a:pPr marL="285750" indent="-285750">
              <a:lnSpc>
                <a:spcPct val="200000"/>
              </a:lnSpc>
              <a:buFont typeface="Wingdings" panose="05000000000000000000" pitchFamily="2" charset="2"/>
              <a:buChar char="q"/>
            </a:pPr>
            <a:r>
              <a:rPr lang="en-US" sz="2000" i="1" dirty="0">
                <a:solidFill>
                  <a:srgbClr val="0070C0"/>
                </a:solidFill>
                <a:effectLst>
                  <a:outerShdw blurRad="38100" dist="38100" dir="2700000" algn="tl">
                    <a:srgbClr val="000000">
                      <a:alpha val="43137"/>
                    </a:srgbClr>
                  </a:outerShdw>
                </a:effectLst>
              </a:rPr>
              <a:t>TensorFlow itself now comes bundled with its own </a:t>
            </a:r>
            <a:r>
              <a:rPr lang="en-US" sz="2000" i="1" dirty="0" err="1">
                <a:solidFill>
                  <a:srgbClr val="0070C0"/>
                </a:solidFill>
                <a:effectLst>
                  <a:outerShdw blurRad="38100" dist="38100" dir="2700000" algn="tl">
                    <a:srgbClr val="000000">
                      <a:alpha val="43137"/>
                    </a:srgbClr>
                  </a:outerShdw>
                </a:effectLst>
              </a:rPr>
              <a:t>Keras</a:t>
            </a:r>
            <a:r>
              <a:rPr lang="en-US" sz="2000" i="1" dirty="0">
                <a:solidFill>
                  <a:srgbClr val="0070C0"/>
                </a:solidFill>
                <a:effectLst>
                  <a:outerShdw blurRad="38100" dist="38100" dir="2700000" algn="tl">
                    <a:srgbClr val="000000">
                      <a:alpha val="43137"/>
                    </a:srgbClr>
                  </a:outerShdw>
                </a:effectLst>
              </a:rPr>
              <a:t> implementation, </a:t>
            </a:r>
            <a:r>
              <a:rPr lang="en-US" sz="2000" i="1" dirty="0" err="1">
                <a:solidFill>
                  <a:srgbClr val="0070C0"/>
                </a:solidFill>
                <a:effectLst>
                  <a:outerShdw blurRad="38100" dist="38100" dir="2700000" algn="tl">
                    <a:srgbClr val="000000">
                      <a:alpha val="43137"/>
                    </a:srgbClr>
                  </a:outerShdw>
                </a:effectLst>
              </a:rPr>
              <a:t>tf.keras</a:t>
            </a:r>
            <a:r>
              <a:rPr lang="en-US" sz="2000" dirty="0"/>
              <a:t>. It only supports TensorFlow as the backend, but it has the advantage of offering some very useful extra features </a:t>
            </a:r>
            <a:r>
              <a:rPr lang="en-US" sz="2000" dirty="0" err="1"/>
              <a:t>e.g</a:t>
            </a:r>
            <a:r>
              <a:rPr lang="en-US" sz="2000" dirty="0"/>
              <a:t> </a:t>
            </a:r>
            <a:r>
              <a:rPr lang="en-US" sz="2000" i="1" dirty="0">
                <a:solidFill>
                  <a:srgbClr val="0070C0"/>
                </a:solidFill>
                <a:effectLst>
                  <a:outerShdw blurRad="38100" dist="38100" dir="2700000" algn="tl">
                    <a:srgbClr val="000000">
                      <a:alpha val="43137"/>
                    </a:srgbClr>
                  </a:outerShdw>
                </a:effectLst>
              </a:rPr>
              <a:t>TensorFlow’s Data API</a:t>
            </a:r>
            <a:r>
              <a:rPr lang="en-US" sz="2000" dirty="0"/>
              <a:t>, which makes it easy to load and preprocess data efficiently. </a:t>
            </a:r>
          </a:p>
          <a:p>
            <a:pPr marL="285750" indent="-285750">
              <a:lnSpc>
                <a:spcPct val="200000"/>
              </a:lnSpc>
              <a:buFont typeface="Wingdings" panose="05000000000000000000" pitchFamily="2" charset="2"/>
              <a:buChar char="q"/>
            </a:pPr>
            <a:r>
              <a:rPr lang="en-US" sz="2000" dirty="0"/>
              <a:t>The most popular Deep Learning library, after </a:t>
            </a:r>
            <a:r>
              <a:rPr lang="en-US" sz="2000" dirty="0" err="1"/>
              <a:t>Keras</a:t>
            </a:r>
            <a:r>
              <a:rPr lang="en-US" sz="2000" dirty="0"/>
              <a:t> and TensorFlow, is </a:t>
            </a:r>
            <a:r>
              <a:rPr lang="en-US" sz="2000" i="1" dirty="0">
                <a:solidFill>
                  <a:srgbClr val="0070C0"/>
                </a:solidFill>
                <a:effectLst>
                  <a:outerShdw blurRad="38100" dist="38100" dir="2700000" algn="tl">
                    <a:srgbClr val="000000">
                      <a:alpha val="43137"/>
                    </a:srgbClr>
                  </a:outerShdw>
                </a:effectLst>
              </a:rPr>
              <a:t>Facebook’s </a:t>
            </a:r>
            <a:r>
              <a:rPr lang="en-US" sz="2000" i="1" dirty="0" err="1">
                <a:solidFill>
                  <a:srgbClr val="0070C0"/>
                </a:solidFill>
                <a:effectLst>
                  <a:outerShdw blurRad="38100" dist="38100" dir="2700000" algn="tl">
                    <a:srgbClr val="000000">
                      <a:alpha val="43137"/>
                    </a:srgbClr>
                  </a:outerShdw>
                </a:effectLst>
              </a:rPr>
              <a:t>PyTorch</a:t>
            </a:r>
            <a:r>
              <a:rPr lang="en-US" sz="2000" i="1" dirty="0">
                <a:solidFill>
                  <a:srgbClr val="0070C0"/>
                </a:solidFill>
                <a:effectLst>
                  <a:outerShdw blurRad="38100" dist="38100" dir="2700000" algn="tl">
                    <a:srgbClr val="000000">
                      <a:alpha val="43137"/>
                    </a:srgbClr>
                  </a:outerShdw>
                </a:effectLst>
              </a:rPr>
              <a:t> library</a:t>
            </a:r>
            <a:r>
              <a:rPr lang="en-US" sz="2000" dirty="0"/>
              <a:t>. The good news is that its </a:t>
            </a:r>
            <a:r>
              <a:rPr lang="en-US" sz="2000" i="1" dirty="0">
                <a:solidFill>
                  <a:srgbClr val="0070C0"/>
                </a:solidFill>
                <a:effectLst>
                  <a:outerShdw blurRad="38100" dist="38100" dir="2700000" algn="tl">
                    <a:srgbClr val="000000">
                      <a:alpha val="43137"/>
                    </a:srgbClr>
                  </a:outerShdw>
                </a:effectLst>
              </a:rPr>
              <a:t>API is quite similar to </a:t>
            </a:r>
            <a:r>
              <a:rPr lang="en-US" sz="2000" i="1" dirty="0" err="1">
                <a:solidFill>
                  <a:srgbClr val="0070C0"/>
                </a:solidFill>
                <a:effectLst>
                  <a:outerShdw blurRad="38100" dist="38100" dir="2700000" algn="tl">
                    <a:srgbClr val="000000">
                      <a:alpha val="43137"/>
                    </a:srgbClr>
                  </a:outerShdw>
                </a:effectLst>
              </a:rPr>
              <a:t>Keras’s</a:t>
            </a:r>
            <a:r>
              <a:rPr lang="en-US" sz="2000" i="1" dirty="0">
                <a:solidFill>
                  <a:srgbClr val="0070C0"/>
                </a:solidFill>
                <a:effectLst>
                  <a:outerShdw blurRad="38100" dist="38100" dir="2700000" algn="tl">
                    <a:srgbClr val="000000">
                      <a:alpha val="43137"/>
                    </a:srgbClr>
                  </a:outerShdw>
                </a:effectLst>
              </a:rPr>
              <a:t> </a:t>
            </a:r>
            <a:r>
              <a:rPr lang="en-US" sz="2000" dirty="0"/>
              <a:t>(in part because both APIs were inspired by Scikit-Learn and Chainer), so once you know </a:t>
            </a:r>
            <a:r>
              <a:rPr lang="en-US" sz="2000" dirty="0" err="1"/>
              <a:t>Keras</a:t>
            </a:r>
            <a:r>
              <a:rPr lang="en-US" sz="2000" dirty="0"/>
              <a:t>, it is not difficult to switch to </a:t>
            </a:r>
            <a:r>
              <a:rPr lang="en-US" sz="2000" dirty="0" err="1"/>
              <a:t>PyTorch</a:t>
            </a:r>
            <a:r>
              <a:rPr lang="en-US" sz="2000" dirty="0"/>
              <a:t>. </a:t>
            </a:r>
          </a:p>
          <a:p>
            <a:pPr marL="285750" indent="-285750">
              <a:lnSpc>
                <a:spcPct val="200000"/>
              </a:lnSpc>
              <a:buFont typeface="Wingdings" panose="05000000000000000000" pitchFamily="2" charset="2"/>
              <a:buChar char="q"/>
            </a:pPr>
            <a:r>
              <a:rPr lang="en-US" sz="2000" i="1" dirty="0">
                <a:solidFill>
                  <a:srgbClr val="0070C0"/>
                </a:solidFill>
                <a:effectLst>
                  <a:outerShdw blurRad="38100" dist="38100" dir="2700000" algn="tl">
                    <a:srgbClr val="000000">
                      <a:alpha val="43137"/>
                    </a:srgbClr>
                  </a:outerShdw>
                </a:effectLst>
              </a:rPr>
              <a:t>TensorFlow 2 is arguably just as simple as </a:t>
            </a:r>
            <a:r>
              <a:rPr lang="en-US" sz="2000" i="1" dirty="0" err="1">
                <a:solidFill>
                  <a:srgbClr val="0070C0"/>
                </a:solidFill>
                <a:effectLst>
                  <a:outerShdw blurRad="38100" dist="38100" dir="2700000" algn="tl">
                    <a:srgbClr val="000000">
                      <a:alpha val="43137"/>
                    </a:srgbClr>
                  </a:outerShdw>
                </a:effectLst>
              </a:rPr>
              <a:t>PyTorch</a:t>
            </a:r>
            <a:r>
              <a:rPr lang="en-US" sz="2000" dirty="0"/>
              <a:t>, as it has adopted </a:t>
            </a:r>
            <a:r>
              <a:rPr lang="en-US" sz="2000" dirty="0" err="1"/>
              <a:t>Keras</a:t>
            </a:r>
            <a:r>
              <a:rPr lang="en-US" sz="2000" dirty="0"/>
              <a:t> as its official high-level API and its developers have greatly simplified and cleaned up the rest of the API. The documentation has also been completely reorganized, and it is much easier to find what you need now. </a:t>
            </a:r>
          </a:p>
          <a:p>
            <a:pPr>
              <a:lnSpc>
                <a:spcPct val="150000"/>
              </a:lnSpc>
            </a:pP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37173036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C70A36-F63D-3F25-6939-6927C991789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EE4B368-9A34-0C2F-3C32-E17EBAD74C36}"/>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sp>
        <p:nvSpPr>
          <p:cNvPr id="3" name="TextBox 2">
            <a:extLst>
              <a:ext uri="{FF2B5EF4-FFF2-40B4-BE49-F238E27FC236}">
                <a16:creationId xmlns:a16="http://schemas.microsoft.com/office/drawing/2014/main" id="{8C8AAA1B-1CDA-A3C2-F4CB-F26905FDBDA1}"/>
              </a:ext>
            </a:extLst>
          </p:cNvPr>
          <p:cNvSpPr txBox="1"/>
          <p:nvPr/>
        </p:nvSpPr>
        <p:spPr>
          <a:xfrm>
            <a:off x="294640" y="589280"/>
            <a:ext cx="11602720" cy="8821005"/>
          </a:xfrm>
          <a:prstGeom prst="rect">
            <a:avLst/>
          </a:prstGeom>
          <a:noFill/>
        </p:spPr>
        <p:txBody>
          <a:bodyPr wrap="square" rtlCol="0">
            <a:spAutoFit/>
          </a:bodyPr>
          <a:lstStyle/>
          <a:p>
            <a:pPr marL="285750" indent="-285750">
              <a:lnSpc>
                <a:spcPct val="250000"/>
              </a:lnSpc>
              <a:buFont typeface="Wingdings" panose="05000000000000000000" pitchFamily="2" charset="2"/>
              <a:buChar char="q"/>
            </a:pPr>
            <a:r>
              <a:rPr lang="en-US" sz="2000" dirty="0"/>
              <a:t>Steps to Install </a:t>
            </a:r>
            <a:r>
              <a:rPr lang="en-US" sz="2000" dirty="0" err="1"/>
              <a:t>Wsl</a:t>
            </a:r>
            <a:r>
              <a:rPr lang="en-US" sz="2000" dirty="0"/>
              <a:t> in Windows (connected to Internet):-</a:t>
            </a:r>
          </a:p>
          <a:p>
            <a:pPr marL="803275" indent="-457200">
              <a:lnSpc>
                <a:spcPct val="250000"/>
              </a:lnSpc>
              <a:buFont typeface="Wingdings" panose="05000000000000000000" pitchFamily="2" charset="2"/>
              <a:buChar char="ü"/>
            </a:pPr>
            <a:r>
              <a:rPr lang="en-US" sz="2000" dirty="0"/>
              <a:t>Open Command Prompt on Windows 11 or 10 and type </a:t>
            </a:r>
            <a:r>
              <a:rPr lang="en-US" sz="2000" i="1" dirty="0" err="1">
                <a:solidFill>
                  <a:srgbClr val="C00000"/>
                </a:solidFill>
                <a:effectLst>
                  <a:outerShdw blurRad="38100" dist="38100" dir="2700000" algn="tl">
                    <a:srgbClr val="000000">
                      <a:alpha val="43137"/>
                    </a:srgbClr>
                  </a:outerShdw>
                </a:effectLst>
              </a:rPr>
              <a:t>wsl</a:t>
            </a:r>
            <a:r>
              <a:rPr lang="en-US" sz="2000" i="1" dirty="0">
                <a:solidFill>
                  <a:srgbClr val="C00000"/>
                </a:solidFill>
                <a:effectLst>
                  <a:outerShdw blurRad="38100" dist="38100" dir="2700000" algn="tl">
                    <a:srgbClr val="000000">
                      <a:alpha val="43137"/>
                    </a:srgbClr>
                  </a:outerShdw>
                </a:effectLst>
              </a:rPr>
              <a:t> –install </a:t>
            </a:r>
            <a:r>
              <a:rPr lang="en-US" sz="2000" i="1" dirty="0">
                <a:effectLst>
                  <a:outerShdw blurRad="38100" dist="38100" dir="2700000" algn="tl">
                    <a:srgbClr val="000000">
                      <a:alpha val="43137"/>
                    </a:srgbClr>
                  </a:outerShdw>
                </a:effectLst>
              </a:rPr>
              <a:t>(To Install Ubuntu)</a:t>
            </a:r>
          </a:p>
          <a:p>
            <a:pPr marL="803275" indent="-457200">
              <a:lnSpc>
                <a:spcPct val="250000"/>
              </a:lnSpc>
              <a:buFont typeface="Wingdings" panose="05000000000000000000" pitchFamily="2" charset="2"/>
              <a:buChar char="ü"/>
            </a:pPr>
            <a:r>
              <a:rPr lang="en-US" sz="2000" dirty="0">
                <a:solidFill>
                  <a:srgbClr val="C00000"/>
                </a:solidFill>
              </a:rPr>
              <a:t> </a:t>
            </a:r>
            <a:r>
              <a:rPr lang="en-US" sz="2000" dirty="0"/>
              <a:t>Restart the computer to install the Linux</a:t>
            </a:r>
          </a:p>
          <a:p>
            <a:pPr marL="803275" indent="-457200">
              <a:lnSpc>
                <a:spcPct val="250000"/>
              </a:lnSpc>
              <a:buFont typeface="Wingdings" panose="05000000000000000000" pitchFamily="2" charset="2"/>
              <a:buChar char="ü"/>
            </a:pPr>
            <a:r>
              <a:rPr lang="en-US" sz="2000" dirty="0"/>
              <a:t>Open the Ubuntu Terminal and run command </a:t>
            </a:r>
            <a:r>
              <a:rPr lang="en-US" i="1" dirty="0" err="1">
                <a:solidFill>
                  <a:srgbClr val="C00000"/>
                </a:solidFill>
                <a:effectLst>
                  <a:outerShdw blurRad="38100" dist="38100" dir="2700000" algn="tl">
                    <a:srgbClr val="000000">
                      <a:alpha val="43137"/>
                    </a:srgbClr>
                  </a:outerShdw>
                </a:effectLst>
              </a:rPr>
              <a:t>sudo</a:t>
            </a:r>
            <a:r>
              <a:rPr lang="en-US" i="1" dirty="0">
                <a:solidFill>
                  <a:srgbClr val="C00000"/>
                </a:solidFill>
                <a:effectLst>
                  <a:outerShdw blurRad="38100" dist="38100" dir="2700000" algn="tl">
                    <a:srgbClr val="000000">
                      <a:alpha val="43137"/>
                    </a:srgbClr>
                  </a:outerShdw>
                </a:effectLst>
              </a:rPr>
              <a:t> apt update &amp;&amp; </a:t>
            </a:r>
            <a:r>
              <a:rPr lang="en-US" i="1" dirty="0" err="1">
                <a:solidFill>
                  <a:srgbClr val="C00000"/>
                </a:solidFill>
                <a:effectLst>
                  <a:outerShdw blurRad="38100" dist="38100" dir="2700000" algn="tl">
                    <a:srgbClr val="000000">
                      <a:alpha val="43137"/>
                    </a:srgbClr>
                  </a:outerShdw>
                </a:effectLst>
              </a:rPr>
              <a:t>sudo</a:t>
            </a:r>
            <a:r>
              <a:rPr lang="en-US" i="1" dirty="0">
                <a:solidFill>
                  <a:srgbClr val="C00000"/>
                </a:solidFill>
                <a:effectLst>
                  <a:outerShdw blurRad="38100" dist="38100" dir="2700000" algn="tl">
                    <a:srgbClr val="000000">
                      <a:alpha val="43137"/>
                    </a:srgbClr>
                  </a:outerShdw>
                </a:effectLst>
              </a:rPr>
              <a:t> apt upgrade</a:t>
            </a:r>
          </a:p>
          <a:p>
            <a:pPr marL="803275" indent="-457200">
              <a:lnSpc>
                <a:spcPct val="250000"/>
              </a:lnSpc>
              <a:buFont typeface="Wingdings" panose="05000000000000000000" pitchFamily="2" charset="2"/>
              <a:buChar char="ü"/>
            </a:pPr>
            <a:r>
              <a:rPr lang="en-US" sz="2000" dirty="0"/>
              <a:t>Then run the command </a:t>
            </a:r>
            <a:r>
              <a:rPr lang="en-US" i="1" dirty="0" err="1">
                <a:solidFill>
                  <a:srgbClr val="C00000"/>
                </a:solidFill>
                <a:effectLst>
                  <a:outerShdw blurRad="38100" dist="38100" dir="2700000" algn="tl">
                    <a:srgbClr val="000000">
                      <a:alpha val="43137"/>
                    </a:srgbClr>
                  </a:outerShdw>
                </a:effectLst>
              </a:rPr>
              <a:t>sudo</a:t>
            </a:r>
            <a:r>
              <a:rPr lang="en-US" i="1" dirty="0">
                <a:solidFill>
                  <a:srgbClr val="C00000"/>
                </a:solidFill>
                <a:effectLst>
                  <a:outerShdw blurRad="38100" dist="38100" dir="2700000" algn="tl">
                    <a:srgbClr val="000000">
                      <a:alpha val="43137"/>
                    </a:srgbClr>
                  </a:outerShdw>
                </a:effectLst>
              </a:rPr>
              <a:t> apt install python3 python3-pip python3-venv</a:t>
            </a:r>
          </a:p>
          <a:p>
            <a:pPr marL="803275" indent="-457200">
              <a:lnSpc>
                <a:spcPct val="250000"/>
              </a:lnSpc>
              <a:buFont typeface="Wingdings" panose="05000000000000000000" pitchFamily="2" charset="2"/>
              <a:buChar char="ü"/>
            </a:pPr>
            <a:r>
              <a:rPr lang="en-US" sz="2000" dirty="0"/>
              <a:t>Create a Directory </a:t>
            </a:r>
            <a:r>
              <a:rPr lang="en-US" sz="2000" dirty="0" err="1"/>
              <a:t>DL_Projects</a:t>
            </a:r>
            <a:r>
              <a:rPr lang="en-US" sz="2000" dirty="0"/>
              <a:t> by </a:t>
            </a:r>
            <a:r>
              <a:rPr lang="en-US" sz="2000" dirty="0" err="1"/>
              <a:t>linux</a:t>
            </a:r>
            <a:r>
              <a:rPr lang="en-US" sz="2000" dirty="0"/>
              <a:t> command </a:t>
            </a:r>
            <a:r>
              <a:rPr lang="en-US" sz="2000" i="1" dirty="0" err="1">
                <a:solidFill>
                  <a:srgbClr val="C00000"/>
                </a:solidFill>
                <a:effectLst>
                  <a:outerShdw blurRad="38100" dist="38100" dir="2700000" algn="tl">
                    <a:srgbClr val="000000">
                      <a:alpha val="43137"/>
                    </a:srgbClr>
                  </a:outerShdw>
                </a:effectLst>
              </a:rPr>
              <a:t>mkdir</a:t>
            </a:r>
            <a:r>
              <a:rPr lang="en-US" sz="2000" i="1" dirty="0">
                <a:solidFill>
                  <a:srgbClr val="C00000"/>
                </a:solidFill>
                <a:effectLst>
                  <a:outerShdw blurRad="38100" dist="38100" dir="2700000" algn="tl">
                    <a:srgbClr val="000000">
                      <a:alpha val="43137"/>
                    </a:srgbClr>
                  </a:outerShdw>
                </a:effectLst>
              </a:rPr>
              <a:t> </a:t>
            </a:r>
            <a:r>
              <a:rPr lang="en-US" sz="2000" i="1" dirty="0" err="1">
                <a:solidFill>
                  <a:srgbClr val="C00000"/>
                </a:solidFill>
                <a:effectLst>
                  <a:outerShdw blurRad="38100" dist="38100" dir="2700000" algn="tl">
                    <a:srgbClr val="000000">
                      <a:alpha val="43137"/>
                    </a:srgbClr>
                  </a:outerShdw>
                </a:effectLst>
              </a:rPr>
              <a:t>DL_Projects</a:t>
            </a:r>
            <a:r>
              <a:rPr lang="en-US" sz="2000" dirty="0">
                <a:solidFill>
                  <a:srgbClr val="C00000"/>
                </a:solidFill>
              </a:rPr>
              <a:t> </a:t>
            </a:r>
            <a:r>
              <a:rPr lang="en-US" sz="2000" dirty="0"/>
              <a:t>and then </a:t>
            </a:r>
            <a:r>
              <a:rPr lang="en-US" sz="2000" i="1" dirty="0">
                <a:solidFill>
                  <a:srgbClr val="C00000"/>
                </a:solidFill>
                <a:effectLst>
                  <a:outerShdw blurRad="38100" dist="38100" dir="2700000" algn="tl">
                    <a:srgbClr val="000000">
                      <a:alpha val="43137"/>
                    </a:srgbClr>
                  </a:outerShdw>
                </a:effectLst>
              </a:rPr>
              <a:t>cd </a:t>
            </a:r>
            <a:r>
              <a:rPr lang="en-US" sz="2000" i="1" dirty="0" err="1">
                <a:solidFill>
                  <a:srgbClr val="C00000"/>
                </a:solidFill>
                <a:effectLst>
                  <a:outerShdw blurRad="38100" dist="38100" dir="2700000" algn="tl">
                    <a:srgbClr val="000000">
                      <a:alpha val="43137"/>
                    </a:srgbClr>
                  </a:outerShdw>
                </a:effectLst>
              </a:rPr>
              <a:t>DL_Projects</a:t>
            </a:r>
            <a:endParaRPr lang="en-US" sz="2000" i="1" dirty="0">
              <a:solidFill>
                <a:srgbClr val="C00000"/>
              </a:solidFill>
              <a:effectLst>
                <a:outerShdw blurRad="38100" dist="38100" dir="2700000" algn="tl">
                  <a:srgbClr val="000000">
                    <a:alpha val="43137"/>
                  </a:srgbClr>
                </a:outerShdw>
              </a:effectLst>
            </a:endParaRPr>
          </a:p>
          <a:p>
            <a:pPr marL="803275" indent="-457200">
              <a:lnSpc>
                <a:spcPct val="250000"/>
              </a:lnSpc>
              <a:buFont typeface="Wingdings" panose="05000000000000000000" pitchFamily="2" charset="2"/>
              <a:buChar char="ü"/>
            </a:pPr>
            <a:r>
              <a:rPr lang="en-US" dirty="0"/>
              <a:t>Optional Step : Create a new environment </a:t>
            </a:r>
            <a:r>
              <a:rPr lang="en-US" i="1" dirty="0">
                <a:solidFill>
                  <a:srgbClr val="C00000"/>
                </a:solidFill>
                <a:effectLst>
                  <a:outerShdw blurRad="38100" dist="38100" dir="2700000" algn="tl">
                    <a:srgbClr val="000000">
                      <a:alpha val="43137"/>
                    </a:srgbClr>
                  </a:outerShdw>
                </a:effectLst>
              </a:rPr>
              <a:t>python3 –m </a:t>
            </a:r>
            <a:r>
              <a:rPr lang="en-US" i="1" dirty="0" err="1">
                <a:solidFill>
                  <a:srgbClr val="C00000"/>
                </a:solidFill>
                <a:effectLst>
                  <a:outerShdw blurRad="38100" dist="38100" dir="2700000" algn="tl">
                    <a:srgbClr val="000000">
                      <a:alpha val="43137"/>
                    </a:srgbClr>
                  </a:outerShdw>
                </a:effectLst>
              </a:rPr>
              <a:t>venv</a:t>
            </a:r>
            <a:r>
              <a:rPr lang="en-US" i="1" dirty="0">
                <a:solidFill>
                  <a:srgbClr val="C00000"/>
                </a:solidFill>
                <a:effectLst>
                  <a:outerShdw blurRad="38100" dist="38100" dir="2700000" algn="tl">
                    <a:srgbClr val="000000">
                      <a:alpha val="43137"/>
                    </a:srgbClr>
                  </a:outerShdw>
                </a:effectLst>
              </a:rPr>
              <a:t> .</a:t>
            </a:r>
            <a:r>
              <a:rPr lang="en-US" i="1" dirty="0" err="1">
                <a:solidFill>
                  <a:srgbClr val="C00000"/>
                </a:solidFill>
                <a:effectLst>
                  <a:outerShdw blurRad="38100" dist="38100" dir="2700000" algn="tl">
                    <a:srgbClr val="000000">
                      <a:alpha val="43137"/>
                    </a:srgbClr>
                  </a:outerShdw>
                </a:effectLst>
              </a:rPr>
              <a:t>venv</a:t>
            </a:r>
            <a:r>
              <a:rPr lang="en-US" i="1" dirty="0">
                <a:solidFill>
                  <a:srgbClr val="C00000"/>
                </a:solidFill>
                <a:effectLst>
                  <a:outerShdw blurRad="38100" dist="38100" dir="2700000" algn="tl">
                    <a:srgbClr val="000000">
                      <a:alpha val="43137"/>
                    </a:srgbClr>
                  </a:outerShdw>
                </a:effectLst>
              </a:rPr>
              <a:t> </a:t>
            </a:r>
            <a:r>
              <a:rPr lang="en-US" dirty="0"/>
              <a:t>and then </a:t>
            </a:r>
            <a:r>
              <a:rPr lang="en-US" i="1" dirty="0">
                <a:solidFill>
                  <a:srgbClr val="C00000"/>
                </a:solidFill>
                <a:effectLst>
                  <a:outerShdw blurRad="38100" dist="38100" dir="2700000" algn="tl">
                    <a:srgbClr val="000000">
                      <a:alpha val="43137"/>
                    </a:srgbClr>
                  </a:outerShdw>
                </a:effectLst>
              </a:rPr>
              <a:t>source .</a:t>
            </a:r>
            <a:r>
              <a:rPr lang="en-US" i="1" dirty="0" err="1">
                <a:solidFill>
                  <a:srgbClr val="C00000"/>
                </a:solidFill>
                <a:effectLst>
                  <a:outerShdw blurRad="38100" dist="38100" dir="2700000" algn="tl">
                    <a:srgbClr val="000000">
                      <a:alpha val="43137"/>
                    </a:srgbClr>
                  </a:outerShdw>
                </a:effectLst>
              </a:rPr>
              <a:t>venv</a:t>
            </a:r>
            <a:r>
              <a:rPr lang="en-US" i="1" dirty="0">
                <a:solidFill>
                  <a:srgbClr val="C00000"/>
                </a:solidFill>
                <a:effectLst>
                  <a:outerShdw blurRad="38100" dist="38100" dir="2700000" algn="tl">
                    <a:srgbClr val="000000">
                      <a:alpha val="43137"/>
                    </a:srgbClr>
                  </a:outerShdw>
                </a:effectLst>
              </a:rPr>
              <a:t>/bin/activate</a:t>
            </a:r>
          </a:p>
          <a:p>
            <a:pPr marL="803275" indent="-457200">
              <a:lnSpc>
                <a:spcPct val="250000"/>
              </a:lnSpc>
              <a:buFont typeface="Wingdings" panose="05000000000000000000" pitchFamily="2" charset="2"/>
              <a:buChar char="ü"/>
            </a:pPr>
            <a:r>
              <a:rPr lang="en-US" i="1" dirty="0">
                <a:solidFill>
                  <a:srgbClr val="C00000"/>
                </a:solidFill>
                <a:effectLst>
                  <a:outerShdw blurRad="38100" dist="38100" dir="2700000" algn="tl">
                    <a:srgbClr val="000000">
                      <a:alpha val="43137"/>
                    </a:srgbClr>
                  </a:outerShdw>
                </a:effectLst>
              </a:rPr>
              <a:t>pip install </a:t>
            </a:r>
            <a:r>
              <a:rPr lang="en-US" i="1" dirty="0" err="1">
                <a:solidFill>
                  <a:srgbClr val="C00000"/>
                </a:solidFill>
                <a:effectLst>
                  <a:outerShdw blurRad="38100" dist="38100" dir="2700000" algn="tl">
                    <a:srgbClr val="000000">
                      <a:alpha val="43137"/>
                    </a:srgbClr>
                  </a:outerShdw>
                </a:effectLst>
              </a:rPr>
              <a:t>numpy</a:t>
            </a:r>
            <a:r>
              <a:rPr lang="en-US" i="1" dirty="0">
                <a:solidFill>
                  <a:srgbClr val="C00000"/>
                </a:solidFill>
                <a:effectLst>
                  <a:outerShdw blurRad="38100" dist="38100" dir="2700000" algn="tl">
                    <a:srgbClr val="000000">
                      <a:alpha val="43137"/>
                    </a:srgbClr>
                  </a:outerShdw>
                </a:effectLst>
              </a:rPr>
              <a:t> </a:t>
            </a:r>
            <a:r>
              <a:rPr lang="en-US" i="1" dirty="0" err="1">
                <a:solidFill>
                  <a:srgbClr val="C00000"/>
                </a:solidFill>
                <a:effectLst>
                  <a:outerShdw blurRad="38100" dist="38100" dir="2700000" algn="tl">
                    <a:srgbClr val="000000">
                      <a:alpha val="43137"/>
                    </a:srgbClr>
                  </a:outerShdw>
                </a:effectLst>
              </a:rPr>
              <a:t>tensorflow</a:t>
            </a:r>
            <a:r>
              <a:rPr lang="en-US" i="1" dirty="0">
                <a:solidFill>
                  <a:srgbClr val="C00000"/>
                </a:solidFill>
                <a:effectLst>
                  <a:outerShdw blurRad="38100" dist="38100" dir="2700000" algn="tl">
                    <a:srgbClr val="000000">
                      <a:alpha val="43137"/>
                    </a:srgbClr>
                  </a:outerShdw>
                </a:effectLst>
              </a:rPr>
              <a:t> </a:t>
            </a:r>
            <a:r>
              <a:rPr lang="en-US" i="1" dirty="0" err="1">
                <a:solidFill>
                  <a:srgbClr val="C00000"/>
                </a:solidFill>
                <a:effectLst>
                  <a:outerShdw blurRad="38100" dist="38100" dir="2700000" algn="tl">
                    <a:srgbClr val="000000">
                      <a:alpha val="43137"/>
                    </a:srgbClr>
                  </a:outerShdw>
                </a:effectLst>
              </a:rPr>
              <a:t>scikitlearn</a:t>
            </a:r>
            <a:endParaRPr lang="en-US" i="1" dirty="0">
              <a:solidFill>
                <a:srgbClr val="C00000"/>
              </a:solidFill>
              <a:effectLst>
                <a:outerShdw blurRad="38100" dist="38100" dir="2700000" algn="tl">
                  <a:srgbClr val="000000">
                    <a:alpha val="43137"/>
                  </a:srgbClr>
                </a:outerShdw>
              </a:effectLst>
            </a:endParaRPr>
          </a:p>
          <a:p>
            <a:pPr marL="803275" indent="-457200">
              <a:lnSpc>
                <a:spcPct val="250000"/>
              </a:lnSpc>
              <a:buFont typeface="Wingdings" panose="05000000000000000000" pitchFamily="2" charset="2"/>
              <a:buChar char="ü"/>
            </a:pPr>
            <a:endParaRPr lang="en-US" i="1" dirty="0">
              <a:solidFill>
                <a:srgbClr val="C00000"/>
              </a:solidFill>
              <a:effectLst>
                <a:outerShdw blurRad="38100" dist="38100" dir="2700000" algn="tl">
                  <a:srgbClr val="000000">
                    <a:alpha val="43137"/>
                  </a:srgbClr>
                </a:outerShdw>
              </a:effectLst>
            </a:endParaRPr>
          </a:p>
          <a:p>
            <a:pPr>
              <a:lnSpc>
                <a:spcPct val="150000"/>
              </a:lnSpc>
            </a:pPr>
            <a:br>
              <a:rPr lang="en-US" i="1" dirty="0">
                <a:solidFill>
                  <a:srgbClr val="C00000"/>
                </a:solidFill>
                <a:effectLst>
                  <a:outerShdw blurRad="38100" dist="38100" dir="2700000" algn="tl">
                    <a:srgbClr val="000000">
                      <a:alpha val="43137"/>
                    </a:srgbClr>
                  </a:outerShdw>
                </a:effectLst>
              </a:rPr>
            </a:br>
            <a:br>
              <a:rPr lang="en-US" dirty="0"/>
            </a:br>
            <a:br>
              <a:rPr lang="en-US" dirty="0"/>
            </a:br>
            <a:br>
              <a:rPr lang="en-US" dirty="0"/>
            </a:br>
            <a:endParaRPr lang="en-US" dirty="0"/>
          </a:p>
        </p:txBody>
      </p:sp>
    </p:spTree>
    <p:extLst>
      <p:ext uri="{BB962C8B-B14F-4D97-AF65-F5344CB8AC3E}">
        <p14:creationId xmlns:p14="http://schemas.microsoft.com/office/powerpoint/2010/main" val="159795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1A072-C3AF-F0D3-164E-B43453AF1A2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1CBCC7A-9E65-4AB5-E48B-8E64C72648AB}"/>
              </a:ext>
            </a:extLst>
          </p:cNvPr>
          <p:cNvSpPr/>
          <p:nvPr/>
        </p:nvSpPr>
        <p:spPr>
          <a:xfrm>
            <a:off x="4125083" y="53078"/>
            <a:ext cx="3813866"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IMPLEMENTING MLP WITH KERAS</a:t>
            </a:r>
          </a:p>
        </p:txBody>
      </p:sp>
      <p:pic>
        <p:nvPicPr>
          <p:cNvPr id="10" name="Picture 9">
            <a:extLst>
              <a:ext uri="{FF2B5EF4-FFF2-40B4-BE49-F238E27FC236}">
                <a16:creationId xmlns:a16="http://schemas.microsoft.com/office/drawing/2014/main" id="{58EB4B9E-D42F-E2C5-4453-AA0ACBBC8272}"/>
              </a:ext>
            </a:extLst>
          </p:cNvPr>
          <p:cNvPicPr>
            <a:picLocks noChangeAspect="1"/>
          </p:cNvPicPr>
          <p:nvPr/>
        </p:nvPicPr>
        <p:blipFill>
          <a:blip r:embed="rId2"/>
          <a:stretch>
            <a:fillRect/>
          </a:stretch>
        </p:blipFill>
        <p:spPr>
          <a:xfrm>
            <a:off x="442261" y="1230471"/>
            <a:ext cx="11179509" cy="3665538"/>
          </a:xfrm>
          <a:prstGeom prst="rect">
            <a:avLst/>
          </a:prstGeom>
        </p:spPr>
      </p:pic>
    </p:spTree>
    <p:extLst>
      <p:ext uri="{BB962C8B-B14F-4D97-AF65-F5344CB8AC3E}">
        <p14:creationId xmlns:p14="http://schemas.microsoft.com/office/powerpoint/2010/main" val="8343347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B7B22C-283B-246D-B2FD-A7725BB9866D}"/>
              </a:ext>
            </a:extLst>
          </p:cNvPr>
          <p:cNvSpPr/>
          <p:nvPr/>
        </p:nvSpPr>
        <p:spPr>
          <a:xfrm>
            <a:off x="4551743" y="53078"/>
            <a:ext cx="296055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TENSORFLOW OPS BASICS</a:t>
            </a:r>
          </a:p>
        </p:txBody>
      </p:sp>
      <p:sp>
        <p:nvSpPr>
          <p:cNvPr id="6" name="TextBox 5">
            <a:extLst>
              <a:ext uri="{FF2B5EF4-FFF2-40B4-BE49-F238E27FC236}">
                <a16:creationId xmlns:a16="http://schemas.microsoft.com/office/drawing/2014/main" id="{B971EF87-5CCB-79CE-B726-552101AB5E93}"/>
              </a:ext>
            </a:extLst>
          </p:cNvPr>
          <p:cNvSpPr txBox="1"/>
          <p:nvPr/>
        </p:nvSpPr>
        <p:spPr>
          <a:xfrm>
            <a:off x="195580" y="1144630"/>
            <a:ext cx="6101080" cy="5133841"/>
          </a:xfrm>
          <a:prstGeom prst="rect">
            <a:avLst/>
          </a:prstGeom>
          <a:noFill/>
        </p:spPr>
        <p:txBody>
          <a:bodyPr wrap="square">
            <a:spAutoFit/>
          </a:bodyPr>
          <a:lstStyle/>
          <a:p>
            <a:pPr>
              <a:lnSpc>
                <a:spcPts val="1425"/>
              </a:lnSpc>
              <a:buNone/>
            </a:pPr>
            <a:r>
              <a:rPr lang="en-US" b="0" dirty="0">
                <a:solidFill>
                  <a:srgbClr val="002060"/>
                </a:solidFill>
                <a:effectLst/>
                <a:latin typeface="Consolas" panose="020B0609020204030204" pitchFamily="49" charset="0"/>
              </a:rPr>
              <a:t>import </a:t>
            </a:r>
            <a:r>
              <a:rPr lang="en-US" b="0" dirty="0" err="1">
                <a:solidFill>
                  <a:srgbClr val="002060"/>
                </a:solidFill>
                <a:effectLst/>
                <a:latin typeface="Consolas" panose="020B0609020204030204" pitchFamily="49" charset="0"/>
              </a:rPr>
              <a:t>tensorflow</a:t>
            </a:r>
            <a:r>
              <a:rPr lang="en-US" b="0" dirty="0">
                <a:solidFill>
                  <a:srgbClr val="002060"/>
                </a:solidFill>
                <a:effectLst/>
                <a:latin typeface="Consolas" panose="020B0609020204030204" pitchFamily="49" charset="0"/>
              </a:rPr>
              <a:t> as </a:t>
            </a:r>
            <a:r>
              <a:rPr lang="en-US" b="0" dirty="0" err="1">
                <a:solidFill>
                  <a:srgbClr val="002060"/>
                </a:solidFill>
                <a:effectLst/>
                <a:latin typeface="Consolas" panose="020B0609020204030204" pitchFamily="49" charset="0"/>
              </a:rPr>
              <a:t>tf</a:t>
            </a: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Example of constants</a:t>
            </a:r>
          </a:p>
          <a:p>
            <a:pPr>
              <a:lnSpc>
                <a:spcPts val="1425"/>
              </a:lnSpc>
              <a:buNone/>
            </a:pPr>
            <a:br>
              <a:rPr lang="en-US" b="0" dirty="0">
                <a:solidFill>
                  <a:srgbClr val="002060"/>
                </a:solidFill>
                <a:effectLst/>
                <a:latin typeface="Consolas" panose="020B0609020204030204" pitchFamily="49" charset="0"/>
              </a:rPr>
            </a:b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a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(2)</a:t>
            </a:r>
          </a:p>
          <a:p>
            <a:pPr>
              <a:lnSpc>
                <a:spcPts val="1425"/>
              </a:lnSpc>
              <a:buNone/>
            </a:pPr>
            <a:r>
              <a:rPr lang="en-US" b="0" dirty="0">
                <a:solidFill>
                  <a:srgbClr val="002060"/>
                </a:solidFill>
                <a:effectLst/>
                <a:latin typeface="Consolas" panose="020B0609020204030204" pitchFamily="49" charset="0"/>
              </a:rPr>
              <a:t>b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(3)</a:t>
            </a:r>
          </a:p>
          <a:p>
            <a:pPr>
              <a:lnSpc>
                <a:spcPts val="1425"/>
              </a:lnSpc>
              <a:buNone/>
            </a:pPr>
            <a:r>
              <a:rPr lang="en-US" b="0" dirty="0">
                <a:solidFill>
                  <a:srgbClr val="002060"/>
                </a:solidFill>
                <a:effectLst/>
                <a:latin typeface="Consolas" panose="020B0609020204030204" pitchFamily="49" charset="0"/>
              </a:rPr>
              <a:t>x = </a:t>
            </a:r>
            <a:r>
              <a:rPr lang="en-US" b="0" dirty="0" err="1">
                <a:solidFill>
                  <a:srgbClr val="002060"/>
                </a:solidFill>
                <a:effectLst/>
                <a:latin typeface="Consolas" panose="020B0609020204030204" pitchFamily="49" charset="0"/>
              </a:rPr>
              <a:t>tf.add</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a,b</a:t>
            </a:r>
            <a:r>
              <a:rPr lang="en-US" b="0" dirty="0">
                <a:solidFill>
                  <a:srgbClr val="002060"/>
                </a:solidFill>
                <a:effectLst/>
                <a:latin typeface="Consolas" panose="020B0609020204030204" pitchFamily="49" charset="0"/>
              </a:rPr>
              <a:t>)</a:t>
            </a:r>
          </a:p>
          <a:p>
            <a:pPr>
              <a:lnSpc>
                <a:spcPts val="1425"/>
              </a:lnSpc>
              <a:buNone/>
            </a:pPr>
            <a:r>
              <a:rPr lang="en-US" b="0" dirty="0">
                <a:solidFill>
                  <a:srgbClr val="002060"/>
                </a:solidFill>
                <a:effectLst/>
                <a:latin typeface="Consolas" panose="020B0609020204030204" pitchFamily="49" charset="0"/>
              </a:rPr>
              <a:t>print(</a:t>
            </a:r>
            <a:r>
              <a:rPr lang="en-US" b="0" dirty="0" err="1">
                <a:solidFill>
                  <a:srgbClr val="002060"/>
                </a:solidFill>
                <a:effectLst/>
                <a:latin typeface="Consolas" panose="020B0609020204030204" pitchFamily="49" charset="0"/>
              </a:rPr>
              <a:t>x.numpy</a:t>
            </a:r>
            <a:r>
              <a:rPr lang="en-US" b="0" dirty="0">
                <a:solidFill>
                  <a:srgbClr val="002060"/>
                </a:solidFill>
                <a:effectLst/>
                <a:latin typeface="Consolas" panose="020B0609020204030204" pitchFamily="49" charset="0"/>
              </a:rPr>
              <a:t>())</a:t>
            </a:r>
          </a:p>
          <a:p>
            <a:pPr>
              <a:lnSpc>
                <a:spcPts val="1425"/>
              </a:lnSpc>
              <a:buNone/>
            </a:pPr>
            <a:br>
              <a:rPr lang="en-US" b="0" dirty="0">
                <a:solidFill>
                  <a:srgbClr val="002060"/>
                </a:solidFill>
                <a:effectLst/>
                <a:latin typeface="Consolas" panose="020B0609020204030204" pitchFamily="49" charset="0"/>
              </a:rPr>
            </a:b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(value,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=None, shape=None, name='const', </a:t>
            </a:r>
            <a:r>
              <a:rPr lang="en-US" b="0" dirty="0" err="1">
                <a:solidFill>
                  <a:srgbClr val="002060"/>
                </a:solidFill>
                <a:effectLst/>
                <a:latin typeface="Consolas" panose="020B0609020204030204" pitchFamily="49" charset="0"/>
              </a:rPr>
              <a:t>verify_shape</a:t>
            </a:r>
            <a:r>
              <a:rPr lang="en-US" b="0" dirty="0">
                <a:solidFill>
                  <a:srgbClr val="002060"/>
                </a:solidFill>
                <a:effectLst/>
                <a:latin typeface="Consolas" panose="020B0609020204030204" pitchFamily="49" charset="0"/>
              </a:rPr>
              <a:t>=False)</a:t>
            </a:r>
          </a:p>
          <a:p>
            <a:pPr>
              <a:lnSpc>
                <a:spcPts val="1425"/>
              </a:lnSpc>
              <a:buNone/>
            </a:pPr>
            <a:br>
              <a:rPr lang="en-US" b="0" dirty="0">
                <a:solidFill>
                  <a:srgbClr val="002060"/>
                </a:solidFill>
                <a:effectLst/>
                <a:latin typeface="Consolas" panose="020B0609020204030204" pitchFamily="49" charset="0"/>
              </a:rPr>
            </a:b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Constant of 1 d</a:t>
            </a:r>
          </a:p>
          <a:p>
            <a:pPr>
              <a:lnSpc>
                <a:spcPts val="1425"/>
              </a:lnSpc>
              <a:buNone/>
            </a:pPr>
            <a:r>
              <a:rPr lang="en-US" b="0" dirty="0">
                <a:solidFill>
                  <a:srgbClr val="002060"/>
                </a:solidFill>
                <a:effectLst/>
                <a:latin typeface="Consolas" panose="020B0609020204030204" pitchFamily="49" charset="0"/>
              </a:rPr>
              <a:t>a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([2,2], name= "vector")</a:t>
            </a:r>
          </a:p>
          <a:p>
            <a:pPr>
              <a:lnSpc>
                <a:spcPts val="1425"/>
              </a:lnSpc>
              <a:buNone/>
            </a:pPr>
            <a:r>
              <a:rPr lang="en-US" b="0" dirty="0">
                <a:solidFill>
                  <a:srgbClr val="002060"/>
                </a:solidFill>
                <a:effectLst/>
                <a:latin typeface="Consolas" panose="020B0609020204030204" pitchFamily="49" charset="0"/>
              </a:rPr>
              <a:t># Constant 2 x 2 tensor</a:t>
            </a:r>
          </a:p>
          <a:p>
            <a:pPr>
              <a:lnSpc>
                <a:spcPts val="1425"/>
              </a:lnSpc>
              <a:buNone/>
            </a:pPr>
            <a:r>
              <a:rPr lang="en-US" b="0" dirty="0">
                <a:solidFill>
                  <a:srgbClr val="002060"/>
                </a:solidFill>
                <a:effectLst/>
                <a:latin typeface="Consolas" panose="020B0609020204030204" pitchFamily="49" charset="0"/>
              </a:rPr>
              <a:t>b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([[0,1],[2,3]],name="matrix")</a:t>
            </a:r>
          </a:p>
          <a:p>
            <a:pPr>
              <a:lnSpc>
                <a:spcPts val="1425"/>
              </a:lnSpc>
              <a:buNone/>
            </a:pPr>
            <a:r>
              <a:rPr lang="en-US" b="0" dirty="0">
                <a:solidFill>
                  <a:srgbClr val="002060"/>
                </a:solidFill>
                <a:effectLst/>
                <a:latin typeface="Consolas" panose="020B0609020204030204" pitchFamily="49" charset="0"/>
              </a:rPr>
              <a:t># Creating a Zero Tensor</a:t>
            </a: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tf.zeros</a:t>
            </a:r>
            <a:r>
              <a:rPr lang="en-US" b="0" dirty="0">
                <a:solidFill>
                  <a:srgbClr val="002060"/>
                </a:solidFill>
                <a:effectLst/>
                <a:latin typeface="Consolas" panose="020B0609020204030204" pitchFamily="49" charset="0"/>
              </a:rPr>
              <a:t>(shape,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name=None)</a:t>
            </a:r>
          </a:p>
          <a:p>
            <a:pPr>
              <a:lnSpc>
                <a:spcPts val="1425"/>
              </a:lnSpc>
              <a:buNone/>
            </a:pPr>
            <a:r>
              <a:rPr lang="en-US" b="0" dirty="0" err="1">
                <a:solidFill>
                  <a:srgbClr val="002060"/>
                </a:solidFill>
                <a:effectLst/>
                <a:latin typeface="Consolas" panose="020B0609020204030204" pitchFamily="49" charset="0"/>
              </a:rPr>
              <a:t>tf.zeros</a:t>
            </a:r>
            <a:r>
              <a:rPr lang="en-US" b="0" dirty="0">
                <a:solidFill>
                  <a:srgbClr val="002060"/>
                </a:solidFill>
                <a:effectLst/>
                <a:latin typeface="Consolas" panose="020B0609020204030204" pitchFamily="49" charset="0"/>
              </a:rPr>
              <a:t>([2,3],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=tf.int32)</a:t>
            </a:r>
          </a:p>
          <a:p>
            <a:pPr>
              <a:lnSpc>
                <a:spcPts val="1425"/>
              </a:lnSpc>
              <a:buNone/>
            </a:pPr>
            <a:r>
              <a:rPr lang="en-US" b="0" dirty="0">
                <a:solidFill>
                  <a:srgbClr val="002060"/>
                </a:solidFill>
                <a:effectLst/>
                <a:latin typeface="Consolas" panose="020B0609020204030204" pitchFamily="49" charset="0"/>
              </a:rPr>
              <a:t># Creating zeros like tensor</a:t>
            </a:r>
          </a:p>
          <a:p>
            <a:pPr>
              <a:lnSpc>
                <a:spcPts val="1425"/>
              </a:lnSpc>
              <a:buNone/>
            </a:pPr>
            <a:r>
              <a:rPr lang="en-US" b="0" dirty="0">
                <a:solidFill>
                  <a:srgbClr val="002060"/>
                </a:solidFill>
                <a:effectLst/>
                <a:latin typeface="Consolas" panose="020B0609020204030204" pitchFamily="49" charset="0"/>
              </a:rPr>
              <a:t>#tf.zeros_like(input_tensor,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=None, name=None, optimize=True)</a:t>
            </a:r>
          </a:p>
          <a:p>
            <a:pPr>
              <a:lnSpc>
                <a:spcPts val="1425"/>
              </a:lnSpc>
              <a:buNone/>
            </a:pPr>
            <a:r>
              <a:rPr lang="en-US" b="0" dirty="0" err="1">
                <a:solidFill>
                  <a:srgbClr val="002060"/>
                </a:solidFill>
                <a:effectLst/>
                <a:latin typeface="Consolas" panose="020B0609020204030204" pitchFamily="49" charset="0"/>
              </a:rPr>
              <a:t>input_tensor</a:t>
            </a:r>
            <a:r>
              <a:rPr lang="en-US" b="0" dirty="0">
                <a:solidFill>
                  <a:srgbClr val="002060"/>
                </a:solidFill>
                <a:effectLst/>
                <a:latin typeface="Consolas" panose="020B0609020204030204" pitchFamily="49" charset="0"/>
              </a:rPr>
              <a:t>= [[0,1],[2,3],[4,5]]</a:t>
            </a:r>
          </a:p>
          <a:p>
            <a:pPr>
              <a:lnSpc>
                <a:spcPts val="1425"/>
              </a:lnSpc>
              <a:buNone/>
            </a:pPr>
            <a:r>
              <a:rPr lang="en-US" b="0" dirty="0" err="1">
                <a:solidFill>
                  <a:srgbClr val="002060"/>
                </a:solidFill>
                <a:effectLst/>
                <a:latin typeface="Consolas" panose="020B0609020204030204" pitchFamily="49" charset="0"/>
              </a:rPr>
              <a:t>tf.zeros_like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input_tensor</a:t>
            </a:r>
            <a:r>
              <a:rPr lang="en-US" b="0" dirty="0">
                <a:solidFill>
                  <a:srgbClr val="002060"/>
                </a:solidFill>
                <a:effectLst/>
                <a:latin typeface="Consolas" panose="020B0609020204030204" pitchFamily="49" charset="0"/>
              </a:rPr>
              <a:t>)</a:t>
            </a:r>
          </a:p>
          <a:p>
            <a:pPr>
              <a:lnSpc>
                <a:spcPts val="1425"/>
              </a:lnSpc>
              <a:buNone/>
            </a:pPr>
            <a:br>
              <a:rPr lang="en-US" b="0" dirty="0">
                <a:solidFill>
                  <a:srgbClr val="002060"/>
                </a:solidFill>
                <a:effectLst/>
                <a:latin typeface="Consolas" panose="020B0609020204030204" pitchFamily="49" charset="0"/>
              </a:rPr>
            </a:br>
            <a:endParaRPr lang="en-US" b="0" dirty="0">
              <a:solidFill>
                <a:srgbClr val="00206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31E1A035-83D8-9D53-0BC5-C3D4B1076CE8}"/>
              </a:ext>
            </a:extLst>
          </p:cNvPr>
          <p:cNvSpPr txBox="1"/>
          <p:nvPr/>
        </p:nvSpPr>
        <p:spPr>
          <a:xfrm>
            <a:off x="6096000" y="1266550"/>
            <a:ext cx="6101080" cy="2081724"/>
          </a:xfrm>
          <a:prstGeom prst="rect">
            <a:avLst/>
          </a:prstGeom>
          <a:noFill/>
        </p:spPr>
        <p:txBody>
          <a:bodyPr wrap="square">
            <a:spAutoFit/>
          </a:bodyPr>
          <a:lstStyle/>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tf.ones</a:t>
            </a:r>
            <a:r>
              <a:rPr lang="en-US" b="0" dirty="0">
                <a:solidFill>
                  <a:srgbClr val="002060"/>
                </a:solidFill>
                <a:effectLst/>
                <a:latin typeface="Consolas" panose="020B0609020204030204" pitchFamily="49" charset="0"/>
              </a:rPr>
              <a:t>(shape,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name=None)</a:t>
            </a:r>
          </a:p>
          <a:p>
            <a:pPr>
              <a:lnSpc>
                <a:spcPts val="1425"/>
              </a:lnSpc>
              <a:buNone/>
            </a:pPr>
            <a:r>
              <a:rPr lang="en-US" b="0" dirty="0" err="1">
                <a:solidFill>
                  <a:srgbClr val="002060"/>
                </a:solidFill>
                <a:effectLst/>
                <a:latin typeface="Consolas" panose="020B0609020204030204" pitchFamily="49" charset="0"/>
              </a:rPr>
              <a:t>tf.ones</a:t>
            </a:r>
            <a:r>
              <a:rPr lang="en-US" b="0" dirty="0">
                <a:solidFill>
                  <a:srgbClr val="002060"/>
                </a:solidFill>
                <a:effectLst/>
                <a:latin typeface="Consolas" panose="020B0609020204030204" pitchFamily="49" charset="0"/>
              </a:rPr>
              <a:t>([2,3],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=tf.int32)</a:t>
            </a:r>
          </a:p>
          <a:p>
            <a:pPr>
              <a:lnSpc>
                <a:spcPts val="1425"/>
              </a:lnSpc>
              <a:buNone/>
            </a:pPr>
            <a:r>
              <a:rPr lang="en-US" b="0" dirty="0" err="1">
                <a:solidFill>
                  <a:srgbClr val="002060"/>
                </a:solidFill>
                <a:effectLst/>
                <a:latin typeface="Consolas" panose="020B0609020204030204" pitchFamily="49" charset="0"/>
              </a:rPr>
              <a:t>tf.ones_like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input_tensor</a:t>
            </a:r>
            <a:r>
              <a:rPr lang="en-US" b="0" dirty="0">
                <a:solidFill>
                  <a:srgbClr val="002060"/>
                </a:solidFill>
                <a:effectLst/>
                <a:latin typeface="Consolas" panose="020B0609020204030204" pitchFamily="49" charset="0"/>
              </a:rPr>
              <a:t>)</a:t>
            </a:r>
          </a:p>
          <a:p>
            <a:pPr>
              <a:lnSpc>
                <a:spcPts val="1425"/>
              </a:lnSpc>
              <a:buNone/>
            </a:pPr>
            <a:r>
              <a:rPr lang="en-US" b="0" dirty="0">
                <a:solidFill>
                  <a:srgbClr val="002060"/>
                </a:solidFill>
                <a:effectLst/>
                <a:latin typeface="Consolas" panose="020B0609020204030204" pitchFamily="49" charset="0"/>
              </a:rPr>
              <a:t># Create a tensor filled with scalar values</a:t>
            </a: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tf.fill</a:t>
            </a:r>
            <a:r>
              <a:rPr lang="en-US" b="0" dirty="0">
                <a:solidFill>
                  <a:srgbClr val="002060"/>
                </a:solidFill>
                <a:effectLst/>
                <a:latin typeface="Consolas" panose="020B0609020204030204" pitchFamily="49" charset="0"/>
              </a:rPr>
              <a:t>(dims, value, name=None)</a:t>
            </a:r>
          </a:p>
          <a:p>
            <a:pPr>
              <a:lnSpc>
                <a:spcPts val="1425"/>
              </a:lnSpc>
              <a:buNone/>
            </a:pPr>
            <a:r>
              <a:rPr lang="en-US" b="0" dirty="0" err="1">
                <a:solidFill>
                  <a:srgbClr val="002060"/>
                </a:solidFill>
                <a:effectLst/>
                <a:latin typeface="Consolas" panose="020B0609020204030204" pitchFamily="49" charset="0"/>
              </a:rPr>
              <a:t>tf.fill</a:t>
            </a:r>
            <a:r>
              <a:rPr lang="en-US" b="0" dirty="0">
                <a:solidFill>
                  <a:srgbClr val="002060"/>
                </a:solidFill>
                <a:effectLst/>
                <a:latin typeface="Consolas" panose="020B0609020204030204" pitchFamily="49" charset="0"/>
              </a:rPr>
              <a:t>([2,3], 8)</a:t>
            </a:r>
          </a:p>
          <a:p>
            <a:pPr>
              <a:lnSpc>
                <a:spcPts val="1425"/>
              </a:lnSpc>
              <a:buNone/>
            </a:pPr>
            <a:r>
              <a:rPr lang="en-US" b="0" dirty="0">
                <a:solidFill>
                  <a:srgbClr val="002060"/>
                </a:solidFill>
                <a:effectLst/>
                <a:latin typeface="Consolas" panose="020B0609020204030204" pitchFamily="49" charset="0"/>
              </a:rPr>
              <a:t># Creating </a:t>
            </a:r>
            <a:r>
              <a:rPr lang="en-US" b="0" dirty="0" err="1">
                <a:solidFill>
                  <a:srgbClr val="002060"/>
                </a:solidFill>
                <a:effectLst/>
                <a:latin typeface="Consolas" panose="020B0609020204030204" pitchFamily="49" charset="0"/>
              </a:rPr>
              <a:t>Linespace</a:t>
            </a: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#tf.linspace(start,stop, num, name=None)</a:t>
            </a:r>
          </a:p>
          <a:p>
            <a:pPr>
              <a:lnSpc>
                <a:spcPts val="1425"/>
              </a:lnSpc>
              <a:buNone/>
            </a:pPr>
            <a:r>
              <a:rPr lang="en-US" b="0" dirty="0" err="1">
                <a:solidFill>
                  <a:srgbClr val="002060"/>
                </a:solidFill>
                <a:effectLst/>
                <a:latin typeface="Consolas" panose="020B0609020204030204" pitchFamily="49" charset="0"/>
              </a:rPr>
              <a:t>linespace</a:t>
            </a:r>
            <a:r>
              <a:rPr lang="en-US" b="0" dirty="0">
                <a:solidFill>
                  <a:srgbClr val="002060"/>
                </a:solidFill>
                <a:effectLst/>
                <a:latin typeface="Consolas" panose="020B0609020204030204" pitchFamily="49" charset="0"/>
              </a:rPr>
              <a:t> = </a:t>
            </a:r>
            <a:r>
              <a:rPr lang="en-US" b="0" dirty="0" err="1">
                <a:solidFill>
                  <a:srgbClr val="002060"/>
                </a:solidFill>
                <a:effectLst/>
                <a:latin typeface="Consolas" panose="020B0609020204030204" pitchFamily="49" charset="0"/>
              </a:rPr>
              <a:t>tf.linspace</a:t>
            </a:r>
            <a:r>
              <a:rPr lang="en-US" b="0" dirty="0">
                <a:solidFill>
                  <a:srgbClr val="002060"/>
                </a:solidFill>
                <a:effectLst/>
                <a:latin typeface="Consolas" panose="020B0609020204030204" pitchFamily="49" charset="0"/>
              </a:rPr>
              <a:t>(start=1.0, stop=5.0, num=10)</a:t>
            </a:r>
          </a:p>
          <a:p>
            <a:pPr>
              <a:lnSpc>
                <a:spcPts val="1425"/>
              </a:lnSpc>
              <a:buNone/>
            </a:pPr>
            <a:r>
              <a:rPr lang="en-US" b="0" dirty="0">
                <a:solidFill>
                  <a:srgbClr val="002060"/>
                </a:solidFill>
                <a:effectLst/>
                <a:latin typeface="Consolas" panose="020B0609020204030204" pitchFamily="49" charset="0"/>
              </a:rPr>
              <a:t>print(</a:t>
            </a:r>
            <a:r>
              <a:rPr lang="en-US" b="0" dirty="0" err="1">
                <a:solidFill>
                  <a:srgbClr val="002060"/>
                </a:solidFill>
                <a:effectLst/>
                <a:latin typeface="Consolas" panose="020B0609020204030204" pitchFamily="49" charset="0"/>
              </a:rPr>
              <a:t>linespace</a:t>
            </a:r>
            <a:r>
              <a:rPr lang="en-US" b="0" dirty="0">
                <a:solidFill>
                  <a:srgbClr val="002060"/>
                </a:solidFill>
                <a:effectLst/>
                <a:latin typeface="Consolas" panose="020B0609020204030204" pitchFamily="49" charset="0"/>
              </a:rPr>
              <a:t>)</a:t>
            </a:r>
          </a:p>
        </p:txBody>
      </p:sp>
    </p:spTree>
    <p:extLst>
      <p:ext uri="{BB962C8B-B14F-4D97-AF65-F5344CB8AC3E}">
        <p14:creationId xmlns:p14="http://schemas.microsoft.com/office/powerpoint/2010/main" val="35836995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D7347-52A3-735C-B257-2492E1C92C1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10EB95F-7F76-AFFD-9580-20754F9A42D8}"/>
              </a:ext>
            </a:extLst>
          </p:cNvPr>
          <p:cNvSpPr/>
          <p:nvPr/>
        </p:nvSpPr>
        <p:spPr>
          <a:xfrm>
            <a:off x="4551743" y="53078"/>
            <a:ext cx="296055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TENSORFLOW OPS BASICS</a:t>
            </a:r>
          </a:p>
        </p:txBody>
      </p:sp>
      <p:sp>
        <p:nvSpPr>
          <p:cNvPr id="4" name="TextBox 3">
            <a:extLst>
              <a:ext uri="{FF2B5EF4-FFF2-40B4-BE49-F238E27FC236}">
                <a16:creationId xmlns:a16="http://schemas.microsoft.com/office/drawing/2014/main" id="{5B02E8F5-6586-AF35-71AE-3A609E8254E0}"/>
              </a:ext>
            </a:extLst>
          </p:cNvPr>
          <p:cNvSpPr txBox="1"/>
          <p:nvPr/>
        </p:nvSpPr>
        <p:spPr>
          <a:xfrm>
            <a:off x="1951566" y="853848"/>
            <a:ext cx="7853200" cy="5033814"/>
          </a:xfrm>
          <a:prstGeom prst="rect">
            <a:avLst/>
          </a:prstGeom>
          <a:noFill/>
        </p:spPr>
        <p:txBody>
          <a:bodyPr wrap="square">
            <a:spAutoFit/>
          </a:bodyPr>
          <a:lstStyle/>
          <a:p>
            <a:pPr>
              <a:lnSpc>
                <a:spcPct val="150000"/>
              </a:lnSpc>
              <a:buNone/>
            </a:pPr>
            <a:r>
              <a:rPr lang="en-US" b="0" dirty="0">
                <a:solidFill>
                  <a:srgbClr val="002060"/>
                </a:solidFill>
                <a:effectLst/>
                <a:latin typeface="Consolas" panose="020B0609020204030204" pitchFamily="49" charset="0"/>
              </a:rPr>
              <a:t>import </a:t>
            </a:r>
            <a:r>
              <a:rPr lang="en-US" b="0" dirty="0" err="1">
                <a:solidFill>
                  <a:srgbClr val="002060"/>
                </a:solidFill>
                <a:effectLst/>
                <a:latin typeface="Consolas" panose="020B0609020204030204" pitchFamily="49" charset="0"/>
              </a:rPr>
              <a:t>tensorflow</a:t>
            </a:r>
            <a:r>
              <a:rPr lang="en-US" b="0" dirty="0">
                <a:solidFill>
                  <a:srgbClr val="002060"/>
                </a:solidFill>
                <a:effectLst/>
                <a:latin typeface="Consolas" panose="020B0609020204030204" pitchFamily="49" charset="0"/>
              </a:rPr>
              <a:t> as </a:t>
            </a:r>
            <a:r>
              <a:rPr lang="en-US" b="0" dirty="0" err="1">
                <a:solidFill>
                  <a:srgbClr val="002060"/>
                </a:solidFill>
                <a:effectLst/>
                <a:latin typeface="Consolas" panose="020B0609020204030204" pitchFamily="49" charset="0"/>
              </a:rPr>
              <a:t>tf</a:t>
            </a:r>
            <a:endParaRPr lang="en-US" b="0" dirty="0">
              <a:solidFill>
                <a:srgbClr val="002060"/>
              </a:solidFill>
              <a:effectLst/>
              <a:latin typeface="Consolas" panose="020B0609020204030204" pitchFamily="49" charset="0"/>
            </a:endParaRPr>
          </a:p>
          <a:p>
            <a:pPr>
              <a:lnSpc>
                <a:spcPct val="150000"/>
              </a:lnSpc>
              <a:buNone/>
            </a:pPr>
            <a:r>
              <a:rPr lang="en-US" b="0" dirty="0">
                <a:solidFill>
                  <a:srgbClr val="002060"/>
                </a:solidFill>
                <a:effectLst/>
                <a:latin typeface="Consolas" panose="020B0609020204030204" pitchFamily="49" charset="0"/>
              </a:rPr>
              <a:t>import </a:t>
            </a:r>
            <a:r>
              <a:rPr lang="en-US" b="0" dirty="0" err="1">
                <a:solidFill>
                  <a:srgbClr val="002060"/>
                </a:solidFill>
                <a:effectLst/>
                <a:latin typeface="Consolas" panose="020B0609020204030204" pitchFamily="49" charset="0"/>
              </a:rPr>
              <a:t>numpy</a:t>
            </a:r>
            <a:r>
              <a:rPr lang="en-US" b="0" dirty="0">
                <a:solidFill>
                  <a:srgbClr val="002060"/>
                </a:solidFill>
                <a:effectLst/>
                <a:latin typeface="Consolas" panose="020B0609020204030204" pitchFamily="49" charset="0"/>
              </a:rPr>
              <a:t> as np</a:t>
            </a:r>
          </a:p>
          <a:p>
            <a:pPr>
              <a:lnSpc>
                <a:spcPct val="150000"/>
              </a:lnSpc>
              <a:buNone/>
            </a:pPr>
            <a:r>
              <a:rPr lang="en-US" b="0" dirty="0">
                <a:solidFill>
                  <a:srgbClr val="002060"/>
                </a:solidFill>
                <a:effectLst/>
                <a:latin typeface="Consolas" panose="020B0609020204030204" pitchFamily="49" charset="0"/>
              </a:rPr>
              <a:t>from </a:t>
            </a:r>
            <a:r>
              <a:rPr lang="en-US" b="0" dirty="0" err="1">
                <a:solidFill>
                  <a:srgbClr val="002060"/>
                </a:solidFill>
                <a:effectLst/>
                <a:latin typeface="Consolas" panose="020B0609020204030204" pitchFamily="49" charset="0"/>
              </a:rPr>
              <a:t>pprint</a:t>
            </a:r>
            <a:r>
              <a:rPr lang="en-US" b="0" dirty="0">
                <a:solidFill>
                  <a:srgbClr val="002060"/>
                </a:solidFill>
                <a:effectLst/>
                <a:latin typeface="Consolas" panose="020B0609020204030204" pitchFamily="49" charset="0"/>
              </a:rPr>
              <a:t> import </a:t>
            </a:r>
            <a:r>
              <a:rPr lang="en-US" b="0" dirty="0" err="1">
                <a:solidFill>
                  <a:srgbClr val="002060"/>
                </a:solidFill>
                <a:effectLst/>
                <a:latin typeface="Consolas" panose="020B0609020204030204" pitchFamily="49" charset="0"/>
              </a:rPr>
              <a:t>pprint</a:t>
            </a:r>
            <a:endParaRPr lang="en-US" b="0" dirty="0">
              <a:solidFill>
                <a:srgbClr val="002060"/>
              </a:solidFill>
              <a:effectLst/>
              <a:latin typeface="Consolas" panose="020B0609020204030204" pitchFamily="49" charset="0"/>
            </a:endParaRPr>
          </a:p>
          <a:p>
            <a:pPr>
              <a:lnSpc>
                <a:spcPct val="150000"/>
              </a:lnSpc>
              <a:buNone/>
            </a:pPr>
            <a:r>
              <a:rPr lang="en-US" b="0" dirty="0">
                <a:solidFill>
                  <a:srgbClr val="002060"/>
                </a:solidFill>
                <a:effectLst/>
                <a:latin typeface="Consolas" panose="020B0609020204030204" pitchFamily="49" charset="0"/>
              </a:rPr>
              <a:t>matrix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np.array</a:t>
            </a:r>
            <a:r>
              <a:rPr lang="en-US" b="0" dirty="0">
                <a:solidFill>
                  <a:srgbClr val="002060"/>
                </a:solidFill>
                <a:effectLst/>
                <a:latin typeface="Consolas" panose="020B0609020204030204" pitchFamily="49" charset="0"/>
              </a:rPr>
              <a:t>([[1,2],[3,4]]),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name='matrix')</a:t>
            </a:r>
          </a:p>
          <a:p>
            <a:pPr>
              <a:lnSpc>
                <a:spcPct val="150000"/>
              </a:lnSpc>
              <a:buNone/>
            </a:pPr>
            <a:r>
              <a:rPr lang="en-US" b="0" dirty="0">
                <a:solidFill>
                  <a:srgbClr val="002060"/>
                </a:solidFill>
                <a:effectLst/>
                <a:latin typeface="Consolas" panose="020B0609020204030204" pitchFamily="49" charset="0"/>
              </a:rPr>
              <a:t>vector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(list(range(1,4)),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name='vector')</a:t>
            </a:r>
          </a:p>
          <a:p>
            <a:pPr>
              <a:lnSpc>
                <a:spcPct val="150000"/>
              </a:lnSpc>
              <a:buNone/>
            </a:pPr>
            <a:r>
              <a:rPr lang="en-US" b="0" dirty="0">
                <a:solidFill>
                  <a:srgbClr val="002060"/>
                </a:solidFill>
                <a:effectLst/>
                <a:latin typeface="Consolas" panose="020B0609020204030204" pitchFamily="49" charset="0"/>
              </a:rPr>
              <a:t>scalar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(42.0,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 tf.float32, name='scalar')</a:t>
            </a:r>
          </a:p>
          <a:p>
            <a:pPr>
              <a:lnSpc>
                <a:spcPct val="150000"/>
              </a:lnSpc>
              <a:buNone/>
            </a:pPr>
            <a:r>
              <a:rPr lang="en-US" b="0" dirty="0" err="1">
                <a:solidFill>
                  <a:srgbClr val="002060"/>
                </a:solidFill>
                <a:effectLst/>
                <a:latin typeface="Consolas" panose="020B0609020204030204" pitchFamily="49" charset="0"/>
              </a:rPr>
              <a:t>pprint</a:t>
            </a:r>
            <a:r>
              <a:rPr lang="en-US" b="0" dirty="0">
                <a:solidFill>
                  <a:srgbClr val="002060"/>
                </a:solidFill>
                <a:effectLst/>
                <a:latin typeface="Consolas" panose="020B0609020204030204" pitchFamily="49" charset="0"/>
              </a:rPr>
              <a:t>([scalar, vector, matrix])</a:t>
            </a:r>
          </a:p>
          <a:p>
            <a:pPr>
              <a:lnSpc>
                <a:spcPct val="150000"/>
              </a:lnSpc>
              <a:buNone/>
            </a:pPr>
            <a:r>
              <a:rPr lang="en-US" b="0" dirty="0">
                <a:solidFill>
                  <a:srgbClr val="002060"/>
                </a:solidFill>
                <a:effectLst/>
                <a:latin typeface="Consolas" panose="020B0609020204030204" pitchFamily="49" charset="0"/>
              </a:rPr>
              <a:t>## casting the tensor to different </a:t>
            </a:r>
            <a:r>
              <a:rPr lang="en-US" b="0" dirty="0" err="1">
                <a:solidFill>
                  <a:srgbClr val="002060"/>
                </a:solidFill>
                <a:effectLst/>
                <a:latin typeface="Consolas" panose="020B0609020204030204" pitchFamily="49" charset="0"/>
              </a:rPr>
              <a:t>dtype</a:t>
            </a:r>
            <a:endParaRPr lang="en-US" b="0" dirty="0">
              <a:solidFill>
                <a:srgbClr val="002060"/>
              </a:solidFill>
              <a:effectLst/>
              <a:latin typeface="Consolas" panose="020B0609020204030204" pitchFamily="49" charset="0"/>
            </a:endParaRPr>
          </a:p>
          <a:p>
            <a:pPr>
              <a:lnSpc>
                <a:spcPct val="150000"/>
              </a:lnSpc>
              <a:buNone/>
            </a:pPr>
            <a:r>
              <a:rPr lang="en-US" b="0" dirty="0" err="1">
                <a:solidFill>
                  <a:srgbClr val="002060"/>
                </a:solidFill>
                <a:effectLst/>
                <a:latin typeface="Consolas" panose="020B0609020204030204" pitchFamily="49" charset="0"/>
              </a:rPr>
              <a:t>scalar_int</a:t>
            </a:r>
            <a:r>
              <a:rPr lang="en-US" b="0" dirty="0">
                <a:solidFill>
                  <a:srgbClr val="002060"/>
                </a:solidFill>
                <a:effectLst/>
                <a:latin typeface="Consolas" panose="020B0609020204030204" pitchFamily="49" charset="0"/>
              </a:rPr>
              <a:t> = </a:t>
            </a:r>
            <a:r>
              <a:rPr lang="en-US" b="0" dirty="0" err="1">
                <a:solidFill>
                  <a:srgbClr val="002060"/>
                </a:solidFill>
                <a:effectLst/>
                <a:latin typeface="Consolas" panose="020B0609020204030204" pitchFamily="49" charset="0"/>
              </a:rPr>
              <a:t>tf.cast</a:t>
            </a:r>
            <a:r>
              <a:rPr lang="en-US" b="0" dirty="0">
                <a:solidFill>
                  <a:srgbClr val="002060"/>
                </a:solidFill>
                <a:effectLst/>
                <a:latin typeface="Consolas" panose="020B0609020204030204" pitchFamily="49" charset="0"/>
              </a:rPr>
              <a:t>(scalar, </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=tf.int16)</a:t>
            </a:r>
          </a:p>
          <a:p>
            <a:pPr>
              <a:lnSpc>
                <a:spcPct val="150000"/>
              </a:lnSpc>
              <a:buNone/>
            </a:pPr>
            <a:r>
              <a:rPr lang="en-US" b="0" dirty="0">
                <a:solidFill>
                  <a:srgbClr val="002060"/>
                </a:solidFill>
                <a:effectLst/>
                <a:latin typeface="Consolas" panose="020B0609020204030204" pitchFamily="49" charset="0"/>
              </a:rPr>
              <a:t>print(scalar)</a:t>
            </a:r>
          </a:p>
        </p:txBody>
      </p:sp>
    </p:spTree>
    <p:extLst>
      <p:ext uri="{BB962C8B-B14F-4D97-AF65-F5344CB8AC3E}">
        <p14:creationId xmlns:p14="http://schemas.microsoft.com/office/powerpoint/2010/main" val="749983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F7C33-E2A4-98A5-E999-137EACB7C47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BBDCE8E-B9DA-E486-DAB7-E04AA6791131}"/>
              </a:ext>
            </a:extLst>
          </p:cNvPr>
          <p:cNvSpPr/>
          <p:nvPr/>
        </p:nvSpPr>
        <p:spPr>
          <a:xfrm>
            <a:off x="4551743" y="53078"/>
            <a:ext cx="296055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TENSORFLOW OPS BASICS</a:t>
            </a:r>
          </a:p>
        </p:txBody>
      </p:sp>
      <p:sp>
        <p:nvSpPr>
          <p:cNvPr id="5" name="TextBox 4">
            <a:extLst>
              <a:ext uri="{FF2B5EF4-FFF2-40B4-BE49-F238E27FC236}">
                <a16:creationId xmlns:a16="http://schemas.microsoft.com/office/drawing/2014/main" id="{62BD9792-A817-D390-0BD2-76822542A833}"/>
              </a:ext>
            </a:extLst>
          </p:cNvPr>
          <p:cNvSpPr txBox="1"/>
          <p:nvPr/>
        </p:nvSpPr>
        <p:spPr>
          <a:xfrm>
            <a:off x="-5080" y="1475746"/>
            <a:ext cx="6101080" cy="4382866"/>
          </a:xfrm>
          <a:prstGeom prst="rect">
            <a:avLst/>
          </a:prstGeom>
          <a:noFill/>
        </p:spPr>
        <p:txBody>
          <a:bodyPr wrap="square">
            <a:spAutoFit/>
          </a:bodyPr>
          <a:lstStyle/>
          <a:p>
            <a:pPr>
              <a:lnSpc>
                <a:spcPct val="130000"/>
              </a:lnSpc>
              <a:buNone/>
            </a:pPr>
            <a:r>
              <a:rPr lang="en-US" b="0" dirty="0">
                <a:solidFill>
                  <a:srgbClr val="002060"/>
                </a:solidFill>
                <a:effectLst/>
                <a:latin typeface="Consolas" panose="020B0609020204030204" pitchFamily="49" charset="0"/>
              </a:rPr>
              <a:t>## ==== Linear Regression in </a:t>
            </a:r>
            <a:r>
              <a:rPr lang="en-US" b="0" dirty="0" err="1">
                <a:solidFill>
                  <a:srgbClr val="002060"/>
                </a:solidFill>
                <a:effectLst/>
                <a:latin typeface="Consolas" panose="020B0609020204030204" pitchFamily="49" charset="0"/>
              </a:rPr>
              <a:t>Tensorflow</a:t>
            </a:r>
            <a:r>
              <a:rPr lang="en-US" b="0" dirty="0">
                <a:solidFill>
                  <a:srgbClr val="002060"/>
                </a:solidFill>
                <a:effectLst/>
                <a:latin typeface="Consolas" panose="020B0609020204030204" pitchFamily="49" charset="0"/>
              </a:rPr>
              <a:t> === ##</a:t>
            </a:r>
          </a:p>
          <a:p>
            <a:pPr>
              <a:lnSpc>
                <a:spcPct val="130000"/>
              </a:lnSpc>
              <a:buNone/>
            </a:pPr>
            <a:r>
              <a:rPr lang="en-US" b="0" dirty="0">
                <a:solidFill>
                  <a:srgbClr val="002060"/>
                </a:solidFill>
                <a:effectLst/>
                <a:latin typeface="Consolas" panose="020B0609020204030204" pitchFamily="49" charset="0"/>
              </a:rPr>
              <a:t>## This is Lab 2 for the Course DSSC-3. It can be part of exam ##</a:t>
            </a:r>
          </a:p>
          <a:p>
            <a:pPr>
              <a:lnSpc>
                <a:spcPct val="130000"/>
              </a:lnSpc>
              <a:buNone/>
            </a:pPr>
            <a:r>
              <a:rPr lang="en-US" b="0" dirty="0">
                <a:solidFill>
                  <a:srgbClr val="002060"/>
                </a:solidFill>
                <a:effectLst/>
                <a:latin typeface="Consolas" panose="020B0609020204030204" pitchFamily="49" charset="0"/>
              </a:rPr>
              <a:t>import </a:t>
            </a:r>
            <a:r>
              <a:rPr lang="en-US" b="0" dirty="0" err="1">
                <a:solidFill>
                  <a:srgbClr val="002060"/>
                </a:solidFill>
                <a:effectLst/>
                <a:latin typeface="Consolas" panose="020B0609020204030204" pitchFamily="49" charset="0"/>
              </a:rPr>
              <a:t>tensorflow</a:t>
            </a:r>
            <a:r>
              <a:rPr lang="en-US" b="0" dirty="0">
                <a:solidFill>
                  <a:srgbClr val="002060"/>
                </a:solidFill>
                <a:effectLst/>
                <a:latin typeface="Consolas" panose="020B0609020204030204" pitchFamily="49" charset="0"/>
              </a:rPr>
              <a:t> as </a:t>
            </a:r>
            <a:r>
              <a:rPr lang="en-US" b="0" dirty="0" err="1">
                <a:solidFill>
                  <a:srgbClr val="002060"/>
                </a:solidFill>
                <a:effectLst/>
                <a:latin typeface="Consolas" panose="020B0609020204030204" pitchFamily="49" charset="0"/>
              </a:rPr>
              <a:t>tf</a:t>
            </a:r>
            <a:endParaRPr lang="en-US" b="0" dirty="0">
              <a:solidFill>
                <a:srgbClr val="002060"/>
              </a:solidFill>
              <a:effectLst/>
              <a:latin typeface="Consolas" panose="020B0609020204030204" pitchFamily="49" charset="0"/>
            </a:endParaRPr>
          </a:p>
          <a:p>
            <a:pPr>
              <a:lnSpc>
                <a:spcPct val="130000"/>
              </a:lnSpc>
              <a:buNone/>
            </a:pPr>
            <a:r>
              <a:rPr lang="en-US" b="0" dirty="0" err="1">
                <a:solidFill>
                  <a:srgbClr val="002060"/>
                </a:solidFill>
                <a:effectLst/>
                <a:latin typeface="Consolas" panose="020B0609020204030204" pitchFamily="49" charset="0"/>
              </a:rPr>
              <a:t>tf.random.set_seed</a:t>
            </a:r>
            <a:r>
              <a:rPr lang="en-US" b="0" dirty="0">
                <a:solidFill>
                  <a:srgbClr val="002060"/>
                </a:solidFill>
                <a:effectLst/>
                <a:latin typeface="Consolas" panose="020B0609020204030204" pitchFamily="49" charset="0"/>
              </a:rPr>
              <a:t>(777)</a:t>
            </a:r>
          </a:p>
          <a:p>
            <a:pPr>
              <a:lnSpc>
                <a:spcPct val="130000"/>
              </a:lnSpc>
              <a:buNone/>
            </a:pPr>
            <a:r>
              <a:rPr lang="en-US" b="0" dirty="0">
                <a:solidFill>
                  <a:srgbClr val="002060"/>
                </a:solidFill>
                <a:effectLst/>
                <a:latin typeface="Consolas" panose="020B0609020204030204" pitchFamily="49" charset="0"/>
              </a:rPr>
              <a:t># X  &amp; Y Data</a:t>
            </a:r>
          </a:p>
          <a:p>
            <a:pPr>
              <a:lnSpc>
                <a:spcPct val="130000"/>
              </a:lnSpc>
              <a:buNone/>
            </a:pPr>
            <a:r>
              <a:rPr lang="en-US" b="0" dirty="0" err="1">
                <a:solidFill>
                  <a:srgbClr val="002060"/>
                </a:solidFill>
                <a:effectLst/>
                <a:latin typeface="Consolas" panose="020B0609020204030204" pitchFamily="49" charset="0"/>
              </a:rPr>
              <a:t>x_train</a:t>
            </a:r>
            <a:r>
              <a:rPr lang="en-US" b="0" dirty="0">
                <a:solidFill>
                  <a:srgbClr val="002060"/>
                </a:solidFill>
                <a:effectLst/>
                <a:latin typeface="Consolas" panose="020B0609020204030204" pitchFamily="49" charset="0"/>
              </a:rPr>
              <a:t> = </a:t>
            </a:r>
            <a:r>
              <a:rPr lang="en-US" b="0" dirty="0" err="1">
                <a:solidFill>
                  <a:srgbClr val="002060"/>
                </a:solidFill>
                <a:effectLst/>
                <a:latin typeface="Consolas" panose="020B0609020204030204" pitchFamily="49" charset="0"/>
              </a:rPr>
              <a:t>tf.constant</a:t>
            </a:r>
            <a:r>
              <a:rPr lang="en-US" b="0" dirty="0">
                <a:solidFill>
                  <a:srgbClr val="002060"/>
                </a:solidFill>
                <a:effectLst/>
                <a:latin typeface="Consolas" panose="020B0609020204030204" pitchFamily="49" charset="0"/>
              </a:rPr>
              <a:t>(list(range(1,10)),</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a:t>
            </a:r>
            <a:r>
              <a:rPr lang="en-US" b="0" dirty="0" err="1">
                <a:solidFill>
                  <a:srgbClr val="002060"/>
                </a:solidFill>
                <a:effectLst/>
                <a:latin typeface="Consolas" panose="020B0609020204030204" pitchFamily="49" charset="0"/>
              </a:rPr>
              <a:t>x_train</a:t>
            </a:r>
            <a:r>
              <a:rPr lang="en-US" b="0" dirty="0">
                <a:solidFill>
                  <a:srgbClr val="002060"/>
                </a:solidFill>
                <a:effectLst/>
                <a:latin typeface="Consolas" panose="020B0609020204030204" pitchFamily="49" charset="0"/>
              </a:rPr>
              <a:t>')</a:t>
            </a:r>
          </a:p>
          <a:p>
            <a:pPr>
              <a:lnSpc>
                <a:spcPct val="130000"/>
              </a:lnSpc>
              <a:buNone/>
            </a:pPr>
            <a:r>
              <a:rPr lang="en-US" b="0" dirty="0" err="1">
                <a:solidFill>
                  <a:srgbClr val="002060"/>
                </a:solidFill>
                <a:effectLst/>
                <a:latin typeface="Consolas" panose="020B0609020204030204" pitchFamily="49" charset="0"/>
              </a:rPr>
              <a:t>y_train</a:t>
            </a:r>
            <a:r>
              <a:rPr lang="en-US" b="0" dirty="0">
                <a:solidFill>
                  <a:srgbClr val="002060"/>
                </a:solidFill>
                <a:effectLst/>
                <a:latin typeface="Consolas" panose="020B0609020204030204" pitchFamily="49" charset="0"/>
              </a:rPr>
              <a:t> = </a:t>
            </a:r>
            <a:r>
              <a:rPr lang="en-US" b="0" dirty="0" err="1">
                <a:solidFill>
                  <a:srgbClr val="002060"/>
                </a:solidFill>
                <a:effectLst/>
                <a:latin typeface="Consolas" panose="020B0609020204030204" pitchFamily="49" charset="0"/>
              </a:rPr>
              <a:t>tf.add</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x_train,x_train,name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y_train</a:t>
            </a:r>
            <a:r>
              <a:rPr lang="en-US" b="0" dirty="0">
                <a:solidFill>
                  <a:srgbClr val="002060"/>
                </a:solidFill>
                <a:effectLst/>
                <a:latin typeface="Consolas" panose="020B0609020204030204" pitchFamily="49" charset="0"/>
              </a:rPr>
              <a:t>')</a:t>
            </a:r>
          </a:p>
          <a:p>
            <a:pPr>
              <a:lnSpc>
                <a:spcPct val="130000"/>
              </a:lnSpc>
              <a:buNone/>
            </a:pPr>
            <a:r>
              <a:rPr lang="en-US" b="0" dirty="0">
                <a:solidFill>
                  <a:srgbClr val="002060"/>
                </a:solidFill>
                <a:effectLst/>
                <a:latin typeface="Consolas" panose="020B0609020204030204" pitchFamily="49" charset="0"/>
              </a:rPr>
              <a:t>print(</a:t>
            </a:r>
            <a:r>
              <a:rPr lang="en-US" b="0" dirty="0" err="1">
                <a:solidFill>
                  <a:srgbClr val="002060"/>
                </a:solidFill>
                <a:effectLst/>
                <a:latin typeface="Consolas" panose="020B0609020204030204" pitchFamily="49" charset="0"/>
              </a:rPr>
              <a:t>x_train</a:t>
            </a:r>
            <a:r>
              <a:rPr lang="en-US" b="0" dirty="0">
                <a:solidFill>
                  <a:srgbClr val="002060"/>
                </a:solidFill>
                <a:effectLst/>
                <a:latin typeface="Consolas" panose="020B0609020204030204" pitchFamily="49" charset="0"/>
              </a:rPr>
              <a:t>)</a:t>
            </a:r>
          </a:p>
        </p:txBody>
      </p:sp>
      <p:sp>
        <p:nvSpPr>
          <p:cNvPr id="9" name="TextBox 8">
            <a:extLst>
              <a:ext uri="{FF2B5EF4-FFF2-40B4-BE49-F238E27FC236}">
                <a16:creationId xmlns:a16="http://schemas.microsoft.com/office/drawing/2014/main" id="{E6B42FF3-E5C2-B9F1-2039-DF4288B177EC}"/>
              </a:ext>
            </a:extLst>
          </p:cNvPr>
          <p:cNvSpPr txBox="1"/>
          <p:nvPr/>
        </p:nvSpPr>
        <p:spPr>
          <a:xfrm>
            <a:off x="6032020" y="1475746"/>
            <a:ext cx="6101080" cy="3662669"/>
          </a:xfrm>
          <a:prstGeom prst="rect">
            <a:avLst/>
          </a:prstGeom>
          <a:noFill/>
        </p:spPr>
        <p:txBody>
          <a:bodyPr wrap="square">
            <a:spAutoFit/>
          </a:bodyPr>
          <a:lstStyle/>
          <a:p>
            <a:pPr>
              <a:lnSpc>
                <a:spcPct val="130000"/>
              </a:lnSpc>
              <a:buNone/>
            </a:pPr>
            <a:r>
              <a:rPr lang="en-US" b="0" dirty="0">
                <a:solidFill>
                  <a:srgbClr val="002060"/>
                </a:solidFill>
                <a:effectLst/>
                <a:latin typeface="Consolas" panose="020B0609020204030204" pitchFamily="49" charset="0"/>
              </a:rPr>
              <a:t># We try to find the values of W &amp; b to compute </a:t>
            </a:r>
          </a:p>
          <a:p>
            <a:pPr>
              <a:lnSpc>
                <a:spcPct val="130000"/>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y_data</a:t>
            </a:r>
            <a:r>
              <a:rPr lang="en-US" b="0" dirty="0">
                <a:solidFill>
                  <a:srgbClr val="002060"/>
                </a:solidFill>
                <a:effectLst/>
                <a:latin typeface="Consolas" panose="020B0609020204030204" pitchFamily="49" charset="0"/>
              </a:rPr>
              <a:t> = </a:t>
            </a:r>
            <a:r>
              <a:rPr lang="en-US" b="0" dirty="0" err="1">
                <a:solidFill>
                  <a:srgbClr val="002060"/>
                </a:solidFill>
                <a:effectLst/>
                <a:latin typeface="Consolas" panose="020B0609020204030204" pitchFamily="49" charset="0"/>
              </a:rPr>
              <a:t>x_data</a:t>
            </a:r>
            <a:r>
              <a:rPr lang="en-US" b="0" dirty="0">
                <a:solidFill>
                  <a:srgbClr val="002060"/>
                </a:solidFill>
                <a:effectLst/>
                <a:latin typeface="Consolas" panose="020B0609020204030204" pitchFamily="49" charset="0"/>
              </a:rPr>
              <a:t> * W + b</a:t>
            </a:r>
          </a:p>
          <a:p>
            <a:pPr>
              <a:lnSpc>
                <a:spcPct val="130000"/>
              </a:lnSpc>
              <a:buNone/>
            </a:pPr>
            <a:r>
              <a:rPr lang="en-US" b="0" dirty="0">
                <a:solidFill>
                  <a:srgbClr val="002060"/>
                </a:solidFill>
                <a:effectLst/>
                <a:latin typeface="Consolas" panose="020B0609020204030204" pitchFamily="49" charset="0"/>
              </a:rPr>
              <a:t>W = </a:t>
            </a:r>
            <a:r>
              <a:rPr lang="en-US" b="0" dirty="0" err="1">
                <a:solidFill>
                  <a:srgbClr val="002060"/>
                </a:solidFill>
                <a:effectLst/>
                <a:latin typeface="Consolas" panose="020B0609020204030204" pitchFamily="49" charset="0"/>
              </a:rPr>
              <a:t>tf.Variable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tf.random.normal</a:t>
            </a:r>
            <a:r>
              <a:rPr lang="en-US" b="0" dirty="0">
                <a:solidFill>
                  <a:srgbClr val="002060"/>
                </a:solidFill>
                <a:effectLst/>
                <a:latin typeface="Consolas" panose="020B0609020204030204" pitchFamily="49" charset="0"/>
              </a:rPr>
              <a:t>([1],</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name='weight')</a:t>
            </a:r>
          </a:p>
          <a:p>
            <a:pPr>
              <a:lnSpc>
                <a:spcPct val="130000"/>
              </a:lnSpc>
              <a:buNone/>
            </a:pPr>
            <a:r>
              <a:rPr lang="en-US" b="0" dirty="0">
                <a:solidFill>
                  <a:srgbClr val="002060"/>
                </a:solidFill>
                <a:effectLst/>
                <a:latin typeface="Consolas" panose="020B0609020204030204" pitchFamily="49" charset="0"/>
              </a:rPr>
              <a:t>b = </a:t>
            </a:r>
            <a:r>
              <a:rPr lang="en-US" b="0" dirty="0" err="1">
                <a:solidFill>
                  <a:srgbClr val="002060"/>
                </a:solidFill>
                <a:effectLst/>
                <a:latin typeface="Consolas" panose="020B0609020204030204" pitchFamily="49" charset="0"/>
              </a:rPr>
              <a:t>tf.Variable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tf.random.normal</a:t>
            </a:r>
            <a:r>
              <a:rPr lang="en-US" b="0" dirty="0">
                <a:solidFill>
                  <a:srgbClr val="002060"/>
                </a:solidFill>
                <a:effectLst/>
                <a:latin typeface="Consolas" panose="020B0609020204030204" pitchFamily="49" charset="0"/>
              </a:rPr>
              <a:t>([1],</a:t>
            </a:r>
            <a:r>
              <a:rPr lang="en-US" b="0" dirty="0" err="1">
                <a:solidFill>
                  <a:srgbClr val="002060"/>
                </a:solidFill>
                <a:effectLst/>
                <a:latin typeface="Consolas" panose="020B0609020204030204" pitchFamily="49" charset="0"/>
              </a:rPr>
              <a:t>dtype</a:t>
            </a:r>
            <a:r>
              <a:rPr lang="en-US" b="0" dirty="0">
                <a:solidFill>
                  <a:srgbClr val="002060"/>
                </a:solidFill>
                <a:effectLst/>
                <a:latin typeface="Consolas" panose="020B0609020204030204" pitchFamily="49" charset="0"/>
              </a:rPr>
              <a:t>=tf.float32), name='</a:t>
            </a:r>
            <a:r>
              <a:rPr lang="en-US" b="0" dirty="0" err="1">
                <a:solidFill>
                  <a:srgbClr val="002060"/>
                </a:solidFill>
                <a:effectLst/>
                <a:latin typeface="Consolas" panose="020B0609020204030204" pitchFamily="49" charset="0"/>
              </a:rPr>
              <a:t>bias'</a:t>
            </a:r>
            <a:r>
              <a:rPr lang="en-US" b="0" dirty="0">
                <a:solidFill>
                  <a:srgbClr val="002060"/>
                </a:solidFill>
                <a:effectLst/>
                <a:latin typeface="Consolas" panose="020B0609020204030204" pitchFamily="49" charset="0"/>
              </a:rPr>
              <a:t>)</a:t>
            </a:r>
          </a:p>
          <a:p>
            <a:pPr>
              <a:lnSpc>
                <a:spcPct val="130000"/>
              </a:lnSpc>
              <a:buNone/>
            </a:pPr>
            <a:r>
              <a:rPr lang="en-US" b="0" dirty="0">
                <a:solidFill>
                  <a:srgbClr val="002060"/>
                </a:solidFill>
                <a:effectLst/>
                <a:latin typeface="Consolas" panose="020B0609020204030204" pitchFamily="49" charset="0"/>
              </a:rPr>
              <a:t># Define the Learning Rate</a:t>
            </a:r>
          </a:p>
          <a:p>
            <a:pPr>
              <a:lnSpc>
                <a:spcPct val="130000"/>
              </a:lnSpc>
              <a:buNone/>
            </a:pPr>
            <a:r>
              <a:rPr lang="en-US" b="0" dirty="0" err="1">
                <a:solidFill>
                  <a:srgbClr val="002060"/>
                </a:solidFill>
                <a:effectLst/>
                <a:latin typeface="Consolas" panose="020B0609020204030204" pitchFamily="49" charset="0"/>
              </a:rPr>
              <a:t>learning_rate</a:t>
            </a:r>
            <a:r>
              <a:rPr lang="en-US" b="0" dirty="0">
                <a:solidFill>
                  <a:srgbClr val="002060"/>
                </a:solidFill>
                <a:effectLst/>
                <a:latin typeface="Consolas" panose="020B0609020204030204" pitchFamily="49" charset="0"/>
              </a:rPr>
              <a:t> = 0.001</a:t>
            </a:r>
          </a:p>
        </p:txBody>
      </p:sp>
    </p:spTree>
    <p:extLst>
      <p:ext uri="{BB962C8B-B14F-4D97-AF65-F5344CB8AC3E}">
        <p14:creationId xmlns:p14="http://schemas.microsoft.com/office/powerpoint/2010/main" val="3904117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58CBD-14CC-414F-B5F2-B735EF4E7E9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2F2DE97-4B9F-CABB-5AEA-5E6825404386}"/>
              </a:ext>
            </a:extLst>
          </p:cNvPr>
          <p:cNvSpPr/>
          <p:nvPr/>
        </p:nvSpPr>
        <p:spPr>
          <a:xfrm>
            <a:off x="4551743" y="53078"/>
            <a:ext cx="2960554" cy="40011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Calibri" panose="020F0502020204030204"/>
                <a:ea typeface="+mn-ea"/>
                <a:cs typeface="+mn-cs"/>
              </a:rPr>
              <a:t>TENSORFLOW OPS BASICS</a:t>
            </a:r>
          </a:p>
        </p:txBody>
      </p:sp>
      <p:sp>
        <p:nvSpPr>
          <p:cNvPr id="7" name="TextBox 6">
            <a:extLst>
              <a:ext uri="{FF2B5EF4-FFF2-40B4-BE49-F238E27FC236}">
                <a16:creationId xmlns:a16="http://schemas.microsoft.com/office/drawing/2014/main" id="{03B7E6F3-6B5A-F52F-28A9-E670EDC39B7C}"/>
              </a:ext>
            </a:extLst>
          </p:cNvPr>
          <p:cNvSpPr txBox="1"/>
          <p:nvPr/>
        </p:nvSpPr>
        <p:spPr>
          <a:xfrm>
            <a:off x="518160" y="1244815"/>
            <a:ext cx="11450320" cy="4595232"/>
          </a:xfrm>
          <a:prstGeom prst="rect">
            <a:avLst/>
          </a:prstGeom>
          <a:noFill/>
        </p:spPr>
        <p:txBody>
          <a:bodyPr wrap="square">
            <a:spAutoFit/>
          </a:bodyPr>
          <a:lstStyle/>
          <a:p>
            <a:pPr>
              <a:lnSpc>
                <a:spcPts val="1425"/>
              </a:lnSpc>
              <a:buNone/>
            </a:pPr>
            <a:r>
              <a:rPr lang="en-US" b="0" dirty="0">
                <a:solidFill>
                  <a:srgbClr val="002060"/>
                </a:solidFill>
                <a:effectLst/>
                <a:latin typeface="Consolas" panose="020B0609020204030204" pitchFamily="49" charset="0"/>
              </a:rPr>
              <a:t>for step in range(2001):</a:t>
            </a:r>
          </a:p>
          <a:p>
            <a:pPr>
              <a:lnSpc>
                <a:spcPts val="1425"/>
              </a:lnSpc>
              <a:buNone/>
            </a:pPr>
            <a:endParaRPr lang="en-US" b="0" dirty="0">
              <a:solidFill>
                <a:srgbClr val="002060"/>
              </a:solidFill>
              <a:effectLst/>
              <a:latin typeface="Consolas" panose="020B0609020204030204" pitchFamily="49" charset="0"/>
            </a:endParaRPr>
          </a:p>
          <a:p>
            <a:pPr>
              <a:lnSpc>
                <a:spcPts val="1425"/>
              </a:lnSpc>
              <a:buNone/>
            </a:pP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a:t>
            </a:r>
            <a:r>
              <a:rPr lang="en-US" b="0" dirty="0">
                <a:solidFill>
                  <a:srgbClr val="C00000"/>
                </a:solidFill>
                <a:effectLst/>
                <a:latin typeface="Consolas" panose="020B0609020204030204" pitchFamily="49" charset="0"/>
              </a:rPr>
              <a:t>with </a:t>
            </a:r>
            <a:r>
              <a:rPr lang="en-US" b="0" dirty="0" err="1">
                <a:solidFill>
                  <a:srgbClr val="C00000"/>
                </a:solidFill>
                <a:effectLst/>
                <a:latin typeface="Consolas" panose="020B0609020204030204" pitchFamily="49" charset="0"/>
              </a:rPr>
              <a:t>tf.GradientTape</a:t>
            </a:r>
            <a:r>
              <a:rPr lang="en-US" b="0" dirty="0">
                <a:solidFill>
                  <a:srgbClr val="C00000"/>
                </a:solidFill>
                <a:effectLst/>
                <a:latin typeface="Consolas" panose="020B0609020204030204" pitchFamily="49" charset="0"/>
              </a:rPr>
              <a:t>() as tape:</a:t>
            </a:r>
          </a:p>
          <a:p>
            <a:pPr>
              <a:lnSpc>
                <a:spcPts val="1425"/>
              </a:lnSpc>
              <a:buNone/>
            </a:pPr>
            <a:r>
              <a:rPr lang="en-US" b="0" dirty="0">
                <a:solidFill>
                  <a:srgbClr val="C00000"/>
                </a:solidFill>
                <a:effectLst/>
                <a:latin typeface="Consolas" panose="020B0609020204030204" pitchFamily="49" charset="0"/>
              </a:rPr>
              <a:t>        # Our Hypothesis is h = X*W + b</a:t>
            </a:r>
          </a:p>
          <a:p>
            <a:pPr>
              <a:lnSpc>
                <a:spcPts val="1425"/>
              </a:lnSpc>
              <a:buNone/>
            </a:pPr>
            <a:r>
              <a:rPr lang="en-US" b="0" dirty="0">
                <a:solidFill>
                  <a:srgbClr val="C00000"/>
                </a:solidFill>
                <a:effectLst/>
                <a:latin typeface="Consolas" panose="020B0609020204030204" pitchFamily="49" charset="0"/>
              </a:rPr>
              <a:t>        hypothesis = </a:t>
            </a:r>
            <a:r>
              <a:rPr lang="en-US" b="0" dirty="0" err="1">
                <a:solidFill>
                  <a:srgbClr val="C00000"/>
                </a:solidFill>
                <a:effectLst/>
                <a:latin typeface="Consolas" panose="020B0609020204030204" pitchFamily="49" charset="0"/>
              </a:rPr>
              <a:t>x_train</a:t>
            </a:r>
            <a:r>
              <a:rPr lang="en-US" b="0" dirty="0">
                <a:solidFill>
                  <a:srgbClr val="C00000"/>
                </a:solidFill>
                <a:effectLst/>
                <a:latin typeface="Consolas" panose="020B0609020204030204" pitchFamily="49" charset="0"/>
              </a:rPr>
              <a:t> * W + b</a:t>
            </a:r>
          </a:p>
          <a:p>
            <a:pPr>
              <a:lnSpc>
                <a:spcPts val="1425"/>
              </a:lnSpc>
              <a:buNone/>
            </a:pPr>
            <a:r>
              <a:rPr lang="en-US" b="0" dirty="0">
                <a:solidFill>
                  <a:srgbClr val="C00000"/>
                </a:solidFill>
                <a:effectLst/>
                <a:latin typeface="Consolas" panose="020B0609020204030204" pitchFamily="49" charset="0"/>
              </a:rPr>
              <a:t>        # cost / loss function</a:t>
            </a:r>
          </a:p>
          <a:p>
            <a:pPr>
              <a:lnSpc>
                <a:spcPts val="1425"/>
              </a:lnSpc>
              <a:buNone/>
            </a:pPr>
            <a:r>
              <a:rPr lang="en-US" b="0" dirty="0">
                <a:solidFill>
                  <a:srgbClr val="C00000"/>
                </a:solidFill>
                <a:effectLst/>
                <a:latin typeface="Consolas" panose="020B0609020204030204" pitchFamily="49" charset="0"/>
              </a:rPr>
              <a:t>        cost = </a:t>
            </a:r>
            <a:r>
              <a:rPr lang="en-US" b="0" dirty="0" err="1">
                <a:solidFill>
                  <a:srgbClr val="C00000"/>
                </a:solidFill>
                <a:effectLst/>
                <a:latin typeface="Consolas" panose="020B0609020204030204" pitchFamily="49" charset="0"/>
              </a:rPr>
              <a:t>tf.reduce_mean</a:t>
            </a:r>
            <a:r>
              <a:rPr lang="en-US" b="0" dirty="0">
                <a:solidFill>
                  <a:srgbClr val="C00000"/>
                </a:solidFill>
                <a:effectLst/>
                <a:latin typeface="Consolas" panose="020B0609020204030204" pitchFamily="49" charset="0"/>
              </a:rPr>
              <a:t>(</a:t>
            </a:r>
            <a:r>
              <a:rPr lang="en-US" b="0" dirty="0" err="1">
                <a:solidFill>
                  <a:srgbClr val="C00000"/>
                </a:solidFill>
                <a:effectLst/>
                <a:latin typeface="Consolas" panose="020B0609020204030204" pitchFamily="49" charset="0"/>
              </a:rPr>
              <a:t>tf.square</a:t>
            </a:r>
            <a:r>
              <a:rPr lang="en-US" b="0" dirty="0">
                <a:solidFill>
                  <a:srgbClr val="C00000"/>
                </a:solidFill>
                <a:effectLst/>
                <a:latin typeface="Consolas" panose="020B0609020204030204" pitchFamily="49" charset="0"/>
              </a:rPr>
              <a:t>(hypothesis - </a:t>
            </a:r>
            <a:r>
              <a:rPr lang="en-US" b="0" dirty="0" err="1">
                <a:solidFill>
                  <a:srgbClr val="C00000"/>
                </a:solidFill>
                <a:effectLst/>
                <a:latin typeface="Consolas" panose="020B0609020204030204" pitchFamily="49" charset="0"/>
              </a:rPr>
              <a:t>y_train</a:t>
            </a:r>
            <a:r>
              <a:rPr lang="en-US" b="0" dirty="0">
                <a:solidFill>
                  <a:srgbClr val="C00000"/>
                </a:solidFill>
                <a:effectLst/>
                <a:latin typeface="Consolas" panose="020B0609020204030204" pitchFamily="49" charset="0"/>
              </a:rPr>
              <a:t>))</a:t>
            </a:r>
          </a:p>
          <a:p>
            <a:pPr>
              <a:lnSpc>
                <a:spcPts val="1425"/>
              </a:lnSpc>
              <a:buNone/>
            </a:pPr>
            <a:r>
              <a:rPr lang="en-US" b="0" dirty="0">
                <a:solidFill>
                  <a:srgbClr val="C00000"/>
                </a:solidFill>
                <a:effectLst/>
                <a:latin typeface="Consolas" panose="020B0609020204030204" pitchFamily="49" charset="0"/>
              </a:rPr>
              <a:t>    # Lets Compute the Gradients of the Cost Function</a:t>
            </a:r>
          </a:p>
          <a:p>
            <a:pPr>
              <a:lnSpc>
                <a:spcPts val="1425"/>
              </a:lnSpc>
              <a:buNone/>
            </a:pPr>
            <a:r>
              <a:rPr lang="en-US" b="0" dirty="0">
                <a:solidFill>
                  <a:srgbClr val="C00000"/>
                </a:solidFill>
                <a:effectLst/>
                <a:latin typeface="Consolas" panose="020B0609020204030204" pitchFamily="49" charset="0"/>
              </a:rPr>
              <a:t>    # with respect to the weight and bias vectors</a:t>
            </a:r>
          </a:p>
          <a:p>
            <a:pPr>
              <a:lnSpc>
                <a:spcPts val="1425"/>
              </a:lnSpc>
              <a:buNone/>
            </a:pPr>
            <a:r>
              <a:rPr lang="en-US" b="0" dirty="0">
                <a:solidFill>
                  <a:srgbClr val="C00000"/>
                </a:solidFill>
                <a:effectLst/>
                <a:latin typeface="Consolas" panose="020B0609020204030204" pitchFamily="49" charset="0"/>
              </a:rPr>
              <a:t>    gradients = </a:t>
            </a:r>
            <a:r>
              <a:rPr lang="en-US" b="0" dirty="0" err="1">
                <a:solidFill>
                  <a:srgbClr val="C00000"/>
                </a:solidFill>
                <a:effectLst/>
                <a:latin typeface="Consolas" panose="020B0609020204030204" pitchFamily="49" charset="0"/>
              </a:rPr>
              <a:t>tape.gradient</a:t>
            </a:r>
            <a:r>
              <a:rPr lang="en-US" b="0" dirty="0">
                <a:solidFill>
                  <a:srgbClr val="C00000"/>
                </a:solidFill>
                <a:effectLst/>
                <a:latin typeface="Consolas" panose="020B0609020204030204" pitchFamily="49" charset="0"/>
              </a:rPr>
              <a:t>(cost,[</a:t>
            </a:r>
            <a:r>
              <a:rPr lang="en-US" b="0" dirty="0" err="1">
                <a:solidFill>
                  <a:srgbClr val="C00000"/>
                </a:solidFill>
                <a:effectLst/>
                <a:latin typeface="Consolas" panose="020B0609020204030204" pitchFamily="49" charset="0"/>
              </a:rPr>
              <a:t>W,b</a:t>
            </a:r>
            <a:r>
              <a:rPr lang="en-US" b="0" dirty="0">
                <a:solidFill>
                  <a:srgbClr val="C00000"/>
                </a:solidFill>
                <a:effectLst/>
                <a:latin typeface="Consolas" panose="020B0609020204030204" pitchFamily="49" charset="0"/>
              </a:rPr>
              <a:t>])</a:t>
            </a:r>
          </a:p>
          <a:p>
            <a:pPr>
              <a:lnSpc>
                <a:spcPts val="1425"/>
              </a:lnSpc>
              <a:buNone/>
            </a:pPr>
            <a:endParaRPr lang="en-US" dirty="0">
              <a:solidFill>
                <a:srgbClr val="C00000"/>
              </a:solidFill>
              <a:latin typeface="Consolas" panose="020B0609020204030204" pitchFamily="49" charset="0"/>
            </a:endParaRPr>
          </a:p>
          <a:p>
            <a:pPr>
              <a:lnSpc>
                <a:spcPts val="1425"/>
              </a:lnSpc>
              <a:buNone/>
            </a:pPr>
            <a:endParaRPr lang="en-US" b="0" dirty="0">
              <a:solidFill>
                <a:srgbClr val="C00000"/>
              </a:solidFill>
              <a:effectLst/>
              <a:latin typeface="Consolas" panose="020B0609020204030204" pitchFamily="49" charset="0"/>
            </a:endParaRPr>
          </a:p>
          <a:p>
            <a:pPr>
              <a:lnSpc>
                <a:spcPts val="1425"/>
              </a:lnSpc>
              <a:buNone/>
            </a:pPr>
            <a:endParaRPr lang="en-US" dirty="0">
              <a:solidFill>
                <a:srgbClr val="C00000"/>
              </a:solidFill>
              <a:latin typeface="Consolas" panose="020B0609020204030204" pitchFamily="49" charset="0"/>
            </a:endParaRPr>
          </a:p>
          <a:p>
            <a:pPr>
              <a:lnSpc>
                <a:spcPts val="1425"/>
              </a:lnSpc>
              <a:buNone/>
            </a:pPr>
            <a:endParaRPr lang="en-US" b="0" dirty="0">
              <a:solidFill>
                <a:srgbClr val="C0000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dw</a:t>
            </a:r>
            <a:r>
              <a:rPr lang="en-US" b="0" dirty="0">
                <a:solidFill>
                  <a:srgbClr val="002060"/>
                </a:solidFill>
                <a:effectLst/>
                <a:latin typeface="Consolas" panose="020B0609020204030204" pitchFamily="49" charset="0"/>
              </a:rPr>
              <a:t> = gradients[0]</a:t>
            </a: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db</a:t>
            </a:r>
            <a:r>
              <a:rPr lang="en-US" b="0" dirty="0">
                <a:solidFill>
                  <a:srgbClr val="002060"/>
                </a:solidFill>
                <a:effectLst/>
                <a:latin typeface="Consolas" panose="020B0609020204030204" pitchFamily="49" charset="0"/>
              </a:rPr>
              <a:t> = gradients[1]</a:t>
            </a:r>
          </a:p>
          <a:p>
            <a:pPr>
              <a:lnSpc>
                <a:spcPts val="1425"/>
              </a:lnSpc>
              <a:buNone/>
            </a:pPr>
            <a:r>
              <a:rPr lang="en-US" b="0" dirty="0">
                <a:solidFill>
                  <a:srgbClr val="002060"/>
                </a:solidFill>
                <a:effectLst/>
                <a:latin typeface="Consolas" panose="020B0609020204030204" pitchFamily="49" charset="0"/>
              </a:rPr>
              <a:t>    # Update the variables</a:t>
            </a: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W.assign_sub</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learning_rate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dw</a:t>
            </a:r>
            <a:r>
              <a:rPr lang="en-US" b="0" dirty="0">
                <a:solidFill>
                  <a:srgbClr val="002060"/>
                </a:solidFill>
                <a:effectLst/>
                <a:latin typeface="Consolas" panose="020B0609020204030204" pitchFamily="49" charset="0"/>
              </a:rPr>
              <a:t>)</a:t>
            </a:r>
          </a:p>
          <a:p>
            <a:pPr>
              <a:lnSpc>
                <a:spcPts val="1425"/>
              </a:lnSpc>
              <a:buNone/>
            </a:pPr>
            <a:r>
              <a:rPr lang="en-US" b="0" dirty="0">
                <a:solidFill>
                  <a:srgbClr val="002060"/>
                </a:solidFill>
                <a:effectLst/>
                <a:latin typeface="Consolas" panose="020B0609020204030204" pitchFamily="49" charset="0"/>
              </a:rPr>
              <a:t>    </a:t>
            </a:r>
            <a:r>
              <a:rPr lang="en-US" b="0" dirty="0" err="1">
                <a:solidFill>
                  <a:srgbClr val="002060"/>
                </a:solidFill>
                <a:effectLst/>
                <a:latin typeface="Consolas" panose="020B0609020204030204" pitchFamily="49" charset="0"/>
              </a:rPr>
              <a:t>b.assign_sub</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learning_rate</a:t>
            </a:r>
            <a:r>
              <a:rPr lang="en-US" b="0" dirty="0">
                <a:solidFill>
                  <a:srgbClr val="002060"/>
                </a:solidFill>
                <a:effectLst/>
                <a:latin typeface="Consolas" panose="020B0609020204030204" pitchFamily="49" charset="0"/>
              </a:rPr>
              <a:t>*</a:t>
            </a:r>
            <a:r>
              <a:rPr lang="en-US" b="0" dirty="0" err="1">
                <a:solidFill>
                  <a:srgbClr val="002060"/>
                </a:solidFill>
                <a:effectLst/>
                <a:latin typeface="Consolas" panose="020B0609020204030204" pitchFamily="49" charset="0"/>
              </a:rPr>
              <a:t>db</a:t>
            </a:r>
            <a:r>
              <a:rPr lang="en-US" b="0" dirty="0">
                <a:solidFill>
                  <a:srgbClr val="002060"/>
                </a:solidFill>
                <a:effectLst/>
                <a:latin typeface="Consolas" panose="020B0609020204030204" pitchFamily="49" charset="0"/>
              </a:rPr>
              <a:t>)</a:t>
            </a:r>
          </a:p>
          <a:p>
            <a:pPr>
              <a:lnSpc>
                <a:spcPts val="1425"/>
              </a:lnSpc>
              <a:buNone/>
            </a:pPr>
            <a:br>
              <a:rPr lang="en-US" b="0" dirty="0">
                <a:solidFill>
                  <a:srgbClr val="002060"/>
                </a:solidFill>
                <a:effectLst/>
                <a:latin typeface="Consolas" panose="020B0609020204030204" pitchFamily="49" charset="0"/>
              </a:rPr>
            </a:br>
            <a:endParaRPr lang="en-US" b="0" dirty="0">
              <a:solidFill>
                <a:srgbClr val="002060"/>
              </a:solidFill>
              <a:effectLst/>
              <a:latin typeface="Consolas" panose="020B0609020204030204" pitchFamily="49" charset="0"/>
            </a:endParaRPr>
          </a:p>
          <a:p>
            <a:pPr>
              <a:lnSpc>
                <a:spcPts val="1425"/>
              </a:lnSpc>
              <a:buNone/>
            </a:pPr>
            <a:r>
              <a:rPr lang="en-US" b="0" dirty="0">
                <a:solidFill>
                  <a:srgbClr val="002060"/>
                </a:solidFill>
                <a:effectLst/>
                <a:latin typeface="Consolas" panose="020B0609020204030204" pitchFamily="49" charset="0"/>
              </a:rPr>
              <a:t>    if step%20 == 0:</a:t>
            </a:r>
          </a:p>
          <a:p>
            <a:pPr>
              <a:lnSpc>
                <a:spcPts val="1425"/>
              </a:lnSpc>
              <a:buNone/>
            </a:pPr>
            <a:r>
              <a:rPr lang="en-US" b="0" dirty="0">
                <a:solidFill>
                  <a:srgbClr val="002060"/>
                </a:solidFill>
                <a:effectLst/>
                <a:latin typeface="Consolas" panose="020B0609020204030204" pitchFamily="49" charset="0"/>
              </a:rPr>
              <a:t>        print(</a:t>
            </a:r>
            <a:r>
              <a:rPr lang="en-US" b="0" dirty="0" err="1">
                <a:solidFill>
                  <a:srgbClr val="002060"/>
                </a:solidFill>
                <a:effectLst/>
                <a:latin typeface="Consolas" panose="020B0609020204030204" pitchFamily="49" charset="0"/>
              </a:rPr>
              <a:t>f"step</a:t>
            </a:r>
            <a:r>
              <a:rPr lang="en-US" b="0" dirty="0">
                <a:solidFill>
                  <a:srgbClr val="002060"/>
                </a:solidFill>
                <a:effectLst/>
                <a:latin typeface="Consolas" panose="020B0609020204030204" pitchFamily="49" charset="0"/>
              </a:rPr>
              <a:t>{step}, cost {</a:t>
            </a:r>
            <a:r>
              <a:rPr lang="en-US" b="0" dirty="0" err="1">
                <a:solidFill>
                  <a:srgbClr val="002060"/>
                </a:solidFill>
                <a:effectLst/>
                <a:latin typeface="Consolas" panose="020B0609020204030204" pitchFamily="49" charset="0"/>
              </a:rPr>
              <a:t>cost.numpy</a:t>
            </a:r>
            <a:r>
              <a:rPr lang="en-US" b="0" dirty="0">
                <a:solidFill>
                  <a:srgbClr val="002060"/>
                </a:solidFill>
                <a:effectLst/>
                <a:latin typeface="Consolas" panose="020B0609020204030204" pitchFamily="49" charset="0"/>
              </a:rPr>
              <a:t>()}, weight {</a:t>
            </a:r>
            <a:r>
              <a:rPr lang="en-US" b="0" dirty="0" err="1">
                <a:solidFill>
                  <a:srgbClr val="002060"/>
                </a:solidFill>
                <a:effectLst/>
                <a:latin typeface="Consolas" panose="020B0609020204030204" pitchFamily="49" charset="0"/>
              </a:rPr>
              <a:t>W.numpy</a:t>
            </a:r>
            <a:r>
              <a:rPr lang="en-US" b="0" dirty="0">
                <a:solidFill>
                  <a:srgbClr val="002060"/>
                </a:solidFill>
                <a:effectLst/>
                <a:latin typeface="Consolas" panose="020B0609020204030204" pitchFamily="49" charset="0"/>
              </a:rPr>
              <a:t>()}, bias {</a:t>
            </a:r>
            <a:r>
              <a:rPr lang="en-US" b="0" dirty="0" err="1">
                <a:solidFill>
                  <a:srgbClr val="002060"/>
                </a:solidFill>
                <a:effectLst/>
                <a:latin typeface="Consolas" panose="020B0609020204030204" pitchFamily="49" charset="0"/>
              </a:rPr>
              <a:t>b.numpy</a:t>
            </a:r>
            <a:r>
              <a:rPr lang="en-US" b="0" dirty="0">
                <a:solidFill>
                  <a:srgbClr val="002060"/>
                </a:solidFill>
                <a:effectLst/>
                <a:latin typeface="Consolas" panose="020B0609020204030204" pitchFamily="49" charset="0"/>
              </a:rPr>
              <a:t>()}")</a:t>
            </a:r>
          </a:p>
          <a:p>
            <a:pPr>
              <a:lnSpc>
                <a:spcPts val="1425"/>
              </a:lnSpc>
              <a:buNone/>
            </a:pPr>
            <a:r>
              <a:rPr lang="en-US" b="0" dirty="0">
                <a:solidFill>
                  <a:srgbClr val="002060"/>
                </a:solidFill>
                <a:effectLst/>
                <a:latin typeface="Consolas" panose="020B0609020204030204" pitchFamily="49" charset="0"/>
              </a:rPr>
              <a:t>        </a:t>
            </a:r>
          </a:p>
        </p:txBody>
      </p:sp>
    </p:spTree>
    <p:extLst>
      <p:ext uri="{BB962C8B-B14F-4D97-AF65-F5344CB8AC3E}">
        <p14:creationId xmlns:p14="http://schemas.microsoft.com/office/powerpoint/2010/main" val="4287497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1236</Words>
  <Application>Microsoft Office PowerPoint</Application>
  <PresentationFormat>Widescreen</PresentationFormat>
  <Paragraphs>112</Paragraphs>
  <Slides>10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Usman Khan</dc:creator>
  <cp:lastModifiedBy>Usman Khan</cp:lastModifiedBy>
  <cp:revision>3</cp:revision>
  <dcterms:created xsi:type="dcterms:W3CDTF">2026-03-15T04:13:14Z</dcterms:created>
  <dcterms:modified xsi:type="dcterms:W3CDTF">2026-03-15T04:16:15Z</dcterms:modified>
</cp:coreProperties>
</file>